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772400" cy="22860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Finding Missing Numbers</a:t>
            </a:r>
          </a:p>
          <a:p>
            <a:pPr>
              <a:spcAft>
                <a:spcPts val="800"/>
              </a:spcAft>
              <a:defRPr sz="2000">
                <a:solidFill>
                  <a:srgbClr val="14B8A6"/>
                </a:solidFill>
                <a:latin typeface="Arial"/>
              </a:defRPr>
            </a:pPr>
            <a:r>
              <a:t>Mastering Inverse Operations, Balancing Scales, &amp; the Distributive Law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Year 6 Mathematics  |  Number &amp; Algebra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The Golden Rules of Balancing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329184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4B8A6"/>
                </a:solidFill>
                <a:latin typeface="Arial"/>
              </a:defRPr>
            </a:pPr>
            <a:r>
              <a:t>•  The Scale Principle: </a:t>
            </a:r>
            <a:r>
              <a:rPr b="0">
                <a:solidFill>
                  <a:srgbClr val="0F172A"/>
                </a:solidFill>
              </a:rPr>
              <a:t>An equation is an exactly balanced scale. The values on both sides of the equals sign MUST represent the identical total.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1800" b="1">
                <a:solidFill>
                  <a:srgbClr val="14B8A6"/>
                </a:solidFill>
                <a:latin typeface="Arial"/>
              </a:defRPr>
            </a:pPr>
            <a:r>
              <a:t>•  Addition ↔ Subtraction: </a:t>
            </a:r>
            <a:r>
              <a:rPr b="0">
                <a:solidFill>
                  <a:srgbClr val="0F172A"/>
                </a:solidFill>
              </a:rPr>
              <a:t>They are inverse operations (exact opposites). If a missing number sentence adds a value, subtract it from the total to work backwards!</a:t>
            </a:r>
          </a:p>
          <a:p>
            <a:pPr>
              <a:spcBef>
                <a:spcPts val="1400"/>
              </a:spcBef>
              <a:spcAft>
                <a:spcPts val="400"/>
              </a:spcAft>
              <a:defRPr sz="1800" b="1">
                <a:solidFill>
                  <a:srgbClr val="14B8A6"/>
                </a:solidFill>
                <a:latin typeface="Arial"/>
              </a:defRPr>
            </a:pPr>
            <a:r>
              <a:t>•  Multiplication ↔ Division: </a:t>
            </a:r>
            <a:r>
              <a:rPr b="0">
                <a:solidFill>
                  <a:srgbClr val="0F172A"/>
                </a:solidFill>
              </a:rPr>
              <a:t>They form closely linked fact families. Use known multiplication facts to rapidly uncover unknown division components.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Solving Single-Step Sentences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24688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ctr">
              <a:spcAft>
                <a:spcPts val="1400"/>
              </a:spcAft>
              <a:defRPr sz="1200" b="1">
                <a:solidFill>
                  <a:srgbClr val="64748B"/>
                </a:solidFill>
                <a:latin typeface="Arial"/>
              </a:defRPr>
            </a:pPr>
            <a:r>
              <a:t>ADDITION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[   ] + 8 = 15</a:t>
            </a:r>
          </a:p>
          <a:p>
            <a:pPr algn="ctr">
              <a:defRPr sz="1500">
                <a:solidFill>
                  <a:srgbClr val="0F172A"/>
                </a:solidFill>
                <a:latin typeface="Arial"/>
              </a:defRPr>
            </a:pPr>
            <a:r>
              <a:t>Inverse Operation:</a:t>
            </a:r>
            <a:br/>
            <a:r>
              <a:t>15 - 8 = 7</a:t>
            </a:r>
            <a:br/>
            <a:br/>
            <a:r>
              <a:t>Missing Number: 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1280160"/>
            <a:ext cx="24688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ctr">
              <a:spcAft>
                <a:spcPts val="1400"/>
              </a:spcAft>
              <a:defRPr sz="1200" b="1">
                <a:solidFill>
                  <a:srgbClr val="64748B"/>
                </a:solidFill>
                <a:latin typeface="Arial"/>
              </a:defRPr>
            </a:pPr>
            <a:r>
              <a:t>SUBTRACTION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[   ] - 3 = 7</a:t>
            </a:r>
          </a:p>
          <a:p>
            <a:pPr algn="ctr">
              <a:defRPr sz="1500">
                <a:solidFill>
                  <a:srgbClr val="0F172A"/>
                </a:solidFill>
                <a:latin typeface="Arial"/>
              </a:defRPr>
            </a:pPr>
            <a:r>
              <a:t>Inverse Operation:</a:t>
            </a:r>
            <a:br/>
            <a:r>
              <a:t>7 + 3 = 10</a:t>
            </a:r>
            <a:br/>
            <a:br/>
            <a:r>
              <a:t>Missing Number: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80160"/>
            <a:ext cx="24688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ctr">
              <a:spcAft>
                <a:spcPts val="1400"/>
              </a:spcAft>
              <a:defRPr sz="1200" b="1">
                <a:solidFill>
                  <a:srgbClr val="64748B"/>
                </a:solidFill>
                <a:latin typeface="Arial"/>
              </a:defRPr>
            </a:pPr>
            <a:r>
              <a:t>MULTIPLICATION</a:t>
            </a:r>
          </a:p>
          <a:p>
            <a:pPr algn="ctr">
              <a:spcAft>
                <a:spcPts val="20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8 × [   ] = 40</a:t>
            </a:r>
          </a:p>
          <a:p>
            <a:pPr algn="ctr">
              <a:defRPr sz="1500">
                <a:solidFill>
                  <a:srgbClr val="0F172A"/>
                </a:solidFill>
                <a:latin typeface="Arial"/>
              </a:defRPr>
            </a:pPr>
            <a:r>
              <a:t>Fact Family:</a:t>
            </a:r>
            <a:br/>
            <a:r>
              <a:t>40 ÷ 8 = 5</a:t>
            </a:r>
            <a:br/>
            <a:br/>
            <a:r>
              <a:t>Missing Number: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Mastering Division &amp; Square Numbers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80160"/>
            <a:ext cx="38404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ctr">
              <a:spcAft>
                <a:spcPts val="1400"/>
              </a:spcAft>
              <a:defRPr sz="1300" b="1">
                <a:solidFill>
                  <a:srgbClr val="64748B"/>
                </a:solidFill>
                <a:latin typeface="Arial"/>
              </a:defRPr>
            </a:pPr>
            <a:r>
              <a:t>DIVISION INSIGHTS</a:t>
            </a:r>
          </a:p>
          <a:p>
            <a:pPr algn="ctr">
              <a:spcAft>
                <a:spcPts val="1600"/>
              </a:spcAft>
              <a:defRPr sz="2400" b="1">
                <a:solidFill>
                  <a:srgbClr val="14B8A6"/>
                </a:solidFill>
                <a:latin typeface="Arial"/>
              </a:defRPr>
            </a:pPr>
            <a:r>
              <a:t>24 ÷ [   ] = 3</a:t>
            </a:r>
          </a:p>
          <a:p>
            <a:pPr algn="ctr">
              <a:defRPr sz="1600">
                <a:solidFill>
                  <a:srgbClr val="0F172A"/>
                </a:solidFill>
                <a:latin typeface="Arial"/>
              </a:defRPr>
            </a:pPr>
            <a:r>
              <a:t>Think methodically:</a:t>
            </a:r>
            <a:br/>
            <a:r>
              <a:t>What shares 24 into groups of 3?</a:t>
            </a:r>
            <a:br/>
            <a:r>
              <a:t>24 ÷ 3 = 8</a:t>
            </a:r>
            <a:br/>
            <a:br/>
            <a:r>
              <a:t>Missing Number: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79" y="1280160"/>
            <a:ext cx="3840480" cy="3200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ctr">
              <a:spcAft>
                <a:spcPts val="1400"/>
              </a:spcAft>
              <a:defRPr sz="1300" b="1">
                <a:solidFill>
                  <a:srgbClr val="64748B"/>
                </a:solidFill>
                <a:latin typeface="Arial"/>
              </a:defRPr>
            </a:pPr>
            <a:r>
              <a:t>SQUARE NUMBERS</a:t>
            </a:r>
          </a:p>
          <a:p>
            <a:pPr algn="ctr">
              <a:spcAft>
                <a:spcPts val="1600"/>
              </a:spcAft>
              <a:defRPr sz="2400" b="1">
                <a:solidFill>
                  <a:srgbClr val="14B8A6"/>
                </a:solidFill>
                <a:latin typeface="Arial"/>
              </a:defRPr>
            </a:pPr>
            <a:r>
              <a:t>[   ] squared = 64</a:t>
            </a:r>
          </a:p>
          <a:p>
            <a:pPr algn="ctr">
              <a:defRPr sz="1600">
                <a:solidFill>
                  <a:srgbClr val="0F172A"/>
                </a:solidFill>
                <a:latin typeface="Arial"/>
              </a:defRPr>
            </a:pPr>
            <a:r>
              <a:t>Definition:</a:t>
            </a:r>
            <a:br/>
            <a:r>
              <a:t>Multiply a number by itself.</a:t>
            </a:r>
            <a:br/>
            <a:r>
              <a:t>What × What = 64?</a:t>
            </a:r>
            <a:br/>
            <a:r>
              <a:t>8 × 8 = 64</a:t>
            </a:r>
            <a:br/>
            <a:br/>
            <a:r>
              <a:t>Missing Number: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Strategy: Simplify Known Steps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657600" cy="32004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F172A"/>
                </a:solidFill>
              </a:defRPr>
            </a:pPr>
            <a:r>
              <a:t>When facing multiple operations:</a:t>
            </a:r>
          </a:p>
          <a:p>
            <a:pPr>
              <a:spcAft>
                <a:spcPts val="0"/>
              </a:spcAft>
              <a:defRPr sz="1600">
                <a:solidFill>
                  <a:srgbClr val="64748B"/>
                </a:solidFill>
              </a:defRPr>
            </a:pPr>
            <a:r>
              <a:t>1. Find the parts with complete numbers.</a:t>
            </a:r>
            <a:br/>
            <a:r>
              <a:t>2. Calculate their combined total immediately.</a:t>
            </a:r>
            <a:br/>
            <a:r>
              <a:t>3. Rewrite the simplified sentence.</a:t>
            </a:r>
            <a:br/>
            <a:r>
              <a:t>4. Solve using standard inverse logic.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280160"/>
            <a:ext cx="42062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defRPr sz="1500" b="0">
                <a:solidFill>
                  <a:srgbClr val="64748B"/>
                </a:solidFill>
                <a:latin typeface="Arial"/>
              </a:defRPr>
            </a:pPr>
            <a:r>
              <a:t>Target Sentence:  </a:t>
            </a:r>
            <a:r>
              <a:rPr b="1" sz="1700">
                <a:solidFill>
                  <a:srgbClr val="14B8A6"/>
                </a:solidFill>
              </a:rPr>
              <a:t>6 + 7 + [   ] = 15</a:t>
            </a:r>
          </a:p>
          <a:p>
            <a:pPr algn="l">
              <a:spcBef>
                <a:spcPts val="800"/>
              </a:spcBef>
              <a:defRPr sz="1500" b="0">
                <a:solidFill>
                  <a:srgbClr val="64748B"/>
                </a:solidFill>
                <a:latin typeface="Arial"/>
              </a:defRPr>
            </a:pPr>
            <a:r>
              <a:t>Step 1 (Combine):  </a:t>
            </a:r>
            <a:r>
              <a:rPr b="1" sz="1600">
                <a:solidFill>
                  <a:srgbClr val="0F172A"/>
                </a:solidFill>
              </a:rPr>
              <a:t>13 + [   ] = 15</a:t>
            </a:r>
          </a:p>
          <a:p>
            <a:pPr algn="l">
              <a:spcBef>
                <a:spcPts val="800"/>
              </a:spcBef>
              <a:defRPr sz="1500" b="0">
                <a:solidFill>
                  <a:srgbClr val="64748B"/>
                </a:solidFill>
                <a:latin typeface="Arial"/>
              </a:defRPr>
            </a:pPr>
            <a:r>
              <a:t>Step 2 (Inverse):  </a:t>
            </a:r>
            <a:r>
              <a:rPr b="1" sz="1600">
                <a:solidFill>
                  <a:srgbClr val="0F172A"/>
                </a:solidFill>
              </a:rPr>
              <a:t>15 - 13 = 2</a:t>
            </a:r>
          </a:p>
          <a:p>
            <a:pPr algn="l">
              <a:spcBef>
                <a:spcPts val="800"/>
              </a:spcBef>
              <a:defRPr sz="1500" b="0">
                <a:solidFill>
                  <a:srgbClr val="64748B"/>
                </a:solidFill>
                <a:latin typeface="Arial"/>
              </a:defRPr>
            </a:pPr>
            <a:r>
              <a:t>Final Answer:  </a:t>
            </a:r>
            <a:r>
              <a:rPr b="1" sz="1700">
                <a:solidFill>
                  <a:srgbClr val="14B8A6"/>
                </a:solidFill>
              </a:rPr>
              <a:t>Missing Number is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Unlocking the Distributive Law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804672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ctr">
              <a:spcAft>
                <a:spcPts val="1800"/>
              </a:spcAft>
              <a:defRPr sz="1500" b="1">
                <a:solidFill>
                  <a:srgbClr val="64748B"/>
                </a:solidFill>
                <a:latin typeface="Arial"/>
              </a:defRPr>
            </a:pPr>
            <a:r>
              <a:t>RULE: A factor outside brackets distributes across added terms inside.</a:t>
            </a:r>
          </a:p>
          <a:p>
            <a:pPr algn="ctr">
              <a:spcAft>
                <a:spcPts val="2000"/>
              </a:spcAft>
              <a:defRPr sz="2600" b="1">
                <a:solidFill>
                  <a:srgbClr val="14B8A6"/>
                </a:solidFill>
                <a:latin typeface="Arial"/>
              </a:defRPr>
            </a:pPr>
            <a:r>
              <a:t>5 × (4 + 6)  =  (5 × [   ]) + (5 × 6)</a:t>
            </a:r>
          </a:p>
          <a:p>
            <a:pPr algn="ctr">
              <a:defRPr sz="1600">
                <a:solidFill>
                  <a:srgbClr val="0F172A"/>
                </a:solidFill>
                <a:latin typeface="Arial"/>
              </a:defRPr>
            </a:pPr>
            <a:r>
              <a:t>Look at the pattern matching without computing large totals:</a:t>
            </a:r>
            <a:br/>
            <a:r>
              <a:t>• The factor 5 multiplies both the 4 and the 6.</a:t>
            </a:r>
            <a:br/>
            <a:r>
              <a:t>• The right side displays (5 × 6), leaving the matching pair (5 × 4).</a:t>
            </a:r>
            <a:br/>
            <a:br/>
            <a:r>
              <a:t>Therefore, the missing number is precisely 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15400" y="0"/>
            <a:ext cx="228600" cy="514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32004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20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Your Turn: Independent Practice</a:t>
            </a:r>
          </a:p>
          <a:p>
            <a:pPr>
              <a:spcAft>
                <a:spcPts val="0"/>
              </a:spcAft>
              <a:defRPr sz="1800">
                <a:solidFill>
                  <a:srgbClr val="F1F5F9"/>
                </a:solidFill>
                <a:latin typeface="Arial"/>
              </a:defRPr>
            </a:pPr>
            <a:r>
              <a:t>1. Open your worksheet: Extra Support 18 (Finding missing numbers)</a:t>
            </a:r>
            <a:br/>
            <a:r>
              <a:t>2. Work systematically through Sections 1 to 6.</a:t>
            </a:r>
            <a:br/>
            <a:r>
              <a:t>3. Show clear working steps for multi-operation sentences.</a:t>
            </a:r>
            <a:br/>
            <a:r>
              <a:t>4. Pro-Tip: Check answers for reasonableness by substituting them back in!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