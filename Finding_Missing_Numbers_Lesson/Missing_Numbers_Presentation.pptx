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Finding Missing Numbers</a:t>
            </a:r>
          </a:p>
          <a:p>
            <a:pPr>
              <a:spcAft>
                <a:spcPts val="800"/>
              </a:spcAft>
              <a:defRPr sz="2000">
                <a:solidFill>
                  <a:srgbClr val="14B8A6"/>
                </a:solidFill>
                <a:latin typeface="Arial"/>
              </a:defRPr>
            </a:pPr>
            <a:r>
              <a:t>Mastering Inverse Operations, Balancing Scales, &amp; the Distributive Law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Year 6 Mathematics  |  Number &amp; Algebra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Golden Rules of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73866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rPr dirty="0"/>
              <a:t>•  The Scale Principle: </a:t>
            </a:r>
            <a:r>
              <a:rPr b="0" dirty="0">
                <a:solidFill>
                  <a:srgbClr val="0F172A"/>
                </a:solidFill>
              </a:rPr>
              <a:t>An equation is an exactly balanced scale. The values on both sides of the equals sign MUST represent the identical total.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A239B-36CB-5BC8-F4F3-CD58C440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678" y="2018824"/>
            <a:ext cx="5324643" cy="2996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84A9-DAB5-B701-D666-CA1566AD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DDDF4A-7EA8-63E1-B4D2-B16041FFB4C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947B5-71B7-1CB1-29C8-394F644051E7}"/>
              </a:ext>
            </a:extLst>
          </p:cNvPr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Golden Rules of Balancing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8A1B7-F4CB-FC80-2476-3FC3994945DE}"/>
              </a:ext>
            </a:extLst>
          </p:cNvPr>
          <p:cNvSpPr txBox="1"/>
          <p:nvPr/>
        </p:nvSpPr>
        <p:spPr>
          <a:xfrm>
            <a:off x="548640" y="1280160"/>
            <a:ext cx="8046720" cy="180049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rPr dirty="0"/>
              <a:t>•  Addition ↔ Subtraction: </a:t>
            </a:r>
            <a:r>
              <a:rPr b="0" dirty="0">
                <a:solidFill>
                  <a:srgbClr val="0F172A"/>
                </a:solidFill>
              </a:rPr>
              <a:t>They are inverse operations (exact opposites). If a missing number sentence adds a value, subtract it from the total to work backwards!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rPr dirty="0"/>
              <a:t>•  Multiplication ↔ Division: </a:t>
            </a:r>
            <a:r>
              <a:rPr b="0" dirty="0">
                <a:solidFill>
                  <a:srgbClr val="0F172A"/>
                </a:solidFill>
              </a:rPr>
              <a:t>They form closely linked fact families. Use known multiplication facts to rapidly uncover unknown division components.</a:t>
            </a:r>
          </a:p>
        </p:txBody>
      </p:sp>
    </p:spTree>
    <p:extLst>
      <p:ext uri="{BB962C8B-B14F-4D97-AF65-F5344CB8AC3E}">
        <p14:creationId xmlns:p14="http://schemas.microsoft.com/office/powerpoint/2010/main" val="123146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Solving Single-Step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4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ADDITION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[   ] + 8 = 15</a:t>
            </a:r>
          </a:p>
          <a:p>
            <a:pPr algn="ctr">
              <a:defRPr sz="1500">
                <a:solidFill>
                  <a:srgbClr val="0F172A"/>
                </a:solidFill>
                <a:latin typeface="Arial"/>
              </a:defRPr>
            </a:pPr>
            <a:r>
              <a:t>Inverse Operation:</a:t>
            </a:r>
            <a:br/>
            <a:r>
              <a:t>15 - 8 = 7</a:t>
            </a:r>
            <a:br/>
            <a:br/>
            <a:r>
              <a:t>Missing Number: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28016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4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SUBTRACTION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[   ] - 3 = 7</a:t>
            </a:r>
          </a:p>
          <a:p>
            <a:pPr algn="ctr">
              <a:defRPr sz="1500">
                <a:solidFill>
                  <a:srgbClr val="0F172A"/>
                </a:solidFill>
                <a:latin typeface="Arial"/>
              </a:defRPr>
            </a:pPr>
            <a:r>
              <a:t>Inverse Operation:</a:t>
            </a:r>
            <a:br/>
            <a:r>
              <a:t>7 + 3 = 10</a:t>
            </a:r>
            <a:br/>
            <a:br/>
            <a:r>
              <a:t>Missing Number: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4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MULTIPLICATION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14B8A6"/>
                </a:solidFill>
                <a:latin typeface="Arial"/>
              </a:defRPr>
            </a:pPr>
            <a:r>
              <a:t>8 × [   ] = 40</a:t>
            </a:r>
          </a:p>
          <a:p>
            <a:pPr algn="ctr">
              <a:defRPr sz="1500">
                <a:solidFill>
                  <a:srgbClr val="0F172A"/>
                </a:solidFill>
                <a:latin typeface="Arial"/>
              </a:defRPr>
            </a:pPr>
            <a:r>
              <a:t>Fact Family:</a:t>
            </a:r>
            <a:br/>
            <a:r>
              <a:t>40 ÷ 8 = 5</a:t>
            </a:r>
            <a:br/>
            <a:br/>
            <a:r>
              <a:t>Missing Number: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Mastering Division &amp; Square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840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4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DIVISION INSIGHTS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14B8A6"/>
                </a:solidFill>
                <a:latin typeface="Arial"/>
              </a:defRPr>
            </a:pPr>
            <a:r>
              <a:t>24 ÷ [   ] = 3</a:t>
            </a:r>
          </a:p>
          <a:p>
            <a:pPr algn="ctr">
              <a:defRPr sz="1600">
                <a:solidFill>
                  <a:srgbClr val="0F172A"/>
                </a:solidFill>
                <a:latin typeface="Arial"/>
              </a:defRPr>
            </a:pPr>
            <a:r>
              <a:t>Think methodically:</a:t>
            </a:r>
            <a:br/>
            <a:r>
              <a:t>What shares 24 into groups of 3?</a:t>
            </a:r>
            <a:br/>
            <a:r>
              <a:t>24 ÷ 3 = 8</a:t>
            </a:r>
            <a:br/>
            <a:br/>
            <a:r>
              <a:t>Missing Number: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79" y="1280160"/>
            <a:ext cx="3840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4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SQUARE NUMBERS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14B8A6"/>
                </a:solidFill>
                <a:latin typeface="Arial"/>
              </a:defRPr>
            </a:pPr>
            <a:r>
              <a:t>[   ] squared = 64</a:t>
            </a:r>
          </a:p>
          <a:p>
            <a:pPr algn="ctr">
              <a:defRPr sz="1600">
                <a:solidFill>
                  <a:srgbClr val="0F172A"/>
                </a:solidFill>
                <a:latin typeface="Arial"/>
              </a:defRPr>
            </a:pPr>
            <a:r>
              <a:t>Definition:</a:t>
            </a:r>
            <a:br/>
            <a:r>
              <a:t>Multiply a number by itself.</a:t>
            </a:r>
            <a:br/>
            <a:r>
              <a:t>What × What = 64?</a:t>
            </a:r>
            <a:br/>
            <a:r>
              <a:t>8 × 8 = 64</a:t>
            </a:r>
            <a:br/>
            <a:br/>
            <a:r>
              <a:t>Missing Number: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Strategy: Simplify Known Steps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0" cy="3200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When facing multiple operations:</a:t>
            </a:r>
          </a:p>
          <a:p>
            <a:pPr>
              <a:spcAft>
                <a:spcPts val="0"/>
              </a:spcAft>
              <a:defRPr sz="1600">
                <a:solidFill>
                  <a:srgbClr val="64748B"/>
                </a:solidFill>
              </a:defRPr>
            </a:pPr>
            <a:r>
              <a:t>1. Find the parts with complete numbers.</a:t>
            </a:r>
            <a:br/>
            <a:r>
              <a:t>2. Calculate their combined total immediately.</a:t>
            </a:r>
            <a:br/>
            <a:r>
              <a:t>3. Rewrite the simplified sentence.</a:t>
            </a:r>
            <a:br/>
            <a:r>
              <a:t>4. Solve using standard inverse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42062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defRPr sz="1500" b="0">
                <a:solidFill>
                  <a:srgbClr val="64748B"/>
                </a:solidFill>
                <a:latin typeface="Arial"/>
              </a:defRPr>
            </a:pPr>
            <a:r>
              <a:t>Target Sentence:  </a:t>
            </a:r>
            <a:r>
              <a:rPr sz="1700" b="1">
                <a:solidFill>
                  <a:srgbClr val="14B8A6"/>
                </a:solidFill>
              </a:rPr>
              <a:t>6 + 7 + [   ] = 15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64748B"/>
                </a:solidFill>
                <a:latin typeface="Arial"/>
              </a:defRPr>
            </a:pPr>
            <a:r>
              <a:t>Step 1 (Combine):  </a:t>
            </a:r>
            <a:r>
              <a:rPr sz="1600" b="1">
                <a:solidFill>
                  <a:srgbClr val="0F172A"/>
                </a:solidFill>
              </a:rPr>
              <a:t>13 + [   ] = 15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64748B"/>
                </a:solidFill>
                <a:latin typeface="Arial"/>
              </a:defRPr>
            </a:pPr>
            <a:r>
              <a:t>Step 2 (Inverse):  </a:t>
            </a:r>
            <a:r>
              <a:rPr sz="1600" b="1">
                <a:solidFill>
                  <a:srgbClr val="0F172A"/>
                </a:solidFill>
              </a:rPr>
              <a:t>15 - 13 = 2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64748B"/>
                </a:solidFill>
                <a:latin typeface="Arial"/>
              </a:defRPr>
            </a:pPr>
            <a:r>
              <a:t>Final Answer:  </a:t>
            </a:r>
            <a:r>
              <a:rPr sz="1700" b="1">
                <a:solidFill>
                  <a:srgbClr val="14B8A6"/>
                </a:solidFill>
              </a:rPr>
              <a:t>Missing Number is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Unlocking the Distributive Law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8046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ctr">
              <a:spcAft>
                <a:spcPts val="1800"/>
              </a:spcAft>
              <a:defRPr sz="1500" b="1">
                <a:solidFill>
                  <a:srgbClr val="64748B"/>
                </a:solidFill>
                <a:latin typeface="Arial"/>
              </a:defRPr>
            </a:pPr>
            <a:r>
              <a:t>RULE: A factor outside brackets distributes across added terms inside.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14B8A6"/>
                </a:solidFill>
                <a:latin typeface="Arial"/>
              </a:defRPr>
            </a:pPr>
            <a:r>
              <a:t>5 × (4 + 6)  =  (5 × [   ]) + (5 × 6)</a:t>
            </a:r>
          </a:p>
          <a:p>
            <a:pPr algn="ctr">
              <a:defRPr sz="1600">
                <a:solidFill>
                  <a:srgbClr val="0F172A"/>
                </a:solidFill>
                <a:latin typeface="Arial"/>
              </a:defRPr>
            </a:pPr>
            <a:r>
              <a:t>Look at the pattern matching without computing large totals:</a:t>
            </a:r>
            <a:br/>
            <a:r>
              <a:t>• The factor 5 multiplies both the 4 and the 6.</a:t>
            </a:r>
            <a:br/>
            <a:r>
              <a:t>• The right side displays (5 × 6), leaving the matching pair (5 × 4).</a:t>
            </a:r>
            <a:br/>
            <a:br/>
            <a:r>
              <a:t>Therefore, the missing number is precisely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Your Turn: Independent Practice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Open your worksheet: Extra Support 18 (Finding missing numbers)</a:t>
            </a:r>
            <a:br/>
            <a:r>
              <a:t>2. Work systematically through Sections 1 to 6.</a:t>
            </a:r>
            <a:br/>
            <a:r>
              <a:t>3. Show clear working steps for multi-operation sentences.</a:t>
            </a:r>
            <a:br/>
            <a:r>
              <a:t>4. Pro-Tip: Check answers for reasonableness by substituting them back 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485</Words>
  <Application>Microsoft Office PowerPoint</Application>
  <PresentationFormat>On-screen Show (16:9)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SUTHERLAND, Douglas (dsuth10)</cp:lastModifiedBy>
  <cp:revision>2</cp:revision>
  <dcterms:created xsi:type="dcterms:W3CDTF">2013-01-27T09:14:16Z</dcterms:created>
  <dcterms:modified xsi:type="dcterms:W3CDTF">2026-05-14T01:34:21Z</dcterms:modified>
  <cp:category/>
</cp:coreProperties>
</file>