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204" d="100"/>
          <a:sy n="204" d="100"/>
        </p:scale>
        <p:origin x="53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3416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F571B-DD5C-2F5C-DA4D-175C273B7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CB44F-D6B2-94D7-AD35-B98DF2A23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9DD92-B2E9-35EF-F8A3-75922F026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F8505-6D5E-0581-1D2C-4BCFC8F57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67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0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suth/Documents/Joshua/Math_Year5_Multiplication_Long/slide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50" y="936575"/>
            <a:ext cx="1777901" cy="1777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77282" y="2841427"/>
            <a:ext cx="366107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QUEST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091607" y="3371552"/>
            <a:ext cx="301985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Long Multiplication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564136" y="3963144"/>
            <a:ext cx="2056043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Dept | Mission #506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80A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2163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747986"/>
            <a:ext cx="544083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80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Day Logistics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2201912"/>
            <a:ext cx="544083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Welcome, Engineers! Quantum Quest is ready to launch, but we need </a:t>
            </a: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numbers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2765673"/>
            <a:ext cx="544083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miscalculate, the park's systems will fail!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085654"/>
            <a:ext cx="544083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we use the </a:t>
            </a: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Multiplication Algorithm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ensure success.</a:t>
            </a:r>
            <a:endParaRPr lang="en-US" sz="1600" dirty="0"/>
          </a:p>
        </p:txBody>
      </p:sp>
      <p:pic>
        <p:nvPicPr>
          <p:cNvPr id="8" name="Image 0" descr="C:/Users/dsuth/Documents/Joshua/Math_Year5_Multiplication_Long/slides/co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50" y="1301800"/>
            <a:ext cx="2793950" cy="2793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80A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8653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BLUEPRINT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80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2-Digit Strategy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15926"/>
            <a:ext cx="85496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split the mission into four critical steps: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535906"/>
            <a:ext cx="3059906" cy="259936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Multiply by the </a:t>
            </a: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digit.</a:t>
            </a:r>
            <a:endParaRPr lang="en-US" sz="16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Drop the </a:t>
            </a: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Zero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pPr marL="190500" indent="-190500" algn="l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Multiply by the </a:t>
            </a: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digit.</a:t>
            </a:r>
            <a:endParaRPr lang="en-US" sz="1600" dirty="0"/>
          </a:p>
          <a:p>
            <a:pPr marL="190500" indent="-190500" algn="l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the results together!</a:t>
            </a:r>
            <a:endParaRPr lang="en-US" sz="1600" dirty="0"/>
          </a:p>
        </p:txBody>
      </p:sp>
      <p:sp>
        <p:nvSpPr>
          <p:cNvPr id="7" name="Text 5"/>
          <p:cNvSpPr>
            <a:spLocks/>
          </p:cNvSpPr>
          <p:nvPr/>
        </p:nvSpPr>
        <p:spPr>
          <a:xfrm>
            <a:off x="7102628" y="734020"/>
            <a:ext cx="1544985" cy="963811"/>
          </a:xfrm>
          <a:prstGeom prst="roundRect">
            <a:avLst>
              <a:gd name="adj" fmla="val 7906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>
            <a:spLocks/>
          </p:cNvSpPr>
          <p:nvPr/>
        </p:nvSpPr>
        <p:spPr>
          <a:xfrm>
            <a:off x="7121678" y="734020"/>
            <a:ext cx="0" cy="963811"/>
          </a:xfrm>
          <a:prstGeom prst="line">
            <a:avLst/>
          </a:prstGeom>
          <a:noFill/>
          <a:ln w="381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>
            <a:spLocks/>
          </p:cNvSpPr>
          <p:nvPr/>
        </p:nvSpPr>
        <p:spPr>
          <a:xfrm>
            <a:off x="7267678" y="860971"/>
            <a:ext cx="1278044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36 x 72</a:t>
            </a:r>
            <a:endParaRPr lang="en-US" sz="1100" dirty="0"/>
          </a:p>
        </p:txBody>
      </p:sp>
      <p:sp>
        <p:nvSpPr>
          <p:cNvPr id="10" name="Text 8"/>
          <p:cNvSpPr>
            <a:spLocks/>
          </p:cNvSpPr>
          <p:nvPr/>
        </p:nvSpPr>
        <p:spPr>
          <a:xfrm>
            <a:off x="7267678" y="1079301"/>
            <a:ext cx="1278044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36 x 2 = 72</a:t>
            </a:r>
            <a:endParaRPr lang="en-US" sz="1000" dirty="0"/>
          </a:p>
        </p:txBody>
      </p:sp>
      <p:sp>
        <p:nvSpPr>
          <p:cNvPr id="11" name="Text 9"/>
          <p:cNvSpPr>
            <a:spLocks/>
          </p:cNvSpPr>
          <p:nvPr/>
        </p:nvSpPr>
        <p:spPr>
          <a:xfrm>
            <a:off x="7267678" y="1231553"/>
            <a:ext cx="1278044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36 x 70 = 2520</a:t>
            </a:r>
            <a:endParaRPr lang="en-US" sz="1000" dirty="0"/>
          </a:p>
        </p:txBody>
      </p:sp>
      <p:sp>
        <p:nvSpPr>
          <p:cNvPr id="12" name="Shape 10"/>
          <p:cNvSpPr>
            <a:spLocks/>
          </p:cNvSpPr>
          <p:nvPr/>
        </p:nvSpPr>
        <p:spPr>
          <a:xfrm>
            <a:off x="7267678" y="1413867"/>
            <a:ext cx="1252984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>
            <a:spLocks/>
          </p:cNvSpPr>
          <p:nvPr/>
        </p:nvSpPr>
        <p:spPr>
          <a:xfrm>
            <a:off x="7267678" y="1418630"/>
            <a:ext cx="1278044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2592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80A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2664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COMPONENT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03735" y="762000"/>
            <a:ext cx="48524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Forget the Secret.  Zero!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3848" y="1241375"/>
            <a:ext cx="5789831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add a zero because we are multiplying by a </a:t>
            </a: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of 10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42716" y="1831777"/>
            <a:ext cx="673001" cy="673001"/>
          </a:xfrm>
          <a:prstGeom prst="roundRect">
            <a:avLst>
              <a:gd name="adj" fmla="val 113224"/>
            </a:avLst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80246" y="1955006"/>
            <a:ext cx="20174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369618" y="1688306"/>
            <a:ext cx="33983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Multiplying by 7 in 72?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69618" y="2008287"/>
            <a:ext cx="33983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Actually, it's 70!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69618" y="2328267"/>
            <a:ext cx="33983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zero keeps our columns aligned.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80A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35624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WALKTHROUGH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80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The Zero-G Cafe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15926"/>
            <a:ext cx="85496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tables, 53 seats per table. How many total seats?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535906"/>
            <a:ext cx="2050852" cy="268605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0525" y="1545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8475" y="1545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06426" y="1545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3772" y="1614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14376" y="1545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11722" y="1614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0525" y="1926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7871" y="1995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8475" y="1926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06426" y="1926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03772" y="1995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14376" y="1926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11722" y="1995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0525" y="2312194"/>
            <a:ext cx="2031802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2417564" y="2307431"/>
            <a:ext cx="0" cy="38100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390525" y="2678906"/>
            <a:ext cx="203180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395287" y="2307431"/>
            <a:ext cx="0" cy="38100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390525" y="2688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98475" y="2688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406426" y="2688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603772" y="2757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14376" y="2688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111722" y="2757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0525" y="3069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87871" y="3138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8475" y="3069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95821" y="3138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06426" y="3069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603772" y="3138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914376" y="3069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111722" y="3138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0525" y="3450431"/>
            <a:ext cx="2031802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90525" y="3831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87871" y="3900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8475" y="3831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95821" y="3900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406426" y="3831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603772" y="3900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914376" y="3831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111722" y="3900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774603" y="1561207"/>
            <a:ext cx="189133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24 x 3 = 72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774603" y="1835348"/>
            <a:ext cx="189133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Drop the </a:t>
            </a: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2774603" y="2109490"/>
            <a:ext cx="189133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24 x 5 = 120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774603" y="2383631"/>
            <a:ext cx="189133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Add: 72 + 1200 = 1272</a:t>
            </a:r>
            <a:endParaRPr lang="en-US" sz="1300" dirty="0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E510AC70-74EF-AFD2-9E95-CFCF98F3F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541437"/>
              </p:ext>
            </p:extLst>
          </p:nvPr>
        </p:nvGraphicFramePr>
        <p:xfrm>
          <a:off x="4913337" y="1679474"/>
          <a:ext cx="2003226" cy="2342457"/>
        </p:xfrm>
        <a:graphic>
          <a:graphicData uri="http://schemas.openxmlformats.org/drawingml/2006/table">
            <a:tbl>
              <a:tblPr firstRow="1" firstCol="1" bandRow="1"/>
              <a:tblGrid>
                <a:gridCol w="995906">
                  <a:extLst>
                    <a:ext uri="{9D8B030D-6E8A-4147-A177-3AD203B41FA5}">
                      <a16:colId xmlns:a16="http://schemas.microsoft.com/office/drawing/2014/main" val="2754365527"/>
                    </a:ext>
                  </a:extLst>
                </a:gridCol>
                <a:gridCol w="501454">
                  <a:extLst>
                    <a:ext uri="{9D8B030D-6E8A-4147-A177-3AD203B41FA5}">
                      <a16:colId xmlns:a16="http://schemas.microsoft.com/office/drawing/2014/main" val="3870389608"/>
                    </a:ext>
                  </a:extLst>
                </a:gridCol>
                <a:gridCol w="505866">
                  <a:extLst>
                    <a:ext uri="{9D8B030D-6E8A-4147-A177-3AD203B41FA5}">
                      <a16:colId xmlns:a16="http://schemas.microsoft.com/office/drawing/2014/main" val="1031307795"/>
                    </a:ext>
                  </a:extLst>
                </a:gridCol>
              </a:tblGrid>
              <a:tr h="427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455688"/>
                  </a:ext>
                </a:extLst>
              </a:tr>
              <a:tr h="4259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x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666840"/>
                  </a:ext>
                </a:extLst>
              </a:tr>
              <a:tr h="430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404671"/>
                  </a:ext>
                </a:extLst>
              </a:tr>
              <a:tr h="250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45809"/>
                  </a:ext>
                </a:extLst>
              </a:tr>
              <a:tr h="235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+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100" b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24482"/>
                  </a:ext>
                </a:extLst>
              </a:tr>
              <a:tr h="263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682585"/>
                  </a:ext>
                </a:extLst>
              </a:tr>
              <a:tr h="309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5138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F349E-90EA-D55D-7E59-C35714E6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319ACD-3181-8264-1990-FF14EA315DE8}"/>
              </a:ext>
            </a:extLst>
          </p:cNvPr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80A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B6C1C5-2C78-A561-5287-ADE79494E2C8}"/>
              </a:ext>
            </a:extLst>
          </p:cNvPr>
          <p:cNvSpPr/>
          <p:nvPr/>
        </p:nvSpPr>
        <p:spPr>
          <a:xfrm>
            <a:off x="381000" y="152400"/>
            <a:ext cx="35624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WALKTHROUGH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A63F2C-1AC8-05A6-5B59-C38217556CFA}"/>
              </a:ext>
            </a:extLst>
          </p:cNvPr>
          <p:cNvSpPr/>
          <p:nvPr/>
        </p:nvSpPr>
        <p:spPr>
          <a:xfrm>
            <a:off x="381000" y="7620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80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The Zero-G Cafe</a:t>
            </a:r>
            <a:endParaRPr lang="en-US" sz="2400" dirty="0"/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4CE363C9-27DB-EF3B-C1CE-7EDEED3DA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297838"/>
              </p:ext>
            </p:extLst>
          </p:nvPr>
        </p:nvGraphicFramePr>
        <p:xfrm>
          <a:off x="777922" y="2414429"/>
          <a:ext cx="450377" cy="1173480"/>
        </p:xfrm>
        <a:graphic>
          <a:graphicData uri="http://schemas.openxmlformats.org/drawingml/2006/table">
            <a:tbl>
              <a:tblPr firstRow="1" firstCol="1" bandRow="1"/>
              <a:tblGrid>
                <a:gridCol w="168323">
                  <a:extLst>
                    <a:ext uri="{9D8B030D-6E8A-4147-A177-3AD203B41FA5}">
                      <a16:colId xmlns:a16="http://schemas.microsoft.com/office/drawing/2014/main" val="2754365527"/>
                    </a:ext>
                  </a:extLst>
                </a:gridCol>
                <a:gridCol w="168322">
                  <a:extLst>
                    <a:ext uri="{9D8B030D-6E8A-4147-A177-3AD203B41FA5}">
                      <a16:colId xmlns:a16="http://schemas.microsoft.com/office/drawing/2014/main" val="3870389608"/>
                    </a:ext>
                  </a:extLst>
                </a:gridCol>
                <a:gridCol w="113732">
                  <a:extLst>
                    <a:ext uri="{9D8B030D-6E8A-4147-A177-3AD203B41FA5}">
                      <a16:colId xmlns:a16="http://schemas.microsoft.com/office/drawing/2014/main" val="1031307795"/>
                    </a:ext>
                  </a:extLst>
                </a:gridCol>
              </a:tblGrid>
              <a:tr h="162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455688"/>
                  </a:ext>
                </a:extLst>
              </a:tr>
              <a:tr h="162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x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666840"/>
                  </a:ext>
                </a:extLst>
              </a:tr>
              <a:tr h="162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404671"/>
                  </a:ext>
                </a:extLst>
              </a:tr>
              <a:tr h="162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45809"/>
                  </a:ext>
                </a:extLst>
              </a:tr>
              <a:tr h="162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+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100" b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24482"/>
                  </a:ext>
                </a:extLst>
              </a:tr>
              <a:tr h="162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682585"/>
                  </a:ext>
                </a:extLst>
              </a:tr>
              <a:tr h="162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513889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7FD2741D-7554-35E9-D8A9-FA9BE30EDB17}"/>
              </a:ext>
            </a:extLst>
          </p:cNvPr>
          <p:cNvSpPr txBox="1"/>
          <p:nvPr/>
        </p:nvSpPr>
        <p:spPr>
          <a:xfrm>
            <a:off x="307075" y="1304925"/>
            <a:ext cx="4572000" cy="72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11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 the grids below to calculate the supplies. The Magic Zero is pre-filled for you!</a:t>
            </a:r>
          </a:p>
          <a:p>
            <a:pPr>
              <a:spcBef>
                <a:spcPts val="1000"/>
              </a:spcBef>
              <a:buNone/>
            </a:pPr>
            <a:r>
              <a:rPr lang="en-AU" sz="11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a) 12 x 23 (Ordering 12 boxes of 23 anti-gravity pins)</a:t>
            </a:r>
          </a:p>
        </p:txBody>
      </p:sp>
    </p:spTree>
    <p:extLst>
      <p:ext uri="{BB962C8B-B14F-4D97-AF65-F5344CB8AC3E}">
        <p14:creationId xmlns:p14="http://schemas.microsoft.com/office/powerpoint/2010/main" val="646057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80A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CHECK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80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Cosmic Coaster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15926"/>
            <a:ext cx="85496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coaster has </a:t>
            </a: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carriages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Each carriage holds </a:t>
            </a: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riders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535906"/>
            <a:ext cx="85496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your boards: How many riders in a full train?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80A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27942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MISSION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80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Your Engineering Role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41375"/>
            <a:ext cx="2709267" cy="609451"/>
          </a:xfrm>
          <a:prstGeom prst="roundRect">
            <a:avLst>
              <a:gd name="adj" fmla="val 10419"/>
            </a:avLst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1327100"/>
            <a:ext cx="25885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Builder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725" y="1536650"/>
            <a:ext cx="2588574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grids and smaller numbers.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17218" y="1241375"/>
            <a:ext cx="2709416" cy="609451"/>
          </a:xfrm>
          <a:prstGeom prst="roundRect">
            <a:avLst>
              <a:gd name="adj" fmla="val 10419"/>
            </a:avLst>
          </a:prstGeom>
          <a:solidFill>
            <a:srgbClr val="FDFEFE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02943" y="1327100"/>
            <a:ext cx="2588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Engineer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02943" y="1536650"/>
            <a:ext cx="2588725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algorithm for logistics.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53584" y="1241375"/>
            <a:ext cx="2709416" cy="609451"/>
          </a:xfrm>
          <a:prstGeom prst="roundRect">
            <a:avLst>
              <a:gd name="adj" fmla="val 10419"/>
            </a:avLst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39309" y="1327100"/>
            <a:ext cx="2588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Director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39309" y="1536650"/>
            <a:ext cx="2588725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budget problems.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1000" y="2041327"/>
            <a:ext cx="854964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1500"/>
              </a:spcBef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"Check your blueprint twice, build once!"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80A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22366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80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Glitch!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15926"/>
            <a:ext cx="85496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items at $89 each. Spot the error!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535906"/>
            <a:ext cx="2050852" cy="268605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0525" y="1545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8475" y="1545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06426" y="1545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3772" y="1614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14376" y="1545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11722" y="1614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0525" y="1926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7871" y="1995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8475" y="1926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06426" y="1926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03772" y="1995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14376" y="1926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11722" y="1995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0525" y="2307431"/>
            <a:ext cx="2031802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90525" y="2688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98475" y="2688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95821" y="2757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06426" y="2688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03772" y="2757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14376" y="2688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111722" y="2757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0525" y="3069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98475" y="3069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406426" y="3069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603772" y="3138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914376" y="3069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111722" y="3138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0525" y="3450431"/>
            <a:ext cx="2031802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90525" y="3831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98475" y="3831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95821" y="3900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06426" y="3831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603772" y="3900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914376" y="3831431"/>
            <a:ext cx="507950" cy="381000"/>
          </a:xfrm>
          <a:prstGeom prst="rect">
            <a:avLst/>
          </a:prstGeom>
          <a:noFill/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111722" y="3900041"/>
            <a:ext cx="1153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685752" y="1662857"/>
            <a:ext cx="187661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ERROR!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685752" y="1936998"/>
            <a:ext cx="187661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the engineer forget?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685752" y="2180779"/>
            <a:ext cx="187661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money was lost?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80A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24873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COMPLETE?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49203" y="1817787"/>
            <a:ext cx="29023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80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Security Code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90850" y="2360712"/>
            <a:ext cx="322554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this equation to exit the park: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55120" y="2833092"/>
            <a:ext cx="105428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x 89 = 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20343" y="3305473"/>
            <a:ext cx="275738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answer on your exit ticket!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0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suth/Documents/Joshua/Math_Year5_Multiplication_Long/slide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950" y="1227088"/>
            <a:ext cx="1269950" cy="1269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98514" y="2598539"/>
            <a:ext cx="44337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Quest is Ready!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052167" y="3058864"/>
            <a:ext cx="3100459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job, Engineers. The park is safe.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189387" y="3581698"/>
            <a:ext cx="2765078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3189387" y="3687961"/>
            <a:ext cx="282037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"Precision in practice, excellence in engineering."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485</Words>
  <Application>Microsoft Office PowerPoint</Application>
  <PresentationFormat>On-screen Show (16:9)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Quest: Long Multiplication</dc:title>
  <dc:subject>PptxGenJS Presentation</dc:subject>
  <dc:creator>Antigravity Assistant</dc:creator>
  <cp:lastModifiedBy>SUTHERLAND, Douglas (dsuth10)</cp:lastModifiedBy>
  <cp:revision>3</cp:revision>
  <dcterms:created xsi:type="dcterms:W3CDTF">2026-05-10T23:39:32Z</dcterms:created>
  <dcterms:modified xsi:type="dcterms:W3CDTF">2026-05-10T23:57:07Z</dcterms:modified>
</cp:coreProperties>
</file>