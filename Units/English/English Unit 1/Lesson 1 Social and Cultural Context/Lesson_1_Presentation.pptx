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5083" y="1671638"/>
            <a:ext cx="439383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250579" y="2706588"/>
            <a:ext cx="473569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and Cultural Context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8128099" cy="2087761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3360"/>
              </a:lnSpc>
              <a:spcAft>
                <a:spcPts val="1500"/>
              </a:spcAft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affect characters.</a:t>
            </a:r>
            <a:endParaRPr lang="en-US" sz="2400" dirty="0"/>
          </a:p>
          <a:p>
            <a:pPr algn="l" marL="254000" indent="-254000">
              <a:lnSpc>
                <a:spcPts val="3360"/>
              </a:lnSpc>
              <a:spcAft>
                <a:spcPts val="1500"/>
              </a:spcAft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differences between 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Waleup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  <a:p>
            <a:pPr algn="l" marL="254000" indent="-254000">
              <a:lnSpc>
                <a:spcPts val="3360"/>
              </a:lnSpc>
              <a:spcAft>
                <a:spcPts val="1500"/>
              </a:spcAft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'capital'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Jason and Dylan.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Context?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65175"/>
            <a:ext cx="8128099" cy="1698278"/>
          </a:xfrm>
          <a:prstGeom prst="roundRect">
            <a:avLst>
              <a:gd name="adj" fmla="val 11217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19076"/>
            <a:ext cx="777270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&amp; Cultural Context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1851" y="1898452"/>
            <a:ext cx="7772704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environment, location, and social status that surrounds a character.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3053953"/>
            <a:ext cx="829066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includes: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950" y="3536454"/>
            <a:ext cx="8128099" cy="109418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they live.</a:t>
            </a:r>
            <a:endParaRPr lang="en-US" sz="1800" dirty="0"/>
          </a:p>
          <a:p>
            <a:pPr algn="l" marL="158750" indent="-15875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they own or can use.</a:t>
            </a:r>
            <a:endParaRPr lang="en-US" sz="1800" dirty="0"/>
          </a:p>
          <a:p>
            <a:pPr algn="l" marL="158750" indent="-15875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Standing: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they are seen by others.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Waleup: Regional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725"/>
            <a:ext cx="4087267" cy="17270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Setting:</a:t>
            </a:r>
            <a:pPr algn="l" indent="0" marL="0">
              <a:lnSpc>
                <a:spcPts val="28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Dusty, isolated, hot.</a:t>
            </a:r>
            <a:endParaRPr lang="en-US" sz="2000" dirty="0"/>
          </a:p>
          <a:p>
            <a:pPr algn="l" marL="127000" indent="-1270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Vibe:</a:t>
            </a:r>
            <a:pPr algn="l" indent="0" marL="0">
              <a:lnSpc>
                <a:spcPts val="28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Quiet, small community.</a:t>
            </a:r>
            <a:endParaRPr lang="en-US" sz="2000" dirty="0"/>
          </a:p>
          <a:p>
            <a:pPr algn="l" marL="127000" indent="-1270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pPr algn="l" indent="0" marL="0">
              <a:lnSpc>
                <a:spcPts val="28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Dylan has space but feels far from the "world".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Tokyo: Global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48783" y="1228725"/>
            <a:ext cx="4087267" cy="17270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Setting:</a:t>
            </a:r>
            <a:pPr algn="l" indent="0" marL="0">
              <a:lnSpc>
                <a:spcPts val="28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Neon, crowded, fast.</a:t>
            </a:r>
            <a:endParaRPr lang="en-US" sz="2000" dirty="0"/>
          </a:p>
          <a:p>
            <a:pPr algn="l" marL="127000" indent="-1270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Vibe:</a:t>
            </a:r>
            <a:pPr algn="l" indent="0" marL="0">
              <a:lnSpc>
                <a:spcPts val="28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High-tech, international.</a:t>
            </a:r>
            <a:endParaRPr lang="en-US" sz="2000" dirty="0"/>
          </a:p>
          <a:p>
            <a:pPr algn="l" marL="127000" indent="-1270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pPr algn="l" indent="0" marL="0">
              <a:lnSpc>
                <a:spcPts val="28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Dylan is an "outsider" in a big, modern world.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Waleup vs. Tokyo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Jason: Economic Capital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050875"/>
            <a:ext cx="8128099" cy="2285554"/>
          </a:xfrm>
          <a:prstGeom prst="roundRect">
            <a:avLst>
              <a:gd name="adj" fmla="val 6668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21198" y="1601539"/>
            <a:ext cx="557016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Wealth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921198" y="2074515"/>
            <a:ext cx="5570169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5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has money, the best planes, and professional wind tunnels for testing.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3590330"/>
            <a:ext cx="8128099" cy="35555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having the best gear the same as being the best flier?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Dylan: Cultural Capital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050875"/>
            <a:ext cx="8128099" cy="2285554"/>
          </a:xfrm>
          <a:prstGeom prst="roundRect">
            <a:avLst>
              <a:gd name="adj" fmla="val 6668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43225" y="1601539"/>
            <a:ext cx="554770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Wisdom &amp; Grit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943225" y="2074515"/>
            <a:ext cx="5547702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500"/>
              </a:spcBef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Dylan has Grandpa's support, family history, and a "never-give-up" attitude.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3590330"/>
            <a:ext cx="8128099" cy="35555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this type of 'capital' so powerful?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335584"/>
            <a:ext cx="7619851" cy="2824758"/>
          </a:xfrm>
          <a:prstGeom prst="roundRect">
            <a:avLst>
              <a:gd name="adj" fmla="val 8992"/>
            </a:avLst>
          </a:prstGeom>
          <a:noFill/>
          <a:ln w="38100">
            <a:solidFill>
              <a:srgbClr val="F96D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8463" y="1691134"/>
            <a:ext cx="70469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 Level Playing Field?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8463" y="2291209"/>
            <a:ext cx="7046925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15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having more money make the best plane, or does the person "throwing the plane" matter more?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8463" y="3256211"/>
            <a:ext cx="70469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2000"/>
              </a:spcBef>
              <a:spcAft>
                <a:spcPts val="1800"/>
              </a:spcAft>
              <a:buNone/>
            </a:pPr>
            <a:r>
              <a:rPr lang="en-US" sz="1800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Steve Worland want us to believe?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3474" y="854125"/>
            <a:ext cx="369705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Check!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07592" y="1812875"/>
            <a:ext cx="652881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exit ticket assessing your understanding of context and capital.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192685" y="3203525"/>
            <a:ext cx="4758482" cy="1085850"/>
          </a:xfrm>
          <a:prstGeom prst="roundRect">
            <a:avLst>
              <a:gd name="adj" fmla="val 35088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45710" y="3394025"/>
            <a:ext cx="285347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Microsoft Forms Quiz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2026-03-16T01:25:48Z</dcterms:created>
  <dcterms:modified xsi:type="dcterms:W3CDTF">2026-03-16T01:25:48Z</dcterms:modified>
</cp:coreProperties>
</file>