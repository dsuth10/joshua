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1460004"/>
            <a:ext cx="932688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618"/>
              </a:spcBef>
              <a:spcAft>
                <a:spcPts val="2000"/>
              </a:spcAft>
              <a:buNone/>
            </a:pPr>
            <a:r>
              <a:rPr lang="en-US" sz="5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 Language &amp; Character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-91440" y="3377654"/>
            <a:ext cx="93268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Planes: Week 2, Lesson 7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0626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'Informal Language'?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974527"/>
            <a:ext cx="8290661" cy="660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changes depending on </a:t>
            </a:r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are talking to and </a:t>
            </a:r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are.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761976"/>
            <a:ext cx="8128099" cy="1041499"/>
          </a:xfrm>
          <a:prstGeom prst="roundRect">
            <a:avLst>
              <a:gd name="adj" fmla="val 14633"/>
            </a:avLst>
          </a:prstGeom>
          <a:solidFill>
            <a:srgbClr val="3F72AF"/>
          </a:solidFill>
          <a:ln/>
          <a:effectLst>
            <a:outerShdw sx="100000" sy="100000" kx="0" ky="0" algn="bl" rotWithShape="0" blurRad="76200" dist="26941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1952476"/>
            <a:ext cx="7902041" cy="660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 Language</a:t>
            </a:r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casual, relaxed way we speak with friends, family, and people in our community.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50" y="2930426"/>
            <a:ext cx="8290661" cy="660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wouldn't speak to the school principal exactly the same way we speak to our best friend at the park!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0626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Aussie Slang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974527"/>
            <a:ext cx="388620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</a:t>
            </a:r>
            <a:pPr algn="l" indent="0" marL="0">
              <a:buNone/>
            </a:pPr>
            <a:r>
              <a:rPr lang="en-US" sz="2000" i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Planes</a:t>
            </a:r>
            <a:pPr algn="l" indent="0" marL="0"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Dylan and his community use a lot of Australian slang.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2050852"/>
            <a:ext cx="3810000" cy="549176"/>
          </a:xfrm>
          <a:prstGeom prst="rect">
            <a:avLst/>
          </a:prstGeom>
          <a:solidFill>
            <a:srgbClr val="DBE2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55575" y="2050852"/>
            <a:ext cx="0" cy="549176"/>
          </a:xfrm>
          <a:prstGeom prst="line">
            <a:avLst/>
          </a:prstGeom>
          <a:noFill/>
          <a:ln w="95250">
            <a:solidFill>
              <a:srgbClr val="3F72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0151" y="2177802"/>
            <a:ext cx="353006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"Mate"</a:t>
            </a:r>
            <a:pPr algn="l" indent="0" marL="0"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A friend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7950" y="2790527"/>
            <a:ext cx="3810000" cy="549176"/>
          </a:xfrm>
          <a:prstGeom prst="rect">
            <a:avLst/>
          </a:prstGeom>
          <a:solidFill>
            <a:srgbClr val="DBE2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55575" y="2790527"/>
            <a:ext cx="0" cy="549176"/>
          </a:xfrm>
          <a:prstGeom prst="line">
            <a:avLst/>
          </a:prstGeom>
          <a:noFill/>
          <a:ln w="95250">
            <a:solidFill>
              <a:srgbClr val="3F72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0151" y="2917478"/>
            <a:ext cx="353006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"Esky"</a:t>
            </a:r>
            <a:pPr algn="l" indent="0" marL="0"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Cooler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25901" y="1609427"/>
            <a:ext cx="3810149" cy="844451"/>
          </a:xfrm>
          <a:prstGeom prst="rect">
            <a:avLst/>
          </a:prstGeom>
          <a:solidFill>
            <a:srgbClr val="DBE2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73526" y="1609427"/>
            <a:ext cx="0" cy="844451"/>
          </a:xfrm>
          <a:prstGeom prst="line">
            <a:avLst/>
          </a:prstGeom>
          <a:noFill/>
          <a:ln w="95250">
            <a:solidFill>
              <a:srgbClr val="3F72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8101" y="1736378"/>
            <a:ext cx="353021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"Fair dinkum"</a:t>
            </a:r>
            <a:pPr algn="l" indent="0" marL="0"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Honest / True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25901" y="2644378"/>
            <a:ext cx="3810149" cy="549176"/>
          </a:xfrm>
          <a:prstGeom prst="rect">
            <a:avLst/>
          </a:prstGeom>
          <a:solidFill>
            <a:srgbClr val="DBE2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873526" y="2644378"/>
            <a:ext cx="0" cy="549176"/>
          </a:xfrm>
          <a:prstGeom prst="line">
            <a:avLst/>
          </a:prstGeom>
          <a:noFill/>
          <a:ln w="95250">
            <a:solidFill>
              <a:srgbClr val="3F72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8101" y="2771329"/>
            <a:ext cx="353021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"Bonza"</a:t>
            </a:r>
            <a:pPr algn="l" indent="0" marL="0"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Excellent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0626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so much slang?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974527"/>
            <a:ext cx="8128099" cy="1107281"/>
          </a:xfrm>
          <a:prstGeom prst="roundRect">
            <a:avLst>
              <a:gd name="adj" fmla="val 13763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165027"/>
            <a:ext cx="7902041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 choose specific words for their characters to tell us more about them.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7950" y="2272308"/>
            <a:ext cx="829066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these questions: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1851" y="2940248"/>
            <a:ext cx="7874198" cy="13716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Dylan live?</a:t>
            </a:r>
            <a:endParaRPr lang="en-US" sz="2400" dirty="0"/>
          </a:p>
          <a:p>
            <a:pPr algn="l" marL="190500" indent="-1905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close is the community?</a:t>
            </a:r>
            <a:endParaRPr lang="en-US" sz="2400" dirty="0"/>
          </a:p>
          <a:p>
            <a:pPr algn="l" marL="190500" indent="-190500">
              <a:lnSpc>
                <a:spcPts val="3600"/>
              </a:lnSpc>
              <a:buSzPct val="100000"/>
              <a:buChar char="•"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they formal people, or relaxed?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7039" y="1031974"/>
            <a:ext cx="7109773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350"/>
              </a:spcBef>
              <a:spcAft>
                <a:spcPts val="3000"/>
              </a:spcAft>
              <a:buNone/>
            </a:pPr>
            <a:r>
              <a:rPr lang="en-US" sz="5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say 'Mate'?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1017039" y="2136874"/>
            <a:ext cx="710977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lang="en-US" sz="26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Australia, calling someone </a:t>
            </a:r>
            <a:pPr algn="ctr" indent="0" marL="0">
              <a:lnSpc>
                <a:spcPts val="39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lang="en-US" sz="26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</a:t>
            </a:r>
            <a:pPr algn="ctr" indent="0" marL="0">
              <a:lnSpc>
                <a:spcPts val="39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lang="en-US" sz="26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sign of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17039" y="2962275"/>
            <a:ext cx="710977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spcBef>
                <a:spcPts val="2000"/>
              </a:spcBef>
              <a:spcAft>
                <a:spcPts val="2600"/>
              </a:spcAft>
              <a:buNone/>
            </a:pPr>
            <a:r>
              <a:rPr lang="en-US" sz="26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equality</a:t>
            </a:r>
            <a:pPr algn="ctr" indent="0" marL="0">
              <a:lnSpc>
                <a:spcPts val="3900"/>
              </a:lnSpc>
              <a:spcBef>
                <a:spcPts val="2000"/>
              </a:spcBef>
              <a:spcAft>
                <a:spcPts val="2600"/>
              </a:spcAft>
              <a:buNone/>
            </a:pPr>
            <a:r>
              <a:rPr lang="en-US" sz="26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ctr" indent="0" marL="0">
              <a:lnSpc>
                <a:spcPts val="3900"/>
              </a:lnSpc>
              <a:spcBef>
                <a:spcPts val="2000"/>
              </a:spcBef>
              <a:spcAft>
                <a:spcPts val="2600"/>
              </a:spcAft>
              <a:buNone/>
            </a:pPr>
            <a:r>
              <a:rPr lang="en-US" sz="26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friendship</a:t>
            </a:r>
            <a:pPr algn="ctr" indent="0" marL="0">
              <a:lnSpc>
                <a:spcPts val="3900"/>
              </a:lnSpc>
              <a:spcBef>
                <a:spcPts val="2000"/>
              </a:spcBef>
              <a:spcAft>
                <a:spcPts val="2600"/>
              </a:spcAft>
              <a:buNone/>
            </a:pPr>
            <a:r>
              <a:rPr lang="en-US" sz="26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17039" y="3838575"/>
            <a:ext cx="7109773" cy="418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spcBef>
                <a:spcPts val="30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shows that nobody is "better" than anyone else.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0626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Dylan vs. The School (Code-Switching)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974527"/>
            <a:ext cx="3937099" cy="2667000"/>
          </a:xfrm>
          <a:prstGeom prst="roundRect">
            <a:avLst>
              <a:gd name="adj" fmla="val 5714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2889" y="1771204"/>
            <a:ext cx="36272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Dylan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2889" y="2250579"/>
            <a:ext cx="3627221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"G'day mate, how's it going? Chuck it in the back of the ute."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98950" y="974527"/>
            <a:ext cx="3937099" cy="2743200"/>
          </a:xfrm>
          <a:prstGeom prst="roundRect">
            <a:avLst>
              <a:gd name="adj" fmla="val 5556"/>
            </a:avLst>
          </a:prstGeom>
          <a:solidFill>
            <a:srgbClr val="DBE2EF"/>
          </a:solidFill>
          <a:ln w="38100">
            <a:solidFill>
              <a:srgbClr val="112D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92751" y="1660773"/>
            <a:ext cx="354949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School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892751" y="2140148"/>
            <a:ext cx="3549497" cy="891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i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"Good morning students. Please place your belongings in the designated area."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88827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549792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Work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7950" y="1342727"/>
            <a:ext cx="8128099" cy="744141"/>
          </a:xfrm>
          <a:prstGeom prst="roundRect">
            <a:avLst>
              <a:gd name="adj" fmla="val 20480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533227"/>
            <a:ext cx="790204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time to open your </a:t>
            </a:r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Handout</a:t>
            </a:r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7950" y="2277368"/>
            <a:ext cx="8290661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286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Match the slang words in Part 1.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50" y="2848719"/>
            <a:ext cx="8290661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286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Answer the Character Voice questions in Part 2.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7950" y="3420070"/>
            <a:ext cx="8290661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your hand at "Code-Switching" in Part 3.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Lesson 7 Presentation</dc:title>
  <dc:subject>PptxGenJS Presentation</dc:subject>
  <dc:creator>Joshua</dc:creator>
  <cp:lastModifiedBy>Joshua</cp:lastModifiedBy>
  <cp:revision>1</cp:revision>
  <dcterms:created xsi:type="dcterms:W3CDTF">2026-02-25T22:31:11Z</dcterms:created>
  <dcterms:modified xsi:type="dcterms:W3CDTF">2026-02-25T22:31:11Z</dcterms:modified>
</cp:coreProperties>
</file>