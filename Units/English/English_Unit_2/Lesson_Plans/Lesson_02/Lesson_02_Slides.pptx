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092" autoAdjust="0"/>
  </p:normalViewPr>
  <p:slideViewPr>
    <p:cSldViewPr snapToGrid="0" snapToObjects="1">
      <p:cViewPr varScale="1">
        <p:scale>
          <a:sx n="82" d="100"/>
          <a:sy n="82" d="100"/>
        </p:scale>
        <p:origin x="1674" y="8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82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1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of an Informative Text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B1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Archive Hub and Cyclone Tracy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English — Unit 2 — Sequence 1, Week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Tarampa State School · Term 2,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Learning intention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Learning intention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 can describe the characteristic stages and phases of an informative text.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Success criteria — I am successful when I can: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• Name the parts of a PEEL structure. 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• Match parts of the Cyclone Archive hub page to a PEEL stage. 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• Annotate the Cyclone Tracy sub-page in pairs using stage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401221"/>
            <a:ext cx="10515600" cy="1348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Activate — Purpose and audience (rom Lesson 1)</a:t>
            </a: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8200" y="2586789"/>
            <a:ext cx="10515600" cy="3590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/>
              <a:t> What is the purpose of the Cyclone Archive hub page?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/>
              <a:t> Who is a likely audience? What clues did you use?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/>
              <a:t>Today we ask: How is the information </a:t>
            </a:r>
            <a:r>
              <a:rPr lang="en-US" sz="3200" dirty="0" err="1"/>
              <a:t>organised</a:t>
            </a:r>
            <a:r>
              <a:rPr lang="en-US" sz="3200" dirty="0"/>
              <a:t> in stages?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Explore — Characteristic stages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Informative texts often move through stages that help readers learn in a logical order.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 this lesson we use four stages: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1. Point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2. Explain.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3. Evidence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4. Link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Stage reference — what each stage does</a:t>
            </a: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Point</a:t>
            </a:r>
            <a:r>
              <a:rPr lang="en-US" sz="2200" dirty="0"/>
              <a:t>— names the topic and scope; tells what kind of information to expect.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Explanation — sets the scene; introduces key parts, places, or categories.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Elaboration— adds precise detail: numbers, dates, evidence, explanation.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Link — pulls key ideas together; highlights main findings or takeaways.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Hub — </a:t>
            </a:r>
            <a:r>
              <a:rPr lang="en-US" sz="3800" b="1" dirty="0">
                <a:latin typeface="+mj-lt"/>
                <a:ea typeface="+mj-ea"/>
                <a:cs typeface="+mj-cs"/>
              </a:rPr>
              <a:t>Point. </a:t>
            </a:r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(editorial intro)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1. Which stage fits this block best — mostly classification, or mostly factual elaboration? Why?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2. What phrases show the topic and scope (what the archive is about)?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3. Why might the writer place this overview before the cyclone cards?</a:t>
            </a:r>
          </a:p>
        </p:txBody>
      </p:sp>
      <p:pic>
        <p:nvPicPr>
          <p:cNvPr id="4" name="Image 0" descr="C:\Users\dsuth\Documents\Joshua\Units\English\English_Unit_2\Unit_Plan\Lesson_02_Screenshots\hub_editorial_intro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54296" y="2255367"/>
            <a:ext cx="6903720" cy="2347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Hub — </a:t>
            </a:r>
            <a:r>
              <a:rPr lang="en-US" sz="4600" b="1" dirty="0">
                <a:latin typeface="+mj-lt"/>
                <a:ea typeface="+mj-ea"/>
                <a:cs typeface="+mj-cs"/>
              </a:rPr>
              <a:t>Explain  </a:t>
            </a:r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(chapter cards)</a:t>
            </a:r>
            <a:endParaRPr lang="en-US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1. How do the cards help describe the archive in parts rather than one long chunk?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2. What is repeated on each card (year, place, teaser, data) — and why repeat it?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3. Which stage is this mainly doing — description or factual elaboration? Defend your choice with one clue.</a:t>
            </a:r>
          </a:p>
        </p:txBody>
      </p:sp>
      <p:pic>
        <p:nvPicPr>
          <p:cNvPr id="4" name="Image 0" descr="C:\Users\dsuth\Documents\Joshua\Units\English\English_Unit_2\Unit_Plan\Lesson_02_Screenshots\hub_card_gri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64922" y="640080"/>
            <a:ext cx="4727219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9551" y="1713620"/>
            <a:ext cx="3419856" cy="4159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Hub — </a:t>
            </a:r>
            <a:r>
              <a:rPr lang="en-US" sz="3600" b="1" dirty="0">
                <a:latin typeface="+mj-lt"/>
                <a:ea typeface="+mj-ea"/>
                <a:cs typeface="+mj-cs"/>
              </a:rPr>
              <a:t>Evidence 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(statistics strip)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694620" y="1561220"/>
            <a:ext cx="6912865" cy="4734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1. What factual details can you read straight from the numbers?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2. How do statistics support the informative purpose before you read full stories?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3. Pick one number. What does it prove or illustrate?</a:t>
            </a:r>
          </a:p>
        </p:txBody>
      </p:sp>
      <p:pic>
        <p:nvPicPr>
          <p:cNvPr id="4" name="Image 0" descr="C:\Users\dsuth\Documents\Joshua\Units\English\English_Unit_2\Unit_Plan\Lesson_02_Screenshots\hub_stat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0509" y="326947"/>
            <a:ext cx="10917936" cy="10644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1013" y="327026"/>
            <a:ext cx="3290887" cy="2287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</a:rPr>
              <a:t>Hub — Link. 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23982" y="327026"/>
            <a:ext cx="7485413" cy="2287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1. How does this section pull together what the archive offers readers?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2. Where do you see synthesis (bringing lenses together) rather than a single new fact?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3. Could this work like a conclusion on a webpage? Why or why not?</a:t>
            </a:r>
          </a:p>
        </p:txBody>
      </p:sp>
      <p:pic>
        <p:nvPicPr>
          <p:cNvPr id="4" name="Image 0" descr="C:\Users\dsuth\Documents\Joshua\Units\English\English_Unit_2\Unit_Plan\Lesson_02_Screenshots\hub_about_evidence.png"/>
          <p:cNvPicPr>
            <a:picLocks noChangeAspect="1"/>
          </p:cNvPicPr>
          <p:nvPr/>
        </p:nvPicPr>
        <p:blipFill>
          <a:blip r:embed="rId3"/>
          <a:srcRect t="95" b="2665"/>
          <a:stretch>
            <a:fillRect/>
          </a:stretch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— Annotating the hub page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/>
              <a:t>Teacher think-aloud: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/>
              <a:t>• "This paragraph mainly classifies the topic because…"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/>
              <a:t>• "These cards mainly describe the parts because…"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Now — Cyclone Tracy sub-page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Open: Cyclone Archive → Cyclone Tracy (or your printed copy).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We will use the same four stages on a chapter page.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Look for: hero title, intro paragraphs, section headings, sidebar facts.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Question to hold in mind: Does every section fit only one stage, or can stages overlap?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43193" y="489507"/>
            <a:ext cx="3091607" cy="16554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>
                <a:latin typeface="+mj-lt"/>
                <a:ea typeface="+mj-ea"/>
                <a:cs typeface="+mj-cs"/>
              </a:rPr>
              <a:t>Tracy — Classification (hero)</a:t>
            </a:r>
            <a:endParaRPr lang="en-US" sz="3700">
              <a:latin typeface="+mj-lt"/>
              <a:ea typeface="+mj-ea"/>
              <a:cs typeface="+mj-cs"/>
            </a:endParaRPr>
          </a:p>
        </p:txBody>
      </p:sp>
      <p:pic>
        <p:nvPicPr>
          <p:cNvPr id="4" name="Image 0" descr="C:\Users\dsuth\Documents\Joshua\Units\English\English_Unit_2\Unit_Plan\Lesson_02_Screenshots\tracy_hero.png"/>
          <p:cNvPicPr>
            <a:picLocks noChangeAspect="1"/>
          </p:cNvPicPr>
          <p:nvPr/>
        </p:nvPicPr>
        <p:blipFill>
          <a:blip r:embed="rId3"/>
          <a:srcRect l="17467" r="15098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3193" y="2418408"/>
            <a:ext cx="2942813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1. What tells you the topic and time period in one glance?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2. How does the deck line under the title shape what kind of text this is?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3. Who is this hero section for — quick scanners or deep readers? How do you know?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38200" y="448721"/>
            <a:ext cx="4707671" cy="1225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Tracy —(intro paragraphs)</a:t>
            </a:r>
            <a:endParaRPr lang="en-US" sz="3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2"/>
          <p:cNvSpPr/>
          <p:nvPr/>
        </p:nvSpPr>
        <p:spPr>
          <a:xfrm>
            <a:off x="897769" y="1909192"/>
            <a:ext cx="4586513" cy="37984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514350" indent="-51435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What scene does the writer set before giving detailed impacts?</a:t>
            </a:r>
          </a:p>
          <a:p>
            <a:pPr marL="514350" indent="-51435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bg1"/>
                </a:solidFill>
              </a:rPr>
              <a:t>2. Which details are observational (conditions) versus measured (e.g. wind speed)?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bg1"/>
                </a:solidFill>
              </a:rPr>
              <a:t>3. Is this mainly description or already factual elaboration? Why might pairs disagree?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C:\Users\dsuth\Documents\Joshua\Units\English\English_Unit_2\Unit_Plan\Lesson_02_Screenshots\tracy_intro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29651" y="1806951"/>
            <a:ext cx="5666547" cy="32440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27800" y="448721"/>
            <a:ext cx="4713997" cy="1225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Tracy — (The Sound of Destruction)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 0" descr="C:\Users\dsuth\Documents\Joshua\Units\English\English_Unit_2\Unit_Plan\Lesson_02_Screenshots\tracy_section_soun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6946" y="1296962"/>
            <a:ext cx="5666547" cy="426407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2"/>
          <p:cNvSpPr/>
          <p:nvPr/>
        </p:nvSpPr>
        <p:spPr>
          <a:xfrm>
            <a:off x="6527800" y="1909192"/>
            <a:ext cx="4713997" cy="36477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1. What factual claims can you find about damage and loss?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2. How do image and caption add information the paragraphs do not?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3. Which numbers or specifics would you underline as evidence?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27800" y="448721"/>
            <a:ext cx="4713997" cy="1225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Tracy — (Operation Navy Help)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 0" descr="C:\Users\dsuth\Documents\Joshua\Units\English\English_Unit_2\Unit_Plan\Lesson_02_Screenshots\tracy_section_navy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7284" y="1778618"/>
            <a:ext cx="5666547" cy="330076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2"/>
          <p:cNvSpPr/>
          <p:nvPr/>
        </p:nvSpPr>
        <p:spPr>
          <a:xfrm>
            <a:off x="6527800" y="1909192"/>
            <a:ext cx="4713997" cy="36477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1. What response facts are given (evacuation, time span)?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2. How does this section extend the timeline after landfall?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3. Is this still elaboration, or does it begin to </a:t>
            </a:r>
            <a:r>
              <a:rPr lang="en-US" sz="2800" dirty="0" err="1">
                <a:solidFill>
                  <a:schemeClr val="bg1"/>
                </a:solidFill>
              </a:rPr>
              <a:t>summarise</a:t>
            </a:r>
            <a:r>
              <a:rPr lang="en-US" sz="2800" dirty="0">
                <a:solidFill>
                  <a:schemeClr val="bg1"/>
                </a:solidFill>
              </a:rPr>
              <a:t> the human response? Discuss.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38200" y="448721"/>
            <a:ext cx="4707671" cy="1225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Tracy — Summary-style takeaways (Fast Facts)</a:t>
            </a:r>
            <a:endParaRPr lang="en-US" sz="3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2"/>
          <p:cNvSpPr/>
          <p:nvPr/>
        </p:nvSpPr>
        <p:spPr>
          <a:xfrm>
            <a:off x="897769" y="1909192"/>
            <a:ext cx="4586513" cy="36477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1. How is information compressed compared with the long article?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2. Which facts would a reader use to compare Tracy to another cyclone?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3. Why place Fast Facts in the margin instead of only at the bottom?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BDD5640-EA84-030B-AD91-B6DC4938C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453" y="0"/>
            <a:ext cx="44809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22635" y="1250575"/>
            <a:ext cx="4604274" cy="416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Connect — Pair task</a:t>
            </a:r>
            <a:endParaRPr lang="en-US" sz="80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93224" y="860612"/>
            <a:ext cx="4797909" cy="5023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 pairs, complete the Cyclone Larry grid on your worksheet.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For each Section </a:t>
            </a:r>
          </a:p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Decide the best-fitting stage.</a:t>
            </a:r>
          </a:p>
          <a:p>
            <a:pPr lvl="1"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Write one evidence clue copied from the page.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22635" y="1250575"/>
            <a:ext cx="4604274" cy="416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Exit ticket</a:t>
            </a:r>
            <a:endParaRPr lang="en-US" sz="8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93224" y="860612"/>
            <a:ext cx="4797909" cy="5023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Students: On your worksheet, complete the exit ticket: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The four stages in order: ___, ___, ___, ___.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The stage I was most confident about was ___ because ___.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Extension (core): find one extra sentence of factual elaboration on the Tracy page and read it aloud.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Hide or mask the teacher block if you export a student 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948</Words>
  <Application>Microsoft Office PowerPoint</Application>
  <PresentationFormat>Widescreen</PresentationFormat>
  <Paragraphs>125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2: Stages of Informative Texts — Cyclone Archive</dc:title>
  <dc:subject>Year 5 English — Unit 2</dc:subject>
  <dc:creator>Tarampa State School</dc:creator>
  <cp:lastModifiedBy>SUTHERLAND, Douglas (dsuth10)</cp:lastModifiedBy>
  <cp:revision>4</cp:revision>
  <dcterms:created xsi:type="dcterms:W3CDTF">2026-04-20T11:44:22Z</dcterms:created>
  <dcterms:modified xsi:type="dcterms:W3CDTF">2026-04-21T01:41:32Z</dcterms:modified>
</cp:coreProperties>
</file>