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113" y="1916162"/>
            <a:ext cx="7761774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 We Choose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835473" y="2874913"/>
            <a:ext cx="354236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Context &amp; Register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7950" y="841177"/>
            <a:ext cx="8128099" cy="25301"/>
          </a:xfrm>
          <a:prstGeom prst="rect">
            <a:avLst/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298228"/>
            <a:ext cx="8290661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explain how language is selected for </a:t>
            </a:r>
            <a:pPr algn="l" indent="0" marL="0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contexts</a:t>
            </a:r>
            <a:pPr algn="l" indent="0" marL="0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signals the relationship between </a:t>
            </a:r>
            <a:pPr algn="l" indent="0" marL="0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and audience</a:t>
            </a:r>
            <a:pPr algn="l" indent="0" marL="0">
              <a:lnSpc>
                <a:spcPts val="312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2522339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Criteria: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7950" y="2995315"/>
            <a:ext cx="8128099" cy="137874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120"/>
              </a:lnSpc>
              <a:spcAft>
                <a:spcPts val="500"/>
              </a:spcAft>
              <a:buSzPct val="100000"/>
              <a:buChar char="•"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objective vs. subjective language.</a:t>
            </a:r>
            <a:endParaRPr lang="en-US" sz="2400" dirty="0"/>
          </a:p>
          <a:p>
            <a:pPr algn="l" marL="190500" indent="-190500">
              <a:lnSpc>
                <a:spcPts val="3120"/>
              </a:lnSpc>
              <a:spcAft>
                <a:spcPts val="500"/>
              </a:spcAft>
              <a:buSzPct val="100000"/>
              <a:buChar char="•"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formal vs. informal register.</a:t>
            </a:r>
            <a:endParaRPr lang="en-US" sz="2400" dirty="0"/>
          </a:p>
          <a:p>
            <a:pPr algn="l" marL="190500" indent="-190500">
              <a:lnSpc>
                <a:spcPts val="3120"/>
              </a:lnSpc>
              <a:spcAft>
                <a:spcPts val="500"/>
              </a:spcAft>
              <a:buSzPct val="100000"/>
              <a:buChar char="•"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language builds trust with the reader.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vs. Subjective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7950" y="904726"/>
            <a:ext cx="8128099" cy="20985"/>
          </a:xfrm>
          <a:prstGeom prst="rect">
            <a:avLst/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052661"/>
            <a:ext cx="3937099" cy="3836938"/>
          </a:xfrm>
          <a:prstGeom prst="roundRect">
            <a:avLst>
              <a:gd name="adj" fmla="val 3310"/>
            </a:avLst>
          </a:prstGeom>
          <a:solidFill>
            <a:srgbClr val="193A61"/>
          </a:solidFill>
          <a:ln w="19050">
            <a:solidFill>
              <a:srgbClr val="3F72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2320" y="1262211"/>
            <a:ext cx="358835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Language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7500" y="1741587"/>
            <a:ext cx="3517999" cy="148530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and measurable data</a:t>
            </a:r>
            <a:endParaRPr lang="en-US" sz="1800" dirty="0"/>
          </a:p>
          <a:p>
            <a:pPr algn="l" marL="127000" indent="-127000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Unbiased and neutral</a:t>
            </a:r>
            <a:endParaRPr lang="en-US" sz="1800" dirty="0"/>
          </a:p>
          <a:p>
            <a:pPr algn="l" marL="127000" indent="-127000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</a:t>
            </a:r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</a:t>
            </a:r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an expert</a:t>
            </a:r>
            <a:endParaRPr lang="en-US" sz="1800" dirty="0"/>
          </a:p>
          <a:p>
            <a:pPr algn="l" marL="127000" indent="-127000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algn="l" indent="0" marL="0">
              <a:lnSpc>
                <a:spcPts val="2340"/>
              </a:lnSpc>
              <a:buNone/>
            </a:pPr>
            <a:r>
              <a:rPr lang="en-US" sz="1800" i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"Wind speeds reached 217 km/h."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698950" y="1052661"/>
            <a:ext cx="3937099" cy="3836938"/>
          </a:xfrm>
          <a:prstGeom prst="roundRect">
            <a:avLst>
              <a:gd name="adj" fmla="val 3310"/>
            </a:avLst>
          </a:prstGeom>
          <a:solidFill>
            <a:srgbClr val="193A61"/>
          </a:solidFill>
          <a:ln w="19050">
            <a:solidFill>
              <a:srgbClr val="3F72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73320" y="1262211"/>
            <a:ext cx="358835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 Language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908500" y="1741587"/>
            <a:ext cx="3517999" cy="148530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Feelings and opinions</a:t>
            </a:r>
            <a:endParaRPr lang="en-US" sz="1800" dirty="0"/>
          </a:p>
          <a:p>
            <a:pPr algn="l" marL="127000" indent="-127000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experiences</a:t>
            </a:r>
            <a:endParaRPr lang="en-US" sz="1800" dirty="0"/>
          </a:p>
          <a:p>
            <a:pPr algn="l" marL="127000" indent="-127000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</a:t>
            </a:r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</a:t>
            </a:r>
            <a:pPr algn="l" indent="0" marL="0">
              <a:lnSpc>
                <a:spcPts val="2340"/>
              </a:lnSpc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connection</a:t>
            </a:r>
            <a:endParaRPr lang="en-US" sz="1800" dirty="0"/>
          </a:p>
          <a:p>
            <a:pPr algn="l" marL="127000" indent="-127000">
              <a:lnSpc>
                <a:spcPts val="2340"/>
              </a:lnSpc>
              <a:buSzPct val="100000"/>
              <a:buChar char="•"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</a:t>
            </a:r>
            <a:pPr algn="l" indent="0" marL="0">
              <a:lnSpc>
                <a:spcPts val="2340"/>
              </a:lnSpc>
              <a:buNone/>
            </a:pPr>
            <a:r>
              <a:rPr lang="en-US" sz="1800" i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felt like a freight train driving through."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vs. Informal Register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7950" y="1437977"/>
            <a:ext cx="8290661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 we are in changes the language we choose. This is called the </a:t>
            </a:r>
            <a:pPr algn="l" indent="0" marL="0">
              <a:lnSpc>
                <a:spcPts val="308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context</a:t>
            </a:r>
            <a:pPr algn="l" indent="0" marL="0">
              <a:lnSpc>
                <a:spcPts val="308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2689771"/>
            <a:ext cx="8128099" cy="2430066"/>
          </a:xfrm>
          <a:prstGeom prst="roundRect">
            <a:avLst>
              <a:gd name="adj" fmla="val 5226"/>
            </a:avLst>
          </a:prstGeom>
          <a:solidFill>
            <a:srgbClr val="193A61"/>
          </a:solidFill>
          <a:ln w="19050">
            <a:solidFill>
              <a:srgbClr val="3F72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7500" y="3178671"/>
            <a:ext cx="7863179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Formal:</a:t>
            </a:r>
            <a:pPr algn="l" indent="0" marL="0">
              <a:lnSpc>
                <a:spcPts val="3080"/>
              </a:lnSpc>
              <a:spcBef>
                <a:spcPts val="22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"The residence was structurally compromised by the extreme weather event."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7500" y="4239964"/>
            <a:ext cx="7863179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Bef>
                <a:spcPts val="1500"/>
              </a:spcBef>
              <a:spcAft>
                <a:spcPts val="2200"/>
              </a:spcAft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Informal:</a:t>
            </a:r>
            <a:pPr algn="l" indent="0" marL="0">
              <a:lnSpc>
                <a:spcPts val="3080"/>
              </a:lnSpc>
              <a:spcBef>
                <a:spcPts val="1500"/>
              </a:spcBef>
              <a:spcAft>
                <a:spcPts val="2200"/>
              </a:spcAft>
              <a:buNone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"My house got totally smashed by the storm."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2734" y="1251049"/>
            <a:ext cx="1138383" cy="1076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6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88572" y="2581275"/>
            <a:ext cx="756685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 Sorting Challenge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682335" y="3540026"/>
            <a:ext cx="377932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tell the difference?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19050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3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 Sorting: Answers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784175"/>
            <a:ext cx="8128099" cy="25301"/>
          </a:xfrm>
          <a:prstGeom prst="rect">
            <a:avLst/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999976"/>
            <a:ext cx="8128099" cy="590252"/>
          </a:xfrm>
          <a:prstGeom prst="roundRect">
            <a:avLst>
              <a:gd name="adj" fmla="val 21516"/>
            </a:avLst>
          </a:prstGeom>
          <a:solidFill>
            <a:srgbClr val="193A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69863" y="999976"/>
            <a:ext cx="0" cy="590252"/>
          </a:xfrm>
          <a:prstGeom prst="line">
            <a:avLst/>
          </a:prstGeom>
          <a:noFill/>
          <a:ln w="123825">
            <a:solidFill>
              <a:srgbClr val="3F72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275" y="1161752"/>
            <a:ext cx="38078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wind speed reached 217 km/h."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599015" y="1126927"/>
            <a:ext cx="846534" cy="336352"/>
          </a:xfrm>
          <a:prstGeom prst="roundRect">
            <a:avLst>
              <a:gd name="adj" fmla="val 75516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25966" y="1190327"/>
            <a:ext cx="6044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7950" y="1717179"/>
            <a:ext cx="8128099" cy="590252"/>
          </a:xfrm>
          <a:prstGeom prst="roundRect">
            <a:avLst>
              <a:gd name="adj" fmla="val 21516"/>
            </a:avLst>
          </a:prstGeom>
          <a:solidFill>
            <a:srgbClr val="193A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9863" y="1717179"/>
            <a:ext cx="0" cy="590252"/>
          </a:xfrm>
          <a:prstGeom prst="line">
            <a:avLst/>
          </a:prstGeom>
          <a:noFill/>
          <a:ln w="123825">
            <a:solidFill>
              <a:srgbClr val="F96D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275" y="1878955"/>
            <a:ext cx="27056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"It felt like a freight train..."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90371" y="1844129"/>
            <a:ext cx="955179" cy="336352"/>
          </a:xfrm>
          <a:prstGeom prst="roundRect">
            <a:avLst>
              <a:gd name="adj" fmla="val 75516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17321" y="1907530"/>
            <a:ext cx="7153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950" y="2434382"/>
            <a:ext cx="8128099" cy="590252"/>
          </a:xfrm>
          <a:prstGeom prst="roundRect">
            <a:avLst>
              <a:gd name="adj" fmla="val 21516"/>
            </a:avLst>
          </a:prstGeom>
          <a:solidFill>
            <a:srgbClr val="193A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69863" y="2434382"/>
            <a:ext cx="0" cy="590252"/>
          </a:xfrm>
          <a:prstGeom prst="line">
            <a:avLst/>
          </a:prstGeom>
          <a:noFill/>
          <a:ln w="123825">
            <a:solidFill>
              <a:srgbClr val="3F72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275" y="2596158"/>
            <a:ext cx="400172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"Significant structural failure occurred."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599015" y="2561332"/>
            <a:ext cx="846534" cy="336352"/>
          </a:xfrm>
          <a:prstGeom prst="roundRect">
            <a:avLst>
              <a:gd name="adj" fmla="val 75516"/>
            </a:avLst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725966" y="2624733"/>
            <a:ext cx="60448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950" y="3151584"/>
            <a:ext cx="8128099" cy="590252"/>
          </a:xfrm>
          <a:prstGeom prst="roundRect">
            <a:avLst>
              <a:gd name="adj" fmla="val 21516"/>
            </a:avLst>
          </a:prstGeom>
          <a:solidFill>
            <a:srgbClr val="193A6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69863" y="3151584"/>
            <a:ext cx="0" cy="590252"/>
          </a:xfrm>
          <a:prstGeom prst="line">
            <a:avLst/>
          </a:prstGeom>
          <a:noFill/>
          <a:ln w="123825">
            <a:solidFill>
              <a:srgbClr val="F96D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275" y="3313361"/>
            <a:ext cx="39373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"Everything we owned was just gone."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90371" y="3278535"/>
            <a:ext cx="955179" cy="336352"/>
          </a:xfrm>
          <a:prstGeom prst="roundRect">
            <a:avLst>
              <a:gd name="adj" fmla="val 75516"/>
            </a:avLst>
          </a:prstGeom>
          <a:solidFill>
            <a:srgbClr val="F96D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17321" y="3341936"/>
            <a:ext cx="7153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53901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7950" y="904726"/>
            <a:ext cx="8128099" cy="25301"/>
          </a:xfrm>
          <a:prstGeom prst="rect">
            <a:avLst/>
          </a:prstGeom>
          <a:solidFill>
            <a:srgbClr val="3F72A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310878"/>
            <a:ext cx="8128099" cy="2640806"/>
          </a:xfrm>
          <a:prstGeom prst="roundRect">
            <a:avLst>
              <a:gd name="adj" fmla="val 4809"/>
            </a:avLst>
          </a:prstGeom>
          <a:solidFill>
            <a:srgbClr val="193A61"/>
          </a:solidFill>
          <a:ln w="19050">
            <a:solidFill>
              <a:srgbClr val="3F72A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7500" y="1520428"/>
            <a:ext cx="7863179" cy="418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Cyclone Tracy Archive Page.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7500" y="2066330"/>
            <a:ext cx="7708999" cy="167580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300"/>
              </a:lnSpc>
              <a:buSzPct val="100000"/>
              <a:buChar char="•"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</a:t>
            </a:r>
            <a:pPr algn="l" indent="0" marL="0">
              <a:lnSpc>
                <a:spcPts val="3300"/>
              </a:lnSpc>
              <a:buNone/>
            </a:pPr>
            <a:r>
              <a:rPr lang="en-US" sz="22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examples</a:t>
            </a:r>
            <a:pPr algn="l" indent="0" marL="0">
              <a:lnSpc>
                <a:spcPts val="3300"/>
              </a:lnSpc>
              <a:buNone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formal/objective language.</a:t>
            </a:r>
            <a:endParaRPr lang="en-US" sz="2200" dirty="0"/>
          </a:p>
          <a:p>
            <a:pPr algn="l" marL="190500" indent="-190500">
              <a:lnSpc>
                <a:spcPts val="3300"/>
              </a:lnSpc>
              <a:buSzPct val="100000"/>
              <a:buChar char="•"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the sentence.</a:t>
            </a:r>
            <a:endParaRPr lang="en-US" sz="2200" dirty="0"/>
          </a:p>
          <a:p>
            <a:pPr algn="l" marL="190500" indent="-190500">
              <a:lnSpc>
                <a:spcPts val="3300"/>
              </a:lnSpc>
              <a:buSzPct val="100000"/>
              <a:buChar char="•"/>
            </a:pPr>
            <a:r>
              <a:rPr lang="en-US" sz="22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this language choice shows the author is a reliable expert.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0563" y="970062"/>
            <a:ext cx="214287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1928813"/>
            <a:ext cx="7772400" cy="1493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Cyclone Archive was written using </a:t>
            </a:r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informal</a:t>
            </a:r>
            <a:pPr algn="ctr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F72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subjective</a:t>
            </a:r>
            <a:pPr algn="ctr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9F7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language, would we trust it as an information source?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21395" y="3675757"/>
            <a:ext cx="27010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spcBef>
                <a:spcPts val="2000"/>
              </a:spcBef>
              <a:buNone/>
            </a:pPr>
            <a:r>
              <a:rPr lang="en-US" sz="2800" i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or why not?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2026-04-30T22:55:34Z</dcterms:created>
  <dcterms:modified xsi:type="dcterms:W3CDTF">2026-04-30T22:55:34Z</dcterms:modified>
</cp:coreProperties>
</file>