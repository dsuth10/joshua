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310911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Unit 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39701" y="1777008"/>
            <a:ext cx="7264450" cy="1884611"/>
          </a:xfrm>
          <a:prstGeom prst="roundRect">
            <a:avLst>
              <a:gd name="adj" fmla="val 10108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55676" y="2158008"/>
            <a:ext cx="6632499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9: Floods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55676" y="2853928"/>
            <a:ext cx="663249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Digging into Language: Complex Sentences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554648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sentence?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285875"/>
            <a:ext cx="395102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Sentence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903065"/>
            <a:ext cx="3873550" cy="1361182"/>
          </a:xfrm>
          <a:prstGeom prst="roundRect">
            <a:avLst>
              <a:gd name="adj" fmla="val 13995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2156966"/>
            <a:ext cx="3433063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Floodwaters rose quickly.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7950" y="3454747"/>
            <a:ext cx="3951021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1500"/>
              </a:spcBef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main clause. Makes sense on its own.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62500" y="1285875"/>
            <a:ext cx="395102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Sentence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62500" y="1903065"/>
            <a:ext cx="3873550" cy="1361182"/>
          </a:xfrm>
          <a:prstGeom prst="roundRect">
            <a:avLst>
              <a:gd name="adj" fmla="val 13995"/>
            </a:avLst>
          </a:prstGeom>
          <a:solidFill>
            <a:srgbClr val="112D4E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16401" y="2156966"/>
            <a:ext cx="3433063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rain stopped, 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river kept rising.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62500" y="3454747"/>
            <a:ext cx="3951021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1500"/>
              </a:spcBef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main clauses joined by a conjunction (and, but, so).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43193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Sentences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8290661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complex sentence has one </a:t>
            </a:r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Clause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at least one </a:t>
            </a:r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Clause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2187327"/>
            <a:ext cx="8128099" cy="1020961"/>
          </a:xfrm>
          <a:prstGeom prst="roundRect">
            <a:avLst>
              <a:gd name="adj" fmla="val 18659"/>
            </a:avLst>
          </a:prstGeom>
          <a:solidFill>
            <a:srgbClr val="112D4E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2377827"/>
            <a:ext cx="790204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Although heavy rainfall had been forecast for days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2520"/>
              </a:lnSpc>
              <a:buNone/>
            </a:pPr>
            <a:r>
              <a:rPr lang="en-US" sz="18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floodwaters rose with surprising speed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7950" y="3525738"/>
            <a:ext cx="829066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them?</a:t>
            </a:r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endParaRPr lang="en-US" sz="1800" dirty="0"/>
          </a:p>
          <a:p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They give us more information about </a:t>
            </a:r>
            <a:endParaRPr lang="en-US" sz="1800" dirty="0"/>
          </a:p>
          <a:p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sz="1800" i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reason, time, or condition</a:t>
            </a:r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65213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1: How Floods Work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829066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find the clauses in this sentence: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831777"/>
            <a:ext cx="8128099" cy="736550"/>
          </a:xfrm>
          <a:prstGeom prst="roundRect">
            <a:avLst>
              <a:gd name="adj" fmla="val 25864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2022277"/>
            <a:ext cx="790204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flood occurs </a:t>
            </a:r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water covers land that is normally dry."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50" y="2885777"/>
            <a:ext cx="829066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Clause:</a:t>
            </a:r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flood occurs.</a:t>
            </a:r>
            <a:endParaRPr lang="en-US" sz="1800" dirty="0"/>
          </a:p>
          <a:p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Clause:</a:t>
            </a:r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water covers land that is normally dry.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684244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2: The Brisbane River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829066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Sometimes the dependent clause comes first!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831777"/>
            <a:ext cx="8128099" cy="1066800"/>
          </a:xfrm>
          <a:prstGeom prst="roundRect">
            <a:avLst>
              <a:gd name="adj" fmla="val 17857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2022277"/>
            <a:ext cx="79020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rain falls anywhere within this vast basin</a:t>
            </a:r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it eventually finds its way into the main river channel."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7950" y="3216027"/>
            <a:ext cx="829066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Clause:</a:t>
            </a:r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rain falls anywhere within this vast basin.</a:t>
            </a:r>
            <a:endParaRPr lang="en-US" sz="1800" dirty="0"/>
          </a:p>
          <a:p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Clause:</a:t>
            </a:r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eventually finds its way into the main river channel.</a:t>
            </a:r>
            <a:endParaRPr lang="en-US" sz="1800" dirty="0"/>
          </a:p>
          <a:p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sz="1800" i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(Notice the comma separating them!)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231395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285875"/>
            <a:ext cx="829066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Practice Task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2093416"/>
            <a:ext cx="3968800" cy="2427684"/>
          </a:xfrm>
          <a:prstGeom prst="roundRect">
            <a:avLst>
              <a:gd name="adj" fmla="val 7847"/>
            </a:avLst>
          </a:prstGeom>
          <a:solidFill>
            <a:srgbClr val="112D4E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2283916"/>
            <a:ext cx="365955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pPr algn="l" indent="0" marL="0">
              <a:lnSpc>
                <a:spcPts val="2520"/>
              </a:lnSpc>
              <a:spcAft>
                <a:spcPts val="5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Identify sentences as Simple, Compound, or Complex.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8450" y="2987278"/>
            <a:ext cx="365955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pPr algn="l" indent="0" marL="0">
              <a:lnSpc>
                <a:spcPts val="2520"/>
              </a:lnSpc>
              <a:spcAft>
                <a:spcPts val="5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Underline the </a:t>
            </a:r>
            <a:pPr algn="l" indent="0" marL="0">
              <a:lnSpc>
                <a:spcPts val="2520"/>
              </a:lnSpc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Clause</a:t>
            </a:r>
            <a:pPr algn="l" indent="0" marL="0">
              <a:lnSpc>
                <a:spcPts val="2520"/>
              </a:lnSpc>
              <a:spcAft>
                <a:spcPts val="5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blue.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8450" y="3690640"/>
            <a:ext cx="365955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Underline the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Clause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red.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7250" y="2093416"/>
            <a:ext cx="4048176" cy="223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09 Student Worksheet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algn="l" indent="0" marL="0">
              <a:lnSpc>
                <a:spcPts val="2520"/>
              </a:lnSpc>
              <a:buNone/>
            </a:pPr>
            <a:endParaRPr lang="en-US" sz="18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finishers: Find two complex sentences in the </a:t>
            </a:r>
            <a:endParaRPr lang="en-US" sz="18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Brisbane River System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text and label them in your book.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2026-05-04T22:05:13Z</dcterms:created>
  <dcterms:modified xsi:type="dcterms:W3CDTF">2026-05-04T22:05:13Z</dcterms:modified>
</cp:coreProperties>
</file>