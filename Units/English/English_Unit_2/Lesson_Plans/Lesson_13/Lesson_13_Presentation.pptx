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57616" y="1456134"/>
            <a:ext cx="602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LESSON 13 · FLOODS ARCHIVE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-91440" y="1925985"/>
            <a:ext cx="9326880" cy="1284982"/>
          </a:xfrm>
          <a:prstGeom prst="rect">
            <a:avLst/>
          </a:prstGeom>
          <a:noFill/>
          <a:ln/>
        </p:spPr>
        <p:txBody>
          <a:bodyPr wrap="square" lIns="508000" tIns="0" rIns="508000" bIns="0" rtlCol="0" anchor="t"/>
          <a:lstStyle/>
          <a:p>
            <a:pPr algn="ctr" indent="0" marL="0">
              <a:lnSpc>
                <a:spcPts val="5060"/>
              </a:lnSpc>
              <a:spcAft>
                <a:spcPts val="1200"/>
              </a:spcAft>
              <a:buNone/>
            </a:pPr>
            <a:r>
              <a:rPr lang="en-US" sz="46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Between the Frames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663056" y="3363367"/>
            <a:ext cx="381788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Sequencing &amp; Meaning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075" y="507950"/>
            <a:ext cx="0" cy="466725"/>
          </a:xfrm>
          <a:prstGeom prst="line">
            <a:avLst/>
          </a:prstGeom>
          <a:noFill/>
          <a:ln w="95250">
            <a:solidFill>
              <a:srgbClr val="F96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2300" y="507950"/>
            <a:ext cx="757171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98450" y="1203275"/>
            <a:ext cx="7747099" cy="944761"/>
          </a:xfrm>
          <a:prstGeom prst="rect">
            <a:avLst/>
          </a:prstGeom>
          <a:solidFill>
            <a:srgbClr val="1E3D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22263" y="1203275"/>
            <a:ext cx="0" cy="944761"/>
          </a:xfrm>
          <a:prstGeom prst="line">
            <a:avLst/>
          </a:prstGeom>
          <a:noFill/>
          <a:ln w="47625">
            <a:solidFill>
              <a:srgbClr val="3F72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9226" y="1355675"/>
            <a:ext cx="743903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explain how the 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of images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 text has an effect on meaning. </a:t>
            </a:r>
            <a:pPr algn="l" indent="0" marL="0">
              <a:lnSpc>
                <a:spcPts val="2520"/>
              </a:lnSpc>
              <a:buNone/>
            </a:pPr>
            <a:r>
              <a:rPr lang="en-US" sz="1800" i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(AC9E5LA07)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8450" y="2325737"/>
            <a:ext cx="79020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98450" y="2693938"/>
            <a:ext cx="7747099" cy="149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8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identify the </a:t>
            </a:r>
            <a:pPr algn="l" indent="0" marL="0">
              <a:lnSpc>
                <a:spcPts val="2080"/>
              </a:lnSpc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pPr algn="l" indent="0" marL="0">
              <a:lnSpc>
                <a:spcPts val="208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image sequence used (chronological, cause/effect, before/after).</a:t>
            </a:r>
            <a:endParaRPr lang="en-US" sz="1600" dirty="0"/>
          </a:p>
          <a:p>
            <a:pPr algn="l" marL="342900" indent="-342900">
              <a:lnSpc>
                <a:spcPts val="208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describe what </a:t>
            </a:r>
            <a:pPr algn="l" indent="0" marL="0">
              <a:lnSpc>
                <a:spcPts val="2080"/>
              </a:lnSpc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</a:t>
            </a:r>
            <a:pPr algn="l" indent="0" marL="0">
              <a:lnSpc>
                <a:spcPts val="208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between images in a sequence.</a:t>
            </a:r>
            <a:endParaRPr lang="en-US" sz="1600" dirty="0"/>
          </a:p>
          <a:p>
            <a:pPr algn="l" marL="342900" indent="-342900">
              <a:lnSpc>
                <a:spcPts val="208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write </a:t>
            </a:r>
            <a:pPr algn="l" indent="0" marL="0">
              <a:lnSpc>
                <a:spcPts val="2080"/>
              </a:lnSpc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sentences</a:t>
            </a:r>
            <a:pPr algn="l" indent="0" marL="0">
              <a:lnSpc>
                <a:spcPts val="208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explaining how an image sequence builds the reader's understanding.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075" y="457200"/>
            <a:ext cx="0" cy="466725"/>
          </a:xfrm>
          <a:prstGeom prst="line">
            <a:avLst/>
          </a:prstGeom>
          <a:noFill/>
          <a:ln w="95250">
            <a:solidFill>
              <a:srgbClr val="F96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6851" y="457200"/>
            <a:ext cx="759767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 Activate: Put These in Order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98450" y="1127075"/>
            <a:ext cx="7902041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Aft>
                <a:spcPts val="1400"/>
              </a:spcAft>
              <a:buNone/>
            </a:pPr>
            <a:r>
              <a:rPr lang="en-US" sz="21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three descriptions show Brisbane flooding. Can you work out the correct chronological order? Think-Pair-Share!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20979" y="3436144"/>
            <a:ext cx="790204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buNone/>
            </a:pPr>
            <a:r>
              <a:rPr lang="en-US" sz="1500" i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happened first? Which happened last? How do you know?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075" y="406301"/>
            <a:ext cx="0" cy="438150"/>
          </a:xfrm>
          <a:prstGeom prst="line">
            <a:avLst/>
          </a:prstGeom>
          <a:noFill/>
          <a:ln w="95250">
            <a:solidFill>
              <a:srgbClr val="F96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6851" y="406301"/>
            <a:ext cx="7597673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Reveal: The Correct Order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98450" y="996851"/>
            <a:ext cx="790204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Chronological order — earliest to most recent: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98450" y="2752427"/>
            <a:ext cx="7747099" cy="1003102"/>
          </a:xfrm>
          <a:prstGeom prst="rect">
            <a:avLst/>
          </a:prstGeom>
          <a:solidFill>
            <a:srgbClr val="1A30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22263" y="2752427"/>
            <a:ext cx="0" cy="1003102"/>
          </a:xfrm>
          <a:prstGeom prst="line">
            <a:avLst/>
          </a:prstGeom>
          <a:noFill/>
          <a:ln w="47625">
            <a:solidFill>
              <a:srgbClr val="F96D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776" y="2853928"/>
            <a:ext cx="749095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order matter?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sequence shows Brisbane's relationship with flooding across 50 years. Each image builds on the last — together they tell a story of a city adapting (and still struggling).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075" y="381000"/>
            <a:ext cx="0" cy="371475"/>
          </a:xfrm>
          <a:prstGeom prst="line">
            <a:avLst/>
          </a:prstGeom>
          <a:noFill/>
          <a:ln w="95250">
            <a:solidFill>
              <a:srgbClr val="F96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6851" y="381000"/>
            <a:ext cx="759767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Image Sequencing?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98450" y="879425"/>
            <a:ext cx="790204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AA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Authors arrange images in a deliberate order to build meaning. There are several types: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075" y="381000"/>
            <a:ext cx="0" cy="409575"/>
          </a:xfrm>
          <a:prstGeom prst="line">
            <a:avLst/>
          </a:prstGeom>
          <a:noFill/>
          <a:ln w="95250">
            <a:solidFill>
              <a:srgbClr val="F96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6851" y="381000"/>
            <a:ext cx="759767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Explore: Floods Archive — Brisbane History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98450" y="942975"/>
            <a:ext cx="790204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AA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to the Brisbane History sub-page. Focus on the </a:t>
            </a:r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AA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and photo gallery</a:t>
            </a:r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AA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Observe together: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98450" y="1571625"/>
            <a:ext cx="7747099" cy="188982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marL="177800" indent="-177800">
              <a:lnSpc>
                <a:spcPts val="2295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</a:t>
            </a:r>
            <a:pPr algn="l" indent="0" marL="0">
              <a:lnSpc>
                <a:spcPts val="2295"/>
              </a:lnSpc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pPr algn="l" indent="0" marL="0">
              <a:lnSpc>
                <a:spcPts val="2295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image sequence is used on this page?</a:t>
            </a:r>
            <a:endParaRPr lang="en-US" sz="1700" dirty="0"/>
          </a:p>
          <a:p>
            <a:pPr algn="l" marL="177800" indent="-177800">
              <a:lnSpc>
                <a:spcPts val="2295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</a:t>
            </a:r>
            <a:pPr algn="l" indent="0" marL="0">
              <a:lnSpc>
                <a:spcPts val="2295"/>
              </a:lnSpc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</a:t>
            </a:r>
            <a:pPr algn="l" indent="0" marL="0">
              <a:lnSpc>
                <a:spcPts val="2295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image tell us? What about the </a:t>
            </a:r>
            <a:pPr algn="l" indent="0" marL="0">
              <a:lnSpc>
                <a:spcPts val="2295"/>
              </a:lnSpc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</a:t>
            </a:r>
            <a:pPr algn="l" indent="0" marL="0">
              <a:lnSpc>
                <a:spcPts val="2295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  <a:p>
            <a:pPr algn="l" marL="177800" indent="-177800">
              <a:lnSpc>
                <a:spcPts val="2295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the </a:t>
            </a:r>
            <a:pPr algn="l" indent="0" marL="0">
              <a:lnSpc>
                <a:spcPts val="2295"/>
              </a:lnSpc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pPr algn="l" indent="0" marL="0">
              <a:lnSpc>
                <a:spcPts val="2295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time between images tell a story about Brisbane?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98450" y="3613845"/>
            <a:ext cx="79020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400" i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Floods Archive → Brisbane History sub-page → scroll to Timeline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075" y="355550"/>
            <a:ext cx="0" cy="409575"/>
          </a:xfrm>
          <a:prstGeom prst="line">
            <a:avLst/>
          </a:prstGeom>
          <a:noFill/>
          <a:ln w="95250">
            <a:solidFill>
              <a:srgbClr val="F96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6851" y="355550"/>
            <a:ext cx="759767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Model: Annotating an Image Sequence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98450" y="892076"/>
            <a:ext cx="790204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steps to analyse any image sequence: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9900" y="1796653"/>
            <a:ext cx="2117979" cy="643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AA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literally shown in each image? (Describe it factually)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70200" y="1796653"/>
            <a:ext cx="2423562" cy="643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AA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</a:t>
            </a:r>
            <a:pPr algn="l" indent="0" marL="0">
              <a:lnSpc>
                <a:spcPts val="1690"/>
              </a:lnSpc>
              <a:buNone/>
            </a:pPr>
            <a:r>
              <a:rPr lang="en-US" sz="1300" i="1" dirty="0">
                <a:solidFill>
                  <a:srgbClr val="AA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</a:t>
            </a:r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AA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one image to the next? (Water level, damage, scale)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70091" y="1796653"/>
            <a:ext cx="2350088" cy="428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AA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effect does this have on the reader's understanding?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8450" y="2687538"/>
            <a:ext cx="7747099" cy="700980"/>
          </a:xfrm>
          <a:prstGeom prst="rect">
            <a:avLst/>
          </a:prstGeom>
          <a:solidFill>
            <a:srgbClr val="1A30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22263" y="2687538"/>
            <a:ext cx="0" cy="700980"/>
          </a:xfrm>
          <a:prstGeom prst="line">
            <a:avLst/>
          </a:prstGeom>
          <a:noFill/>
          <a:ln w="47625">
            <a:solidFill>
              <a:srgbClr val="F96D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8475" y="2789039"/>
            <a:ext cx="7542568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i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sequence moves from normal conditions → partial inundation → severe flooding. This builds a sense of escalation — the reader understands the situation is worsening."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075" y="304800"/>
            <a:ext cx="0" cy="409575"/>
          </a:xfrm>
          <a:prstGeom prst="line">
            <a:avLst/>
          </a:prstGeom>
          <a:noFill/>
          <a:ln w="95250">
            <a:solidFill>
              <a:srgbClr val="F96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6851" y="304800"/>
            <a:ext cx="759767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Key Vocabulary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98450" y="815876"/>
            <a:ext cx="79020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AA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terms will appear on your handout and in the assessment: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73026" y="1222177"/>
            <a:ext cx="34096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73026" y="1469827"/>
            <a:ext cx="34096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set of things arranged in a particular order.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17380" y="1222177"/>
            <a:ext cx="38578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Chronological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17380" y="1469827"/>
            <a:ext cx="38578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Arranged in the order in which events happened over time.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3026" y="2231827"/>
            <a:ext cx="34096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73026" y="2479477"/>
            <a:ext cx="34096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prominent or eye-catching element in an image.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17380" y="2231827"/>
            <a:ext cx="38578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17380" y="2479477"/>
            <a:ext cx="38578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placed beneath or beside an image to explain or describe it.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3026" y="3231952"/>
            <a:ext cx="75750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Foreground / Background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73026" y="3479602"/>
            <a:ext cx="757505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Foreground: what is closest to the viewer and most visible. Background: what is further away and less prominent.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075" y="355550"/>
            <a:ext cx="0" cy="438150"/>
          </a:xfrm>
          <a:prstGeom prst="line">
            <a:avLst/>
          </a:prstGeom>
          <a:noFill/>
          <a:ln w="95250">
            <a:solidFill>
              <a:srgbClr val="F96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6851" y="355550"/>
            <a:ext cx="7597673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 Connect: Your Turn!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98450" y="920651"/>
            <a:ext cx="790204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AA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your handout. Work through all three parts using the Floods Archive — Brisbane History sub-page: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4451" y="1698427"/>
            <a:ext cx="18797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Vocabulary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4451" y="1958727"/>
            <a:ext cx="187979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5 key terms to their definitions.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60340" y="1698427"/>
            <a:ext cx="25009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Analysis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60340" y="1958727"/>
            <a:ext cx="250098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graphic organiser for a 3-image sequence.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85234" y="1698427"/>
            <a:ext cx="26666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— Written Response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85234" y="1958727"/>
            <a:ext cx="266660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3 sentences about how the sequence builds meaning.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8450" y="2631728"/>
            <a:ext cx="7747099" cy="907852"/>
          </a:xfrm>
          <a:prstGeom prst="rect">
            <a:avLst/>
          </a:prstGeom>
          <a:solidFill>
            <a:srgbClr val="1A2F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22263" y="2631728"/>
            <a:ext cx="0" cy="907852"/>
          </a:xfrm>
          <a:prstGeom prst="line">
            <a:avLst/>
          </a:prstGeom>
          <a:noFill/>
          <a:ln w="47625">
            <a:solidFill>
              <a:srgbClr val="F96D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776" y="2733229"/>
            <a:ext cx="74909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starters: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23776" y="2980879"/>
            <a:ext cx="749095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i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image sequence shows…"</a:t>
            </a:r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Aft>
                <a:spcPts val="300"/>
              </a:spcAft>
              <a:buNone/>
            </a:pPr>
            <a:r>
              <a:rPr lang="en-US" sz="1400" i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author chose this order because…"</a:t>
            </a:r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Aft>
                <a:spcPts val="300"/>
              </a:spcAft>
              <a:buNone/>
            </a:pPr>
            <a:r>
              <a:rPr lang="en-US" sz="1400" i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"By the third image, the reader understands that…"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73829" y="1046411"/>
            <a:ext cx="459634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 Wrap-Up &amp; Share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44931" y="1833711"/>
            <a:ext cx="7254139" cy="72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explain how an image sequence builds meaning in an informative text?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0" y="2912864"/>
            <a:ext cx="9144000" cy="78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342900" indent="-34290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identified the </a:t>
            </a:r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pPr algn="ctr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sequence</a:t>
            </a:r>
            <a:endParaRPr lang="en-US" sz="1500" dirty="0"/>
          </a:p>
          <a:p>
            <a:pPr algn="ctr" marL="342900" indent="-34290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described what </a:t>
            </a:r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</a:t>
            </a:r>
            <a:pPr algn="ctr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between images</a:t>
            </a:r>
            <a:endParaRPr lang="en-US" sz="1500" dirty="0"/>
          </a:p>
          <a:p>
            <a:pPr algn="ctr" marL="342900" indent="-34290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wrote </a:t>
            </a:r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sentences</a:t>
            </a:r>
            <a:pPr algn="ctr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about the effect on meaning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850597" y="3877866"/>
            <a:ext cx="544280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buNone/>
            </a:pPr>
            <a:r>
              <a:rPr lang="en-US" sz="1500" i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complete the Microsoft Forms assessment (10 questions)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2026-05-13T09:39:25Z</dcterms:created>
  <dcterms:modified xsi:type="dcterms:W3CDTF">2026-05-13T09:39:25Z</dcterms:modified>
</cp:coreProperties>
</file>