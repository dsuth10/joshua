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459855"/>
            <a:ext cx="746150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216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15: Floods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41248" y="2469505"/>
            <a:ext cx="74615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Point of View (POV)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3329880"/>
            <a:ext cx="74615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4000"/>
              </a:spcBef>
              <a:spcAft>
                <a:spcPts val="1800"/>
              </a:spcAft>
            </a:pPr>
            <a:r>
              <a:rPr lang="en-US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 can recognise that the point of view in a text influences how readers interpret and respond to 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877788"/>
            <a:ext cx="8382000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8549640" cy="472976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Fact or Feeling?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092101"/>
            <a:ext cx="4095750" cy="1231702"/>
          </a:xfrm>
          <a:prstGeom prst="roundRect">
            <a:avLst>
              <a:gd name="adj" fmla="val 82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422202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3400" y="1695152"/>
            <a:ext cx="38667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Brisbane River peaked at 4.46 metres in 2011."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7250" y="1092101"/>
            <a:ext cx="4095750" cy="1231702"/>
          </a:xfrm>
          <a:prstGeom prst="roundRect">
            <a:avLst>
              <a:gd name="adj" fmla="val 82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19650" y="1422202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19650" y="1695152"/>
            <a:ext cx="38667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sound of the rushing water was absolutely terrifying."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514302"/>
            <a:ext cx="4095750" cy="1231702"/>
          </a:xfrm>
          <a:prstGeom prst="roundRect">
            <a:avLst>
              <a:gd name="adj" fmla="val 82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844403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400" y="3117354"/>
            <a:ext cx="38667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"Insurance claims reached $6.4 billion."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7250" y="2514302"/>
            <a:ext cx="4095750" cy="1231702"/>
          </a:xfrm>
          <a:prstGeom prst="roundRect">
            <a:avLst>
              <a:gd name="adj" fmla="val 8249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2844403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19650" y="3117354"/>
            <a:ext cx="38667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felt so helpless watching the mud cover my garden."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45195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656"/>
              </a:spcBef>
              <a:spcAft>
                <a:spcPts val="2656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Point of View (POV)?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692920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Bef>
                <a:spcPts val="22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informative texts, POV is not just about "who is talking." It is about </a:t>
            </a:r>
            <a:r>
              <a:rPr lang="en-US" sz="22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</a:t>
            </a: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2627263"/>
            <a:ext cx="8128099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500"/>
              </a:spcAft>
              <a:buSzPct val="100000"/>
              <a:buChar char="•"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facts are included (and what are left out).</a:t>
            </a:r>
            <a:endParaRPr lang="en-US" sz="2200" dirty="0"/>
          </a:p>
          <a:p>
            <a:pPr marL="342900" indent="-342900" algn="l">
              <a:spcAft>
                <a:spcPts val="1500"/>
              </a:spcAft>
              <a:buSzPct val="100000"/>
              <a:buChar char="•"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words are used (Scientific vs. Emotional).</a:t>
            </a:r>
            <a:endParaRPr lang="en-US" sz="2200" dirty="0"/>
          </a:p>
          <a:p>
            <a:pPr marL="342900" indent="-342900" algn="l">
              <a:spcAft>
                <a:spcPts val="1500"/>
              </a:spcAft>
              <a:buSzPct val="100000"/>
              <a:buChar char="•"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the authority (A witness vs. a researcher).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4233714"/>
            <a:ext cx="829066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 influences how we feel and what we learn.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03077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324"/>
              </a:spcBef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A: The Survivor's Voice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339602"/>
            <a:ext cx="8128099" cy="1467743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9863" y="1339602"/>
            <a:ext cx="0" cy="1467743"/>
          </a:xfrm>
          <a:prstGeom prst="line">
            <a:avLst/>
          </a:prstGeom>
          <a:noFill/>
          <a:ln w="123825">
            <a:solidFill>
              <a:srgbClr val="F96D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85676" y="1593503"/>
            <a:ext cx="764640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stood in the hallway, looking at twenty years of memories and knowing I couldn't save them... Watching the water seep into the floorboards felt like watching someone slowly take my home away."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03077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324"/>
              </a:spcBef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B: The Scientist's Voice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339602"/>
            <a:ext cx="8128099" cy="1787723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9863" y="1339602"/>
            <a:ext cx="0" cy="1787723"/>
          </a:xfrm>
          <a:prstGeom prst="line">
            <a:avLst/>
          </a:prstGeom>
          <a:noFill/>
          <a:ln w="123825">
            <a:solidFill>
              <a:srgbClr val="3F72A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85676" y="1593503"/>
            <a:ext cx="7646402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Deloitte report estimated the social and financial cost of the 2022 floods at A$7.7 billion... Beyond the immediate loss of life (46 fatalities), the compounding effects on community mental health have been substantial."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845195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656"/>
              </a:spcBef>
              <a:spcAft>
                <a:spcPts val="2000"/>
              </a:spcAft>
              <a:buNone/>
            </a:pPr>
            <a:r>
              <a:rPr lang="en-US" sz="3200" b="1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Author’s </a:t>
            </a: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565821"/>
            <a:ext cx="8128099" cy="1949053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7475" y="1575346"/>
            <a:ext cx="2703016" cy="482501"/>
          </a:xfrm>
          <a:prstGeom prst="rect">
            <a:avLst/>
          </a:prstGeom>
          <a:solidFill>
            <a:srgbClr val="3F72AF"/>
          </a:solidFill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3951" y="1711821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20492" y="1575346"/>
            <a:ext cx="2703016" cy="482501"/>
          </a:xfrm>
          <a:prstGeom prst="rect">
            <a:avLst/>
          </a:prstGeom>
          <a:solidFill>
            <a:srgbClr val="3F72AF"/>
          </a:solidFill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56967" y="1711821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 (Survivor)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23508" y="1575346"/>
            <a:ext cx="2703016" cy="482501"/>
          </a:xfrm>
          <a:prstGeom prst="rect">
            <a:avLst/>
          </a:prstGeom>
          <a:solidFill>
            <a:srgbClr val="3F72AF"/>
          </a:solidFill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59984" y="1711821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 (Archive)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7475" y="2057846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951" y="2194322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20492" y="2057846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56967" y="2194322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Terrifying, memories, home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3508" y="2057846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59984" y="2194322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Fatality, sediment, GDP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7475" y="2540347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951" y="2676823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20492" y="2540347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56967" y="2676823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stood...", "Watching..."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3508" y="2540347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59984" y="2676823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report...", "In 2011..."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7475" y="3022848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3951" y="3159323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20492" y="3022848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56967" y="3159323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loss &amp; feelings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23508" y="3022848"/>
            <a:ext cx="2703016" cy="482501"/>
          </a:xfrm>
          <a:prstGeom prst="rect">
            <a:avLst/>
          </a:prstGeom>
          <a:noFill/>
          <a:ln w="9525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59984" y="3159323"/>
            <a:ext cx="24786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impact &amp; stats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45195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656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565821"/>
            <a:ext cx="8128099" cy="2355949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47625">
            <a:solidFill>
              <a:srgbClr val="F96D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3026" y="1930896"/>
            <a:ext cx="7545907" cy="162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author's point of view in the Floods Archive is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authoritative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 can tell because they use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vocabulary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'socio-economic disruption' and provide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evidence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sources like the World Bank to support their claims."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676126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324"/>
              </a:spcBef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 How did you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1212652"/>
            <a:ext cx="355550" cy="355550"/>
          </a:xfrm>
          <a:prstGeom prst="roundRect">
            <a:avLst>
              <a:gd name="adj" fmla="val 14288"/>
            </a:avLst>
          </a:prstGeom>
          <a:noFill/>
          <a:ln w="19050">
            <a:solidFill>
              <a:srgbClr val="F96D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27050" y="1257002"/>
            <a:ext cx="4658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define "Point of View" in my own words.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669703"/>
            <a:ext cx="355550" cy="355550"/>
          </a:xfrm>
          <a:prstGeom prst="roundRect">
            <a:avLst>
              <a:gd name="adj" fmla="val 14288"/>
            </a:avLst>
          </a:prstGeom>
          <a:noFill/>
          <a:ln w="19050">
            <a:solidFill>
              <a:srgbClr val="F96D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7050" y="1714054"/>
            <a:ext cx="53752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spot the difference between facts and feelings.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126754"/>
            <a:ext cx="355550" cy="355550"/>
          </a:xfrm>
          <a:prstGeom prst="roundRect">
            <a:avLst>
              <a:gd name="adj" fmla="val 14288"/>
            </a:avLst>
          </a:prstGeom>
          <a:noFill/>
          <a:ln w="19050">
            <a:solidFill>
              <a:srgbClr val="F96D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7050" y="2171105"/>
            <a:ext cx="5449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an author's POV using clues in the text.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1000" y="2583805"/>
            <a:ext cx="355550" cy="355550"/>
          </a:xfrm>
          <a:prstGeom prst="roundRect">
            <a:avLst>
              <a:gd name="adj" fmla="val 14288"/>
            </a:avLst>
          </a:prstGeom>
          <a:noFill/>
          <a:ln w="19050">
            <a:solidFill>
              <a:srgbClr val="F96D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7050" y="2628156"/>
            <a:ext cx="4834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compare two texts about the same event.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404</Words>
  <Application>Microsoft Office PowerPoint</Application>
  <PresentationFormat>On-screen Show (16:9)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SUTHERLAND, Douglas (dsuth10)</cp:lastModifiedBy>
  <cp:revision>3</cp:revision>
  <dcterms:created xsi:type="dcterms:W3CDTF">2026-05-06T06:00:39Z</dcterms:created>
  <dcterms:modified xsi:type="dcterms:W3CDTF">2026-05-15T01:16:30Z</dcterms:modified>
</cp:coreProperties>
</file>