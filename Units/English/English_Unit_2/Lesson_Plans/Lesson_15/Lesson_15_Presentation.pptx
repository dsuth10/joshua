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D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1459855"/>
            <a:ext cx="7461504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216"/>
              </a:spcBef>
              <a:spcAft>
                <a:spcPts val="2000"/>
              </a:spcAft>
              <a:buNone/>
            </a:pPr>
            <a:r>
              <a:rPr lang="en-US" sz="48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15: Floods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841248" y="2469505"/>
            <a:ext cx="746150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400"/>
              </a:spcBef>
              <a:spcAft>
                <a:spcPts val="2400"/>
              </a:spcAft>
              <a:buNone/>
            </a:pPr>
            <a:r>
              <a:rPr lang="en-US" sz="2400" dirty="0">
                <a:solidFill>
                  <a:srgbClr val="3F72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Recognising Point of View (POV)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41248" y="3329880"/>
            <a:ext cx="746150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0"/>
              </a:spcBef>
              <a:spcAft>
                <a:spcPts val="1800"/>
              </a:spcAft>
              <a:buNone/>
            </a:pPr>
            <a:r>
              <a:rPr lang="en-US" sz="18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LI: I can recognise that the point of view in a text influences how readers interpret and respond to it.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877788"/>
            <a:ext cx="8382000" cy="0"/>
          </a:xfrm>
          <a:prstGeom prst="line">
            <a:avLst/>
          </a:prstGeom>
          <a:noFill/>
          <a:ln w="47625">
            <a:solidFill>
              <a:srgbClr val="F96D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1000" y="381000"/>
            <a:ext cx="8549640" cy="472976"/>
          </a:xfrm>
          <a:prstGeom prst="rect">
            <a:avLst/>
          </a:prstGeom>
          <a:noFill/>
          <a:ln/>
        </p:spPr>
        <p:txBody>
          <a:bodyPr wrap="square" lIns="0" tIns="0" rIns="0" bIns="6350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2D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Warm-up: Fact or Feeling?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81000" y="1092101"/>
            <a:ext cx="4095750" cy="1231702"/>
          </a:xfrm>
          <a:prstGeom prst="roundRect">
            <a:avLst>
              <a:gd name="adj" fmla="val 8249"/>
            </a:avLst>
          </a:prstGeom>
          <a:solidFill>
            <a:srgbClr val="E0E0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33400" y="1422202"/>
            <a:ext cx="38667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33400" y="1695152"/>
            <a:ext cx="3866769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Brisbane River peaked at 4.46 metres in 2011."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667250" y="1092101"/>
            <a:ext cx="4095750" cy="1231702"/>
          </a:xfrm>
          <a:prstGeom prst="roundRect">
            <a:avLst>
              <a:gd name="adj" fmla="val 8249"/>
            </a:avLst>
          </a:prstGeom>
          <a:solidFill>
            <a:srgbClr val="E0E0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819650" y="1422202"/>
            <a:ext cx="38667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 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19650" y="1695152"/>
            <a:ext cx="3866769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sound of the rushing water was absolutely terrifying."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81000" y="2514302"/>
            <a:ext cx="4095750" cy="1231702"/>
          </a:xfrm>
          <a:prstGeom prst="roundRect">
            <a:avLst>
              <a:gd name="adj" fmla="val 8249"/>
            </a:avLst>
          </a:prstGeom>
          <a:solidFill>
            <a:srgbClr val="E0E0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3400" y="2844403"/>
            <a:ext cx="38667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 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33400" y="3117354"/>
            <a:ext cx="386676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"Insurance claims reached $6.4 billion."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67250" y="2514302"/>
            <a:ext cx="4095750" cy="1231702"/>
          </a:xfrm>
          <a:prstGeom prst="roundRect">
            <a:avLst>
              <a:gd name="adj" fmla="val 8249"/>
            </a:avLst>
          </a:prstGeom>
          <a:solidFill>
            <a:srgbClr val="E0E0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819650" y="2844403"/>
            <a:ext cx="38667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 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19650" y="3117354"/>
            <a:ext cx="3866769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felt so helpless watching the mud cover my garden."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2D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845195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656"/>
              </a:spcBef>
              <a:spcAft>
                <a:spcPts val="2656"/>
              </a:spcAft>
              <a:buNone/>
            </a:pPr>
            <a:r>
              <a:rPr lang="en-US" sz="32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Point of View (POV)?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7950" y="1692920"/>
            <a:ext cx="8290661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spcBef>
                <a:spcPts val="2200"/>
              </a:spcBef>
              <a:spcAft>
                <a:spcPts val="1000"/>
              </a:spcAft>
              <a:buNone/>
            </a:pPr>
            <a:r>
              <a:rPr lang="en-US" sz="2200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informative texts, POV is not just about "who is talking." It is about </a:t>
            </a:r>
            <a:pPr algn="l" indent="0" marL="0">
              <a:lnSpc>
                <a:spcPts val="3080"/>
              </a:lnSpc>
              <a:spcBef>
                <a:spcPts val="2200"/>
              </a:spcBef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choices</a:t>
            </a:r>
            <a:pPr algn="l" indent="0" marL="0">
              <a:lnSpc>
                <a:spcPts val="3080"/>
              </a:lnSpc>
              <a:spcBef>
                <a:spcPts val="2200"/>
              </a:spcBef>
              <a:spcAft>
                <a:spcPts val="1000"/>
              </a:spcAft>
              <a:buNone/>
            </a:pPr>
            <a:r>
              <a:rPr lang="en-US" sz="2200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7950" y="2627263"/>
            <a:ext cx="8128099" cy="1352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500"/>
              </a:spcAft>
              <a:buSzPct val="100000"/>
              <a:buChar char="•"/>
            </a:pPr>
            <a:r>
              <a:rPr lang="en-US" sz="2200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facts are included (and what are left out).</a:t>
            </a:r>
            <a:endParaRPr lang="en-US" sz="2200" dirty="0"/>
          </a:p>
          <a:p>
            <a:pPr algn="l" marL="342900" indent="-342900">
              <a:spcAft>
                <a:spcPts val="1500"/>
              </a:spcAft>
              <a:buSzPct val="100000"/>
              <a:buChar char="•"/>
            </a:pPr>
            <a:r>
              <a:rPr lang="en-US" sz="2200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words are used (Scientific vs. Emotional).</a:t>
            </a:r>
            <a:endParaRPr lang="en-US" sz="2200" dirty="0"/>
          </a:p>
          <a:p>
            <a:pPr algn="l" marL="342900" indent="-342900">
              <a:spcAft>
                <a:spcPts val="1500"/>
              </a:spcAft>
              <a:buSzPct val="100000"/>
              <a:buChar char="•"/>
            </a:pPr>
            <a:r>
              <a:rPr lang="en-US" sz="2200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the authority (A witness vs. a researcher).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7950" y="4233714"/>
            <a:ext cx="8290661" cy="390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spcBef>
                <a:spcPts val="2000"/>
              </a:spcBef>
              <a:spcAft>
                <a:spcPts val="1000"/>
              </a:spcAft>
              <a:buNone/>
            </a:pPr>
            <a:r>
              <a:rPr lang="en-US" sz="2200" dirty="0">
                <a:solidFill>
                  <a:srgbClr val="3F72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POV influences how we feel and what we learn.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803077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324"/>
              </a:spcBef>
              <a:spcAft>
                <a:spcPts val="1000"/>
              </a:spcAft>
              <a:buNone/>
            </a:pPr>
            <a:r>
              <a:rPr lang="en-US" sz="28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A: The Survivor's Voice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1339602"/>
            <a:ext cx="8128099" cy="1467743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69863" y="1339602"/>
            <a:ext cx="0" cy="1467743"/>
          </a:xfrm>
          <a:prstGeom prst="line">
            <a:avLst/>
          </a:prstGeom>
          <a:noFill/>
          <a:ln w="123825">
            <a:solidFill>
              <a:srgbClr val="F96D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5676" y="1593503"/>
            <a:ext cx="7646402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stood in the hallway, looking at twenty years of memories and knowing I couldn't save them... Watching the water seep into the floorboards felt like watching someone slowly take my home away."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803077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324"/>
              </a:spcBef>
              <a:spcAft>
                <a:spcPts val="1000"/>
              </a:spcAft>
              <a:buNone/>
            </a:pPr>
            <a:r>
              <a:rPr lang="en-US" sz="2800" b="1" dirty="0">
                <a:solidFill>
                  <a:srgbClr val="3F72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B: The Scientist's Voice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1339602"/>
            <a:ext cx="8128099" cy="1787723"/>
          </a:xfrm>
          <a:prstGeom prst="roundRect">
            <a:avLst>
              <a:gd name="adj" fmla="val 284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69863" y="1339602"/>
            <a:ext cx="0" cy="1787723"/>
          </a:xfrm>
          <a:prstGeom prst="line">
            <a:avLst/>
          </a:prstGeom>
          <a:noFill/>
          <a:ln w="123825">
            <a:solidFill>
              <a:srgbClr val="3F72A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5676" y="1593503"/>
            <a:ext cx="7646402" cy="1279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Deloitte report estimated the social and financial cost of the 2022 floods at A$7.7 billion... Beyond the immediate loss of life (46 fatalities), the compounding effects on community mental health have been substantial."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2D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669" y="845195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656"/>
              </a:spcBef>
              <a:spcAft>
                <a:spcPts val="2000"/>
              </a:spcAft>
              <a:buNone/>
            </a:pPr>
            <a:r>
              <a:rPr lang="en-US" sz="32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Authorial Choices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7950" y="1565821"/>
            <a:ext cx="8128099" cy="1949053"/>
          </a:xfrm>
          <a:prstGeom prst="rect">
            <a:avLst/>
          </a:prstGeom>
          <a:noFill/>
          <a:ln w="9525">
            <a:solidFill>
              <a:srgbClr val="3F72A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17475" y="1575346"/>
            <a:ext cx="2703016" cy="482501"/>
          </a:xfrm>
          <a:prstGeom prst="rect">
            <a:avLst/>
          </a:prstGeom>
          <a:solidFill>
            <a:srgbClr val="3F72AF"/>
          </a:solidFill>
          <a:ln w="9525">
            <a:solidFill>
              <a:srgbClr val="3F72A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53951" y="1711821"/>
            <a:ext cx="2478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220492" y="1575346"/>
            <a:ext cx="2703016" cy="482501"/>
          </a:xfrm>
          <a:prstGeom prst="rect">
            <a:avLst/>
          </a:prstGeom>
          <a:solidFill>
            <a:srgbClr val="3F72AF"/>
          </a:solidFill>
          <a:ln w="9525">
            <a:solidFill>
              <a:srgbClr val="3F72A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356967" y="1711821"/>
            <a:ext cx="2478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A (Survivor)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23508" y="1575346"/>
            <a:ext cx="2703016" cy="482501"/>
          </a:xfrm>
          <a:prstGeom prst="rect">
            <a:avLst/>
          </a:prstGeom>
          <a:solidFill>
            <a:srgbClr val="3F72AF"/>
          </a:solidFill>
          <a:ln w="9525">
            <a:solidFill>
              <a:srgbClr val="3F72A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59984" y="1711821"/>
            <a:ext cx="2478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B (Archive)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7475" y="2057846"/>
            <a:ext cx="2703016" cy="482501"/>
          </a:xfrm>
          <a:prstGeom prst="rect">
            <a:avLst/>
          </a:prstGeom>
          <a:noFill/>
          <a:ln w="9525">
            <a:solidFill>
              <a:srgbClr val="3F72A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53951" y="2194322"/>
            <a:ext cx="2478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Vocabulary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20492" y="2057846"/>
            <a:ext cx="2703016" cy="482501"/>
          </a:xfrm>
          <a:prstGeom prst="rect">
            <a:avLst/>
          </a:prstGeom>
          <a:noFill/>
          <a:ln w="9525">
            <a:solidFill>
              <a:srgbClr val="3F72A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356967" y="2194322"/>
            <a:ext cx="2478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Terrifying, memories, home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23508" y="2057846"/>
            <a:ext cx="2703016" cy="482501"/>
          </a:xfrm>
          <a:prstGeom prst="rect">
            <a:avLst/>
          </a:prstGeom>
          <a:noFill/>
          <a:ln w="9525">
            <a:solidFill>
              <a:srgbClr val="3F72A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059984" y="2194322"/>
            <a:ext cx="2478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Fatality, sediment, GDP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7475" y="2540347"/>
            <a:ext cx="2703016" cy="482501"/>
          </a:xfrm>
          <a:prstGeom prst="rect">
            <a:avLst/>
          </a:prstGeom>
          <a:noFill/>
          <a:ln w="9525">
            <a:solidFill>
              <a:srgbClr val="3F72A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53951" y="2676823"/>
            <a:ext cx="2478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20492" y="2540347"/>
            <a:ext cx="2703016" cy="482501"/>
          </a:xfrm>
          <a:prstGeom prst="rect">
            <a:avLst/>
          </a:prstGeom>
          <a:noFill/>
          <a:ln w="9525">
            <a:solidFill>
              <a:srgbClr val="3F72A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356967" y="2676823"/>
            <a:ext cx="2478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stood...", "Watching..."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23508" y="2540347"/>
            <a:ext cx="2703016" cy="482501"/>
          </a:xfrm>
          <a:prstGeom prst="rect">
            <a:avLst/>
          </a:prstGeom>
          <a:noFill/>
          <a:ln w="9525">
            <a:solidFill>
              <a:srgbClr val="3F72A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059984" y="2676823"/>
            <a:ext cx="2478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report...", "In 2011..."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7475" y="3022848"/>
            <a:ext cx="2703016" cy="482501"/>
          </a:xfrm>
          <a:prstGeom prst="rect">
            <a:avLst/>
          </a:prstGeom>
          <a:noFill/>
          <a:ln w="9525">
            <a:solidFill>
              <a:srgbClr val="3F72A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3951" y="3159323"/>
            <a:ext cx="2478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20492" y="3022848"/>
            <a:ext cx="2703016" cy="482501"/>
          </a:xfrm>
          <a:prstGeom prst="rect">
            <a:avLst/>
          </a:prstGeom>
          <a:noFill/>
          <a:ln w="9525">
            <a:solidFill>
              <a:srgbClr val="3F72A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356967" y="3159323"/>
            <a:ext cx="2478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loss &amp; feelings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23508" y="3022848"/>
            <a:ext cx="2703016" cy="482501"/>
          </a:xfrm>
          <a:prstGeom prst="rect">
            <a:avLst/>
          </a:prstGeom>
          <a:noFill/>
          <a:ln w="9525">
            <a:solidFill>
              <a:srgbClr val="3F72A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059984" y="3159323"/>
            <a:ext cx="24786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impact &amp; stats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845195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656"/>
              </a:spcBef>
              <a:spcAft>
                <a:spcPts val="2000"/>
              </a:spcAft>
              <a:buNone/>
            </a:pPr>
            <a:r>
              <a:rPr lang="en-US" sz="3200" b="1" dirty="0">
                <a:solidFill>
                  <a:srgbClr val="112D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Modelling Analysis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7950" y="1565821"/>
            <a:ext cx="8128099" cy="2355949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47625">
            <a:solidFill>
              <a:srgbClr val="F96D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73026" y="1930896"/>
            <a:ext cx="7545907" cy="162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author's point of view in the Floods Archive is </a:t>
            </a:r>
            <a:pPr algn="l"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 and authoritative</a:t>
            </a:r>
            <a:pPr algn="l"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 can tell because they use </a:t>
            </a:r>
            <a:pPr algn="l"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specialist vocabulary</a:t>
            </a:r>
            <a:pPr algn="l"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like 'socio-economic disruption' and provide </a:t>
            </a:r>
            <a:pPr algn="l"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statistical evidence</a:t>
            </a:r>
            <a:pPr algn="l"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sources like the World Bank to support their claims."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2D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7180" y="676126"/>
            <a:ext cx="8549640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324"/>
              </a:spcBef>
              <a:spcAft>
                <a:spcPts val="1000"/>
              </a:spcAft>
              <a:buNone/>
            </a:pPr>
            <a:r>
              <a:rPr lang="en-US" sz="28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Criteria: How did you go?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81000" y="1212652"/>
            <a:ext cx="355550" cy="355550"/>
          </a:xfrm>
          <a:prstGeom prst="roundRect">
            <a:avLst>
              <a:gd name="adj" fmla="val 14288"/>
            </a:avLst>
          </a:prstGeom>
          <a:noFill/>
          <a:ln w="19050">
            <a:solidFill>
              <a:srgbClr val="F96D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927050" y="1257002"/>
            <a:ext cx="46585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can define "Point of View" in my own words.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81000" y="1669703"/>
            <a:ext cx="355550" cy="355550"/>
          </a:xfrm>
          <a:prstGeom prst="roundRect">
            <a:avLst>
              <a:gd name="adj" fmla="val 14288"/>
            </a:avLst>
          </a:prstGeom>
          <a:noFill/>
          <a:ln w="19050">
            <a:solidFill>
              <a:srgbClr val="F96D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27050" y="1714054"/>
            <a:ext cx="537525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can spot the difference between facts and feelings.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81000" y="2126754"/>
            <a:ext cx="355550" cy="355550"/>
          </a:xfrm>
          <a:prstGeom prst="roundRect">
            <a:avLst>
              <a:gd name="adj" fmla="val 14288"/>
            </a:avLst>
          </a:prstGeom>
          <a:noFill/>
          <a:ln w="19050">
            <a:solidFill>
              <a:srgbClr val="F96D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27050" y="2171105"/>
            <a:ext cx="54494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can identify an author's POV using clues in the text.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81000" y="2583805"/>
            <a:ext cx="355550" cy="355550"/>
          </a:xfrm>
          <a:prstGeom prst="roundRect">
            <a:avLst>
              <a:gd name="adj" fmla="val 14288"/>
            </a:avLst>
          </a:prstGeom>
          <a:noFill/>
          <a:ln w="19050">
            <a:solidFill>
              <a:srgbClr val="F96D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27050" y="2628156"/>
            <a:ext cx="48345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can compare two texts about the same event.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2026-05-06T06:00:39Z</dcterms:created>
  <dcterms:modified xsi:type="dcterms:W3CDTF">2026-05-06T06:00:39Z</dcterms:modified>
</cp:coreProperties>
</file>