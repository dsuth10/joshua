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22810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524298"/>
            <a:ext cx="8128099" cy="1518940"/>
          </a:xfrm>
          <a:prstGeom prst="roundRect">
            <a:avLst>
              <a:gd name="adj" fmla="val 12542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714798"/>
            <a:ext cx="7902041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Differing Ideas and Authoritative Sources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369344" y="3487638"/>
            <a:ext cx="449326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beyond </a:t>
            </a:r>
            <a:pPr algn="l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assertions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Activate: Assertion vs. Supported Claim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936552"/>
            <a:ext cx="3873550" cy="2143423"/>
          </a:xfrm>
          <a:prstGeom prst="roundRect">
            <a:avLst>
              <a:gd name="adj" fmla="val 8888"/>
            </a:avLst>
          </a:prstGeom>
          <a:solidFill>
            <a:srgbClr val="E0E0E0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2127052"/>
            <a:ext cx="356240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 Assertion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8450" y="2609552"/>
            <a:ext cx="356240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"Floods are very dangerous and kill many people."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62500" y="1936552"/>
            <a:ext cx="3873550" cy="2143423"/>
          </a:xfrm>
          <a:prstGeom prst="roundRect">
            <a:avLst>
              <a:gd name="adj" fmla="val 8888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0" y="2127052"/>
            <a:ext cx="356240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Claim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53000" y="2609552"/>
            <a:ext cx="356240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"Floods claimed 35 lives in Queensland in 2011, according to the Queensland Government Flood Commission."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6669" y="4524375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the second sentence </a:t>
            </a:r>
            <a:pPr algn="ctr" indent="0" marL="0">
              <a:lnSpc>
                <a:spcPts val="2800"/>
              </a:lnSpc>
              <a:spcBef>
                <a:spcPts val="2000"/>
              </a:spcBef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and more reliable</a:t>
            </a:r>
            <a:pPr algn="ctr" indent="0" marL="0">
              <a:lnSpc>
                <a:spcPts val="2800"/>
              </a:lnSpc>
              <a:spcBef>
                <a:spcPts val="20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682392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Explore: Authoritative Sources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source </a:t>
            </a:r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credible and authoritative</a:t>
            </a:r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1851" y="2009626"/>
            <a:ext cx="7874198" cy="384006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Experience:</a:t>
            </a:r>
            <a:pPr algn="l" indent="0" marL="0">
              <a:lnSpc>
                <a:spcPts val="432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the person have direct involvement? (e.g., SES volunteer)</a:t>
            </a:r>
            <a:endParaRPr lang="en-US" sz="2400" dirty="0"/>
          </a:p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Qualifications:</a:t>
            </a:r>
            <a:pPr algn="l" indent="0" marL="0">
              <a:lnSpc>
                <a:spcPts val="432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they an expert? (e.g., hydrologist, meteorologist)</a:t>
            </a:r>
            <a:endParaRPr lang="en-US" sz="2400" dirty="0"/>
          </a:p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4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Status:</a:t>
            </a:r>
            <a:pPr algn="l" indent="0" marL="0">
              <a:lnSpc>
                <a:spcPts val="432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information from a reliable organisation? (e.g., Bureau of Meteorology, Government Commission)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6471940"/>
            <a:ext cx="8128099" cy="700980"/>
          </a:xfrm>
          <a:prstGeom prst="roundRect">
            <a:avLst>
              <a:gd name="adj" fmla="val 27176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6662440"/>
            <a:ext cx="79020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authoritative sources makes your information report trustworthy.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77692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Joint Construction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807690"/>
          </a:xfrm>
          <a:prstGeom prst="roundRect">
            <a:avLst>
              <a:gd name="adj" fmla="val 23586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349276"/>
            <a:ext cx="790204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write a paragraph together!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347466"/>
            <a:ext cx="8290661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Include a fact supported by a source AND acknowledge a differing viewpoint.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3439567"/>
            <a:ext cx="829066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Bef>
                <a:spcPts val="1500"/>
              </a:spcBef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space: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50" y="5928420"/>
            <a:ext cx="829066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Use phrases like </a:t>
            </a:r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"According to..."</a:t>
            </a:r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240"/>
              </a:lnSpc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"While some believe..."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7807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Connect: Independent Writing Task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29066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16 Worksheet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1851" y="1966466"/>
            <a:ext cx="80316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 a bare assertion about floods.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1851" y="2393156"/>
            <a:ext cx="80316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Rewrite that idea as a supported claim.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2819846"/>
            <a:ext cx="80316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an authoritative source from the Floods Archive.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851" y="3246537"/>
            <a:ext cx="80316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Acknowledge a differing viewpoint.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7950" y="4117628"/>
            <a:ext cx="8128099" cy="807690"/>
          </a:xfrm>
          <a:prstGeom prst="roundRect">
            <a:avLst>
              <a:gd name="adj" fmla="val 23586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979" y="4308128"/>
            <a:ext cx="790204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supported claim with a partner when finished.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75807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Reflect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1085" y="1603474"/>
            <a:ext cx="7501830" cy="1005483"/>
          </a:xfrm>
          <a:prstGeom prst="roundRect">
            <a:avLst>
              <a:gd name="adj" fmla="val 18946"/>
            </a:avLst>
          </a:prstGeom>
          <a:solidFill>
            <a:srgbClr val="112D4E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5045" y="1857375"/>
            <a:ext cx="713390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identify an authoritative source?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3053358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2000"/>
              </a:spcBef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important to move beyond bare assertions when writing informative texts?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268" y="1763762"/>
            <a:ext cx="756746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the Assessment!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996937" y="2722513"/>
            <a:ext cx="515012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complete the Lesson 16 Quiz.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2026-05-18T00:52:47Z</dcterms:created>
  <dcterms:modified xsi:type="dcterms:W3CDTF">2026-05-18T00:52:47Z</dcterms:modified>
</cp:coreProperties>
</file>