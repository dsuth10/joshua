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157561"/>
            <a:ext cx="1165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618"/>
              </a:spcBef>
              <a:spcAft>
                <a:spcPts val="750"/>
              </a:spcAft>
              <a:buNone/>
            </a:pPr>
            <a:r>
              <a:rPr lang="en-US" sz="5400" b="1" dirty="0">
                <a:solidFill>
                  <a:srgbClr val="F9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REPORTS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66700" y="3483322"/>
            <a:ext cx="116586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90"/>
              </a:spcBef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3F72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 18: The Opening Paragraph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66700" y="4540597"/>
            <a:ext cx="116586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Writing an Objective and Precise Classification Paragraph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2033736"/>
            <a:ext cx="1126998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can </a:t>
            </a:r>
            <a:pPr algn="l" indent="0" marL="0">
              <a:lnSpc>
                <a:spcPts val="294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b="1" dirty="0">
                <a:solidFill>
                  <a:srgbClr val="F9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an opening classification paragraph</a:t>
            </a:r>
            <a:pPr algn="l" indent="0" marL="0">
              <a:lnSpc>
                <a:spcPts val="294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using objective language, an expanded noun group and a complex sentence.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71500" y="3046958"/>
            <a:ext cx="1126998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1500"/>
              </a:spcBef>
              <a:buNone/>
            </a:pPr>
            <a:r>
              <a:rPr lang="en-US" sz="2400" b="1" dirty="0">
                <a:solidFill>
                  <a:srgbClr val="3F72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Criteria: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1500" y="3568898"/>
            <a:ext cx="11049000" cy="177879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940"/>
              </a:lnSpc>
              <a:spcAft>
                <a:spcPts val="750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can identify the purpose of an opening paragraph.</a:t>
            </a:r>
            <a:endParaRPr lang="en-US" sz="2100" dirty="0"/>
          </a:p>
          <a:p>
            <a:pPr algn="l" marL="190500" indent="-190500">
              <a:lnSpc>
                <a:spcPts val="2940"/>
              </a:lnSpc>
              <a:spcAft>
                <a:spcPts val="750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can write with objective and authoritative language.</a:t>
            </a:r>
            <a:endParaRPr lang="en-US" sz="2100" dirty="0"/>
          </a:p>
          <a:p>
            <a:pPr algn="l" marL="190500" indent="-190500">
              <a:lnSpc>
                <a:spcPts val="2940"/>
              </a:lnSpc>
              <a:spcAft>
                <a:spcPts val="750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can use an expanded noun group to add precise detail.</a:t>
            </a:r>
            <a:endParaRPr lang="en-US" sz="2100" dirty="0"/>
          </a:p>
          <a:p>
            <a:pPr algn="l" marL="190500" indent="-190500">
              <a:lnSpc>
                <a:spcPts val="2940"/>
              </a:lnSpc>
              <a:spcAft>
                <a:spcPts val="750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can write a complex sentence with a dependent clause.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2014686"/>
            <a:ext cx="1126998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look at the opening paragraph of the </a:t>
            </a:r>
            <a:pPr algn="l" indent="0" marL="0">
              <a:lnSpc>
                <a:spcPts val="2730"/>
              </a:lnSpc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b="1" dirty="0">
                <a:solidFill>
                  <a:srgbClr val="112D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Bushfires Archive</a:t>
            </a:r>
            <a:pPr algn="l" indent="0" marL="0">
              <a:lnSpc>
                <a:spcPts val="2730"/>
              </a:lnSpc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571500" y="2608957"/>
            <a:ext cx="11049000" cy="107424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09600" y="2608957"/>
            <a:ext cx="0" cy="1074241"/>
          </a:xfrm>
          <a:prstGeom prst="line">
            <a:avLst/>
          </a:prstGeom>
          <a:noFill/>
          <a:ln w="76200">
            <a:solidFill>
              <a:srgbClr val="3F72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3930848"/>
            <a:ext cx="1126998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Notice these three critical ingredients: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71500" y="4525119"/>
            <a:ext cx="11049000" cy="103986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30"/>
              </a:lnSpc>
              <a:buSzPct val="100000"/>
              <a:buChar char="•"/>
            </a:pPr>
            <a:r>
              <a:rPr lang="en-US" sz="1950" b="1" dirty="0">
                <a:solidFill>
                  <a:srgbClr val="F9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 / Definition:</a:t>
            </a:r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Identifies what a bushfire is objectively.</a:t>
            </a:r>
            <a:endParaRPr lang="en-US" sz="1950" dirty="0"/>
          </a:p>
          <a:p>
            <a:pPr algn="l" marL="190500" indent="-190500">
              <a:lnSpc>
                <a:spcPts val="2730"/>
              </a:lnSpc>
              <a:buSzPct val="100000"/>
              <a:buChar char="•"/>
            </a:pPr>
            <a:r>
              <a:rPr lang="en-US" sz="1950" b="1" dirty="0">
                <a:solidFill>
                  <a:srgbClr val="F9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Noun Group:</a:t>
            </a:r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dry Australian landscape"</a:t>
            </a:r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adds precise description.</a:t>
            </a:r>
            <a:endParaRPr lang="en-US" sz="1950" dirty="0"/>
          </a:p>
          <a:p>
            <a:pPr algn="l" marL="190500" indent="-190500">
              <a:lnSpc>
                <a:spcPts val="2730"/>
              </a:lnSpc>
              <a:buSzPct val="100000"/>
              <a:buChar char="•"/>
            </a:pPr>
            <a:r>
              <a:rPr lang="en-US" sz="1950" b="1" dirty="0">
                <a:solidFill>
                  <a:srgbClr val="F9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Sentence:</a:t>
            </a:r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Links a main clause to a relative dependent clause starting with </a:t>
            </a:r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112D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"which..."</a:t>
            </a:r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2014686"/>
            <a:ext cx="1126998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opening classification paragraph serves three essential purposes in an information report: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571500" y="2608957"/>
            <a:ext cx="5429250" cy="175810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71500" y="2632770"/>
            <a:ext cx="5429250" cy="0"/>
          </a:xfrm>
          <a:prstGeom prst="line">
            <a:avLst/>
          </a:prstGeom>
          <a:noFill/>
          <a:ln w="47625">
            <a:solidFill>
              <a:srgbClr val="3F72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3296543"/>
            <a:ext cx="514921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Clearly introduce the natural disaster topic. Classify it into a broader group (e.g., natural hazards, weather phenomena).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191250" y="2608957"/>
            <a:ext cx="5429250" cy="175810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191250" y="2632770"/>
            <a:ext cx="5429250" cy="0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1750" y="3296543"/>
            <a:ext cx="5149215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objective and authoritative language. Speak in the third person to make the writing factual and credible.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71500" y="4557564"/>
            <a:ext cx="11049000" cy="117142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71500" y="4581376"/>
            <a:ext cx="11049000" cy="0"/>
          </a:xfrm>
          <a:prstGeom prst="line">
            <a:avLst/>
          </a:prstGeom>
          <a:noFill/>
          <a:ln w="47625">
            <a:solidFill>
              <a:srgbClr val="112D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00" y="5245150"/>
            <a:ext cx="1088136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Introduce the main aspects that the rest of the report will explore (e.g., location, causes, impacts, preparation).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2014686"/>
            <a:ext cx="1126998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examine how a professional writer drafts an opening classification paragraph: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571500" y="2608957"/>
            <a:ext cx="11049000" cy="12227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09600" y="2608957"/>
            <a:ext cx="0" cy="1222772"/>
          </a:xfrm>
          <a:prstGeom prst="line">
            <a:avLst/>
          </a:prstGeom>
          <a:noFill/>
          <a:ln w="76200">
            <a:solidFill>
              <a:srgbClr val="F96D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909911"/>
            <a:ext cx="5429250" cy="1782961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622352"/>
            <a:ext cx="514921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 to your Lesson 17 plan and draft your opening classification paragraph in your worksheet or writing book.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191250" y="1909911"/>
            <a:ext cx="5429250" cy="1782961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81750" y="2622352"/>
            <a:ext cx="5149215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 your draft with a partner. Read their paragraph and use the peer checklist to help them improve.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71500" y="3883372"/>
            <a:ext cx="11049000" cy="1394222"/>
          </a:xfrm>
          <a:prstGeom prst="roundRect">
            <a:avLst>
              <a:gd name="adj" fmla="val 5465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9625" y="4026247"/>
            <a:ext cx="1078420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12D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paragraph must include: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917204"/>
            <a:ext cx="116586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14"/>
              </a:spcBef>
              <a:spcAft>
                <a:spcPts val="750"/>
              </a:spcAft>
              <a:buNone/>
            </a:pPr>
            <a:r>
              <a:rPr lang="en-US" sz="4200" b="1" dirty="0">
                <a:solidFill>
                  <a:srgbClr val="F9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&amp; Next Steps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66700" y="2860179"/>
            <a:ext cx="116586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2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we drafted our opening classification paragraphs!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66700" y="3376315"/>
            <a:ext cx="1165860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2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lesson, we will focus on writing detailed 
</a:t>
            </a:r>
            <a:pPr algn="ctr" indent="0" marL="0">
              <a:lnSpc>
                <a:spcPts val="294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2100" b="1" dirty="0">
                <a:solidFill>
                  <a:srgbClr val="3F72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 Paragraphs</a:t>
            </a:r>
            <a:pPr algn="ctr" indent="0" marL="0">
              <a:lnSpc>
                <a:spcPts val="294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2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using the TEEL structure!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66700" y="4781848"/>
            <a:ext cx="116586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2100" dirty="0">
                <a:solidFill>
                  <a:srgbClr val="F9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your draft opening paragraph is complete.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2026-05-21T01:33:04Z</dcterms:created>
  <dcterms:modified xsi:type="dcterms:W3CDTF">2026-05-21T01:33:04Z</dcterms:modified>
</cp:coreProperties>
</file>