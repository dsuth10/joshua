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0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2226-E950-CE4D-5F37-A82FB4F4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80538-07C7-7E54-2C16-EA8E14E7A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F1257A-227C-24CE-C828-A98F1B91A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CF226-2CE3-6589-B0D3-29FB1A214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24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rsutherland.net/archives/Cyclones/Cyclone_Mahina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818" y="1916162"/>
            <a:ext cx="791236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Comprehension Strategies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59657" y="2874913"/>
            <a:ext cx="47171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Skimming, Scanning &amp; Confirming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5288D-5120-2B41-F7EE-C88EE007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40AA5A-796B-328A-0078-9EE862047199}"/>
              </a:ext>
            </a:extLst>
          </p:cNvPr>
          <p:cNvSpPr/>
          <p:nvPr/>
        </p:nvSpPr>
        <p:spPr>
          <a:xfrm>
            <a:off x="537441" y="433527"/>
            <a:ext cx="7912364" cy="1793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AU" sz="4800" b="1" i="0" dirty="0">
                <a:solidFill>
                  <a:srgbClr val="CCCCCC"/>
                </a:solidFill>
                <a:effectLst/>
                <a:latin typeface="-apple-system"/>
              </a:rPr>
              <a:t>Learning Intention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dirty="0">
                <a:solidFill>
                  <a:schemeClr val="bg1"/>
                </a:solidFill>
              </a:rPr>
              <a:t>I can use comprehension strategies (skimming, scanning, confirming) to navigate a text for a specific purpose.</a:t>
            </a:r>
            <a:endParaRPr lang="en-AU" sz="4800" b="1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D8BB7-F4C1-0E2E-75A5-434BC04AF3E0}"/>
              </a:ext>
            </a:extLst>
          </p:cNvPr>
          <p:cNvSpPr txBox="1"/>
          <p:nvPr/>
        </p:nvSpPr>
        <p:spPr>
          <a:xfrm>
            <a:off x="537441" y="2571750"/>
            <a:ext cx="76221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AU" sz="3600" b="1" i="0" dirty="0">
                <a:solidFill>
                  <a:srgbClr val="CCCCCC"/>
                </a:solidFill>
                <a:effectLst/>
                <a:latin typeface="-apple-system"/>
              </a:rPr>
              <a:t>Success Criteria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 can </a:t>
            </a:r>
            <a:r>
              <a:rPr lang="en-US" b="1" dirty="0">
                <a:solidFill>
                  <a:schemeClr val="bg1"/>
                </a:solidFill>
              </a:rPr>
              <a:t>skim</a:t>
            </a:r>
            <a:r>
              <a:rPr lang="en-US" dirty="0">
                <a:solidFill>
                  <a:schemeClr val="bg1"/>
                </a:solidFill>
              </a:rPr>
              <a:t> a text to quickly find the main idea of a section.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 can </a:t>
            </a:r>
            <a:r>
              <a:rPr lang="en-US" b="1" dirty="0">
                <a:solidFill>
                  <a:schemeClr val="bg1"/>
                </a:solidFill>
              </a:rPr>
              <a:t>scan</a:t>
            </a:r>
            <a:r>
              <a:rPr lang="en-US" dirty="0">
                <a:solidFill>
                  <a:schemeClr val="bg1"/>
                </a:solidFill>
              </a:rPr>
              <a:t> a text to locate specific keywords or facts.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 can </a:t>
            </a:r>
            <a:r>
              <a:rPr lang="en-US" b="1" dirty="0">
                <a:solidFill>
                  <a:schemeClr val="bg1"/>
                </a:solidFill>
              </a:rPr>
              <a:t>confirm</a:t>
            </a:r>
            <a:r>
              <a:rPr lang="en-US" dirty="0">
                <a:solidFill>
                  <a:schemeClr val="bg1"/>
                </a:solidFill>
              </a:rPr>
              <a:t> a fact by reading the sentence carefully.</a:t>
            </a:r>
          </a:p>
        </p:txBody>
      </p:sp>
    </p:spTree>
    <p:extLst>
      <p:ext uri="{BB962C8B-B14F-4D97-AF65-F5344CB8AC3E}">
        <p14:creationId xmlns:p14="http://schemas.microsoft.com/office/powerpoint/2010/main" val="82253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30123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Skimming?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fast to find the main idea.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riding a speedboat across the water, you are looking at the 'big picture'.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3383161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subheadings.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captions.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sentence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paragraph.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B05503-5A43-2ADD-D9C9-E59B24B29983}"/>
              </a:ext>
            </a:extLst>
          </p:cNvPr>
          <p:cNvSpPr txBox="1"/>
          <p:nvPr/>
        </p:nvSpPr>
        <p:spPr>
          <a:xfrm>
            <a:off x="2286000" y="3313208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hlinkClick r:id="rId3"/>
              </a:rPr>
              <a:t>https://mrsutherland.net/archives/Cyclones/Cyclone_Mahina/index.html</a:t>
            </a:r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5C927-3CFF-6F2B-F9D2-853C1CE3A69E}"/>
              </a:ext>
            </a:extLst>
          </p:cNvPr>
          <p:cNvSpPr txBox="1"/>
          <p:nvPr/>
        </p:nvSpPr>
        <p:spPr>
          <a:xfrm>
            <a:off x="685799" y="880837"/>
            <a:ext cx="7765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How were people affected by  the cyclone? </a:t>
            </a:r>
            <a:endParaRPr lang="en-AU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17144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Scanning?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specific words, numbers, or facts.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using a metal detector on the beach, you are hunting for something specific.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3383161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your eyes dart over the text without reading every word.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letters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(names, places).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(dates, measurements).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57545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Scanning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4288631" cy="3268712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1422202"/>
            <a:ext cx="3837015" cy="2741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were the men on the luggers anchored at Bathurst Bay when Cyclone Mahina struck on 4 March 1899. Retrospective meteorological analysis suggests the cyclone reached an estimated Category 5 intensity, with a central pressure possibly as low as 914 hPa... What is not speculation is the storm </a:t>
            </a: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surge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 The wave recorded in the aftermath reached </a:t>
            </a: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metres above normal sea level...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50482" y="1685776"/>
            <a:ext cx="3585567" cy="2214563"/>
          </a:xfrm>
          <a:prstGeom prst="roundRect">
            <a:avLst>
              <a:gd name="adj" fmla="val 8602"/>
            </a:avLst>
          </a:prstGeom>
          <a:solidFill>
            <a:srgbClr val="F96D00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4383" y="1939677"/>
            <a:ext cx="313932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know how high the storm surge was... Ah! I see the number 13."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45594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Confirming?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158776"/>
            <a:ext cx="8128099" cy="934492"/>
          </a:xfrm>
          <a:prstGeom prst="roundRect">
            <a:avLst>
              <a:gd name="adj" fmla="val 20385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412677"/>
            <a:ext cx="7772704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Slowing down to read carefully and check.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7950" y="2283768"/>
            <a:ext cx="8290661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digging up the treasure, this is when you stop and read.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2992189"/>
            <a:ext cx="8128099" cy="11430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scan and find your keyword,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</a:t>
            </a: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sentence</a:t>
            </a: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  <a:p>
            <a:pPr marL="190500" indent="-190500" algn="l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actually answer your question or give you the right fact?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396346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Confirming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846659"/>
            <a:ext cx="4288631" cy="1745456"/>
          </a:xfrm>
          <a:prstGeom prst="roundRect">
            <a:avLst>
              <a:gd name="adj" fmla="val 582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>
            <a:outerShdw blurRad="142875" dist="952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1376" y="2110085"/>
            <a:ext cx="3837015" cy="121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...What is not speculation is the storm surge. </a:t>
            </a:r>
            <a:r>
              <a:rPr lang="en-US" sz="1600" b="1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wave recorded in the aftermath reached 13 metres above normal sea level</a:t>
            </a:r>
            <a:r>
              <a:rPr lang="en-US" sz="1600" dirty="0">
                <a:solidFill>
                  <a:srgbClr val="3341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a world record that still stands today.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50482" y="1825377"/>
            <a:ext cx="3585567" cy="1787872"/>
          </a:xfrm>
          <a:prstGeom prst="roundRect">
            <a:avLst>
              <a:gd name="adj" fmla="val 10655"/>
            </a:avLst>
          </a:prstGeom>
          <a:solidFill>
            <a:srgbClr val="F96D00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4383" y="2079278"/>
            <a:ext cx="3139321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I confirm the height of the storm surge?"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04875"/>
          </a:xfrm>
          <a:prstGeom prst="rect">
            <a:avLst/>
          </a:prstGeom>
          <a:solidFill>
            <a:srgbClr val="112D4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521540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Fact Finding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720654" y="1285875"/>
            <a:ext cx="57025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 Mahina</a:t>
            </a:r>
            <a:r>
              <a:rPr lang="en-US" sz="24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Archive page.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3250" y="1966466"/>
            <a:ext cx="7137350" cy="1488281"/>
          </a:xfrm>
          <a:prstGeom prst="roundRect">
            <a:avLst>
              <a:gd name="adj" fmla="val 12800"/>
            </a:avLst>
          </a:prstGeom>
          <a:solidFill>
            <a:srgbClr val="3F72AF"/>
          </a:solidFill>
          <a:ln/>
          <a:effectLst>
            <a:outerShdw blurRad="9525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5676" y="2283916"/>
            <a:ext cx="6632499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</a:t>
            </a: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facts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about the impacts of Cyclone Mahina.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6669" y="3708648"/>
            <a:ext cx="829066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112D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to record: The fact, the strategy you used (Skim/Scan/Confirm), and where you found it (Heading name).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449</Words>
  <Application>Microsoft Office PowerPoint</Application>
  <PresentationFormat>On-screen Show (16:9)</PresentationFormat>
  <Paragraphs>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-apple-system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SUTHERLAND, Douglas (dsuth10)</cp:lastModifiedBy>
  <cp:revision>3</cp:revision>
  <dcterms:created xsi:type="dcterms:W3CDTF">2026-04-29T22:39:14Z</dcterms:created>
  <dcterms:modified xsi:type="dcterms:W3CDTF">2026-04-30T21:57:45Z</dcterms:modified>
</cp:coreProperties>
</file>