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0833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rsutherland.net/archives/Floods/How_Floods_Work/index.htm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suth/.gemini/antigravity/brain/9085a3a0-089a-4568-845b-6d597b7e669e/how_floods_work_1_17783826101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656" y="0"/>
            <a:ext cx="5030688" cy="51433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99503A-4F9F-5FCF-0477-0AFA7EF00443}"/>
              </a:ext>
            </a:extLst>
          </p:cNvPr>
          <p:cNvSpPr txBox="1"/>
          <p:nvPr/>
        </p:nvSpPr>
        <p:spPr>
          <a:xfrm>
            <a:off x="5627427" y="609600"/>
            <a:ext cx="1114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u="sng" dirty="0">
                <a:solidFill>
                  <a:schemeClr val="accent1">
                    <a:lumMod val="40000"/>
                    <a:lumOff val="60000"/>
                  </a:schemeClr>
                </a:solidFill>
                <a:hlinkClick r:id="rId4"/>
              </a:rPr>
              <a:t>Go to Website</a:t>
            </a:r>
            <a:endParaRPr lang="en-AU" u="sng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suth/.gemini/antigravity/brain/9085a3a0-089a-4568-845b-6d597b7e669e/how_floods_work_2_17783826265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656" y="0"/>
            <a:ext cx="5030688" cy="51433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suth/.gemini/antigravity/brain/9085a3a0-089a-4568-845b-6d597b7e669e/how_floods_work_3_17783826427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656" y="0"/>
            <a:ext cx="5030688" cy="51433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suth/.gemini/antigravity/brain/9085a3a0-089a-4568-845b-6d597b7e669e/how_floods_work_4_17783826783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656" y="0"/>
            <a:ext cx="5030688" cy="51433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suth/.gemini/antigravity/brain/9085a3a0-089a-4568-845b-6d597b7e669e/how_floods_work_5_17783826934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656" y="0"/>
            <a:ext cx="5030688" cy="51433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698450"/>
            <a:ext cx="0" cy="474911"/>
          </a:xfrm>
          <a:prstGeom prst="line">
            <a:avLst/>
          </a:prstGeom>
          <a:noFill/>
          <a:ln w="95250">
            <a:solidFill>
              <a:srgbClr val="00CC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1047601" y="698450"/>
            <a:ext cx="6965862" cy="47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OF VOCABULARY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98450" y="1732062"/>
            <a:ext cx="790204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carry power. Technical words carry </a:t>
            </a:r>
            <a:r>
              <a:rPr lang="en-US" sz="2400" b="1" dirty="0">
                <a:solidFill>
                  <a:srgbClr val="00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8450" y="2433042"/>
            <a:ext cx="790204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dive deep into the Floods Archive.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698450"/>
            <a:ext cx="0" cy="474911"/>
          </a:xfrm>
          <a:prstGeom prst="line">
            <a:avLst/>
          </a:prstGeom>
          <a:noFill/>
          <a:ln w="95250">
            <a:solidFill>
              <a:srgbClr val="00CC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1047601" y="698450"/>
            <a:ext cx="6621720" cy="47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PRECISION MATTERS?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98450" y="1732062"/>
            <a:ext cx="790204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of: 'The water was everywhere.'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8450" y="2433042"/>
            <a:ext cx="790204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use: 'The </a:t>
            </a:r>
            <a:r>
              <a:rPr lang="en-US" sz="2400" b="1" dirty="0">
                <a:solidFill>
                  <a:srgbClr val="00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inundation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affected 75% of Queensland.'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98450" y="3134023"/>
            <a:ext cx="790204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word tells us the </a:t>
            </a: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nature of the event.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698450"/>
            <a:ext cx="0" cy="474911"/>
          </a:xfrm>
          <a:prstGeom prst="line">
            <a:avLst/>
          </a:prstGeom>
          <a:noFill/>
          <a:ln w="95250">
            <a:solidFill>
              <a:srgbClr val="00CC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1047601" y="698450"/>
            <a:ext cx="6185889" cy="47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TERM: CATCHMENT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98450" y="1554212"/>
            <a:ext cx="7747099" cy="2386161"/>
          </a:xfrm>
          <a:prstGeom prst="roundRect">
            <a:avLst>
              <a:gd name="adj" fmla="val 638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98475" y="2059037"/>
            <a:ext cx="7493990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00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Catchment: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entire area of land from which rainfall drains into a single river system.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98475" y="3156198"/>
            <a:ext cx="7493990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in: Hub Page (A City Built on a Floodplain)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698450"/>
            <a:ext cx="0" cy="474911"/>
          </a:xfrm>
          <a:prstGeom prst="line">
            <a:avLst/>
          </a:prstGeom>
          <a:noFill/>
          <a:ln w="95250">
            <a:solidFill>
              <a:srgbClr val="00CC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1047601" y="698450"/>
            <a:ext cx="5186711" cy="47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TERM: RUNOFF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98450" y="1554212"/>
            <a:ext cx="7747099" cy="2386161"/>
          </a:xfrm>
          <a:prstGeom prst="roundRect">
            <a:avLst>
              <a:gd name="adj" fmla="val 638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98475" y="2059037"/>
            <a:ext cx="7493990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00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Runoff: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Water from rain or snowmelt that flows across the surface of the land rather than soaking in.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98475" y="3156198"/>
            <a:ext cx="7493990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in: How Floods Work (What Is a Flood?)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698450"/>
            <a:ext cx="0" cy="474911"/>
          </a:xfrm>
          <a:prstGeom prst="line">
            <a:avLst/>
          </a:prstGeom>
          <a:noFill/>
          <a:ln w="95250">
            <a:solidFill>
              <a:srgbClr val="00CC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1047601" y="698450"/>
            <a:ext cx="6187407" cy="47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TERM: INUNDATION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98450" y="1554212"/>
            <a:ext cx="7747099" cy="2386161"/>
          </a:xfrm>
          <a:prstGeom prst="roundRect">
            <a:avLst>
              <a:gd name="adj" fmla="val 638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98475" y="2059037"/>
            <a:ext cx="7493990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00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Inundation: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act of covering land with a large amount of water; flooding.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98475" y="3156198"/>
            <a:ext cx="7493990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in: Hub Page (About This Archive)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698450"/>
            <a:ext cx="0" cy="474911"/>
          </a:xfrm>
          <a:prstGeom prst="line">
            <a:avLst/>
          </a:prstGeom>
          <a:noFill/>
          <a:ln w="95250">
            <a:solidFill>
              <a:srgbClr val="00CC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1047601" y="698450"/>
            <a:ext cx="5483793" cy="47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TERM: RIVERINE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98450" y="1554212"/>
            <a:ext cx="7747099" cy="2386161"/>
          </a:xfrm>
          <a:prstGeom prst="roundRect">
            <a:avLst>
              <a:gd name="adj" fmla="val 638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98475" y="2059037"/>
            <a:ext cx="7493990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00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Riverine: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Relating to or situated on the banks of a river.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98475" y="3156198"/>
            <a:ext cx="7493990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in: How Floods Work (Riverine Flooding)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698450"/>
            <a:ext cx="0" cy="474911"/>
          </a:xfrm>
          <a:prstGeom prst="line">
            <a:avLst/>
          </a:prstGeom>
          <a:noFill/>
          <a:ln w="95250">
            <a:solidFill>
              <a:srgbClr val="00CC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1047601" y="698450"/>
            <a:ext cx="7423249" cy="47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TERM: OVERLAND FLOW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98450" y="1554212"/>
            <a:ext cx="7747099" cy="2386161"/>
          </a:xfrm>
          <a:prstGeom prst="roundRect">
            <a:avLst>
              <a:gd name="adj" fmla="val 638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98475" y="2059037"/>
            <a:ext cx="7493990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00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Overland Flow: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Water that flows across the surface of the land, often overwhelming stormwater drains.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98475" y="3156198"/>
            <a:ext cx="7493990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in: How Floods Work (Flash Flooding)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698450"/>
            <a:ext cx="0" cy="474911"/>
          </a:xfrm>
          <a:prstGeom prst="line">
            <a:avLst/>
          </a:prstGeom>
          <a:noFill/>
          <a:ln w="95250">
            <a:solidFill>
              <a:srgbClr val="00CC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1047601" y="698450"/>
            <a:ext cx="5507170" cy="47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PRECISE TERMS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98450" y="1427262"/>
            <a:ext cx="7747099" cy="173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2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Meteorological: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Related to weather conditions.</a:t>
            </a:r>
            <a:endParaRPr lang="en-US" sz="2400" dirty="0"/>
          </a:p>
          <a:p>
            <a:pPr marL="342900" indent="-342900" algn="l">
              <a:lnSpc>
                <a:spcPts val="312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Hydrological: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Related to the properties of water and its movement.</a:t>
            </a:r>
            <a:endParaRPr lang="en-US" sz="2400" dirty="0"/>
          </a:p>
          <a:p>
            <a:pPr marL="342900" indent="-342900" algn="l">
              <a:lnSpc>
                <a:spcPts val="312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Topography: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shape and features of land surfaces.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698450"/>
            <a:ext cx="0" cy="474911"/>
          </a:xfrm>
          <a:prstGeom prst="line">
            <a:avLst/>
          </a:prstGeom>
          <a:noFill/>
          <a:ln w="95250">
            <a:solidFill>
              <a:srgbClr val="00CC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1047601" y="698450"/>
            <a:ext cx="5507170" cy="47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PRECISE TERMS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98450" y="1427262"/>
            <a:ext cx="7747099" cy="2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2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Impervious: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allowing water to pass through (like concrete).</a:t>
            </a:r>
            <a:endParaRPr lang="en-US" sz="2400" dirty="0"/>
          </a:p>
          <a:p>
            <a:pPr marL="342900" indent="-342900" algn="l">
              <a:lnSpc>
                <a:spcPts val="312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Morphology: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study of the form and structure of landforms.</a:t>
            </a:r>
            <a:endParaRPr lang="en-US" sz="2400" dirty="0"/>
          </a:p>
          <a:p>
            <a:pPr marL="342900" indent="-342900" algn="l">
              <a:lnSpc>
                <a:spcPts val="312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Barometric: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Related to atmospheric pressure.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698450"/>
            <a:ext cx="0" cy="474911"/>
          </a:xfrm>
          <a:prstGeom prst="line">
            <a:avLst/>
          </a:prstGeom>
          <a:noFill/>
          <a:ln w="95250">
            <a:solidFill>
              <a:srgbClr val="00CC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1047601" y="698450"/>
            <a:ext cx="4350722" cy="47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COST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98450" y="1554212"/>
            <a:ext cx="7747099" cy="2899172"/>
          </a:xfrm>
          <a:prstGeom prst="roundRect">
            <a:avLst>
              <a:gd name="adj" fmla="val 525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98475" y="2059037"/>
            <a:ext cx="749399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Flooding is more than just property damage.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98475" y="2760018"/>
            <a:ext cx="7493990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00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Health: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social cost of the 2022 floods was estimated at </a:t>
            </a:r>
            <a:r>
              <a:rPr lang="en-US" sz="2400" b="1" dirty="0">
                <a:solidFill>
                  <a:srgbClr val="00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$4.5 Billion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—double the cost of property damage.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698450"/>
            <a:ext cx="0" cy="474911"/>
          </a:xfrm>
          <a:prstGeom prst="line">
            <a:avLst/>
          </a:prstGeom>
          <a:noFill/>
          <a:ln w="95250">
            <a:solidFill>
              <a:srgbClr val="00CC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1047601" y="698450"/>
            <a:ext cx="4868680" cy="47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WITH PEEL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98450" y="1427262"/>
            <a:ext cx="7747099" cy="1813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2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Point: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main idea.</a:t>
            </a:r>
            <a:endParaRPr lang="en-US" sz="2400" dirty="0"/>
          </a:p>
          <a:p>
            <a:pPr marL="342900" indent="-342900" algn="l">
              <a:lnSpc>
                <a:spcPts val="312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fact or quote from the Archive.</a:t>
            </a:r>
            <a:endParaRPr lang="en-US" sz="2400" dirty="0"/>
          </a:p>
          <a:p>
            <a:pPr marL="342900" indent="-342900" algn="l">
              <a:lnSpc>
                <a:spcPts val="312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Explanation: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Why the evidence matters.</a:t>
            </a:r>
            <a:endParaRPr lang="en-US" sz="2400" dirty="0"/>
          </a:p>
          <a:p>
            <a:pPr marL="342900" indent="-342900" algn="l">
              <a:lnSpc>
                <a:spcPts val="312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Link: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Connect back to your point.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698450"/>
            <a:ext cx="0" cy="474911"/>
          </a:xfrm>
          <a:prstGeom prst="line">
            <a:avLst/>
          </a:prstGeom>
          <a:noFill/>
          <a:ln w="95250">
            <a:solidFill>
              <a:srgbClr val="00CC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1047601" y="698450"/>
            <a:ext cx="4817218" cy="47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 HUNT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98450" y="1732062"/>
            <a:ext cx="790204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Open the Floods Archive.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8450" y="2433042"/>
            <a:ext cx="790204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Find the 5 Core Terms.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98450" y="3134023"/>
            <a:ext cx="790204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Complete the </a:t>
            </a:r>
            <a:r>
              <a:rPr lang="en-US" sz="2400" b="1" dirty="0">
                <a:solidFill>
                  <a:srgbClr val="00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PEEL Paragraph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Human Costs.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98450" y="3835003"/>
            <a:ext cx="790204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Use the Tooltips for definitions!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405</Words>
  <Application>Microsoft Office PowerPoint</Application>
  <PresentationFormat>On-screen Show (16:9)</PresentationFormat>
  <Paragraphs>61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SUTHERLAND, Douglas (dsuth10)</cp:lastModifiedBy>
  <cp:revision>2</cp:revision>
  <dcterms:created xsi:type="dcterms:W3CDTF">2026-05-10T03:13:53Z</dcterms:created>
  <dcterms:modified xsi:type="dcterms:W3CDTF">2026-05-10T05:00:41Z</dcterms:modified>
</cp:coreProperties>
</file>