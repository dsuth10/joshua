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507950"/>
            <a:ext cx="8290661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12: Controlling the Message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6669" y="18605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Cohesion and Prominence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669" y="240967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Unit 2: Natural Disasters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07950" y="990451"/>
            <a:ext cx="8128099" cy="0"/>
          </a:xfrm>
          <a:prstGeom prst="line">
            <a:avLst/>
          </a:prstGeom>
          <a:noFill/>
          <a:ln w="19050">
            <a:solidFill>
              <a:srgbClr val="AAB7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253877"/>
            <a:ext cx="8290661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texts are made cohesive by using the starting point of a sentence to give prominence to the message.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168277"/>
            <a:ext cx="8290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752427"/>
            <a:ext cx="8128099" cy="11937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Theme and Rheme of a sentence.</a:t>
            </a:r>
            <a:endParaRPr lang="en-US" sz="2000" dirty="0"/>
          </a:p>
          <a:p>
            <a:pPr algn="l" marL="127000" indent="-1270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changing the Theme changes what is emphasised.</a:t>
            </a:r>
            <a:endParaRPr lang="en-US" sz="2000" dirty="0"/>
          </a:p>
          <a:p>
            <a:pPr algn="l" marL="127000" indent="-127000">
              <a:lnSpc>
                <a:spcPts val="26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rewrite sentences to change their focus.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Activate: Which one flows better?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8579" y="1171426"/>
            <a:ext cx="401584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536948"/>
            <a:ext cx="3937099" cy="1398984"/>
          </a:xfrm>
          <a:prstGeom prst="roundRect">
            <a:avLst>
              <a:gd name="adj" fmla="val 7262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400" y="1708398"/>
            <a:ext cx="3666083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Brisbane River rose quickly in 1974. Heavy rain fell for five days. Flooding hit 8,500 homes. The city changed forever after that.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59579" y="1171426"/>
            <a:ext cx="401584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8950" y="1536948"/>
            <a:ext cx="3937099" cy="1398984"/>
          </a:xfrm>
          <a:prstGeom prst="roundRect">
            <a:avLst>
              <a:gd name="adj" fmla="val 7262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0400" y="1708398"/>
            <a:ext cx="3666083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1974, the Brisbane River rose quickly. After five days of heavy rain, flooding hit 8,500 homes. Following this disaster, the city changed forever.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6669" y="3189833"/>
            <a:ext cx="829066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Bef>
                <a:spcPts val="2000"/>
              </a:spcBef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difference? Why does Paragraph B feel more professional?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 Theme and Rheme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525"/>
            <a:ext cx="8128099" cy="1050727"/>
          </a:xfrm>
          <a:prstGeom prst="roundRect">
            <a:avLst>
              <a:gd name="adj" fmla="val 14504"/>
            </a:avLst>
          </a:prstGeom>
          <a:noFill/>
          <a:ln w="38100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4510" y="1590526"/>
            <a:ext cx="76949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floodwaters</a:t>
            </a:r>
            <a:pPr algn="ctr" indent="0" marL="0">
              <a:buNone/>
            </a:pPr>
            <a:r>
              <a:rPr lang="en-US" sz="3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quickly.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68579" y="2603153"/>
            <a:ext cx="401584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68579" y="3133279"/>
            <a:ext cx="4015841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message is about.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59579" y="2603153"/>
            <a:ext cx="401584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RHEME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59579" y="3133279"/>
            <a:ext cx="4015841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information.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 about the theme.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Spotlight: Brisbane History</a:t>
            </a:r>
            <a:endParaRPr lang="en-US" sz="2800" dirty="0"/>
          </a:p>
        </p:txBody>
      </p:sp>
      <p:pic>
        <p:nvPicPr>
          <p:cNvPr id="4" name="Image 0" descr="C:/Users/dsuth/Documents/Joshua/Units/English/English_Unit_2/Resources/Website/Floods/Brisbane_History/archival_18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171426"/>
            <a:ext cx="3937099" cy="39370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8950" y="1171426"/>
            <a:ext cx="3937099" cy="3937099"/>
          </a:xfrm>
          <a:prstGeom prst="roundRect">
            <a:avLst>
              <a:gd name="adj" fmla="val 2581"/>
            </a:avLst>
          </a:prstGeom>
          <a:solidFill>
            <a:srgbClr val="F4F6F6"/>
          </a:solidFill>
          <a:ln w="9525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60875" y="1561951"/>
            <a:ext cx="3685514" cy="89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February 1893</a:t>
            </a:r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three separate floods hit Brisbane within weeks of each other."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60875" y="2681734"/>
            <a:ext cx="3685514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 starts with the </a:t>
            </a:r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show how unusual this wet season was.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Spotlight: Human Cost</a:t>
            </a:r>
            <a:endParaRPr lang="en-US" sz="2800" dirty="0"/>
          </a:p>
        </p:txBody>
      </p:sp>
      <p:pic>
        <p:nvPicPr>
          <p:cNvPr id="4" name="Image 0" descr="C:/Users/dsuth/Documents/Joshua/Units/English/English_Unit_2/Resources/Website/Floods/Human_Cost/mud_ar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1171426"/>
            <a:ext cx="3937099" cy="39370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8950" y="1171426"/>
            <a:ext cx="3937099" cy="3937099"/>
          </a:xfrm>
          <a:prstGeom prst="roundRect">
            <a:avLst>
              <a:gd name="adj" fmla="val 2581"/>
            </a:avLst>
          </a:prstGeom>
          <a:solidFill>
            <a:srgbClr val="F4F6F6"/>
          </a:solidFill>
          <a:ln w="9525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60875" y="1561951"/>
            <a:ext cx="3685514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2011 and 2022 events</a:t>
            </a:r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46 lives were lost."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60875" y="2384673"/>
            <a:ext cx="3685514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 starts with the </a:t>
            </a:r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group multiple events together and show the total impact.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Themes (Starting Points)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08025"/>
            <a:ext cx="3987850" cy="984052"/>
          </a:xfrm>
          <a:prstGeom prst="roundRect">
            <a:avLst>
              <a:gd name="adj" fmla="val 7743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3951" y="1254026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951" y="1526977"/>
            <a:ext cx="37697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1974..."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"During the disaster..."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48200" y="1108025"/>
            <a:ext cx="3987850" cy="984052"/>
          </a:xfrm>
          <a:prstGeom prst="roundRect">
            <a:avLst>
              <a:gd name="adj" fmla="val 7743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94200" y="1254026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94200" y="1526977"/>
            <a:ext cx="37697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 the City Gauge..."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the Lockyer Valley..."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2244477"/>
            <a:ext cx="3987850" cy="984052"/>
          </a:xfrm>
          <a:prstGeom prst="roundRect">
            <a:avLst>
              <a:gd name="adj" fmla="val 7743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951" y="2390477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/ Condition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951" y="2663428"/>
            <a:ext cx="37697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"Because of the rain..."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the levee breaks..."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8200" y="2244477"/>
            <a:ext cx="3987850" cy="984052"/>
          </a:xfrm>
          <a:prstGeom prst="roundRect">
            <a:avLst>
              <a:gd name="adj" fmla="val 7743"/>
            </a:avLst>
          </a:prstGeom>
          <a:solidFill>
            <a:srgbClr val="F4F6F6"/>
          </a:solidFill>
          <a:ln w="19050">
            <a:solidFill>
              <a:srgbClr val="AAB7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4200" y="2390477"/>
            <a:ext cx="37697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Source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94200" y="2663428"/>
            <a:ext cx="37697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"According to the BoM..."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"Evidence shows that..."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950" y="3482429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starting points give prominence to different ideas!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Modelling: Rewriting for Emphasis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976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Fast-moving water is deceptive and lethal.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65720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Emphasise the </a:t>
            </a:r>
            <a:pPr algn="l"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pPr algn="l"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danger.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085826"/>
            <a:ext cx="8128099" cy="549176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6525" y="2085826"/>
            <a:ext cx="0" cy="549176"/>
          </a:xfrm>
          <a:prstGeom prst="line">
            <a:avLst/>
          </a:prstGeom>
          <a:noFill/>
          <a:ln w="57150">
            <a:solidFill>
              <a:srgbClr val="00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051" y="2212777"/>
            <a:ext cx="79733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 is so deceptive</a:t>
            </a:r>
            <a:pPr algn="l" indent="0" marL="0"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fast-moving water can be lethal.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3016002"/>
            <a:ext cx="829066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starting with </a:t>
            </a:r>
            <a:pPr algn="l" indent="0" marL="0">
              <a:spcBef>
                <a:spcPts val="3000"/>
              </a:spcBef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"Because..."</a:t>
            </a:r>
            <a:pPr algn="l" indent="0" marL="0">
              <a:spcBef>
                <a:spcPts val="3000"/>
              </a:spcBef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we tell the reader why it's dangerous before we tell them what the danger is.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Task: Lesson 12 Handout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426"/>
            <a:ext cx="8128099" cy="990749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8950" y="1171426"/>
            <a:ext cx="790204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Theme in the archive sentences.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8950" y="1501676"/>
            <a:ext cx="790204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the five sentences to change their starting point.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8950" y="1831925"/>
            <a:ext cx="790204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Does your new sentence start with the suggested words?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950" y="2416076"/>
            <a:ext cx="8128099" cy="1079599"/>
          </a:xfrm>
          <a:prstGeom prst="roundRect">
            <a:avLst>
              <a:gd name="adj" fmla="val 9411"/>
            </a:avLst>
          </a:prstGeom>
          <a:solidFill>
            <a:srgbClr val="F4F6F6"/>
          </a:solidFill>
          <a:ln w="19050">
            <a:solidFill>
              <a:srgbClr val="2E405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410" y="2625626"/>
            <a:ext cx="7863179" cy="660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Focus:</a:t>
            </a:r>
            <a:pPr algn="ctr" indent="0" marL="0">
              <a:lnSpc>
                <a:spcPts val="2600"/>
              </a:lnSpc>
              <a:buNone/>
            </a:pP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Rewriting for Prominence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50795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the Message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26669" y="1469975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we explore: Visual Features &amp; Image Sequences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669" y="240015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12 Complete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2026-05-11T00:33:15Z</dcterms:created>
  <dcterms:modified xsi:type="dcterms:W3CDTF">2026-05-11T00:33:15Z</dcterms:modified>
</cp:coreProperties>
</file>