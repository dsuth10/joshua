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877193"/>
            <a:ext cx="746150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14: Floods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9500" y="1705868"/>
            <a:ext cx="1905000" cy="50750"/>
          </a:xfrm>
          <a:prstGeom prst="roundRect">
            <a:avLst>
              <a:gd name="adj" fmla="val 50049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1248" y="2010519"/>
            <a:ext cx="74615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Between the Frames: Visual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743944"/>
            <a:ext cx="7315200" cy="1522363"/>
          </a:xfrm>
          <a:prstGeom prst="roundRect">
            <a:avLst>
              <a:gd name="adj" fmla="val 6674"/>
            </a:avLst>
          </a:prstGeom>
          <a:solidFill>
            <a:srgbClr val="3F72AF">
              <a:alpha val="20000"/>
            </a:srgbClr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9658" y="3016895"/>
            <a:ext cx="69046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LI: I can explain how visual features contribute to the effect and meaning of an informative text.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9658" y="3783806"/>
            <a:ext cx="69046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(AC9E5LA07, AC9E5LY03)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998488"/>
            <a:ext cx="8128099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Silent Observation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2474"/>
            <a:ext cx="5874097" cy="3530203"/>
          </a:xfrm>
          <a:prstGeom prst="roundRect">
            <a:avLst>
              <a:gd name="adj" fmla="val 21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5575" y="1222474"/>
            <a:ext cx="0" cy="3530203"/>
          </a:xfrm>
          <a:prstGeom prst="line">
            <a:avLst/>
          </a:prstGeom>
          <a:noFill/>
          <a:ln w="95250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101" y="1476375"/>
            <a:ext cx="537646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closely at the Mud Army photograph.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101" y="2314575"/>
            <a:ext cx="53764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image in complete silence. Consider: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7101" y="2784425"/>
            <a:ext cx="5271046" cy="15874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draws your eye first?</a:t>
            </a:r>
            <a:endParaRPr lang="en-US" sz="18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placed closest to the front (foregrounded)?</a:t>
            </a:r>
            <a:endParaRPr lang="en-US" sz="18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emotion or message does this picture communicate?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35948" y="1987600"/>
            <a:ext cx="2000101" cy="2000101"/>
          </a:xfrm>
          <a:prstGeom prst="roundRect">
            <a:avLst>
              <a:gd name="adj" fmla="val 45718"/>
            </a:avLst>
          </a:prstGeom>
          <a:solidFill>
            <a:srgbClr val="112D4E"/>
          </a:solidFill>
          <a:ln w="47625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Concepts: Framing &amp; Placement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911126"/>
            <a:ext cx="8128099" cy="20389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85416"/>
            <a:ext cx="3937099" cy="3640634"/>
          </a:xfrm>
          <a:prstGeom prst="roundRect">
            <a:avLst>
              <a:gd name="adj" fmla="val 2791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23516"/>
            <a:ext cx="3937099" cy="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2105918"/>
            <a:ext cx="3497884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and angle of the camera shot. Controls emotional proximity and context scale.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3165723"/>
            <a:ext cx="3429298" cy="1406426"/>
          </a:xfrm>
          <a:prstGeom prst="roundRect">
            <a:avLst>
              <a:gd name="adj" fmla="val 3612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5664" y="3165723"/>
            <a:ext cx="0" cy="1406426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1876" y="3318123"/>
            <a:ext cx="3138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MEANING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1876" y="3581549"/>
            <a:ext cx="31384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Close-ups build personal empathy. Wide shots establish overall destruction and immense geographic scale.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8950" y="1185416"/>
            <a:ext cx="3937099" cy="3640634"/>
          </a:xfrm>
          <a:prstGeom prst="roundRect">
            <a:avLst>
              <a:gd name="adj" fmla="val 2791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8950" y="1223516"/>
            <a:ext cx="3937099" cy="0"/>
          </a:xfrm>
          <a:prstGeom prst="line">
            <a:avLst/>
          </a:prstGeom>
          <a:noFill/>
          <a:ln w="76200">
            <a:solidFill>
              <a:srgbClr val="3F72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2851" y="2105918"/>
            <a:ext cx="3497884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an image sits on the page relative to headings, sidebars, and text blocks.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2851" y="3375273"/>
            <a:ext cx="3429298" cy="1196876"/>
          </a:xfrm>
          <a:prstGeom prst="roundRect">
            <a:avLst>
              <a:gd name="adj" fmla="val 4244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76664" y="3375273"/>
            <a:ext cx="0" cy="1196876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2876" y="3527673"/>
            <a:ext cx="3138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MEANING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52876" y="3791099"/>
            <a:ext cx="313841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 the reading path. Anchors visual evidence directly next to relevant data panels or pull quotes.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Concepts: Salience &amp; Layout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911126"/>
            <a:ext cx="8128099" cy="20389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185416"/>
            <a:ext cx="3937099" cy="3640634"/>
          </a:xfrm>
          <a:prstGeom prst="roundRect">
            <a:avLst>
              <a:gd name="adj" fmla="val 2791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23516"/>
            <a:ext cx="3937099" cy="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51" y="2105918"/>
            <a:ext cx="3497884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draws the eye first due to size, vivid colour, or sharp contrast. Emphasizes focal elements.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3165723"/>
            <a:ext cx="3429298" cy="1406426"/>
          </a:xfrm>
          <a:prstGeom prst="roundRect">
            <a:avLst>
              <a:gd name="adj" fmla="val 3612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5664" y="3165723"/>
            <a:ext cx="0" cy="1406426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1876" y="3318123"/>
            <a:ext cx="3138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MEANING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1876" y="3581549"/>
            <a:ext cx="31384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establishes priority. Foregrounding key figures forces the reader to acknowledge their central role.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98950" y="1185416"/>
            <a:ext cx="3937099" cy="3640634"/>
          </a:xfrm>
          <a:prstGeom prst="roundRect">
            <a:avLst>
              <a:gd name="adj" fmla="val 2791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8950" y="1223516"/>
            <a:ext cx="3937099" cy="0"/>
          </a:xfrm>
          <a:prstGeom prst="line">
            <a:avLst/>
          </a:prstGeom>
          <a:noFill/>
          <a:ln w="76200">
            <a:solidFill>
              <a:srgbClr val="3F72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2851" y="2105918"/>
            <a:ext cx="3497884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organized interaction of text, images, captions, and data panels across the full document space.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2851" y="3375273"/>
            <a:ext cx="3429298" cy="1196876"/>
          </a:xfrm>
          <a:prstGeom prst="roundRect">
            <a:avLst>
              <a:gd name="adj" fmla="val 4244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976664" y="3375273"/>
            <a:ext cx="0" cy="1196876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2876" y="3527673"/>
            <a:ext cx="3138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MEANING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52876" y="3791099"/>
            <a:ext cx="313841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complex multimedia information clearly. Multiplies meaning without creating cognitive overload.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Annotation: The Source Image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7525"/>
            <a:ext cx="8128099" cy="1661964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9863" y="917525"/>
            <a:ext cx="0" cy="1661964"/>
          </a:xfrm>
          <a:prstGeom prst="line">
            <a:avLst/>
          </a:prstGeom>
          <a:noFill/>
          <a:ln w="123825">
            <a:solidFill>
              <a:srgbClr val="3F72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5676" y="1171426"/>
            <a:ext cx="764640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"Community volunteers in Brisbane forming what became known as the 'Mud Army', helping to clear destroyed homes."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5676" y="1938337"/>
            <a:ext cx="76464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accompanying the primary image in The Human Cost sidebar.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174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Text &amp; Visuals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936575"/>
            <a:ext cx="8128099" cy="3134023"/>
          </a:xfrm>
          <a:prstGeom prst="roundRect">
            <a:avLst>
              <a:gd name="adj" fmla="val 1621"/>
            </a:avLst>
          </a:prstGeom>
          <a:noFill/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7000" y="955625"/>
            <a:ext cx="2286000" cy="578346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529209"/>
            <a:ext cx="2286000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9400" y="1108025"/>
            <a:ext cx="141299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Feature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13000" y="955625"/>
            <a:ext cx="5803999" cy="578346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813000" y="1529209"/>
            <a:ext cx="5803999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5400" y="1108025"/>
            <a:ext cx="333105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Reader's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7000" y="1533971"/>
            <a:ext cx="2286000" cy="842367"/>
          </a:xfrm>
          <a:prstGeom prst="rect">
            <a:avLst/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808238" y="1533971"/>
            <a:ext cx="0" cy="842367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7000" y="2371576"/>
            <a:ext cx="2286000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400" y="1818382"/>
            <a:ext cx="84099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13000" y="1533971"/>
            <a:ext cx="5803999" cy="84236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813000" y="2371576"/>
            <a:ext cx="5803999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65400" y="1686371"/>
            <a:ext cx="56091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Foregrounding the mud-covered volunteer instantly draws the eye, establishing human effort as the primary theme.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7000" y="2376339"/>
            <a:ext cx="2286000" cy="842367"/>
          </a:xfrm>
          <a:prstGeom prst="rect">
            <a:avLst/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08238" y="2376339"/>
            <a:ext cx="0" cy="842367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000" y="3213943"/>
            <a:ext cx="2286000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400" y="2660749"/>
            <a:ext cx="81762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13000" y="2376339"/>
            <a:ext cx="5803999" cy="842367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813000" y="3213943"/>
            <a:ext cx="5803999" cy="0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5400" y="2528739"/>
            <a:ext cx="56091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Mid-shot balances personal exhaustion with the immense communal scale of the volunteer line behind them.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000" y="3218706"/>
            <a:ext cx="2286000" cy="832842"/>
          </a:xfrm>
          <a:prstGeom prst="rect">
            <a:avLst/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808238" y="3218706"/>
            <a:ext cx="0" cy="832842"/>
          </a:xfrm>
          <a:prstGeom prst="line">
            <a:avLst/>
          </a:prstGeom>
          <a:noFill/>
          <a:ln w="9525">
            <a:solidFill>
              <a:srgbClr val="3F72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400" y="3503116"/>
            <a:ext cx="103667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13000" y="3218706"/>
            <a:ext cx="5803999" cy="832842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65400" y="3371106"/>
            <a:ext cx="5609183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in the sidebar directly below the expert quote on recovery to ground abstract data in physical reality.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998488"/>
            <a:ext cx="8128099" cy="0"/>
          </a:xfrm>
          <a:prstGeom prst="line">
            <a:avLst/>
          </a:prstGeom>
          <a:noFill/>
          <a:ln w="47625">
            <a:solidFill>
              <a:srgbClr val="3F72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Visual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950988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Lesson 14 Worksheet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2373213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5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 image from the Floods Archive (e.g., Riverine infographic or Moreton Bay sediment plume). Use the graphic organiser to plan your analysis.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3203674"/>
            <a:ext cx="8128099" cy="1558826"/>
          </a:xfrm>
          <a:prstGeom prst="roundRect">
            <a:avLst>
              <a:gd name="adj" fmla="val 4888"/>
            </a:avLst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6050" y="3203674"/>
            <a:ext cx="0" cy="1558826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3394174"/>
            <a:ext cx="7694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SENTENCE STARTERS: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051" y="3705225"/>
            <a:ext cx="76949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image shows..."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051" y="4019550"/>
            <a:ext cx="76949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author chose this image because..."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51" y="4333875"/>
            <a:ext cx="76949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visual feature of [salience/framing/placement] creates an effect of..."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166366"/>
            <a:ext cx="746150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810000" y="1937891"/>
            <a:ext cx="1524000" cy="50750"/>
          </a:xfrm>
          <a:prstGeom prst="roundRect">
            <a:avLst>
              <a:gd name="adj" fmla="val 50049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1248" y="2306092"/>
            <a:ext cx="7461504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25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written analysis with a peer.</a:t>
            </a:r>
            <a:endParaRPr lang="en-US" sz="2200" dirty="0"/>
          </a:p>
          <a:p>
            <a:pPr algn="ctr" indent="0" marL="0">
              <a:lnSpc>
                <a:spcPts val="3080"/>
              </a:lnSpc>
              <a:spcAft>
                <a:spcPts val="25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explain the </a:t>
            </a:r>
            <a:endParaRPr lang="en-US" sz="2200" dirty="0"/>
          </a:p>
          <a:p>
            <a:pPr algn="ctr" indent="0" marL="0">
              <a:lnSpc>
                <a:spcPts val="3080"/>
              </a:lnSpc>
              <a:spcAft>
                <a:spcPts val="2500"/>
              </a:spcAft>
              <a:buNone/>
            </a:pPr>
            <a:r>
              <a:rPr lang="en-US" sz="22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meaning</a:t>
            </a:r>
            <a:pPr algn="ctr" indent="0" marL="0">
              <a:lnSpc>
                <a:spcPts val="3080"/>
              </a:lnSpc>
              <a:spcAft>
                <a:spcPts val="25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62968" y="3405485"/>
            <a:ext cx="6418064" cy="571500"/>
          </a:xfrm>
          <a:prstGeom prst="roundRect">
            <a:avLst>
              <a:gd name="adj" fmla="val 66667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22587" y="3557885"/>
            <a:ext cx="5898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COMPLETE FORMS ASSESSMENT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2026-05-13T21:46:06Z</dcterms:created>
  <dcterms:modified xsi:type="dcterms:W3CDTF">2026-05-13T21:46:06Z</dcterms:modified>
</cp:coreProperties>
</file>