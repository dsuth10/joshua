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256" r:id="rId2"/>
    <p:sldId id="270" r:id="rId3"/>
    <p:sldId id="259" r:id="rId4"/>
    <p:sldId id="257" r:id="rId5"/>
    <p:sldId id="269" r:id="rId6"/>
    <p:sldId id="272" r:id="rId7"/>
    <p:sldId id="261" r:id="rId8"/>
    <p:sldId id="262" r:id="rId9"/>
    <p:sldId id="264" r:id="rId10"/>
    <p:sldId id="263" r:id="rId11"/>
    <p:sldId id="268" r:id="rId12"/>
    <p:sldId id="265" r:id="rId13"/>
    <p:sldId id="266" r:id="rId14"/>
    <p:sldId id="267" r:id="rId15"/>
    <p:sldId id="271" r:id="rId16"/>
  </p:sldIdLst>
  <p:sldSz cx="9144000" cy="6858000" type="screen4x3"/>
  <p:notesSz cx="6724650" cy="9774238"/>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9714" autoAdjust="0"/>
  </p:normalViewPr>
  <p:slideViewPr>
    <p:cSldViewPr>
      <p:cViewPr>
        <p:scale>
          <a:sx n="93" d="100"/>
          <a:sy n="93" d="100"/>
        </p:scale>
        <p:origin x="-2070" y="-198"/>
      </p:cViewPr>
      <p:guideLst>
        <p:guide orient="horz" pos="2160"/>
        <p:guide orient="horz" pos="572"/>
        <p:guide orient="horz" pos="935"/>
        <p:guide orient="horz" pos="164"/>
        <p:guide orient="horz" pos="1117"/>
        <p:guide orient="horz" pos="300"/>
        <p:guide pos="2880"/>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14015" cy="488712"/>
          </a:xfrm>
          <a:prstGeom prst="rect">
            <a:avLst/>
          </a:prstGeom>
        </p:spPr>
        <p:txBody>
          <a:bodyPr vert="horz" lIns="91440" tIns="45720" rIns="91440" bIns="45720" rtlCol="0"/>
          <a:lstStyle>
            <a:lvl1pPr algn="l">
              <a:defRPr sz="1200"/>
            </a:lvl1pPr>
          </a:lstStyle>
          <a:p>
            <a:endParaRPr lang="en-AU" dirty="0"/>
          </a:p>
        </p:txBody>
      </p:sp>
      <p:sp>
        <p:nvSpPr>
          <p:cNvPr id="3" name="Date Placeholder 2"/>
          <p:cNvSpPr>
            <a:spLocks noGrp="1"/>
          </p:cNvSpPr>
          <p:nvPr>
            <p:ph type="dt" idx="1"/>
          </p:nvPr>
        </p:nvSpPr>
        <p:spPr>
          <a:xfrm>
            <a:off x="3809079" y="0"/>
            <a:ext cx="2914015" cy="488712"/>
          </a:xfrm>
          <a:prstGeom prst="rect">
            <a:avLst/>
          </a:prstGeom>
        </p:spPr>
        <p:txBody>
          <a:bodyPr vert="horz" lIns="91440" tIns="45720" rIns="91440" bIns="45720" rtlCol="0"/>
          <a:lstStyle>
            <a:lvl1pPr algn="r">
              <a:defRPr sz="1200"/>
            </a:lvl1pPr>
          </a:lstStyle>
          <a:p>
            <a:fld id="{7A33441A-51BE-4165-8E1A-B0DFBBA158D1}" type="datetimeFigureOut">
              <a:rPr lang="en-AU" smtClean="0"/>
              <a:t>18/01/2017</a:t>
            </a:fld>
            <a:endParaRPr lang="en-AU" dirty="0"/>
          </a:p>
        </p:txBody>
      </p:sp>
      <p:sp>
        <p:nvSpPr>
          <p:cNvPr id="4" name="Slide Image Placeholder 3"/>
          <p:cNvSpPr>
            <a:spLocks noGrp="1" noRot="1" noChangeAspect="1"/>
          </p:cNvSpPr>
          <p:nvPr>
            <p:ph type="sldImg" idx="2"/>
          </p:nvPr>
        </p:nvSpPr>
        <p:spPr>
          <a:xfrm>
            <a:off x="919163" y="733425"/>
            <a:ext cx="4886325" cy="3665538"/>
          </a:xfrm>
          <a:prstGeom prst="rect">
            <a:avLst/>
          </a:prstGeom>
          <a:noFill/>
          <a:ln w="12700">
            <a:solidFill>
              <a:prstClr val="black"/>
            </a:solidFill>
          </a:ln>
        </p:spPr>
        <p:txBody>
          <a:bodyPr vert="horz" lIns="91440" tIns="45720" rIns="91440" bIns="45720" rtlCol="0" anchor="ctr"/>
          <a:lstStyle/>
          <a:p>
            <a:endParaRPr lang="en-AU" dirty="0"/>
          </a:p>
        </p:txBody>
      </p:sp>
      <p:sp>
        <p:nvSpPr>
          <p:cNvPr id="5" name="Notes Placeholder 4"/>
          <p:cNvSpPr>
            <a:spLocks noGrp="1"/>
          </p:cNvSpPr>
          <p:nvPr>
            <p:ph type="body" sz="quarter" idx="3"/>
          </p:nvPr>
        </p:nvSpPr>
        <p:spPr>
          <a:xfrm>
            <a:off x="672465" y="4642763"/>
            <a:ext cx="5379720" cy="4398407"/>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6" name="Footer Placeholder 5"/>
          <p:cNvSpPr>
            <a:spLocks noGrp="1"/>
          </p:cNvSpPr>
          <p:nvPr>
            <p:ph type="ftr" sz="quarter" idx="4"/>
          </p:nvPr>
        </p:nvSpPr>
        <p:spPr>
          <a:xfrm>
            <a:off x="0" y="9283830"/>
            <a:ext cx="2914015" cy="488712"/>
          </a:xfrm>
          <a:prstGeom prst="rect">
            <a:avLst/>
          </a:prstGeom>
        </p:spPr>
        <p:txBody>
          <a:bodyPr vert="horz" lIns="91440" tIns="45720" rIns="91440" bIns="45720" rtlCol="0" anchor="b"/>
          <a:lstStyle>
            <a:lvl1pPr algn="l">
              <a:defRPr sz="1200"/>
            </a:lvl1pPr>
          </a:lstStyle>
          <a:p>
            <a:endParaRPr lang="en-AU" dirty="0"/>
          </a:p>
        </p:txBody>
      </p:sp>
      <p:sp>
        <p:nvSpPr>
          <p:cNvPr id="7" name="Slide Number Placeholder 6"/>
          <p:cNvSpPr>
            <a:spLocks noGrp="1"/>
          </p:cNvSpPr>
          <p:nvPr>
            <p:ph type="sldNum" sz="quarter" idx="5"/>
          </p:nvPr>
        </p:nvSpPr>
        <p:spPr>
          <a:xfrm>
            <a:off x="3809079" y="9283830"/>
            <a:ext cx="2914015" cy="488712"/>
          </a:xfrm>
          <a:prstGeom prst="rect">
            <a:avLst/>
          </a:prstGeom>
        </p:spPr>
        <p:txBody>
          <a:bodyPr vert="horz" lIns="91440" tIns="45720" rIns="91440" bIns="45720" rtlCol="0" anchor="b"/>
          <a:lstStyle>
            <a:lvl1pPr algn="r">
              <a:defRPr sz="1200"/>
            </a:lvl1pPr>
          </a:lstStyle>
          <a:p>
            <a:fld id="{25CCD570-7A19-4784-B4E4-B49773B3642D}" type="slidenum">
              <a:rPr lang="en-AU" smtClean="0"/>
              <a:t>‹#›</a:t>
            </a:fld>
            <a:endParaRPr lang="en-AU" dirty="0"/>
          </a:p>
        </p:txBody>
      </p:sp>
    </p:spTree>
    <p:extLst>
      <p:ext uri="{BB962C8B-B14F-4D97-AF65-F5344CB8AC3E}">
        <p14:creationId xmlns:p14="http://schemas.microsoft.com/office/powerpoint/2010/main" val="41100370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25CCD570-7A19-4784-B4E4-B49773B3642D}" type="slidenum">
              <a:rPr lang="en-AU" smtClean="0"/>
              <a:t>1</a:t>
            </a:fld>
            <a:endParaRPr lang="en-AU" dirty="0"/>
          </a:p>
        </p:txBody>
      </p:sp>
    </p:spTree>
    <p:extLst>
      <p:ext uri="{BB962C8B-B14F-4D97-AF65-F5344CB8AC3E}">
        <p14:creationId xmlns:p14="http://schemas.microsoft.com/office/powerpoint/2010/main" val="20000844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25CCD570-7A19-4784-B4E4-B49773B3642D}" type="slidenum">
              <a:rPr lang="en-AU" smtClean="0"/>
              <a:t>2</a:t>
            </a:fld>
            <a:endParaRPr lang="en-AU" dirty="0"/>
          </a:p>
        </p:txBody>
      </p:sp>
    </p:spTree>
    <p:extLst>
      <p:ext uri="{BB962C8B-B14F-4D97-AF65-F5344CB8AC3E}">
        <p14:creationId xmlns:p14="http://schemas.microsoft.com/office/powerpoint/2010/main" val="36143279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25CCD570-7A19-4784-B4E4-B49773B3642D}" type="slidenum">
              <a:rPr lang="en-AU" smtClean="0"/>
              <a:t>3</a:t>
            </a:fld>
            <a:endParaRPr lang="en-AU" dirty="0"/>
          </a:p>
        </p:txBody>
      </p:sp>
    </p:spTree>
    <p:extLst>
      <p:ext uri="{BB962C8B-B14F-4D97-AF65-F5344CB8AC3E}">
        <p14:creationId xmlns:p14="http://schemas.microsoft.com/office/powerpoint/2010/main" val="361432794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25CCD570-7A19-4784-B4E4-B49773B3642D}" type="slidenum">
              <a:rPr lang="en-AU" smtClean="0"/>
              <a:t>4</a:t>
            </a:fld>
            <a:endParaRPr lang="en-AU" dirty="0"/>
          </a:p>
        </p:txBody>
      </p:sp>
    </p:spTree>
    <p:extLst>
      <p:ext uri="{BB962C8B-B14F-4D97-AF65-F5344CB8AC3E}">
        <p14:creationId xmlns:p14="http://schemas.microsoft.com/office/powerpoint/2010/main" val="361432794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25CCD570-7A19-4784-B4E4-B49773B3642D}" type="slidenum">
              <a:rPr lang="en-AU" smtClean="0"/>
              <a:t>5</a:t>
            </a:fld>
            <a:endParaRPr lang="en-AU" dirty="0"/>
          </a:p>
        </p:txBody>
      </p:sp>
    </p:spTree>
    <p:extLst>
      <p:ext uri="{BB962C8B-B14F-4D97-AF65-F5344CB8AC3E}">
        <p14:creationId xmlns:p14="http://schemas.microsoft.com/office/powerpoint/2010/main" val="361432794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25CCD570-7A19-4784-B4E4-B49773B3642D}" type="slidenum">
              <a:rPr lang="en-AU" smtClean="0"/>
              <a:t>6</a:t>
            </a:fld>
            <a:endParaRPr lang="en-AU" dirty="0"/>
          </a:p>
        </p:txBody>
      </p:sp>
    </p:spTree>
    <p:extLst>
      <p:ext uri="{BB962C8B-B14F-4D97-AF65-F5344CB8AC3E}">
        <p14:creationId xmlns:p14="http://schemas.microsoft.com/office/powerpoint/2010/main" val="361432794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25CCD570-7A19-4784-B4E4-B49773B3642D}" type="slidenum">
              <a:rPr lang="en-AU" smtClean="0"/>
              <a:t>7</a:t>
            </a:fld>
            <a:endParaRPr lang="en-AU" dirty="0"/>
          </a:p>
        </p:txBody>
      </p:sp>
    </p:spTree>
    <p:extLst>
      <p:ext uri="{BB962C8B-B14F-4D97-AF65-F5344CB8AC3E}">
        <p14:creationId xmlns:p14="http://schemas.microsoft.com/office/powerpoint/2010/main" val="361432794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25CCD570-7A19-4784-B4E4-B49773B3642D}" type="slidenum">
              <a:rPr lang="en-AU" smtClean="0"/>
              <a:t>8</a:t>
            </a:fld>
            <a:endParaRPr lang="en-AU" dirty="0"/>
          </a:p>
        </p:txBody>
      </p:sp>
    </p:spTree>
    <p:extLst>
      <p:ext uri="{BB962C8B-B14F-4D97-AF65-F5344CB8AC3E}">
        <p14:creationId xmlns:p14="http://schemas.microsoft.com/office/powerpoint/2010/main" val="361432794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25CCD570-7A19-4784-B4E4-B49773B3642D}" type="slidenum">
              <a:rPr lang="en-AU" smtClean="0"/>
              <a:t>9</a:t>
            </a:fld>
            <a:endParaRPr lang="en-AU" dirty="0"/>
          </a:p>
        </p:txBody>
      </p:sp>
    </p:spTree>
    <p:extLst>
      <p:ext uri="{BB962C8B-B14F-4D97-AF65-F5344CB8AC3E}">
        <p14:creationId xmlns:p14="http://schemas.microsoft.com/office/powerpoint/2010/main" val="361432794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25CCD570-7A19-4784-B4E4-B49773B3642D}" type="slidenum">
              <a:rPr lang="en-AU" smtClean="0"/>
              <a:t>10</a:t>
            </a:fld>
            <a:endParaRPr lang="en-AU" dirty="0"/>
          </a:p>
        </p:txBody>
      </p:sp>
    </p:spTree>
    <p:extLst>
      <p:ext uri="{BB962C8B-B14F-4D97-AF65-F5344CB8AC3E}">
        <p14:creationId xmlns:p14="http://schemas.microsoft.com/office/powerpoint/2010/main" val="361432794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25CCD570-7A19-4784-B4E4-B49773B3642D}" type="slidenum">
              <a:rPr lang="en-AU" smtClean="0"/>
              <a:t>11</a:t>
            </a:fld>
            <a:endParaRPr lang="en-AU" dirty="0"/>
          </a:p>
        </p:txBody>
      </p:sp>
    </p:spTree>
    <p:extLst>
      <p:ext uri="{BB962C8B-B14F-4D97-AF65-F5344CB8AC3E}">
        <p14:creationId xmlns:p14="http://schemas.microsoft.com/office/powerpoint/2010/main" val="361432794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25CCD570-7A19-4784-B4E4-B49773B3642D}" type="slidenum">
              <a:rPr lang="en-AU" smtClean="0"/>
              <a:t>12</a:t>
            </a:fld>
            <a:endParaRPr lang="en-AU" dirty="0"/>
          </a:p>
        </p:txBody>
      </p:sp>
    </p:spTree>
    <p:extLst>
      <p:ext uri="{BB962C8B-B14F-4D97-AF65-F5344CB8AC3E}">
        <p14:creationId xmlns:p14="http://schemas.microsoft.com/office/powerpoint/2010/main" val="361432794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25CCD570-7A19-4784-B4E4-B49773B3642D}" type="slidenum">
              <a:rPr lang="en-AU" smtClean="0"/>
              <a:t>13</a:t>
            </a:fld>
            <a:endParaRPr lang="en-AU" dirty="0"/>
          </a:p>
        </p:txBody>
      </p:sp>
    </p:spTree>
    <p:extLst>
      <p:ext uri="{BB962C8B-B14F-4D97-AF65-F5344CB8AC3E}">
        <p14:creationId xmlns:p14="http://schemas.microsoft.com/office/powerpoint/2010/main" val="361432794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sz="600" dirty="0">
              <a:latin typeface="Arial" pitchFamily="34" charset="0"/>
              <a:cs typeface="Arial" pitchFamily="34" charset="0"/>
            </a:endParaRPr>
          </a:p>
        </p:txBody>
      </p:sp>
      <p:sp>
        <p:nvSpPr>
          <p:cNvPr id="4" name="Slide Number Placeholder 3"/>
          <p:cNvSpPr>
            <a:spLocks noGrp="1"/>
          </p:cNvSpPr>
          <p:nvPr>
            <p:ph type="sldNum" sz="quarter" idx="10"/>
          </p:nvPr>
        </p:nvSpPr>
        <p:spPr/>
        <p:txBody>
          <a:bodyPr/>
          <a:lstStyle/>
          <a:p>
            <a:fld id="{25CCD570-7A19-4784-B4E4-B49773B3642D}" type="slidenum">
              <a:rPr lang="en-AU" smtClean="0"/>
              <a:t>14</a:t>
            </a:fld>
            <a:endParaRPr lang="en-AU" dirty="0"/>
          </a:p>
        </p:txBody>
      </p:sp>
    </p:spTree>
    <p:extLst>
      <p:ext uri="{BB962C8B-B14F-4D97-AF65-F5344CB8AC3E}">
        <p14:creationId xmlns:p14="http://schemas.microsoft.com/office/powerpoint/2010/main" val="361432794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4237425780"/>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3274721156"/>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6" name="Rectangle 5"/>
          <p:cNvSpPr/>
          <p:nvPr userDrawn="1"/>
        </p:nvSpPr>
        <p:spPr>
          <a:xfrm>
            <a:off x="0" y="6695787"/>
            <a:ext cx="1940280" cy="169277"/>
          </a:xfrm>
          <a:prstGeom prst="rect">
            <a:avLst/>
          </a:prstGeom>
        </p:spPr>
        <p:txBody>
          <a:bodyPr wrap="square">
            <a:spAutoFit/>
          </a:bodyPr>
          <a:lstStyle/>
          <a:p>
            <a:pPr algn="l" rtl="0"/>
            <a:r>
              <a:rPr lang="en-US" sz="500" b="0" i="0" u="none" strike="noStrike" kern="1200" baseline="0" dirty="0" smtClean="0">
                <a:solidFill>
                  <a:srgbClr val="000000"/>
                </a:solidFill>
                <a:latin typeface="Arial"/>
                <a:ea typeface="+mn-ea"/>
                <a:cs typeface="Arial"/>
              </a:rPr>
              <a:t>HASS_Y06_U1_SS_ImportMagCarAndWestSys</a:t>
            </a:r>
          </a:p>
        </p:txBody>
      </p:sp>
      <p:pic>
        <p:nvPicPr>
          <p:cNvPr id="7" name="Picture 6" descr="C2CIcon.png"/>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76144" y="6511769"/>
            <a:ext cx="424150" cy="184018"/>
          </a:xfrm>
          <a:prstGeom prst="rect">
            <a:avLst/>
          </a:prstGeom>
        </p:spPr>
      </p:pic>
      <p:pic>
        <p:nvPicPr>
          <p:cNvPr id="8" name="Picture 7" descr="Qld-CoA-1LS-S-mono-webTRANS.png"/>
          <p:cNvPicPr>
            <a:picLocks noChangeAspect="1"/>
          </p:cNvPicPr>
          <p:nvPr userDrawn="1"/>
        </p:nvPicPr>
        <p:blipFill>
          <a:blip r:embed="rId5" cstate="screen">
            <a:extLst>
              <a:ext uri="{28A0092B-C50C-407E-A947-70E740481C1C}">
                <a14:useLocalDpi xmlns:a14="http://schemas.microsoft.com/office/drawing/2010/main"/>
              </a:ext>
            </a:extLst>
          </a:blip>
          <a:stretch>
            <a:fillRect/>
          </a:stretch>
        </p:blipFill>
        <p:spPr>
          <a:xfrm>
            <a:off x="7753964" y="6575577"/>
            <a:ext cx="1313166" cy="227142"/>
          </a:xfrm>
          <a:prstGeom prst="rect">
            <a:avLst/>
          </a:prstGeom>
        </p:spPr>
      </p:pic>
      <p:pic>
        <p:nvPicPr>
          <p:cNvPr id="13" name="Picture 12" descr="../../../../../../../../Volumes/Data/Coredata/DevArea/C2C/ePublishing/Templates/logos/201"/>
          <p:cNvPicPr/>
          <p:nvPr userDrawn="1"/>
        </p:nvPicPr>
        <p:blipFill>
          <a:blip r:embed="rId6" cstate="print">
            <a:extLst>
              <a:ext uri="{28A0092B-C50C-407E-A947-70E740481C1C}">
                <a14:useLocalDpi xmlns:a14="http://schemas.microsoft.com/office/drawing/2010/main" val="0"/>
              </a:ext>
            </a:extLst>
          </a:blip>
          <a:srcRect/>
          <a:stretch>
            <a:fillRect/>
          </a:stretch>
        </p:blipFill>
        <p:spPr bwMode="auto">
          <a:xfrm>
            <a:off x="3563888" y="6605324"/>
            <a:ext cx="1719220" cy="208052"/>
          </a:xfrm>
          <a:prstGeom prst="rect">
            <a:avLst/>
          </a:prstGeom>
          <a:noFill/>
          <a:ln>
            <a:noFill/>
          </a:ln>
        </p:spPr>
      </p:pic>
    </p:spTree>
    <p:extLst>
      <p:ext uri="{BB962C8B-B14F-4D97-AF65-F5344CB8AC3E}">
        <p14:creationId xmlns:p14="http://schemas.microsoft.com/office/powerpoint/2010/main" val="1207943460"/>
      </p:ext>
    </p:extLst>
  </p:cSld>
  <p:clrMap bg1="lt1" tx1="dk1" bg2="lt2" tx2="dk2" accent1="accent1" accent2="accent2" accent3="accent3" accent4="accent4" accent5="accent5" accent6="accent6" hlink="hlink" folHlink="folHlink"/>
  <p:sldLayoutIdLst>
    <p:sldLayoutId id="2147483649" r:id="rId1"/>
    <p:sldLayoutId id="2147483650" r:id="rId2"/>
  </p:sldLayoutIdLst>
  <p:timing>
    <p:tnLst>
      <p:par>
        <p:cTn id="1" dur="indefinite" restart="never" nodeType="tmRoot"/>
      </p:par>
    </p:tnLst>
  </p:timing>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upload.wikimedia.org/wikipedia/commons/3/3d/John,_Magna_Carta.jpg"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http://upload.wikimedia.org/wikipedia/commons/3/3d/John%2C_Magna_Carta.jpg" TargetMode="External"/><Relationship Id="rId4" Type="http://schemas.openxmlformats.org/officeDocument/2006/relationships/image" Target="../media/image5.jpe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jpeg"/></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ctrTitle" idx="4294967295"/>
          </p:nvPr>
        </p:nvSpPr>
        <p:spPr>
          <a:xfrm>
            <a:off x="611560" y="476672"/>
            <a:ext cx="7920880" cy="5112568"/>
          </a:xfrm>
          <a:prstGeom prst="rect">
            <a:avLst/>
          </a:prstGeom>
          <a:gradFill flip="none" rotWithShape="1">
            <a:gsLst>
              <a:gs pos="0">
                <a:schemeClr val="accent4">
                  <a:lumMod val="75000"/>
                </a:schemeClr>
              </a:gs>
              <a:gs pos="100000">
                <a:schemeClr val="bg1"/>
              </a:gs>
              <a:gs pos="47000">
                <a:schemeClr val="accent4">
                  <a:lumMod val="75000"/>
                </a:schemeClr>
              </a:gs>
            </a:gsLst>
            <a:lin ang="5400000" scaled="0"/>
            <a:tileRect/>
          </a:gradFill>
          <a:ln w="19050">
            <a:noFill/>
          </a:ln>
        </p:spPr>
        <p:txBody>
          <a:bodyPr>
            <a:noAutofit/>
          </a:bodyPr>
          <a:lstStyle/>
          <a:p>
            <a:r>
              <a:rPr lang="en-AU" sz="4000" dirty="0" smtClean="0">
                <a:solidFill>
                  <a:schemeClr val="bg1"/>
                </a:solidFill>
                <a:latin typeface="Arial" pitchFamily="34" charset="0"/>
                <a:cs typeface="Arial" pitchFamily="34" charset="0"/>
              </a:rPr>
              <a:t/>
            </a:r>
            <a:br>
              <a:rPr lang="en-AU" sz="4000" dirty="0" smtClean="0">
                <a:solidFill>
                  <a:schemeClr val="bg1"/>
                </a:solidFill>
                <a:latin typeface="Arial" pitchFamily="34" charset="0"/>
                <a:cs typeface="Arial" pitchFamily="34" charset="0"/>
              </a:rPr>
            </a:br>
            <a:r>
              <a:rPr lang="en-AU" sz="4000" dirty="0" smtClean="0">
                <a:solidFill>
                  <a:schemeClr val="bg1"/>
                </a:solidFill>
                <a:latin typeface="Arial" pitchFamily="34" charset="0"/>
                <a:cs typeface="Arial" pitchFamily="34" charset="0"/>
              </a:rPr>
              <a:t> </a:t>
            </a:r>
            <a:r>
              <a:rPr lang="en-AU" sz="4000" dirty="0">
                <a:solidFill>
                  <a:schemeClr val="bg1"/>
                </a:solidFill>
                <a:latin typeface="Arial" pitchFamily="34" charset="0"/>
                <a:cs typeface="Arial" pitchFamily="34" charset="0"/>
              </a:rPr>
              <a:t>T</a:t>
            </a:r>
            <a:r>
              <a:rPr lang="en-AU" sz="4000" dirty="0" smtClean="0">
                <a:solidFill>
                  <a:schemeClr val="bg1"/>
                </a:solidFill>
                <a:latin typeface="Arial" pitchFamily="34" charset="0"/>
                <a:cs typeface="Arial" pitchFamily="34" charset="0"/>
              </a:rPr>
              <a:t>he importance of </a:t>
            </a:r>
            <a:br>
              <a:rPr lang="en-AU" sz="4000" dirty="0" smtClean="0">
                <a:solidFill>
                  <a:schemeClr val="bg1"/>
                </a:solidFill>
                <a:latin typeface="Arial" pitchFamily="34" charset="0"/>
                <a:cs typeface="Arial" pitchFamily="34" charset="0"/>
              </a:rPr>
            </a:br>
            <a:r>
              <a:rPr lang="en-AU" sz="4000" b="1" dirty="0" smtClean="0">
                <a:solidFill>
                  <a:schemeClr val="bg1"/>
                </a:solidFill>
                <a:latin typeface="Arial" pitchFamily="34" charset="0"/>
                <a:cs typeface="Arial" pitchFamily="34" charset="0"/>
              </a:rPr>
              <a:t>the Magna </a:t>
            </a:r>
            <a:r>
              <a:rPr lang="en-AU" sz="4000" b="1" dirty="0">
                <a:solidFill>
                  <a:schemeClr val="bg1"/>
                </a:solidFill>
                <a:latin typeface="Arial" pitchFamily="34" charset="0"/>
                <a:cs typeface="Arial" pitchFamily="34" charset="0"/>
              </a:rPr>
              <a:t>Carta </a:t>
            </a:r>
            <a:r>
              <a:rPr lang="en-AU" sz="4000" b="1" dirty="0" smtClean="0">
                <a:solidFill>
                  <a:schemeClr val="bg1"/>
                </a:solidFill>
                <a:latin typeface="Arial" pitchFamily="34" charset="0"/>
                <a:cs typeface="Arial" pitchFamily="34" charset="0"/>
              </a:rPr>
              <a:t/>
            </a:r>
            <a:br>
              <a:rPr lang="en-AU" sz="4000" b="1" dirty="0" smtClean="0">
                <a:solidFill>
                  <a:schemeClr val="bg1"/>
                </a:solidFill>
                <a:latin typeface="Arial" pitchFamily="34" charset="0"/>
                <a:cs typeface="Arial" pitchFamily="34" charset="0"/>
              </a:rPr>
            </a:br>
            <a:r>
              <a:rPr lang="en-AU" sz="4000" dirty="0" smtClean="0">
                <a:solidFill>
                  <a:schemeClr val="bg1"/>
                </a:solidFill>
                <a:latin typeface="Arial" pitchFamily="34" charset="0"/>
                <a:cs typeface="Arial" pitchFamily="34" charset="0"/>
              </a:rPr>
              <a:t>and </a:t>
            </a:r>
            <a:br>
              <a:rPr lang="en-AU" sz="4000" dirty="0" smtClean="0">
                <a:solidFill>
                  <a:schemeClr val="bg1"/>
                </a:solidFill>
                <a:latin typeface="Arial" pitchFamily="34" charset="0"/>
                <a:cs typeface="Arial" pitchFamily="34" charset="0"/>
              </a:rPr>
            </a:br>
            <a:r>
              <a:rPr lang="en-AU" sz="4000" b="1" dirty="0" smtClean="0">
                <a:solidFill>
                  <a:schemeClr val="bg1"/>
                </a:solidFill>
                <a:latin typeface="Arial" pitchFamily="34" charset="0"/>
                <a:cs typeface="Arial" pitchFamily="34" charset="0"/>
              </a:rPr>
              <a:t>the Westminster system</a:t>
            </a:r>
            <a:r>
              <a:rPr lang="en-AU" sz="4000" dirty="0" smtClean="0">
                <a:solidFill>
                  <a:schemeClr val="bg1"/>
                </a:solidFill>
                <a:latin typeface="Arial" pitchFamily="34" charset="0"/>
                <a:cs typeface="Arial" pitchFamily="34" charset="0"/>
              </a:rPr>
              <a:t/>
            </a:r>
            <a:br>
              <a:rPr lang="en-AU" sz="4000" dirty="0" smtClean="0">
                <a:solidFill>
                  <a:schemeClr val="bg1"/>
                </a:solidFill>
                <a:latin typeface="Arial" pitchFamily="34" charset="0"/>
                <a:cs typeface="Arial" pitchFamily="34" charset="0"/>
              </a:rPr>
            </a:br>
            <a:r>
              <a:rPr lang="en-AU" sz="4000" dirty="0" smtClean="0">
                <a:solidFill>
                  <a:schemeClr val="bg1"/>
                </a:solidFill>
                <a:latin typeface="Arial" pitchFamily="34" charset="0"/>
                <a:cs typeface="Arial" pitchFamily="34" charset="0"/>
              </a:rPr>
              <a:t/>
            </a:r>
            <a:br>
              <a:rPr lang="en-AU" sz="4000" dirty="0" smtClean="0">
                <a:solidFill>
                  <a:schemeClr val="bg1"/>
                </a:solidFill>
                <a:latin typeface="Arial" pitchFamily="34" charset="0"/>
                <a:cs typeface="Arial" pitchFamily="34" charset="0"/>
              </a:rPr>
            </a:br>
            <a:r>
              <a:rPr lang="en-AU" sz="4000" b="1" dirty="0" smtClean="0">
                <a:solidFill>
                  <a:schemeClr val="accent4">
                    <a:lumMod val="75000"/>
                  </a:schemeClr>
                </a:solidFill>
                <a:latin typeface="Arial" pitchFamily="34" charset="0"/>
                <a:cs typeface="Arial" pitchFamily="34" charset="0"/>
              </a:rPr>
              <a:t>1215–present </a:t>
            </a:r>
            <a:endParaRPr lang="en-AU" sz="4000" b="1" dirty="0">
              <a:solidFill>
                <a:schemeClr val="accent4">
                  <a:lumMod val="75000"/>
                </a:schemeClr>
              </a:solidFill>
              <a:latin typeface="Arial" pitchFamily="34" charset="0"/>
              <a:cs typeface="Arial" pitchFamily="34" charset="0"/>
            </a:endParaRPr>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1520" y="5661248"/>
            <a:ext cx="1699575" cy="65665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47315400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88480" y="260350"/>
            <a:ext cx="8568000" cy="1498178"/>
          </a:xfrm>
          <a:prstGeom prst="rect">
            <a:avLst/>
          </a:prstGeom>
          <a:solidFill>
            <a:schemeClr val="accent4">
              <a:lumMod val="75000"/>
            </a:schemeClr>
          </a:solidFill>
        </p:spPr>
        <p:txBody>
          <a:bodyPr tIns="90000">
            <a:noAutofit/>
          </a:bodyPr>
          <a:lstStyle/>
          <a:p>
            <a:pPr algn="l"/>
            <a:r>
              <a:rPr lang="en-AU" dirty="0">
                <a:solidFill>
                  <a:schemeClr val="bg1"/>
                </a:solidFill>
                <a:latin typeface="Arial" pitchFamily="34" charset="0"/>
                <a:cs typeface="Arial" pitchFamily="34" charset="0"/>
              </a:rPr>
              <a:t>1167–1216</a:t>
            </a:r>
            <a:r>
              <a:rPr lang="en-AU" dirty="0" smtClean="0">
                <a:solidFill>
                  <a:schemeClr val="bg1"/>
                </a:solidFill>
                <a:latin typeface="Arial" pitchFamily="34" charset="0"/>
                <a:cs typeface="Arial" pitchFamily="34" charset="0"/>
              </a:rPr>
              <a:t/>
            </a:r>
            <a:br>
              <a:rPr lang="en-AU" dirty="0" smtClean="0">
                <a:solidFill>
                  <a:schemeClr val="bg1"/>
                </a:solidFill>
                <a:latin typeface="Arial" pitchFamily="34" charset="0"/>
                <a:cs typeface="Arial" pitchFamily="34" charset="0"/>
              </a:rPr>
            </a:br>
            <a:r>
              <a:rPr lang="en-AU" sz="4000" dirty="0" smtClean="0">
                <a:solidFill>
                  <a:schemeClr val="bg1"/>
                </a:solidFill>
                <a:latin typeface="Arial" pitchFamily="34" charset="0"/>
                <a:cs typeface="Arial" pitchFamily="34" charset="0"/>
              </a:rPr>
              <a:t>King John I </a:t>
            </a:r>
            <a:r>
              <a:rPr lang="en-AU" sz="2400" dirty="0">
                <a:solidFill>
                  <a:schemeClr val="bg1"/>
                </a:solidFill>
              </a:rPr>
              <a:t>—</a:t>
            </a:r>
            <a:r>
              <a:rPr lang="en-AU" sz="2200" dirty="0" smtClean="0">
                <a:solidFill>
                  <a:schemeClr val="bg1"/>
                </a:solidFill>
                <a:latin typeface="Arial" pitchFamily="34" charset="0"/>
                <a:cs typeface="Arial" pitchFamily="34" charset="0"/>
              </a:rPr>
              <a:t> start of a shift in the power of the monarch</a:t>
            </a:r>
            <a:endParaRPr lang="en-AU" sz="2200" dirty="0">
              <a:solidFill>
                <a:schemeClr val="bg1"/>
              </a:solidFill>
              <a:latin typeface="Arial" pitchFamily="34" charset="0"/>
              <a:cs typeface="Arial" pitchFamily="34" charset="0"/>
            </a:endParaRPr>
          </a:p>
        </p:txBody>
      </p:sp>
      <p:sp>
        <p:nvSpPr>
          <p:cNvPr id="11" name="TextBox 10"/>
          <p:cNvSpPr txBox="1"/>
          <p:nvPr/>
        </p:nvSpPr>
        <p:spPr>
          <a:xfrm>
            <a:off x="501374" y="1920842"/>
            <a:ext cx="8229755" cy="1631216"/>
          </a:xfrm>
          <a:prstGeom prst="rect">
            <a:avLst/>
          </a:prstGeom>
          <a:noFill/>
        </p:spPr>
        <p:txBody>
          <a:bodyPr wrap="square" rtlCol="0">
            <a:spAutoFit/>
          </a:bodyPr>
          <a:lstStyle/>
          <a:p>
            <a:pPr>
              <a:spcBef>
                <a:spcPts val="600"/>
              </a:spcBef>
              <a:spcAft>
                <a:spcPts val="600"/>
              </a:spcAft>
            </a:pPr>
            <a:r>
              <a:rPr lang="en-AU" b="1" dirty="0" smtClean="0">
                <a:latin typeface="Arial" pitchFamily="34" charset="0"/>
                <a:cs typeface="Arial" pitchFamily="34" charset="0"/>
              </a:rPr>
              <a:t>Issue</a:t>
            </a:r>
          </a:p>
          <a:p>
            <a:pPr>
              <a:spcBef>
                <a:spcPts val="600"/>
              </a:spcBef>
              <a:spcAft>
                <a:spcPts val="600"/>
              </a:spcAft>
            </a:pPr>
            <a:r>
              <a:rPr lang="en-AU" dirty="0" smtClean="0">
                <a:latin typeface="Arial" pitchFamily="34" charset="0"/>
                <a:cs typeface="Arial" pitchFamily="34" charset="0"/>
              </a:rPr>
              <a:t>King John I, ruler of England, increased the taxes paid by wealthy noblemen (barons and bishops) to pay for his wars with France and the governance of England. He also handed out harsh penalties to anyone who opposed his orders.</a:t>
            </a:r>
          </a:p>
        </p:txBody>
      </p:sp>
      <p:sp>
        <p:nvSpPr>
          <p:cNvPr id="13" name="TextBox 12"/>
          <p:cNvSpPr txBox="1"/>
          <p:nvPr/>
        </p:nvSpPr>
        <p:spPr>
          <a:xfrm>
            <a:off x="501374" y="3671153"/>
            <a:ext cx="8080238" cy="2062103"/>
          </a:xfrm>
          <a:prstGeom prst="rect">
            <a:avLst/>
          </a:prstGeom>
          <a:noFill/>
        </p:spPr>
        <p:txBody>
          <a:bodyPr wrap="square" rtlCol="0">
            <a:spAutoFit/>
          </a:bodyPr>
          <a:lstStyle/>
          <a:p>
            <a:pPr>
              <a:spcBef>
                <a:spcPts val="600"/>
              </a:spcBef>
              <a:spcAft>
                <a:spcPts val="600"/>
              </a:spcAft>
            </a:pPr>
            <a:r>
              <a:rPr lang="en-AU" b="1" dirty="0" smtClean="0">
                <a:latin typeface="Arial" pitchFamily="34" charset="0"/>
                <a:cs typeface="Arial" pitchFamily="34" charset="0"/>
              </a:rPr>
              <a:t>Points of view on the issue</a:t>
            </a:r>
          </a:p>
          <a:p>
            <a:pPr marL="285750" indent="-285750">
              <a:spcBef>
                <a:spcPts val="600"/>
              </a:spcBef>
              <a:spcAft>
                <a:spcPts val="600"/>
              </a:spcAft>
              <a:buFont typeface="Arial" pitchFamily="34" charset="0"/>
              <a:buChar char="•"/>
            </a:pPr>
            <a:r>
              <a:rPr lang="en-AU" dirty="0" smtClean="0">
                <a:latin typeface="Arial" pitchFamily="34" charset="0"/>
                <a:cs typeface="Arial" pitchFamily="34" charset="0"/>
              </a:rPr>
              <a:t>King John believed that he alone had the absolute power or divine right</a:t>
            </a:r>
            <a:r>
              <a:rPr lang="en-AU" dirty="0" smtClean="0">
                <a:solidFill>
                  <a:srgbClr val="7030A0"/>
                </a:solidFill>
                <a:latin typeface="Arial" pitchFamily="34" charset="0"/>
                <a:cs typeface="Arial" pitchFamily="34" charset="0"/>
              </a:rPr>
              <a:t>*</a:t>
            </a:r>
            <a:r>
              <a:rPr lang="en-AU" dirty="0" smtClean="0">
                <a:latin typeface="Arial" pitchFamily="34" charset="0"/>
                <a:cs typeface="Arial" pitchFamily="34" charset="0"/>
              </a:rPr>
              <a:t> to make decisions about running the country.</a:t>
            </a:r>
            <a:endParaRPr lang="en-AU" b="1" dirty="0" smtClean="0">
              <a:latin typeface="Arial" pitchFamily="34" charset="0"/>
              <a:cs typeface="Arial" pitchFamily="34" charset="0"/>
            </a:endParaRPr>
          </a:p>
          <a:p>
            <a:pPr marL="285750" indent="-285750">
              <a:spcBef>
                <a:spcPts val="600"/>
              </a:spcBef>
              <a:spcAft>
                <a:spcPts val="600"/>
              </a:spcAft>
              <a:buFont typeface="Arial" pitchFamily="34" charset="0"/>
              <a:buChar char="•"/>
            </a:pPr>
            <a:r>
              <a:rPr lang="en-AU" dirty="0" smtClean="0">
                <a:latin typeface="Arial" pitchFamily="34" charset="0"/>
                <a:cs typeface="Arial" pitchFamily="34" charset="0"/>
              </a:rPr>
              <a:t>The barons and the bishops objected to increased taxes and wanted more say in how the money raised in taxes was spent. They also wanted a say in how England was governed and how laws were applied.</a:t>
            </a:r>
          </a:p>
        </p:txBody>
      </p:sp>
      <p:sp>
        <p:nvSpPr>
          <p:cNvPr id="14" name="TextBox 13"/>
          <p:cNvSpPr txBox="1"/>
          <p:nvPr/>
        </p:nvSpPr>
        <p:spPr>
          <a:xfrm>
            <a:off x="539552" y="6021288"/>
            <a:ext cx="7925848" cy="276999"/>
          </a:xfrm>
          <a:prstGeom prst="rect">
            <a:avLst/>
          </a:prstGeom>
          <a:noFill/>
        </p:spPr>
        <p:txBody>
          <a:bodyPr wrap="square" rtlCol="0">
            <a:spAutoFit/>
          </a:bodyPr>
          <a:lstStyle/>
          <a:p>
            <a:pPr>
              <a:spcBef>
                <a:spcPts val="600"/>
              </a:spcBef>
              <a:spcAft>
                <a:spcPts val="600"/>
              </a:spcAft>
            </a:pPr>
            <a:r>
              <a:rPr lang="en-AU" sz="1200" b="1" dirty="0" smtClean="0">
                <a:solidFill>
                  <a:srgbClr val="7030A0"/>
                </a:solidFill>
                <a:latin typeface="Arial" pitchFamily="34" charset="0"/>
                <a:cs typeface="Arial" pitchFamily="34" charset="0"/>
              </a:rPr>
              <a:t>* Divine right to rule came from God and the king was not subject to any earthly authority.</a:t>
            </a:r>
          </a:p>
        </p:txBody>
      </p:sp>
    </p:spTree>
    <p:extLst>
      <p:ext uri="{BB962C8B-B14F-4D97-AF65-F5344CB8AC3E}">
        <p14:creationId xmlns:p14="http://schemas.microsoft.com/office/powerpoint/2010/main" val="85053806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287525" y="4222601"/>
            <a:ext cx="8676963" cy="2323713"/>
          </a:xfrm>
          <a:prstGeom prst="rect">
            <a:avLst/>
          </a:prstGeom>
          <a:noFill/>
        </p:spPr>
        <p:txBody>
          <a:bodyPr wrap="square" rtlCol="0">
            <a:spAutoFit/>
          </a:bodyPr>
          <a:lstStyle/>
          <a:p>
            <a:pPr>
              <a:spcBef>
                <a:spcPts val="600"/>
              </a:spcBef>
              <a:spcAft>
                <a:spcPts val="300"/>
              </a:spcAft>
            </a:pPr>
            <a:r>
              <a:rPr lang="en-AU" b="1" dirty="0" smtClean="0">
                <a:latin typeface="Arial" pitchFamily="34" charset="0"/>
                <a:cs typeface="Arial" pitchFamily="34" charset="0"/>
              </a:rPr>
              <a:t>The importance of the solution</a:t>
            </a:r>
          </a:p>
          <a:p>
            <a:pPr marL="285750" indent="-285750">
              <a:spcBef>
                <a:spcPts val="600"/>
              </a:spcBef>
              <a:spcAft>
                <a:spcPts val="600"/>
              </a:spcAft>
              <a:buFont typeface="Arial" pitchFamily="34" charset="0"/>
              <a:buChar char="•"/>
            </a:pPr>
            <a:r>
              <a:rPr lang="en-AU" sz="1700" dirty="0">
                <a:latin typeface="Arial" pitchFamily="34" charset="0"/>
                <a:cs typeface="Arial" pitchFamily="34" charset="0"/>
              </a:rPr>
              <a:t>The Magna Carta limited royal </a:t>
            </a:r>
            <a:r>
              <a:rPr lang="en-AU" sz="1700" dirty="0" smtClean="0">
                <a:latin typeface="Arial" pitchFamily="34" charset="0"/>
                <a:cs typeface="Arial" pitchFamily="34" charset="0"/>
              </a:rPr>
              <a:t>power, outlined </a:t>
            </a:r>
            <a:r>
              <a:rPr lang="en-AU" sz="1700" dirty="0">
                <a:latin typeface="Arial" pitchFamily="34" charset="0"/>
                <a:cs typeface="Arial" pitchFamily="34" charset="0"/>
              </a:rPr>
              <a:t>the rights and freedoms of English people, including </a:t>
            </a:r>
            <a:r>
              <a:rPr lang="en-AU" sz="1700" i="1" dirty="0">
                <a:latin typeface="Arial" pitchFamily="34" charset="0"/>
                <a:cs typeface="Arial" pitchFamily="34" charset="0"/>
              </a:rPr>
              <a:t>habeas corpus </a:t>
            </a:r>
            <a:r>
              <a:rPr lang="en-AU" sz="1700" dirty="0">
                <a:latin typeface="Arial" pitchFamily="34" charset="0"/>
                <a:cs typeface="Arial" pitchFamily="34" charset="0"/>
              </a:rPr>
              <a:t>(that is, the right to the </a:t>
            </a:r>
            <a:r>
              <a:rPr lang="en-AU" sz="1700" dirty="0" smtClean="0">
                <a:latin typeface="Arial" pitchFamily="34" charset="0"/>
                <a:cs typeface="Arial" pitchFamily="34" charset="0"/>
              </a:rPr>
              <a:t>presumption of </a:t>
            </a:r>
            <a:r>
              <a:rPr lang="en-AU" sz="1700" dirty="0">
                <a:latin typeface="Arial" pitchFamily="34" charset="0"/>
                <a:cs typeface="Arial" pitchFamily="34" charset="0"/>
              </a:rPr>
              <a:t>innocence until proven guilty in a court of </a:t>
            </a:r>
            <a:r>
              <a:rPr lang="en-AU" sz="1700" dirty="0" smtClean="0">
                <a:latin typeface="Arial" pitchFamily="34" charset="0"/>
                <a:cs typeface="Arial" pitchFamily="34" charset="0"/>
              </a:rPr>
              <a:t>law), and signalled </a:t>
            </a:r>
            <a:r>
              <a:rPr lang="en-AU" sz="1700" dirty="0">
                <a:latin typeface="Arial" pitchFamily="34" charset="0"/>
                <a:cs typeface="Arial" pitchFamily="34" charset="0"/>
              </a:rPr>
              <a:t>the beginning of </a:t>
            </a:r>
            <a:r>
              <a:rPr lang="en-AU" sz="1700" dirty="0" smtClean="0">
                <a:latin typeface="Arial" pitchFamily="34" charset="0"/>
                <a:cs typeface="Arial" pitchFamily="34" charset="0"/>
              </a:rPr>
              <a:t>democracy</a:t>
            </a:r>
            <a:r>
              <a:rPr lang="en-AU" sz="1700" b="1" dirty="0" smtClean="0">
                <a:solidFill>
                  <a:srgbClr val="7030A0"/>
                </a:solidFill>
                <a:latin typeface="Arial" pitchFamily="34" charset="0"/>
                <a:cs typeface="Arial" pitchFamily="34" charset="0"/>
              </a:rPr>
              <a:t>*</a:t>
            </a:r>
            <a:r>
              <a:rPr lang="en-AU" sz="1700" dirty="0" smtClean="0">
                <a:latin typeface="Arial" pitchFamily="34" charset="0"/>
                <a:cs typeface="Arial" pitchFamily="34" charset="0"/>
              </a:rPr>
              <a:t>.</a:t>
            </a:r>
            <a:endParaRPr lang="en-AU" sz="1700" b="1" dirty="0" smtClean="0">
              <a:latin typeface="Arial" pitchFamily="34" charset="0"/>
              <a:cs typeface="Arial" pitchFamily="34" charset="0"/>
            </a:endParaRPr>
          </a:p>
          <a:p>
            <a:pPr marL="285750" indent="-285750">
              <a:spcBef>
                <a:spcPts val="600"/>
              </a:spcBef>
              <a:spcAft>
                <a:spcPts val="600"/>
              </a:spcAft>
              <a:buFont typeface="Arial" pitchFamily="34" charset="0"/>
              <a:buChar char="•"/>
              <a:tabLst>
                <a:tab pos="5381625" algn="l"/>
              </a:tabLst>
            </a:pPr>
            <a:r>
              <a:rPr lang="en-AU" sz="1700" dirty="0" smtClean="0">
                <a:latin typeface="Arial" pitchFamily="34" charset="0"/>
                <a:cs typeface="Arial" pitchFamily="34" charset="0"/>
              </a:rPr>
              <a:t>Political and legal processes in former British colonies, such as Australia, have been influenced by the Magna Carta</a:t>
            </a:r>
            <a:r>
              <a:rPr lang="en-AU" sz="1700" dirty="0" smtClean="0">
                <a:solidFill>
                  <a:srgbClr val="7030A0"/>
                </a:solidFill>
                <a:latin typeface="Arial" pitchFamily="34" charset="0"/>
                <a:cs typeface="Arial" pitchFamily="34" charset="0"/>
              </a:rPr>
              <a:t>.</a:t>
            </a:r>
            <a:r>
              <a:rPr lang="en-AU" sz="1600" dirty="0" smtClean="0">
                <a:solidFill>
                  <a:srgbClr val="7030A0"/>
                </a:solidFill>
                <a:latin typeface="Arial" pitchFamily="34" charset="0"/>
                <a:cs typeface="Arial" pitchFamily="34" charset="0"/>
              </a:rPr>
              <a:t>	</a:t>
            </a:r>
          </a:p>
          <a:p>
            <a:pPr>
              <a:spcBef>
                <a:spcPts val="600"/>
              </a:spcBef>
              <a:spcAft>
                <a:spcPts val="600"/>
              </a:spcAft>
              <a:tabLst>
                <a:tab pos="5381625" algn="l"/>
              </a:tabLst>
            </a:pPr>
            <a:r>
              <a:rPr lang="en-AU" sz="1200" b="1" dirty="0" smtClean="0">
                <a:solidFill>
                  <a:srgbClr val="7030A0"/>
                </a:solidFill>
                <a:latin typeface="Arial" pitchFamily="34" charset="0"/>
                <a:cs typeface="Arial" pitchFamily="34" charset="0"/>
              </a:rPr>
              <a:t>* government by the people</a:t>
            </a:r>
          </a:p>
        </p:txBody>
      </p:sp>
      <p:sp>
        <p:nvSpPr>
          <p:cNvPr id="11" name="TextBox 10"/>
          <p:cNvSpPr txBox="1"/>
          <p:nvPr/>
        </p:nvSpPr>
        <p:spPr>
          <a:xfrm>
            <a:off x="2627784" y="2289448"/>
            <a:ext cx="6084676" cy="1785104"/>
          </a:xfrm>
          <a:prstGeom prst="rect">
            <a:avLst/>
          </a:prstGeom>
          <a:noFill/>
        </p:spPr>
        <p:txBody>
          <a:bodyPr wrap="square" rtlCol="0">
            <a:spAutoFit/>
          </a:bodyPr>
          <a:lstStyle/>
          <a:p>
            <a:pPr>
              <a:spcBef>
                <a:spcPts val="600"/>
              </a:spcBef>
              <a:spcAft>
                <a:spcPts val="600"/>
              </a:spcAft>
            </a:pPr>
            <a:r>
              <a:rPr lang="en-AU" b="1" dirty="0" smtClean="0">
                <a:latin typeface="Arial" pitchFamily="34" charset="0"/>
                <a:cs typeface="Arial" pitchFamily="34" charset="0"/>
              </a:rPr>
              <a:t>Resolution of the dispute</a:t>
            </a:r>
          </a:p>
          <a:p>
            <a:pPr marL="285750" indent="-285750">
              <a:spcBef>
                <a:spcPts val="600"/>
              </a:spcBef>
              <a:spcAft>
                <a:spcPts val="600"/>
              </a:spcAft>
              <a:buFont typeface="Arial" pitchFamily="34" charset="0"/>
              <a:buChar char="•"/>
            </a:pPr>
            <a:r>
              <a:rPr lang="en-AU" dirty="0">
                <a:latin typeface="Arial" pitchFamily="34" charset="0"/>
                <a:cs typeface="Arial" pitchFamily="34" charset="0"/>
              </a:rPr>
              <a:t>Rebel barons and bishops seized London and the king was forced to negotiate </a:t>
            </a:r>
            <a:r>
              <a:rPr lang="en-AU" dirty="0" smtClean="0">
                <a:latin typeface="Arial" pitchFamily="34" charset="0"/>
                <a:cs typeface="Arial" pitchFamily="34" charset="0"/>
              </a:rPr>
              <a:t>terms.</a:t>
            </a:r>
          </a:p>
          <a:p>
            <a:pPr marL="285750" indent="-285750">
              <a:spcBef>
                <a:spcPts val="600"/>
              </a:spcBef>
              <a:spcAft>
                <a:spcPts val="600"/>
              </a:spcAft>
              <a:buFont typeface="Arial" pitchFamily="34" charset="0"/>
              <a:buChar char="•"/>
            </a:pPr>
            <a:r>
              <a:rPr lang="en-AU" dirty="0" smtClean="0">
                <a:latin typeface="Arial" pitchFamily="34" charset="0"/>
                <a:cs typeface="Arial" pitchFamily="34" charset="0"/>
              </a:rPr>
              <a:t>King John I of England signed the Magna Carta or the ‘Great Charter’.</a:t>
            </a:r>
          </a:p>
        </p:txBody>
      </p:sp>
      <p:pic>
        <p:nvPicPr>
          <p:cNvPr id="1027" name="Picture 3" descr="File:John, Magna Carta.jpg">
            <a:hlinkClick r:id="rId3"/>
          </p:cNvPr>
          <p:cNvPicPr>
            <a:picLocks noChangeAspect="1" noChangeArrowheads="1"/>
          </p:cNvPicPr>
          <p:nvPr/>
        </p:nvPicPr>
        <p:blipFill>
          <a:blip r:embed="rId4" r:link="rId5" cstate="screen">
            <a:extLst>
              <a:ext uri="{28A0092B-C50C-407E-A947-70E740481C1C}">
                <a14:useLocalDpi xmlns:a14="http://schemas.microsoft.com/office/drawing/2010/main"/>
              </a:ext>
            </a:extLst>
          </a:blip>
          <a:srcRect/>
          <a:stretch>
            <a:fillRect/>
          </a:stretch>
        </p:blipFill>
        <p:spPr bwMode="auto">
          <a:xfrm>
            <a:off x="827584" y="2103702"/>
            <a:ext cx="1548171" cy="2117386"/>
          </a:xfrm>
          <a:prstGeom prst="rect">
            <a:avLst/>
          </a:prstGeom>
          <a:noFill/>
          <a:ln w="22225">
            <a:noFill/>
            <a:miter lim="800000"/>
            <a:headEnd/>
            <a:tailEnd/>
          </a:ln>
          <a:extLst>
            <a:ext uri="{909E8E84-426E-40DD-AFC4-6F175D3DCCD1}">
              <a14:hiddenFill xmlns:a14="http://schemas.microsoft.com/office/drawing/2010/main">
                <a:solidFill>
                  <a:srgbClr val="FFFFFF"/>
                </a:solidFill>
              </a14:hiddenFill>
            </a:ext>
          </a:extLst>
        </p:spPr>
      </p:pic>
      <p:sp>
        <p:nvSpPr>
          <p:cNvPr id="12" name="Title 1"/>
          <p:cNvSpPr txBox="1">
            <a:spLocks/>
          </p:cNvSpPr>
          <p:nvPr/>
        </p:nvSpPr>
        <p:spPr>
          <a:xfrm>
            <a:off x="287525" y="260648"/>
            <a:ext cx="8568951" cy="1786210"/>
          </a:xfrm>
          <a:prstGeom prst="rect">
            <a:avLst/>
          </a:prstGeom>
          <a:solidFill>
            <a:schemeClr val="accent4">
              <a:lumMod val="75000"/>
            </a:schemeClr>
          </a:solidFill>
        </p:spPr>
        <p:txBody>
          <a:bodyPr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spcBef>
                <a:spcPts val="0"/>
              </a:spcBef>
            </a:pPr>
            <a:r>
              <a:rPr lang="en-AU" dirty="0" smtClean="0">
                <a:solidFill>
                  <a:schemeClr val="bg1"/>
                </a:solidFill>
                <a:latin typeface="Arial" pitchFamily="34" charset="0"/>
                <a:cs typeface="Arial" pitchFamily="34" charset="0"/>
              </a:rPr>
              <a:t>1215</a:t>
            </a:r>
            <a:br>
              <a:rPr lang="en-AU" dirty="0" smtClean="0">
                <a:solidFill>
                  <a:schemeClr val="bg1"/>
                </a:solidFill>
                <a:latin typeface="Arial" pitchFamily="34" charset="0"/>
                <a:cs typeface="Arial" pitchFamily="34" charset="0"/>
              </a:rPr>
            </a:br>
            <a:r>
              <a:rPr lang="en-AU" sz="4000" dirty="0" smtClean="0">
                <a:solidFill>
                  <a:schemeClr val="bg1"/>
                </a:solidFill>
                <a:latin typeface="Arial" pitchFamily="34" charset="0"/>
                <a:cs typeface="Arial" pitchFamily="34" charset="0"/>
              </a:rPr>
              <a:t>King John signs the Magna Carta</a:t>
            </a:r>
            <a:br>
              <a:rPr lang="en-AU" sz="4000" dirty="0" smtClean="0">
                <a:solidFill>
                  <a:schemeClr val="bg1"/>
                </a:solidFill>
                <a:latin typeface="Arial" pitchFamily="34" charset="0"/>
                <a:cs typeface="Arial" pitchFamily="34" charset="0"/>
              </a:rPr>
            </a:br>
            <a:r>
              <a:rPr lang="en-AU" sz="2200" dirty="0" smtClean="0">
                <a:solidFill>
                  <a:schemeClr val="bg1"/>
                </a:solidFill>
                <a:latin typeface="Arial" pitchFamily="34" charset="0"/>
                <a:cs typeface="Arial" pitchFamily="34" charset="0"/>
              </a:rPr>
              <a:t>— start of a shift in the power of the monarch</a:t>
            </a:r>
            <a:endParaRPr lang="en-AU" sz="2200" dirty="0">
              <a:solidFill>
                <a:schemeClr val="bg1"/>
              </a:solidFill>
              <a:latin typeface="Arial" pitchFamily="34" charset="0"/>
              <a:cs typeface="Arial" pitchFamily="34" charset="0"/>
            </a:endParaRPr>
          </a:p>
        </p:txBody>
      </p:sp>
    </p:spTree>
    <p:extLst>
      <p:ext uri="{BB962C8B-B14F-4D97-AF65-F5344CB8AC3E}">
        <p14:creationId xmlns:p14="http://schemas.microsoft.com/office/powerpoint/2010/main" val="281557444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410867" y="2733308"/>
            <a:ext cx="8247418" cy="1415772"/>
          </a:xfrm>
          <a:prstGeom prst="rect">
            <a:avLst/>
          </a:prstGeom>
          <a:noFill/>
        </p:spPr>
        <p:txBody>
          <a:bodyPr wrap="square" rtlCol="0">
            <a:spAutoFit/>
          </a:bodyPr>
          <a:lstStyle/>
          <a:p>
            <a:pPr marL="285750" indent="-285750">
              <a:spcBef>
                <a:spcPts val="600"/>
              </a:spcBef>
              <a:spcAft>
                <a:spcPts val="600"/>
              </a:spcAft>
              <a:buFont typeface="Arial" pitchFamily="34" charset="0"/>
              <a:buChar char="•"/>
            </a:pPr>
            <a:r>
              <a:rPr lang="en-AU" dirty="0" smtClean="0">
                <a:latin typeface="Arial" pitchFamily="34" charset="0"/>
                <a:cs typeface="Arial" pitchFamily="34" charset="0"/>
              </a:rPr>
              <a:t>Between 1215 and 1258, whenever the monarch and the barons met, such meetings were called the Great Council.</a:t>
            </a:r>
          </a:p>
          <a:p>
            <a:pPr marL="285750" indent="-285750">
              <a:spcBef>
                <a:spcPts val="600"/>
              </a:spcBef>
              <a:spcAft>
                <a:spcPts val="600"/>
              </a:spcAft>
              <a:buFont typeface="Arial" pitchFamily="34" charset="0"/>
              <a:buChar char="•"/>
            </a:pPr>
            <a:r>
              <a:rPr lang="en-AU" dirty="0" smtClean="0">
                <a:latin typeface="Arial" pitchFamily="34" charset="0"/>
                <a:cs typeface="Arial" pitchFamily="34" charset="0"/>
              </a:rPr>
              <a:t>Around 1258 these Great Councils started to be called a </a:t>
            </a:r>
            <a:r>
              <a:rPr lang="en-AU" b="1" dirty="0" smtClean="0">
                <a:latin typeface="Arial" pitchFamily="34" charset="0"/>
                <a:cs typeface="Arial" pitchFamily="34" charset="0"/>
              </a:rPr>
              <a:t>parliament</a:t>
            </a:r>
            <a:r>
              <a:rPr lang="en-AU" b="1" i="1" dirty="0" smtClean="0">
                <a:solidFill>
                  <a:srgbClr val="7030A0"/>
                </a:solidFill>
                <a:latin typeface="Arial" pitchFamily="34" charset="0"/>
                <a:cs typeface="Arial" pitchFamily="34" charset="0"/>
              </a:rPr>
              <a:t>*</a:t>
            </a:r>
            <a:r>
              <a:rPr lang="en-AU" dirty="0" smtClean="0">
                <a:latin typeface="Arial" pitchFamily="34" charset="0"/>
                <a:cs typeface="Arial" pitchFamily="34" charset="0"/>
              </a:rPr>
              <a:t>.</a:t>
            </a:r>
          </a:p>
          <a:p>
            <a:pPr>
              <a:spcBef>
                <a:spcPts val="600"/>
              </a:spcBef>
              <a:spcAft>
                <a:spcPts val="600"/>
              </a:spcAft>
            </a:pPr>
            <a:r>
              <a:rPr lang="en-AU" sz="1200" b="1" dirty="0" smtClean="0">
                <a:solidFill>
                  <a:srgbClr val="7030A0"/>
                </a:solidFill>
                <a:latin typeface="Arial" pitchFamily="34" charset="0"/>
                <a:cs typeface="Arial" pitchFamily="34" charset="0"/>
              </a:rPr>
              <a:t>* parliament comes from the French word, ‘parle’, which means to speak</a:t>
            </a:r>
          </a:p>
        </p:txBody>
      </p:sp>
      <p:sp>
        <p:nvSpPr>
          <p:cNvPr id="11" name="Title 1"/>
          <p:cNvSpPr txBox="1">
            <a:spLocks/>
          </p:cNvSpPr>
          <p:nvPr/>
        </p:nvSpPr>
        <p:spPr>
          <a:xfrm>
            <a:off x="287525" y="260648"/>
            <a:ext cx="8568951" cy="1858218"/>
          </a:xfrm>
          <a:prstGeom prst="rect">
            <a:avLst/>
          </a:prstGeom>
          <a:solidFill>
            <a:schemeClr val="accent4">
              <a:lumMod val="75000"/>
            </a:schemeClr>
          </a:solidFill>
        </p:spPr>
        <p:txBody>
          <a:bodyPr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lnSpc>
                <a:spcPct val="80000"/>
              </a:lnSpc>
              <a:spcBef>
                <a:spcPts val="0"/>
              </a:spcBef>
              <a:spcAft>
                <a:spcPts val="600"/>
              </a:spcAft>
            </a:pPr>
            <a:r>
              <a:rPr lang="en-AU" dirty="0" smtClean="0">
                <a:solidFill>
                  <a:schemeClr val="bg1"/>
                </a:solidFill>
                <a:latin typeface="Arial" pitchFamily="34" charset="0"/>
                <a:cs typeface="Arial" pitchFamily="34" charset="0"/>
              </a:rPr>
              <a:t>1215–58</a:t>
            </a:r>
          </a:p>
          <a:p>
            <a:pPr algn="l">
              <a:lnSpc>
                <a:spcPct val="80000"/>
              </a:lnSpc>
              <a:spcBef>
                <a:spcPts val="0"/>
              </a:spcBef>
              <a:spcAft>
                <a:spcPts val="600"/>
              </a:spcAft>
            </a:pPr>
            <a:r>
              <a:rPr lang="en-AU" sz="4000" dirty="0" smtClean="0">
                <a:solidFill>
                  <a:schemeClr val="bg1"/>
                </a:solidFill>
                <a:latin typeface="Arial" pitchFamily="34" charset="0"/>
                <a:cs typeface="Arial" pitchFamily="34" charset="0"/>
              </a:rPr>
              <a:t>Emergence of the Great Council</a:t>
            </a:r>
          </a:p>
          <a:p>
            <a:pPr algn="l">
              <a:lnSpc>
                <a:spcPct val="80000"/>
              </a:lnSpc>
              <a:spcBef>
                <a:spcPts val="0"/>
              </a:spcBef>
              <a:spcAft>
                <a:spcPts val="600"/>
              </a:spcAft>
            </a:pPr>
            <a:r>
              <a:rPr lang="en-AU" sz="2200" dirty="0" smtClean="0">
                <a:solidFill>
                  <a:schemeClr val="bg1"/>
                </a:solidFill>
                <a:latin typeface="Arial" pitchFamily="34" charset="0"/>
                <a:cs typeface="Arial" pitchFamily="34" charset="0"/>
              </a:rPr>
              <a:t>— bringing together groups with different points of view</a:t>
            </a:r>
            <a:endParaRPr lang="en-AU" sz="2200" dirty="0">
              <a:solidFill>
                <a:schemeClr val="bg1"/>
              </a:solidFill>
              <a:latin typeface="Arial" pitchFamily="34" charset="0"/>
              <a:cs typeface="Arial" pitchFamily="34" charset="0"/>
            </a:endParaRPr>
          </a:p>
        </p:txBody>
      </p:sp>
    </p:spTree>
    <p:extLst>
      <p:ext uri="{BB962C8B-B14F-4D97-AF65-F5344CB8AC3E}">
        <p14:creationId xmlns:p14="http://schemas.microsoft.com/office/powerpoint/2010/main" val="358463309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404115" y="2064696"/>
            <a:ext cx="7776864" cy="1077218"/>
          </a:xfrm>
          <a:prstGeom prst="rect">
            <a:avLst/>
          </a:prstGeom>
          <a:noFill/>
        </p:spPr>
        <p:txBody>
          <a:bodyPr wrap="square" rtlCol="0">
            <a:spAutoFit/>
          </a:bodyPr>
          <a:lstStyle/>
          <a:p>
            <a:pPr>
              <a:spcBef>
                <a:spcPts val="600"/>
              </a:spcBef>
              <a:spcAft>
                <a:spcPts val="600"/>
              </a:spcAft>
            </a:pPr>
            <a:r>
              <a:rPr lang="en-AU" b="1" dirty="0" smtClean="0">
                <a:latin typeface="Arial" pitchFamily="34" charset="0"/>
                <a:cs typeface="Arial" pitchFamily="34" charset="0"/>
              </a:rPr>
              <a:t>Issue</a:t>
            </a:r>
          </a:p>
          <a:p>
            <a:pPr marL="285750" indent="-285750">
              <a:spcBef>
                <a:spcPts val="600"/>
              </a:spcBef>
              <a:spcAft>
                <a:spcPts val="600"/>
              </a:spcAft>
              <a:buFont typeface="Arial" pitchFamily="34" charset="0"/>
              <a:buChar char="•"/>
            </a:pPr>
            <a:r>
              <a:rPr lang="en-AU" dirty="0" smtClean="0">
                <a:latin typeface="Arial" pitchFamily="34" charset="0"/>
                <a:cs typeface="Arial" pitchFamily="34" charset="0"/>
              </a:rPr>
              <a:t>During </a:t>
            </a:r>
            <a:r>
              <a:rPr lang="en-AU" dirty="0">
                <a:latin typeface="Arial" pitchFamily="34" charset="0"/>
                <a:cs typeface="Arial" pitchFamily="34" charset="0"/>
              </a:rPr>
              <a:t>the second half of the </a:t>
            </a:r>
            <a:r>
              <a:rPr lang="en-AU" dirty="0" smtClean="0">
                <a:latin typeface="Arial" pitchFamily="34" charset="0"/>
                <a:cs typeface="Arial" pitchFamily="34" charset="0"/>
              </a:rPr>
              <a:t>13th </a:t>
            </a:r>
            <a:r>
              <a:rPr lang="en-AU" dirty="0">
                <a:latin typeface="Arial" pitchFamily="34" charset="0"/>
                <a:cs typeface="Arial" pitchFamily="34" charset="0"/>
              </a:rPr>
              <a:t>century, </a:t>
            </a:r>
            <a:r>
              <a:rPr lang="en-AU" dirty="0" smtClean="0">
                <a:latin typeface="Arial" pitchFamily="34" charset="0"/>
                <a:cs typeface="Arial" pitchFamily="34" charset="0"/>
              </a:rPr>
              <a:t>King Henry III, son of King John, </a:t>
            </a:r>
            <a:r>
              <a:rPr lang="en-AU" dirty="0">
                <a:latin typeface="Arial" pitchFamily="34" charset="0"/>
                <a:cs typeface="Arial" pitchFamily="34" charset="0"/>
              </a:rPr>
              <a:t>began to tax knights and wealthy </a:t>
            </a:r>
            <a:r>
              <a:rPr lang="en-AU" dirty="0" smtClean="0">
                <a:latin typeface="Arial" pitchFamily="34" charset="0"/>
                <a:cs typeface="Arial" pitchFamily="34" charset="0"/>
              </a:rPr>
              <a:t>townspeople.</a:t>
            </a:r>
            <a:endParaRPr lang="en-AU" dirty="0">
              <a:latin typeface="Arial" pitchFamily="34" charset="0"/>
              <a:cs typeface="Arial" pitchFamily="34" charset="0"/>
            </a:endParaRPr>
          </a:p>
        </p:txBody>
      </p:sp>
      <p:sp>
        <p:nvSpPr>
          <p:cNvPr id="16" name="TextBox 15"/>
          <p:cNvSpPr txBox="1"/>
          <p:nvPr/>
        </p:nvSpPr>
        <p:spPr>
          <a:xfrm>
            <a:off x="434338" y="3284984"/>
            <a:ext cx="8113382" cy="1785104"/>
          </a:xfrm>
          <a:prstGeom prst="rect">
            <a:avLst/>
          </a:prstGeom>
          <a:noFill/>
          <a:ln w="19050">
            <a:noFill/>
          </a:ln>
        </p:spPr>
        <p:txBody>
          <a:bodyPr wrap="square" rtlCol="0">
            <a:spAutoFit/>
          </a:bodyPr>
          <a:lstStyle/>
          <a:p>
            <a:pPr>
              <a:spcBef>
                <a:spcPts val="600"/>
              </a:spcBef>
              <a:spcAft>
                <a:spcPts val="600"/>
              </a:spcAft>
            </a:pPr>
            <a:r>
              <a:rPr lang="en-AU" b="1" dirty="0" smtClean="0">
                <a:latin typeface="Arial" pitchFamily="34" charset="0"/>
                <a:cs typeface="Arial" pitchFamily="34" charset="0"/>
              </a:rPr>
              <a:t>Points of view on the issue</a:t>
            </a:r>
          </a:p>
          <a:p>
            <a:pPr marL="285750" indent="-285750">
              <a:spcBef>
                <a:spcPts val="600"/>
              </a:spcBef>
              <a:spcAft>
                <a:spcPts val="600"/>
              </a:spcAft>
              <a:buFont typeface="Arial" pitchFamily="34" charset="0"/>
              <a:buChar char="•"/>
            </a:pPr>
            <a:r>
              <a:rPr lang="en-AU" dirty="0" smtClean="0">
                <a:latin typeface="Arial" pitchFamily="34" charset="0"/>
                <a:cs typeface="Arial" pitchFamily="34" charset="0"/>
              </a:rPr>
              <a:t>The king needed more money to fights his wars, run the country and pay for his servants.</a:t>
            </a:r>
          </a:p>
          <a:p>
            <a:pPr marL="285750" indent="-285750">
              <a:spcBef>
                <a:spcPts val="600"/>
              </a:spcBef>
              <a:spcAft>
                <a:spcPts val="600"/>
              </a:spcAft>
              <a:buFont typeface="Arial" pitchFamily="34" charset="0"/>
              <a:buChar char="•"/>
            </a:pPr>
            <a:r>
              <a:rPr lang="en-AU" dirty="0" smtClean="0">
                <a:latin typeface="Arial" pitchFamily="34" charset="0"/>
                <a:cs typeface="Arial" pitchFamily="34" charset="0"/>
              </a:rPr>
              <a:t>The knights and wealthy townspeople wanted to have a say in the running of the country, if they were to be taxed.</a:t>
            </a:r>
            <a:endParaRPr lang="en-AU" dirty="0">
              <a:latin typeface="Arial" pitchFamily="34" charset="0"/>
              <a:cs typeface="Arial" pitchFamily="34" charset="0"/>
            </a:endParaRPr>
          </a:p>
        </p:txBody>
      </p:sp>
      <p:sp>
        <p:nvSpPr>
          <p:cNvPr id="8" name="Title 1"/>
          <p:cNvSpPr txBox="1">
            <a:spLocks/>
          </p:cNvSpPr>
          <p:nvPr/>
        </p:nvSpPr>
        <p:spPr>
          <a:xfrm>
            <a:off x="287525" y="260648"/>
            <a:ext cx="8568951" cy="1714202"/>
          </a:xfrm>
          <a:prstGeom prst="rect">
            <a:avLst/>
          </a:prstGeom>
          <a:solidFill>
            <a:schemeClr val="accent4">
              <a:lumMod val="75000"/>
            </a:schemeClr>
          </a:solidFill>
        </p:spPr>
        <p:txBody>
          <a:bodyPr tIns="21600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lnSpc>
                <a:spcPct val="80000"/>
              </a:lnSpc>
              <a:spcBef>
                <a:spcPts val="0"/>
              </a:spcBef>
            </a:pPr>
            <a:r>
              <a:rPr lang="en-AU" dirty="0" smtClean="0">
                <a:solidFill>
                  <a:schemeClr val="bg1"/>
                </a:solidFill>
                <a:latin typeface="Arial" pitchFamily="34" charset="0"/>
                <a:cs typeface="Arial" pitchFamily="34" charset="0"/>
              </a:rPr>
              <a:t>1215–58</a:t>
            </a:r>
          </a:p>
          <a:p>
            <a:pPr algn="l">
              <a:lnSpc>
                <a:spcPct val="80000"/>
              </a:lnSpc>
              <a:spcBef>
                <a:spcPts val="600"/>
              </a:spcBef>
            </a:pPr>
            <a:r>
              <a:rPr lang="en-AU" sz="4000" dirty="0" smtClean="0">
                <a:solidFill>
                  <a:schemeClr val="bg1"/>
                </a:solidFill>
                <a:latin typeface="Arial" pitchFamily="34" charset="0"/>
                <a:cs typeface="Arial" pitchFamily="34" charset="0"/>
              </a:rPr>
              <a:t>Representation for taxation</a:t>
            </a:r>
            <a:endParaRPr lang="en-AU" sz="4000" dirty="0">
              <a:solidFill>
                <a:schemeClr val="bg1"/>
              </a:solidFill>
              <a:latin typeface="Arial" pitchFamily="34" charset="0"/>
              <a:cs typeface="Arial" pitchFamily="34" charset="0"/>
            </a:endParaRPr>
          </a:p>
          <a:p>
            <a:pPr algn="l">
              <a:lnSpc>
                <a:spcPct val="80000"/>
              </a:lnSpc>
              <a:spcBef>
                <a:spcPts val="600"/>
              </a:spcBef>
            </a:pPr>
            <a:r>
              <a:rPr lang="en-AU" sz="2200" dirty="0" smtClean="0">
                <a:solidFill>
                  <a:schemeClr val="bg1"/>
                </a:solidFill>
                <a:latin typeface="Arial" pitchFamily="34" charset="0"/>
                <a:cs typeface="Arial" pitchFamily="34" charset="0"/>
              </a:rPr>
              <a:t>— bringing together groups with different points of view</a:t>
            </a:r>
            <a:endParaRPr lang="en-AU" sz="2200" dirty="0">
              <a:solidFill>
                <a:schemeClr val="bg1"/>
              </a:solidFill>
              <a:latin typeface="Arial" pitchFamily="34" charset="0"/>
              <a:cs typeface="Arial" pitchFamily="34" charset="0"/>
            </a:endParaRPr>
          </a:p>
        </p:txBody>
      </p:sp>
    </p:spTree>
    <p:extLst>
      <p:ext uri="{BB962C8B-B14F-4D97-AF65-F5344CB8AC3E}">
        <p14:creationId xmlns:p14="http://schemas.microsoft.com/office/powerpoint/2010/main" val="9727601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323528" y="2204864"/>
            <a:ext cx="7776864" cy="800219"/>
          </a:xfrm>
          <a:prstGeom prst="rect">
            <a:avLst/>
          </a:prstGeom>
          <a:noFill/>
        </p:spPr>
        <p:txBody>
          <a:bodyPr wrap="square" rtlCol="0">
            <a:spAutoFit/>
          </a:bodyPr>
          <a:lstStyle/>
          <a:p>
            <a:pPr>
              <a:spcBef>
                <a:spcPts val="600"/>
              </a:spcBef>
              <a:spcAft>
                <a:spcPts val="600"/>
              </a:spcAft>
            </a:pPr>
            <a:r>
              <a:rPr lang="en-AU" b="1" dirty="0" smtClean="0">
                <a:latin typeface="Arial" pitchFamily="34" charset="0"/>
                <a:cs typeface="Arial" pitchFamily="34" charset="0"/>
              </a:rPr>
              <a:t>Resolution of the dispute</a:t>
            </a:r>
          </a:p>
          <a:p>
            <a:pPr>
              <a:spcBef>
                <a:spcPts val="600"/>
              </a:spcBef>
              <a:spcAft>
                <a:spcPts val="600"/>
              </a:spcAft>
            </a:pPr>
            <a:r>
              <a:rPr lang="en-AU" dirty="0" smtClean="0">
                <a:latin typeface="Arial" pitchFamily="34" charset="0"/>
                <a:cs typeface="Arial" pitchFamily="34" charset="0"/>
              </a:rPr>
              <a:t>The knights and wealthy townspeople were </a:t>
            </a:r>
            <a:r>
              <a:rPr lang="en-AU" dirty="0">
                <a:latin typeface="Arial" pitchFamily="34" charset="0"/>
                <a:cs typeface="Arial" pitchFamily="34" charset="0"/>
              </a:rPr>
              <a:t>invited to parliament</a:t>
            </a:r>
            <a:r>
              <a:rPr lang="en-AU" dirty="0" smtClean="0">
                <a:latin typeface="Arial" pitchFamily="34" charset="0"/>
                <a:cs typeface="Arial" pitchFamily="34" charset="0"/>
              </a:rPr>
              <a:t>.</a:t>
            </a:r>
            <a:endParaRPr lang="en-AU" dirty="0">
              <a:latin typeface="Arial" pitchFamily="34" charset="0"/>
              <a:cs typeface="Arial" pitchFamily="34" charset="0"/>
            </a:endParaRPr>
          </a:p>
        </p:txBody>
      </p:sp>
      <p:pic>
        <p:nvPicPr>
          <p:cNvPr id="2051" name="Picture 3"/>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7150643" y="3230948"/>
            <a:ext cx="1314827" cy="26749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5" name="TextBox 14"/>
          <p:cNvSpPr txBox="1"/>
          <p:nvPr/>
        </p:nvSpPr>
        <p:spPr>
          <a:xfrm>
            <a:off x="408880" y="5795972"/>
            <a:ext cx="1930872" cy="369332"/>
          </a:xfrm>
          <a:prstGeom prst="rect">
            <a:avLst/>
          </a:prstGeom>
          <a:noFill/>
        </p:spPr>
        <p:txBody>
          <a:bodyPr wrap="square" rtlCol="0">
            <a:spAutoFit/>
          </a:bodyPr>
          <a:lstStyle/>
          <a:p>
            <a:pPr algn="ctr"/>
            <a:r>
              <a:rPr lang="en-AU" dirty="0" smtClean="0">
                <a:solidFill>
                  <a:srgbClr val="CC00FF"/>
                </a:solidFill>
                <a:latin typeface="Arial" pitchFamily="34" charset="0"/>
                <a:cs typeface="Arial" pitchFamily="34" charset="0"/>
              </a:rPr>
              <a:t>House of Lords </a:t>
            </a:r>
            <a:endParaRPr lang="en-AU" dirty="0">
              <a:solidFill>
                <a:srgbClr val="CC00FF"/>
              </a:solidFill>
              <a:latin typeface="Arial" pitchFamily="34" charset="0"/>
              <a:cs typeface="Arial" pitchFamily="34" charset="0"/>
            </a:endParaRPr>
          </a:p>
        </p:txBody>
      </p:sp>
      <p:sp>
        <p:nvSpPr>
          <p:cNvPr id="18" name="TextBox 17"/>
          <p:cNvSpPr txBox="1"/>
          <p:nvPr/>
        </p:nvSpPr>
        <p:spPr>
          <a:xfrm>
            <a:off x="6691933" y="5784911"/>
            <a:ext cx="2232247" cy="369332"/>
          </a:xfrm>
          <a:prstGeom prst="rect">
            <a:avLst/>
          </a:prstGeom>
          <a:noFill/>
        </p:spPr>
        <p:txBody>
          <a:bodyPr wrap="square" rtlCol="0">
            <a:spAutoFit/>
          </a:bodyPr>
          <a:lstStyle/>
          <a:p>
            <a:pPr algn="ctr"/>
            <a:r>
              <a:rPr lang="en-AU" dirty="0" smtClean="0">
                <a:solidFill>
                  <a:srgbClr val="00B050"/>
                </a:solidFill>
                <a:latin typeface="Arial" pitchFamily="34" charset="0"/>
                <a:cs typeface="Arial" pitchFamily="34" charset="0"/>
              </a:rPr>
              <a:t>House of Commons</a:t>
            </a:r>
            <a:endParaRPr lang="en-AU" dirty="0">
              <a:solidFill>
                <a:srgbClr val="00B050"/>
              </a:solidFill>
              <a:latin typeface="Arial" pitchFamily="34" charset="0"/>
              <a:cs typeface="Arial" pitchFamily="34" charset="0"/>
            </a:endParaRPr>
          </a:p>
        </p:txBody>
      </p:sp>
      <p:sp>
        <p:nvSpPr>
          <p:cNvPr id="16" name="TextBox 15"/>
          <p:cNvSpPr txBox="1"/>
          <p:nvPr/>
        </p:nvSpPr>
        <p:spPr>
          <a:xfrm>
            <a:off x="2339752" y="3332018"/>
            <a:ext cx="4608512" cy="2492990"/>
          </a:xfrm>
          <a:prstGeom prst="rect">
            <a:avLst/>
          </a:prstGeom>
          <a:noFill/>
          <a:ln w="19050">
            <a:noFill/>
          </a:ln>
        </p:spPr>
        <p:txBody>
          <a:bodyPr wrap="square" rtlCol="0">
            <a:spAutoFit/>
          </a:bodyPr>
          <a:lstStyle/>
          <a:p>
            <a:pPr>
              <a:spcBef>
                <a:spcPts val="600"/>
              </a:spcBef>
              <a:spcAft>
                <a:spcPts val="600"/>
              </a:spcAft>
            </a:pPr>
            <a:r>
              <a:rPr lang="en-AU" b="1" dirty="0" smtClean="0">
                <a:latin typeface="Arial" pitchFamily="34" charset="0"/>
                <a:cs typeface="Arial" pitchFamily="34" charset="0"/>
              </a:rPr>
              <a:t>The importance of the solution:</a:t>
            </a:r>
          </a:p>
          <a:p>
            <a:pPr>
              <a:spcBef>
                <a:spcPts val="600"/>
              </a:spcBef>
              <a:spcAft>
                <a:spcPts val="600"/>
              </a:spcAft>
            </a:pPr>
            <a:r>
              <a:rPr lang="en-AU" dirty="0">
                <a:latin typeface="Arial" pitchFamily="34" charset="0"/>
                <a:cs typeface="Arial" pitchFamily="34" charset="0"/>
              </a:rPr>
              <a:t>T</a:t>
            </a:r>
            <a:r>
              <a:rPr lang="en-AU" dirty="0" smtClean="0">
                <a:latin typeface="Arial" pitchFamily="34" charset="0"/>
                <a:cs typeface="Arial" pitchFamily="34" charset="0"/>
              </a:rPr>
              <a:t>wo houses of parliament were established to meet with the king separately: </a:t>
            </a:r>
          </a:p>
          <a:p>
            <a:pPr>
              <a:spcBef>
                <a:spcPts val="600"/>
              </a:spcBef>
              <a:spcAft>
                <a:spcPts val="600"/>
              </a:spcAft>
            </a:pPr>
            <a:r>
              <a:rPr lang="en-AU" dirty="0" smtClean="0">
                <a:latin typeface="Arial" pitchFamily="34" charset="0"/>
                <a:cs typeface="Arial" pitchFamily="34" charset="0"/>
              </a:rPr>
              <a:t>the</a:t>
            </a:r>
            <a:r>
              <a:rPr lang="en-AU" dirty="0" smtClean="0">
                <a:solidFill>
                  <a:srgbClr val="CC00FF"/>
                </a:solidFill>
                <a:latin typeface="Arial" pitchFamily="34" charset="0"/>
                <a:cs typeface="Arial" pitchFamily="34" charset="0"/>
              </a:rPr>
              <a:t> </a:t>
            </a:r>
            <a:r>
              <a:rPr lang="en-AU" dirty="0">
                <a:solidFill>
                  <a:srgbClr val="CC00FF"/>
                </a:solidFill>
                <a:latin typeface="Arial" pitchFamily="34" charset="0"/>
                <a:cs typeface="Arial" pitchFamily="34" charset="0"/>
              </a:rPr>
              <a:t>House of </a:t>
            </a:r>
            <a:r>
              <a:rPr lang="en-AU" dirty="0" smtClean="0">
                <a:solidFill>
                  <a:srgbClr val="CC00FF"/>
                </a:solidFill>
                <a:latin typeface="Arial" pitchFamily="34" charset="0"/>
                <a:cs typeface="Arial" pitchFamily="34" charset="0"/>
              </a:rPr>
              <a:t>Lords</a:t>
            </a:r>
            <a:r>
              <a:rPr lang="en-AU" dirty="0" smtClean="0">
                <a:solidFill>
                  <a:srgbClr val="FF0000"/>
                </a:solidFill>
                <a:latin typeface="Arial" pitchFamily="34" charset="0"/>
                <a:cs typeface="Arial" pitchFamily="34" charset="0"/>
              </a:rPr>
              <a:t> </a:t>
            </a:r>
            <a:br>
              <a:rPr lang="en-AU" dirty="0" smtClean="0">
                <a:solidFill>
                  <a:srgbClr val="FF0000"/>
                </a:solidFill>
                <a:latin typeface="Arial" pitchFamily="34" charset="0"/>
                <a:cs typeface="Arial" pitchFamily="34" charset="0"/>
              </a:rPr>
            </a:br>
            <a:r>
              <a:rPr lang="en-AU" dirty="0" smtClean="0">
                <a:latin typeface="Arial" pitchFamily="34" charset="0"/>
                <a:cs typeface="Arial" pitchFamily="34" charset="0"/>
              </a:rPr>
              <a:t>(people selected by the monarch)</a:t>
            </a:r>
            <a:r>
              <a:rPr lang="en-AU" dirty="0" smtClean="0">
                <a:solidFill>
                  <a:srgbClr val="FF0000"/>
                </a:solidFill>
                <a:latin typeface="Arial" pitchFamily="34" charset="0"/>
                <a:cs typeface="Arial" pitchFamily="34" charset="0"/>
              </a:rPr>
              <a:t> </a:t>
            </a:r>
            <a:endParaRPr lang="en-AU" dirty="0">
              <a:solidFill>
                <a:srgbClr val="FF0000"/>
              </a:solidFill>
              <a:latin typeface="Arial" pitchFamily="34" charset="0"/>
              <a:cs typeface="Arial" pitchFamily="34" charset="0"/>
            </a:endParaRPr>
          </a:p>
          <a:p>
            <a:pPr>
              <a:spcBef>
                <a:spcPts val="600"/>
              </a:spcBef>
              <a:spcAft>
                <a:spcPts val="600"/>
              </a:spcAft>
            </a:pPr>
            <a:r>
              <a:rPr lang="en-AU" dirty="0" smtClean="0">
                <a:latin typeface="Arial" pitchFamily="34" charset="0"/>
                <a:cs typeface="Arial" pitchFamily="34" charset="0"/>
              </a:rPr>
              <a:t>the </a:t>
            </a:r>
            <a:r>
              <a:rPr lang="en-AU" dirty="0" smtClean="0">
                <a:solidFill>
                  <a:srgbClr val="00B050"/>
                </a:solidFill>
                <a:latin typeface="Arial" pitchFamily="34" charset="0"/>
                <a:cs typeface="Arial" pitchFamily="34" charset="0"/>
              </a:rPr>
              <a:t>House </a:t>
            </a:r>
            <a:r>
              <a:rPr lang="en-AU" dirty="0">
                <a:solidFill>
                  <a:srgbClr val="00B050"/>
                </a:solidFill>
                <a:latin typeface="Arial" pitchFamily="34" charset="0"/>
                <a:cs typeface="Arial" pitchFamily="34" charset="0"/>
              </a:rPr>
              <a:t>of </a:t>
            </a:r>
            <a:r>
              <a:rPr lang="en-AU" dirty="0" smtClean="0">
                <a:solidFill>
                  <a:srgbClr val="00B050"/>
                </a:solidFill>
                <a:latin typeface="Arial" pitchFamily="34" charset="0"/>
                <a:cs typeface="Arial" pitchFamily="34" charset="0"/>
              </a:rPr>
              <a:t>Commons </a:t>
            </a:r>
            <a:br>
              <a:rPr lang="en-AU" dirty="0" smtClean="0">
                <a:solidFill>
                  <a:srgbClr val="00B050"/>
                </a:solidFill>
                <a:latin typeface="Arial" pitchFamily="34" charset="0"/>
                <a:cs typeface="Arial" pitchFamily="34" charset="0"/>
              </a:rPr>
            </a:br>
            <a:r>
              <a:rPr lang="en-AU" dirty="0" smtClean="0">
                <a:latin typeface="Arial" pitchFamily="34" charset="0"/>
                <a:cs typeface="Arial" pitchFamily="34" charset="0"/>
              </a:rPr>
              <a:t>(elected representatives).</a:t>
            </a:r>
            <a:endParaRPr lang="en-AU" dirty="0">
              <a:latin typeface="Arial" pitchFamily="34" charset="0"/>
              <a:cs typeface="Arial" pitchFamily="34" charset="0"/>
            </a:endParaRPr>
          </a:p>
        </p:txBody>
      </p:sp>
      <p:sp>
        <p:nvSpPr>
          <p:cNvPr id="13" name="Title 1"/>
          <p:cNvSpPr txBox="1">
            <a:spLocks/>
          </p:cNvSpPr>
          <p:nvPr/>
        </p:nvSpPr>
        <p:spPr>
          <a:xfrm>
            <a:off x="287525" y="260648"/>
            <a:ext cx="8568951" cy="1714202"/>
          </a:xfrm>
          <a:prstGeom prst="rect">
            <a:avLst/>
          </a:prstGeom>
          <a:solidFill>
            <a:schemeClr val="accent4">
              <a:lumMod val="75000"/>
            </a:schemeClr>
          </a:solidFill>
        </p:spPr>
        <p:txBody>
          <a:bodyPr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lnSpc>
                <a:spcPct val="80000"/>
              </a:lnSpc>
              <a:spcBef>
                <a:spcPts val="0"/>
              </a:spcBef>
            </a:pPr>
            <a:r>
              <a:rPr lang="en-AU" dirty="0" smtClean="0">
                <a:solidFill>
                  <a:schemeClr val="bg1"/>
                </a:solidFill>
                <a:latin typeface="Arial" pitchFamily="34" charset="0"/>
                <a:cs typeface="Arial" pitchFamily="34" charset="0"/>
              </a:rPr>
              <a:t>1215–58</a:t>
            </a:r>
          </a:p>
          <a:p>
            <a:pPr algn="l">
              <a:lnSpc>
                <a:spcPct val="80000"/>
              </a:lnSpc>
              <a:spcBef>
                <a:spcPts val="0"/>
              </a:spcBef>
            </a:pPr>
            <a:r>
              <a:rPr lang="en-AU" sz="3000" dirty="0" smtClean="0">
                <a:solidFill>
                  <a:schemeClr val="bg1"/>
                </a:solidFill>
                <a:latin typeface="Arial" pitchFamily="34" charset="0"/>
                <a:cs typeface="Arial" pitchFamily="34" charset="0"/>
              </a:rPr>
              <a:t>Representation of different groups in parliament </a:t>
            </a:r>
            <a:endParaRPr lang="en-AU" sz="4000" dirty="0">
              <a:solidFill>
                <a:schemeClr val="bg1"/>
              </a:solidFill>
              <a:latin typeface="Arial" pitchFamily="34" charset="0"/>
              <a:cs typeface="Arial" pitchFamily="34" charset="0"/>
            </a:endParaRPr>
          </a:p>
          <a:p>
            <a:pPr algn="l">
              <a:lnSpc>
                <a:spcPct val="80000"/>
              </a:lnSpc>
              <a:spcBef>
                <a:spcPts val="600"/>
              </a:spcBef>
            </a:pPr>
            <a:r>
              <a:rPr lang="en-AU" sz="2200" dirty="0" smtClean="0">
                <a:solidFill>
                  <a:schemeClr val="bg1"/>
                </a:solidFill>
                <a:latin typeface="Arial" pitchFamily="34" charset="0"/>
                <a:cs typeface="Arial" pitchFamily="34" charset="0"/>
              </a:rPr>
              <a:t>— bringing together groups with different points of view</a:t>
            </a:r>
            <a:endParaRPr lang="en-AU" sz="2200" dirty="0">
              <a:solidFill>
                <a:schemeClr val="bg1"/>
              </a:solidFill>
              <a:latin typeface="Arial" pitchFamily="34" charset="0"/>
              <a:cs typeface="Arial" pitchFamily="34" charset="0"/>
            </a:endParaRPr>
          </a:p>
        </p:txBody>
      </p:sp>
      <p:grpSp>
        <p:nvGrpSpPr>
          <p:cNvPr id="2054" name="Group 2053"/>
          <p:cNvGrpSpPr/>
          <p:nvPr/>
        </p:nvGrpSpPr>
        <p:grpSpPr>
          <a:xfrm>
            <a:off x="753940" y="3275692"/>
            <a:ext cx="1240753" cy="2591306"/>
            <a:chOff x="647473" y="3068960"/>
            <a:chExt cx="1240753" cy="2591306"/>
          </a:xfrm>
        </p:grpSpPr>
        <p:pic>
          <p:nvPicPr>
            <p:cNvPr id="2050" name="Picture 2"/>
            <p:cNvPicPr>
              <a:picLocks noChangeAspect="1" noChangeArrowheads="1"/>
            </p:cNvPicPr>
            <p:nvPr/>
          </p:nvPicPr>
          <p:blipFill rotWithShape="1">
            <a:blip r:embed="rId4" cstate="screen">
              <a:extLst>
                <a:ext uri="{28A0092B-C50C-407E-A947-70E740481C1C}">
                  <a14:useLocalDpi xmlns:a14="http://schemas.microsoft.com/office/drawing/2010/main"/>
                </a:ext>
              </a:extLst>
            </a:blip>
            <a:srcRect l="10549" t="1" r="3697" b="-1812"/>
            <a:stretch/>
          </p:blipFill>
          <p:spPr bwMode="auto">
            <a:xfrm>
              <a:off x="647473" y="3068960"/>
              <a:ext cx="1240753" cy="259130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6" name="Straight Connector 5"/>
            <p:cNvCxnSpPr/>
            <p:nvPr/>
          </p:nvCxnSpPr>
          <p:spPr>
            <a:xfrm>
              <a:off x="683568" y="5589240"/>
              <a:ext cx="1152128"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13703768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54"/>
                                        </p:tgtEl>
                                        <p:attrNameLst>
                                          <p:attrName>style.visibility</p:attrName>
                                        </p:attrNameLst>
                                      </p:cBhvr>
                                      <p:to>
                                        <p:strVal val="visible"/>
                                      </p:to>
                                    </p:set>
                                    <p:animEffect transition="in" filter="fade">
                                      <p:cBhvr>
                                        <p:cTn id="7" dur="1000"/>
                                        <p:tgtEl>
                                          <p:spTgt spid="205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fade">
                                      <p:cBhvr>
                                        <p:cTn id="10" dur="1000"/>
                                        <p:tgtEl>
                                          <p:spTgt spid="15"/>
                                        </p:tgtEl>
                                      </p:cBhvr>
                                    </p:animEffec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05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8" grpId="0"/>
      <p:bldP spid="16"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251520" y="2132856"/>
            <a:ext cx="5040560" cy="3754875"/>
          </a:xfrm>
          <a:prstGeom prst="rect">
            <a:avLst/>
          </a:prstGeom>
          <a:noFill/>
        </p:spPr>
        <p:txBody>
          <a:bodyPr wrap="square" rtlCol="0">
            <a:spAutoFit/>
          </a:bodyPr>
          <a:lstStyle/>
          <a:p>
            <a:pPr>
              <a:spcBef>
                <a:spcPts val="600"/>
              </a:spcBef>
              <a:spcAft>
                <a:spcPts val="600"/>
              </a:spcAft>
            </a:pPr>
            <a:r>
              <a:rPr lang="en-AU" b="1" dirty="0" smtClean="0">
                <a:latin typeface="Arial" pitchFamily="34" charset="0"/>
                <a:cs typeface="Arial" pitchFamily="34" charset="0"/>
              </a:rPr>
              <a:t> Issue</a:t>
            </a:r>
          </a:p>
          <a:p>
            <a:pPr marL="285750" indent="-285750">
              <a:spcBef>
                <a:spcPts val="600"/>
              </a:spcBef>
              <a:spcAft>
                <a:spcPts val="600"/>
              </a:spcAft>
              <a:buFont typeface="Arial" pitchFamily="34" charset="0"/>
              <a:buChar char="•"/>
            </a:pPr>
            <a:r>
              <a:rPr lang="en-AU" dirty="0" smtClean="0">
                <a:latin typeface="Arial" pitchFamily="34" charset="0"/>
                <a:cs typeface="Arial" pitchFamily="34" charset="0"/>
              </a:rPr>
              <a:t>King Charles 1 became King of England in 1625. He believed in the </a:t>
            </a:r>
            <a:r>
              <a:rPr lang="en-AU" i="1" dirty="0" smtClean="0">
                <a:latin typeface="Arial" pitchFamily="34" charset="0"/>
                <a:cs typeface="Arial" pitchFamily="34" charset="0"/>
              </a:rPr>
              <a:t>divine right </a:t>
            </a:r>
            <a:r>
              <a:rPr lang="en-AU" dirty="0" smtClean="0">
                <a:latin typeface="Arial" pitchFamily="34" charset="0"/>
                <a:cs typeface="Arial" pitchFamily="34" charset="0"/>
              </a:rPr>
              <a:t>to rule.</a:t>
            </a:r>
          </a:p>
          <a:p>
            <a:pPr marL="285750" lvl="0" indent="-285750">
              <a:spcBef>
                <a:spcPts val="600"/>
              </a:spcBef>
              <a:spcAft>
                <a:spcPts val="600"/>
              </a:spcAft>
              <a:buFont typeface="Arial" pitchFamily="34" charset="0"/>
              <a:buChar char="•"/>
            </a:pPr>
            <a:r>
              <a:rPr lang="en-AU" dirty="0" smtClean="0">
                <a:solidFill>
                  <a:prstClr val="black"/>
                </a:solidFill>
                <a:latin typeface="Arial" pitchFamily="34" charset="0"/>
                <a:cs typeface="Arial" pitchFamily="34" charset="0"/>
              </a:rPr>
              <a:t>Between </a:t>
            </a:r>
            <a:r>
              <a:rPr lang="en-AU" dirty="0">
                <a:solidFill>
                  <a:prstClr val="black"/>
                </a:solidFill>
                <a:latin typeface="Arial" pitchFamily="34" charset="0"/>
                <a:cs typeface="Arial" pitchFamily="34" charset="0"/>
              </a:rPr>
              <a:t>1625 and 1629, Charles only called </a:t>
            </a:r>
            <a:r>
              <a:rPr lang="en-AU" dirty="0" smtClean="0">
                <a:solidFill>
                  <a:prstClr val="black"/>
                </a:solidFill>
                <a:latin typeface="Arial" pitchFamily="34" charset="0"/>
                <a:cs typeface="Arial" pitchFamily="34" charset="0"/>
              </a:rPr>
              <a:t>parliament </a:t>
            </a:r>
            <a:r>
              <a:rPr lang="en-AU" dirty="0">
                <a:solidFill>
                  <a:prstClr val="black"/>
                </a:solidFill>
                <a:latin typeface="Arial" pitchFamily="34" charset="0"/>
                <a:cs typeface="Arial" pitchFamily="34" charset="0"/>
              </a:rPr>
              <a:t>to sit when he wanted to impose taxes to raise money to fight </a:t>
            </a:r>
            <a:r>
              <a:rPr lang="en-AU" dirty="0" smtClean="0">
                <a:solidFill>
                  <a:prstClr val="black"/>
                </a:solidFill>
                <a:latin typeface="Arial" pitchFamily="34" charset="0"/>
                <a:cs typeface="Arial" pitchFamily="34" charset="0"/>
              </a:rPr>
              <a:t>wars. </a:t>
            </a:r>
          </a:p>
          <a:p>
            <a:pPr marL="285750" lvl="0" indent="-285750">
              <a:spcBef>
                <a:spcPts val="600"/>
              </a:spcBef>
              <a:spcAft>
                <a:spcPts val="600"/>
              </a:spcAft>
              <a:buFont typeface="Arial" pitchFamily="34" charset="0"/>
              <a:buChar char="•"/>
            </a:pPr>
            <a:r>
              <a:rPr lang="en-AU" dirty="0" smtClean="0">
                <a:solidFill>
                  <a:prstClr val="black"/>
                </a:solidFill>
                <a:latin typeface="Arial" pitchFamily="34" charset="0"/>
                <a:cs typeface="Arial" pitchFamily="34" charset="0"/>
              </a:rPr>
              <a:t>Parliament </a:t>
            </a:r>
            <a:r>
              <a:rPr lang="en-AU" dirty="0">
                <a:solidFill>
                  <a:prstClr val="black"/>
                </a:solidFill>
                <a:latin typeface="Arial" pitchFamily="34" charset="0"/>
                <a:cs typeface="Arial" pitchFamily="34" charset="0"/>
              </a:rPr>
              <a:t>condemned the king for not allowing it to have more say in decisions about how taxes were </a:t>
            </a:r>
            <a:r>
              <a:rPr lang="en-AU" dirty="0" smtClean="0">
                <a:solidFill>
                  <a:prstClr val="black"/>
                </a:solidFill>
                <a:latin typeface="Arial" pitchFamily="34" charset="0"/>
                <a:cs typeface="Arial" pitchFamily="34" charset="0"/>
              </a:rPr>
              <a:t>spent.</a:t>
            </a:r>
            <a:endParaRPr lang="en-AU" dirty="0">
              <a:solidFill>
                <a:prstClr val="black"/>
              </a:solidFill>
              <a:latin typeface="Arial" pitchFamily="34" charset="0"/>
              <a:cs typeface="Arial" pitchFamily="34" charset="0"/>
            </a:endParaRPr>
          </a:p>
          <a:p>
            <a:pPr marL="285750" lvl="0" indent="-285750">
              <a:spcBef>
                <a:spcPts val="600"/>
              </a:spcBef>
              <a:spcAft>
                <a:spcPts val="600"/>
              </a:spcAft>
              <a:buFont typeface="Arial" pitchFamily="34" charset="0"/>
              <a:buChar char="•"/>
            </a:pPr>
            <a:r>
              <a:rPr lang="en-AU" dirty="0">
                <a:solidFill>
                  <a:prstClr val="black"/>
                </a:solidFill>
                <a:latin typeface="Arial" pitchFamily="34" charset="0"/>
                <a:cs typeface="Arial" pitchFamily="34" charset="0"/>
              </a:rPr>
              <a:t>Charles did not call </a:t>
            </a:r>
            <a:r>
              <a:rPr lang="en-AU" dirty="0" smtClean="0">
                <a:solidFill>
                  <a:prstClr val="black"/>
                </a:solidFill>
                <a:latin typeface="Arial" pitchFamily="34" charset="0"/>
                <a:cs typeface="Arial" pitchFamily="34" charset="0"/>
              </a:rPr>
              <a:t>parliament </a:t>
            </a:r>
            <a:r>
              <a:rPr lang="en-AU" dirty="0">
                <a:solidFill>
                  <a:prstClr val="black"/>
                </a:solidFill>
                <a:latin typeface="Arial" pitchFamily="34" charset="0"/>
                <a:cs typeface="Arial" pitchFamily="34" charset="0"/>
              </a:rPr>
              <a:t>again for another 11 years. </a:t>
            </a:r>
            <a:endParaRPr lang="en-AU" dirty="0">
              <a:latin typeface="Arial" pitchFamily="34" charset="0"/>
              <a:cs typeface="Arial" pitchFamily="34" charset="0"/>
            </a:endParaRPr>
          </a:p>
        </p:txBody>
      </p:sp>
      <p:sp>
        <p:nvSpPr>
          <p:cNvPr id="4" name="TextBox 3"/>
          <p:cNvSpPr txBox="1"/>
          <p:nvPr/>
        </p:nvSpPr>
        <p:spPr>
          <a:xfrm>
            <a:off x="5436096" y="4581128"/>
            <a:ext cx="3574000" cy="2154436"/>
          </a:xfrm>
          <a:prstGeom prst="rect">
            <a:avLst/>
          </a:prstGeom>
          <a:noFill/>
        </p:spPr>
        <p:txBody>
          <a:bodyPr wrap="square" rtlCol="0">
            <a:spAutoFit/>
          </a:bodyPr>
          <a:lstStyle/>
          <a:p>
            <a:pPr>
              <a:spcBef>
                <a:spcPts val="600"/>
              </a:spcBef>
              <a:spcAft>
                <a:spcPts val="600"/>
              </a:spcAft>
            </a:pPr>
            <a:r>
              <a:rPr lang="en-AU" b="1" dirty="0" smtClean="0">
                <a:latin typeface="Arial" pitchFamily="34" charset="0"/>
                <a:cs typeface="Arial" pitchFamily="34" charset="0"/>
              </a:rPr>
              <a:t>Points of view on the issue</a:t>
            </a:r>
          </a:p>
          <a:p>
            <a:pPr marL="285750" indent="-285750">
              <a:spcBef>
                <a:spcPts val="600"/>
              </a:spcBef>
              <a:spcAft>
                <a:spcPts val="600"/>
              </a:spcAft>
              <a:buFont typeface="Arial" pitchFamily="34" charset="0"/>
              <a:buChar char="•"/>
            </a:pPr>
            <a:r>
              <a:rPr lang="en-AU" sz="1700" dirty="0" smtClean="0">
                <a:latin typeface="Arial" pitchFamily="34" charset="0"/>
                <a:cs typeface="Arial" pitchFamily="34" charset="0"/>
              </a:rPr>
              <a:t>The king believed in his right to rule as he pleased.</a:t>
            </a:r>
          </a:p>
          <a:p>
            <a:pPr marL="285750" indent="-285750">
              <a:spcBef>
                <a:spcPts val="600"/>
              </a:spcBef>
              <a:spcAft>
                <a:spcPts val="600"/>
              </a:spcAft>
              <a:buFont typeface="Arial" pitchFamily="34" charset="0"/>
              <a:buChar char="•"/>
            </a:pPr>
            <a:r>
              <a:rPr lang="en-AU" sz="1700" dirty="0" smtClean="0">
                <a:latin typeface="Arial" pitchFamily="34" charset="0"/>
                <a:cs typeface="Arial" pitchFamily="34" charset="0"/>
              </a:rPr>
              <a:t>Parliament wanted more say in how taxes were being spent.</a:t>
            </a:r>
          </a:p>
          <a:p>
            <a:pPr>
              <a:spcBef>
                <a:spcPts val="600"/>
              </a:spcBef>
              <a:spcAft>
                <a:spcPts val="600"/>
              </a:spcAft>
            </a:pPr>
            <a:endParaRPr lang="en-AU" dirty="0">
              <a:latin typeface="Arial" pitchFamily="34" charset="0"/>
              <a:cs typeface="Arial" pitchFamily="34" charset="0"/>
            </a:endParaRPr>
          </a:p>
        </p:txBody>
      </p:sp>
      <p:pic>
        <p:nvPicPr>
          <p:cNvPr id="3074" name="LBoxImage" descr="Description: Charles I"/>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5724128" y="2132856"/>
            <a:ext cx="2752236" cy="22618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itle 1"/>
          <p:cNvSpPr txBox="1">
            <a:spLocks/>
          </p:cNvSpPr>
          <p:nvPr/>
        </p:nvSpPr>
        <p:spPr>
          <a:xfrm>
            <a:off x="287525" y="260648"/>
            <a:ext cx="8568951" cy="1714202"/>
          </a:xfrm>
          <a:prstGeom prst="rect">
            <a:avLst/>
          </a:prstGeom>
          <a:solidFill>
            <a:schemeClr val="accent4">
              <a:lumMod val="75000"/>
            </a:schemeClr>
          </a:solidFill>
        </p:spPr>
        <p:txBody>
          <a:bodyPr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spcBef>
                <a:spcPts val="0"/>
              </a:spcBef>
              <a:spcAft>
                <a:spcPts val="600"/>
              </a:spcAft>
            </a:pPr>
            <a:r>
              <a:rPr lang="en-AU" dirty="0" smtClean="0">
                <a:solidFill>
                  <a:schemeClr val="bg1"/>
                </a:solidFill>
                <a:latin typeface="Arial" pitchFamily="34" charset="0"/>
                <a:cs typeface="Arial" pitchFamily="34" charset="0"/>
              </a:rPr>
              <a:t>1625–1649</a:t>
            </a:r>
          </a:p>
          <a:p>
            <a:pPr algn="l">
              <a:spcBef>
                <a:spcPts val="0"/>
              </a:spcBef>
              <a:spcAft>
                <a:spcPts val="600"/>
              </a:spcAft>
            </a:pPr>
            <a:r>
              <a:rPr lang="en-AU" sz="2900" dirty="0" smtClean="0">
                <a:solidFill>
                  <a:schemeClr val="bg1"/>
                </a:solidFill>
                <a:latin typeface="Arial" pitchFamily="34" charset="0"/>
                <a:cs typeface="Arial" pitchFamily="34" charset="0"/>
              </a:rPr>
              <a:t>Parliament challenges the power of King Charles I</a:t>
            </a:r>
            <a:r>
              <a:rPr lang="en-AU" sz="3000" dirty="0" smtClean="0">
                <a:solidFill>
                  <a:schemeClr val="bg1"/>
                </a:solidFill>
                <a:latin typeface="Arial" pitchFamily="34" charset="0"/>
                <a:cs typeface="Arial" pitchFamily="34" charset="0"/>
              </a:rPr>
              <a:t/>
            </a:r>
            <a:br>
              <a:rPr lang="en-AU" sz="3000" dirty="0" smtClean="0">
                <a:solidFill>
                  <a:schemeClr val="bg1"/>
                </a:solidFill>
                <a:latin typeface="Arial" pitchFamily="34" charset="0"/>
                <a:cs typeface="Arial" pitchFamily="34" charset="0"/>
              </a:rPr>
            </a:br>
            <a:r>
              <a:rPr lang="en-AU" sz="2200" dirty="0" smtClean="0">
                <a:solidFill>
                  <a:schemeClr val="bg1"/>
                </a:solidFill>
                <a:latin typeface="Arial" pitchFamily="34" charset="0"/>
                <a:cs typeface="Arial" pitchFamily="34" charset="0"/>
              </a:rPr>
              <a:t>— use of legal processes to resolve a dispute</a:t>
            </a:r>
            <a:endParaRPr lang="en-AU" sz="2200" dirty="0">
              <a:solidFill>
                <a:schemeClr val="bg1"/>
              </a:solidFill>
              <a:latin typeface="Arial" pitchFamily="34" charset="0"/>
              <a:cs typeface="Arial" pitchFamily="34" charset="0"/>
            </a:endParaRPr>
          </a:p>
        </p:txBody>
      </p:sp>
    </p:spTree>
    <p:extLst>
      <p:ext uri="{BB962C8B-B14F-4D97-AF65-F5344CB8AC3E}">
        <p14:creationId xmlns:p14="http://schemas.microsoft.com/office/powerpoint/2010/main" val="19994051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251520" y="2204864"/>
            <a:ext cx="8352928" cy="4193456"/>
          </a:xfrm>
          <a:prstGeom prst="rect">
            <a:avLst/>
          </a:prstGeom>
          <a:noFill/>
        </p:spPr>
        <p:txBody>
          <a:bodyPr wrap="square" rtlCol="0">
            <a:spAutoFit/>
          </a:bodyPr>
          <a:lstStyle/>
          <a:p>
            <a:pPr lvl="0">
              <a:spcBef>
                <a:spcPts val="600"/>
              </a:spcBef>
              <a:spcAft>
                <a:spcPts val="600"/>
              </a:spcAft>
            </a:pPr>
            <a:r>
              <a:rPr lang="en-AU" b="1" dirty="0" smtClean="0">
                <a:solidFill>
                  <a:prstClr val="black"/>
                </a:solidFill>
                <a:latin typeface="Arial" pitchFamily="34" charset="0"/>
                <a:cs typeface="Arial" pitchFamily="34" charset="0"/>
              </a:rPr>
              <a:t>Resolution of the dispute</a:t>
            </a:r>
          </a:p>
          <a:p>
            <a:pPr marL="285750" lvl="0" indent="-285750">
              <a:spcBef>
                <a:spcPts val="600"/>
              </a:spcBef>
              <a:spcAft>
                <a:spcPts val="600"/>
              </a:spcAft>
              <a:buFont typeface="Arial" pitchFamily="34" charset="0"/>
              <a:buChar char="•"/>
            </a:pPr>
            <a:r>
              <a:rPr lang="en-AU" dirty="0" smtClean="0">
                <a:solidFill>
                  <a:prstClr val="black"/>
                </a:solidFill>
                <a:latin typeface="Arial" pitchFamily="34" charset="0"/>
                <a:cs typeface="Arial" pitchFamily="34" charset="0"/>
              </a:rPr>
              <a:t>Between 1642 and 1649, England went to war with itself. The country was divided between those who were loyal to the king (Royalists) and those who were loyal to the parliament (Parliamentarians).</a:t>
            </a:r>
          </a:p>
          <a:p>
            <a:pPr marL="285750" lvl="0" indent="-285750">
              <a:spcBef>
                <a:spcPts val="600"/>
              </a:spcBef>
              <a:spcAft>
                <a:spcPts val="600"/>
              </a:spcAft>
              <a:buFont typeface="Arial" pitchFamily="34" charset="0"/>
              <a:buChar char="•"/>
            </a:pPr>
            <a:r>
              <a:rPr lang="en-AU" dirty="0" smtClean="0">
                <a:solidFill>
                  <a:prstClr val="black"/>
                </a:solidFill>
                <a:latin typeface="Arial" pitchFamily="34" charset="0"/>
                <a:cs typeface="Arial" pitchFamily="34" charset="0"/>
              </a:rPr>
              <a:t>Parliamentarians won the war and </a:t>
            </a:r>
            <a:r>
              <a:rPr lang="en-AU" dirty="0">
                <a:solidFill>
                  <a:prstClr val="black"/>
                </a:solidFill>
                <a:latin typeface="Arial" pitchFamily="34" charset="0"/>
                <a:cs typeface="Arial" pitchFamily="34" charset="0"/>
              </a:rPr>
              <a:t>defeated the </a:t>
            </a:r>
            <a:r>
              <a:rPr lang="en-AU" dirty="0" smtClean="0">
                <a:solidFill>
                  <a:prstClr val="black"/>
                </a:solidFill>
                <a:latin typeface="Arial" pitchFamily="34" charset="0"/>
                <a:cs typeface="Arial" pitchFamily="34" charset="0"/>
              </a:rPr>
              <a:t>King.</a:t>
            </a:r>
            <a:endParaRPr lang="en-AU" dirty="0">
              <a:solidFill>
                <a:prstClr val="black"/>
              </a:solidFill>
              <a:latin typeface="Arial" pitchFamily="34" charset="0"/>
              <a:cs typeface="Arial" pitchFamily="34" charset="0"/>
            </a:endParaRPr>
          </a:p>
          <a:p>
            <a:pPr marL="285750" lvl="0" indent="-285750">
              <a:spcBef>
                <a:spcPts val="600"/>
              </a:spcBef>
              <a:spcAft>
                <a:spcPts val="300"/>
              </a:spcAft>
              <a:buFont typeface="Arial" pitchFamily="34" charset="0"/>
              <a:buChar char="•"/>
            </a:pPr>
            <a:r>
              <a:rPr lang="en-AU" dirty="0">
                <a:solidFill>
                  <a:prstClr val="black"/>
                </a:solidFill>
                <a:latin typeface="Arial" pitchFamily="34" charset="0"/>
                <a:cs typeface="Arial" pitchFamily="34" charset="0"/>
              </a:rPr>
              <a:t>Parliament </a:t>
            </a:r>
            <a:r>
              <a:rPr lang="en-AU" dirty="0" smtClean="0">
                <a:solidFill>
                  <a:prstClr val="black"/>
                </a:solidFill>
                <a:latin typeface="Arial" pitchFamily="34" charset="0"/>
                <a:cs typeface="Arial" pitchFamily="34" charset="0"/>
              </a:rPr>
              <a:t>believed they could no </a:t>
            </a:r>
            <a:r>
              <a:rPr lang="en-AU" dirty="0">
                <a:solidFill>
                  <a:prstClr val="black"/>
                </a:solidFill>
                <a:latin typeface="Arial" pitchFamily="34" charset="0"/>
                <a:cs typeface="Arial" pitchFamily="34" charset="0"/>
              </a:rPr>
              <a:t>longer </a:t>
            </a:r>
            <a:r>
              <a:rPr lang="en-AU" dirty="0" smtClean="0">
                <a:solidFill>
                  <a:prstClr val="black"/>
                </a:solidFill>
                <a:latin typeface="Arial" pitchFamily="34" charset="0"/>
                <a:cs typeface="Arial" pitchFamily="34" charset="0"/>
              </a:rPr>
              <a:t>trust </a:t>
            </a:r>
            <a:r>
              <a:rPr lang="en-AU" dirty="0">
                <a:solidFill>
                  <a:prstClr val="black"/>
                </a:solidFill>
                <a:latin typeface="Arial" pitchFamily="34" charset="0"/>
                <a:cs typeface="Arial" pitchFamily="34" charset="0"/>
              </a:rPr>
              <a:t>King Charles </a:t>
            </a:r>
            <a:r>
              <a:rPr lang="en-AU" dirty="0" smtClean="0">
                <a:solidFill>
                  <a:prstClr val="black"/>
                </a:solidFill>
                <a:latin typeface="Arial" pitchFamily="34" charset="0"/>
                <a:cs typeface="Arial" pitchFamily="34" charset="0"/>
              </a:rPr>
              <a:t>I, and that peace was impossible as long as the king lived. The King was put on trial in a High Court of Justice</a:t>
            </a:r>
            <a:r>
              <a:rPr lang="en-AU" dirty="0" smtClean="0">
                <a:solidFill>
                  <a:srgbClr val="7030A0"/>
                </a:solidFill>
                <a:latin typeface="Arial" pitchFamily="34" charset="0"/>
                <a:cs typeface="Arial" pitchFamily="34" charset="0"/>
              </a:rPr>
              <a:t>*</a:t>
            </a:r>
            <a:r>
              <a:rPr lang="en-AU" dirty="0" smtClean="0">
                <a:solidFill>
                  <a:prstClr val="black"/>
                </a:solidFill>
                <a:latin typeface="Arial" pitchFamily="34" charset="0"/>
                <a:cs typeface="Arial" pitchFamily="34" charset="0"/>
              </a:rPr>
              <a:t>.</a:t>
            </a:r>
            <a:endParaRPr lang="en-AU" dirty="0">
              <a:solidFill>
                <a:prstClr val="black"/>
              </a:solidFill>
              <a:latin typeface="Arial" pitchFamily="34" charset="0"/>
              <a:cs typeface="Arial" pitchFamily="34" charset="0"/>
            </a:endParaRPr>
          </a:p>
          <a:p>
            <a:pPr lvl="0">
              <a:spcBef>
                <a:spcPts val="600"/>
              </a:spcBef>
              <a:spcAft>
                <a:spcPts val="300"/>
              </a:spcAft>
            </a:pPr>
            <a:r>
              <a:rPr lang="en-AU" sz="1600" b="1" i="1" dirty="0" smtClean="0">
                <a:solidFill>
                  <a:srgbClr val="7030A0"/>
                </a:solidFill>
                <a:latin typeface="Arial" pitchFamily="34" charset="0"/>
                <a:cs typeface="Arial" pitchFamily="34" charset="0"/>
              </a:rPr>
              <a:t>* </a:t>
            </a:r>
            <a:r>
              <a:rPr lang="en-AU" sz="1200" b="1" dirty="0" smtClean="0">
                <a:solidFill>
                  <a:srgbClr val="7030A0"/>
                </a:solidFill>
                <a:latin typeface="Arial" pitchFamily="34" charset="0"/>
                <a:cs typeface="Arial" pitchFamily="34" charset="0"/>
              </a:rPr>
              <a:t>established in 1649 by the House of Commons</a:t>
            </a:r>
          </a:p>
          <a:p>
            <a:pPr lvl="0">
              <a:spcBef>
                <a:spcPts val="600"/>
              </a:spcBef>
              <a:spcAft>
                <a:spcPts val="300"/>
              </a:spcAft>
            </a:pPr>
            <a:r>
              <a:rPr lang="en-AU" b="1" dirty="0" smtClean="0">
                <a:solidFill>
                  <a:prstClr val="black"/>
                </a:solidFill>
                <a:latin typeface="Arial" pitchFamily="34" charset="0"/>
                <a:cs typeface="Arial" pitchFamily="34" charset="0"/>
              </a:rPr>
              <a:t>The importance of the solution</a:t>
            </a:r>
            <a:endParaRPr lang="en-AU" dirty="0" smtClean="0">
              <a:solidFill>
                <a:prstClr val="black"/>
              </a:solidFill>
              <a:latin typeface="Arial" pitchFamily="34" charset="0"/>
              <a:cs typeface="Arial" pitchFamily="34" charset="0"/>
            </a:endParaRPr>
          </a:p>
          <a:p>
            <a:pPr marL="285750" lvl="0" indent="-285750">
              <a:spcBef>
                <a:spcPts val="600"/>
              </a:spcBef>
              <a:spcAft>
                <a:spcPts val="600"/>
              </a:spcAft>
              <a:buFont typeface="Arial" pitchFamily="34" charset="0"/>
              <a:buChar char="•"/>
            </a:pPr>
            <a:r>
              <a:rPr lang="en-AU" dirty="0" smtClean="0">
                <a:solidFill>
                  <a:prstClr val="black"/>
                </a:solidFill>
                <a:latin typeface="Arial" pitchFamily="34" charset="0"/>
                <a:cs typeface="Arial" pitchFamily="34" charset="0"/>
              </a:rPr>
              <a:t>King Charles I was found guilty of treason by a judge and jury, and, in 1649, became the only king in English history to be executed.</a:t>
            </a:r>
            <a:endParaRPr lang="en-AU" dirty="0">
              <a:latin typeface="Arial" pitchFamily="34" charset="0"/>
              <a:cs typeface="Arial" pitchFamily="34" charset="0"/>
            </a:endParaRPr>
          </a:p>
        </p:txBody>
      </p:sp>
      <p:sp>
        <p:nvSpPr>
          <p:cNvPr id="11" name="Title 1"/>
          <p:cNvSpPr txBox="1">
            <a:spLocks/>
          </p:cNvSpPr>
          <p:nvPr/>
        </p:nvSpPr>
        <p:spPr>
          <a:xfrm>
            <a:off x="287525" y="260648"/>
            <a:ext cx="8568951" cy="1714202"/>
          </a:xfrm>
          <a:prstGeom prst="rect">
            <a:avLst/>
          </a:prstGeom>
          <a:solidFill>
            <a:schemeClr val="accent4">
              <a:lumMod val="75000"/>
            </a:schemeClr>
          </a:solidFill>
        </p:spPr>
        <p:txBody>
          <a:bodyPr tIns="18000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lnSpc>
                <a:spcPct val="80000"/>
              </a:lnSpc>
              <a:spcBef>
                <a:spcPts val="0"/>
              </a:spcBef>
            </a:pPr>
            <a:r>
              <a:rPr lang="en-AU" dirty="0" smtClean="0">
                <a:solidFill>
                  <a:schemeClr val="bg1"/>
                </a:solidFill>
                <a:latin typeface="Arial" pitchFamily="34" charset="0"/>
                <a:cs typeface="Arial" pitchFamily="34" charset="0"/>
              </a:rPr>
              <a:t>1625–1649</a:t>
            </a:r>
          </a:p>
          <a:p>
            <a:pPr algn="l">
              <a:spcBef>
                <a:spcPts val="600"/>
              </a:spcBef>
              <a:spcAft>
                <a:spcPts val="600"/>
              </a:spcAft>
            </a:pPr>
            <a:r>
              <a:rPr lang="en-AU" sz="2900" dirty="0" smtClean="0">
                <a:solidFill>
                  <a:schemeClr val="bg1"/>
                </a:solidFill>
                <a:latin typeface="Arial" pitchFamily="34" charset="0"/>
                <a:cs typeface="Arial" pitchFamily="34" charset="0"/>
              </a:rPr>
              <a:t>Parliament challenges the power of King Charles I</a:t>
            </a:r>
            <a:r>
              <a:rPr lang="en-AU" sz="4000" dirty="0" smtClean="0">
                <a:solidFill>
                  <a:schemeClr val="bg1"/>
                </a:solidFill>
                <a:latin typeface="Arial" pitchFamily="34" charset="0"/>
                <a:cs typeface="Arial" pitchFamily="34" charset="0"/>
              </a:rPr>
              <a:t/>
            </a:r>
            <a:br>
              <a:rPr lang="en-AU" sz="4000" dirty="0" smtClean="0">
                <a:solidFill>
                  <a:schemeClr val="bg1"/>
                </a:solidFill>
                <a:latin typeface="Arial" pitchFamily="34" charset="0"/>
                <a:cs typeface="Arial" pitchFamily="34" charset="0"/>
              </a:rPr>
            </a:br>
            <a:r>
              <a:rPr lang="en-AU" sz="2200" dirty="0" smtClean="0">
                <a:solidFill>
                  <a:schemeClr val="bg1"/>
                </a:solidFill>
                <a:latin typeface="Arial" pitchFamily="34" charset="0"/>
                <a:cs typeface="Arial" pitchFamily="34" charset="0"/>
              </a:rPr>
              <a:t>— use of legal processes to resolve a dispute</a:t>
            </a:r>
            <a:endParaRPr lang="en-AU" sz="2200" dirty="0">
              <a:solidFill>
                <a:schemeClr val="bg1"/>
              </a:solidFill>
              <a:latin typeface="Arial" pitchFamily="34" charset="0"/>
              <a:cs typeface="Arial" pitchFamily="34" charset="0"/>
            </a:endParaRPr>
          </a:p>
        </p:txBody>
      </p:sp>
    </p:spTree>
    <p:extLst>
      <p:ext uri="{BB962C8B-B14F-4D97-AF65-F5344CB8AC3E}">
        <p14:creationId xmlns:p14="http://schemas.microsoft.com/office/powerpoint/2010/main" val="405174593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3131840" y="3645024"/>
            <a:ext cx="5544616" cy="2339102"/>
          </a:xfrm>
          <a:prstGeom prst="rect">
            <a:avLst/>
          </a:prstGeom>
          <a:noFill/>
        </p:spPr>
        <p:txBody>
          <a:bodyPr wrap="square" rtlCol="0">
            <a:spAutoFit/>
          </a:bodyPr>
          <a:lstStyle/>
          <a:p>
            <a:pPr>
              <a:spcBef>
                <a:spcPts val="600"/>
              </a:spcBef>
              <a:spcAft>
                <a:spcPts val="600"/>
              </a:spcAft>
            </a:pPr>
            <a:r>
              <a:rPr lang="en-AU" b="1" dirty="0" smtClean="0">
                <a:latin typeface="Arial" pitchFamily="34" charset="0"/>
                <a:cs typeface="Arial" pitchFamily="34" charset="0"/>
              </a:rPr>
              <a:t>Points of view on the issue</a:t>
            </a:r>
          </a:p>
          <a:p>
            <a:pPr marL="285750" indent="-285750">
              <a:spcBef>
                <a:spcPts val="600"/>
              </a:spcBef>
              <a:spcAft>
                <a:spcPts val="600"/>
              </a:spcAft>
              <a:buFont typeface="Arial" pitchFamily="34" charset="0"/>
              <a:buChar char="•"/>
            </a:pPr>
            <a:r>
              <a:rPr lang="en-AU" dirty="0" smtClean="0">
                <a:latin typeface="Arial" pitchFamily="34" charset="0"/>
                <a:cs typeface="Arial" pitchFamily="34" charset="0"/>
              </a:rPr>
              <a:t>Oliver Cromwell believed he should take control of parliament. He made himself ‘Lord Protector’ of England. Over time, Cromwell wanted to take sole control of England.</a:t>
            </a:r>
          </a:p>
          <a:p>
            <a:pPr marL="285750" indent="-285750">
              <a:spcBef>
                <a:spcPts val="600"/>
              </a:spcBef>
              <a:spcAft>
                <a:spcPts val="600"/>
              </a:spcAft>
              <a:buFont typeface="Arial" pitchFamily="34" charset="0"/>
              <a:buChar char="•"/>
            </a:pPr>
            <a:r>
              <a:rPr lang="en-AU" dirty="0">
                <a:latin typeface="Arial" pitchFamily="34" charset="0"/>
                <a:cs typeface="Arial" pitchFamily="34" charset="0"/>
              </a:rPr>
              <a:t>Parliament opposed Cromwell’s ambitions and wanted to restore an English king to the throne</a:t>
            </a:r>
            <a:r>
              <a:rPr lang="en-AU" dirty="0" smtClean="0">
                <a:latin typeface="Arial" pitchFamily="34" charset="0"/>
                <a:cs typeface="Arial" pitchFamily="34" charset="0"/>
              </a:rPr>
              <a:t>.</a:t>
            </a:r>
            <a:endParaRPr lang="en-AU" dirty="0">
              <a:latin typeface="Arial" pitchFamily="34" charset="0"/>
              <a:cs typeface="Arial" pitchFamily="34" charset="0"/>
            </a:endParaRPr>
          </a:p>
        </p:txBody>
      </p:sp>
      <p:pic>
        <p:nvPicPr>
          <p:cNvPr id="5122" name="Picture 2"/>
          <p:cNvPicPr>
            <a:picLocks noChangeAspect="1" noChangeArrowheads="1"/>
          </p:cNvPicPr>
          <p:nvPr/>
        </p:nvPicPr>
        <p:blipFill>
          <a:blip r:embed="rId3" cstate="screen">
            <a:extLst>
              <a:ext uri="{28A0092B-C50C-407E-A947-70E740481C1C}">
                <a14:useLocalDpi xmlns:a14="http://schemas.microsoft.com/office/drawing/2010/main"/>
              </a:ext>
            </a:extLst>
          </a:blip>
          <a:stretch>
            <a:fillRect/>
          </a:stretch>
        </p:blipFill>
        <p:spPr bwMode="auto">
          <a:xfrm>
            <a:off x="611560" y="3501008"/>
            <a:ext cx="2076830" cy="2628900"/>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p:cNvSpPr txBox="1"/>
          <p:nvPr/>
        </p:nvSpPr>
        <p:spPr>
          <a:xfrm>
            <a:off x="251520" y="2132856"/>
            <a:ext cx="8820473" cy="1354217"/>
          </a:xfrm>
          <a:prstGeom prst="rect">
            <a:avLst/>
          </a:prstGeom>
          <a:noFill/>
        </p:spPr>
        <p:txBody>
          <a:bodyPr wrap="square" rtlCol="0">
            <a:spAutoFit/>
          </a:bodyPr>
          <a:lstStyle/>
          <a:p>
            <a:pPr>
              <a:spcBef>
                <a:spcPts val="600"/>
              </a:spcBef>
              <a:spcAft>
                <a:spcPts val="600"/>
              </a:spcAft>
            </a:pPr>
            <a:r>
              <a:rPr lang="en-AU" b="1" dirty="0" smtClean="0">
                <a:latin typeface="Arial" pitchFamily="34" charset="0"/>
                <a:cs typeface="Arial" pitchFamily="34" charset="0"/>
              </a:rPr>
              <a:t>Issue</a:t>
            </a:r>
          </a:p>
          <a:p>
            <a:pPr>
              <a:spcBef>
                <a:spcPts val="600"/>
              </a:spcBef>
              <a:spcAft>
                <a:spcPts val="600"/>
              </a:spcAft>
            </a:pPr>
            <a:r>
              <a:rPr lang="en-AU" dirty="0" smtClean="0">
                <a:latin typeface="Arial" pitchFamily="34" charset="0"/>
                <a:cs typeface="Arial" pitchFamily="34" charset="0"/>
              </a:rPr>
              <a:t>In 1649, Parliament abolished the monarchy, the Church of England and the House of Lords. Only the House of Commons remained. However, by 1653, it too lost favour with the people as nothing had changed and taxes remained high.</a:t>
            </a:r>
          </a:p>
        </p:txBody>
      </p:sp>
      <p:sp>
        <p:nvSpPr>
          <p:cNvPr id="12" name="Title 1"/>
          <p:cNvSpPr txBox="1">
            <a:spLocks/>
          </p:cNvSpPr>
          <p:nvPr/>
        </p:nvSpPr>
        <p:spPr>
          <a:xfrm>
            <a:off x="287525" y="260648"/>
            <a:ext cx="8568951" cy="1786210"/>
          </a:xfrm>
          <a:prstGeom prst="rect">
            <a:avLst/>
          </a:prstGeom>
          <a:solidFill>
            <a:schemeClr val="accent4">
              <a:lumMod val="75000"/>
            </a:schemeClr>
          </a:solidFill>
        </p:spPr>
        <p:txBody>
          <a:bodyPr tIns="10800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lnSpc>
                <a:spcPct val="80000"/>
              </a:lnSpc>
              <a:spcBef>
                <a:spcPts val="600"/>
              </a:spcBef>
            </a:pPr>
            <a:r>
              <a:rPr lang="en-AU" dirty="0" smtClean="0">
                <a:solidFill>
                  <a:schemeClr val="bg1"/>
                </a:solidFill>
                <a:latin typeface="Arial" pitchFamily="34" charset="0"/>
                <a:cs typeface="Arial" pitchFamily="34" charset="0"/>
              </a:rPr>
              <a:t>1649–1660</a:t>
            </a:r>
          </a:p>
          <a:p>
            <a:pPr algn="l">
              <a:spcBef>
                <a:spcPts val="0"/>
              </a:spcBef>
              <a:spcAft>
                <a:spcPts val="600"/>
              </a:spcAft>
            </a:pPr>
            <a:r>
              <a:rPr lang="en-AU" sz="3000" dirty="0" smtClean="0">
                <a:solidFill>
                  <a:schemeClr val="bg1"/>
                </a:solidFill>
                <a:latin typeface="Arial" pitchFamily="34" charset="0"/>
                <a:cs typeface="Arial" pitchFamily="34" charset="0"/>
              </a:rPr>
              <a:t>Rule without the monarchy </a:t>
            </a:r>
          </a:p>
          <a:p>
            <a:pPr algn="l">
              <a:spcBef>
                <a:spcPts val="0"/>
              </a:spcBef>
              <a:spcAft>
                <a:spcPts val="600"/>
              </a:spcAft>
            </a:pPr>
            <a:r>
              <a:rPr lang="en-AU" sz="2200" dirty="0" smtClean="0">
                <a:solidFill>
                  <a:schemeClr val="bg1"/>
                </a:solidFill>
                <a:latin typeface="Arial" pitchFamily="34" charset="0"/>
                <a:cs typeface="Arial" pitchFamily="34" charset="0"/>
              </a:rPr>
              <a:t>— </a:t>
            </a:r>
            <a:r>
              <a:rPr lang="en-AU" sz="2100" dirty="0" smtClean="0">
                <a:solidFill>
                  <a:schemeClr val="bg1"/>
                </a:solidFill>
                <a:latin typeface="Arial" pitchFamily="34" charset="0"/>
                <a:cs typeface="Arial" pitchFamily="34" charset="0"/>
              </a:rPr>
              <a:t>challenges to the use of democratic processes to resolve disputes</a:t>
            </a:r>
            <a:endParaRPr lang="en-AU" sz="2100" dirty="0">
              <a:solidFill>
                <a:schemeClr val="bg1"/>
              </a:solidFill>
              <a:latin typeface="Arial" pitchFamily="34" charset="0"/>
              <a:cs typeface="Arial" pitchFamily="34" charset="0"/>
            </a:endParaRPr>
          </a:p>
        </p:txBody>
      </p:sp>
    </p:spTree>
    <p:extLst>
      <p:ext uri="{BB962C8B-B14F-4D97-AF65-F5344CB8AC3E}">
        <p14:creationId xmlns:p14="http://schemas.microsoft.com/office/powerpoint/2010/main" val="409789847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5" name="TextBox 4"/>
          <p:cNvSpPr txBox="1"/>
          <p:nvPr/>
        </p:nvSpPr>
        <p:spPr>
          <a:xfrm>
            <a:off x="3850974" y="2348880"/>
            <a:ext cx="4753474" cy="3785652"/>
          </a:xfrm>
          <a:prstGeom prst="rect">
            <a:avLst/>
          </a:prstGeom>
          <a:noFill/>
        </p:spPr>
        <p:txBody>
          <a:bodyPr wrap="square" rtlCol="0">
            <a:spAutoFit/>
          </a:bodyPr>
          <a:lstStyle/>
          <a:p>
            <a:pPr lvl="0">
              <a:spcBef>
                <a:spcPts val="600"/>
              </a:spcBef>
              <a:spcAft>
                <a:spcPts val="600"/>
              </a:spcAft>
            </a:pPr>
            <a:r>
              <a:rPr lang="en-AU" sz="2000" b="1" dirty="0" smtClean="0">
                <a:solidFill>
                  <a:prstClr val="black"/>
                </a:solidFill>
                <a:latin typeface="Arial" pitchFamily="34" charset="0"/>
                <a:cs typeface="Arial" pitchFamily="34" charset="0"/>
              </a:rPr>
              <a:t>Resolution of the dispute</a:t>
            </a:r>
          </a:p>
          <a:p>
            <a:pPr lvl="0">
              <a:spcBef>
                <a:spcPts val="600"/>
              </a:spcBef>
              <a:spcAft>
                <a:spcPts val="600"/>
              </a:spcAft>
            </a:pPr>
            <a:r>
              <a:rPr lang="en-AU" sz="2000" dirty="0" smtClean="0">
                <a:solidFill>
                  <a:prstClr val="black"/>
                </a:solidFill>
                <a:latin typeface="Arial" pitchFamily="34" charset="0"/>
                <a:cs typeface="Arial" pitchFamily="34" charset="0"/>
              </a:rPr>
              <a:t>In 1660, parliament restored King </a:t>
            </a:r>
            <a:r>
              <a:rPr lang="en-AU" sz="2000" dirty="0">
                <a:solidFill>
                  <a:prstClr val="black"/>
                </a:solidFill>
                <a:latin typeface="Arial" pitchFamily="34" charset="0"/>
                <a:cs typeface="Arial" pitchFamily="34" charset="0"/>
              </a:rPr>
              <a:t>Charles </a:t>
            </a:r>
            <a:r>
              <a:rPr lang="en-AU" sz="2000" dirty="0" smtClean="0">
                <a:solidFill>
                  <a:prstClr val="black"/>
                </a:solidFill>
                <a:latin typeface="Arial" pitchFamily="34" charset="0"/>
                <a:cs typeface="Arial" pitchFamily="34" charset="0"/>
              </a:rPr>
              <a:t>II, the </a:t>
            </a:r>
            <a:r>
              <a:rPr lang="en-AU" sz="2000" dirty="0">
                <a:solidFill>
                  <a:prstClr val="black"/>
                </a:solidFill>
                <a:latin typeface="Arial" pitchFamily="34" charset="0"/>
                <a:cs typeface="Arial" pitchFamily="34" charset="0"/>
              </a:rPr>
              <a:t>son of King Charles </a:t>
            </a:r>
            <a:r>
              <a:rPr lang="en-AU" sz="2000" dirty="0" smtClean="0">
                <a:solidFill>
                  <a:prstClr val="black"/>
                </a:solidFill>
                <a:latin typeface="Arial" pitchFamily="34" charset="0"/>
                <a:cs typeface="Arial" pitchFamily="34" charset="0"/>
              </a:rPr>
              <a:t>I, to the English throne.</a:t>
            </a:r>
            <a:endParaRPr lang="en-AU" sz="2000" dirty="0">
              <a:solidFill>
                <a:prstClr val="black"/>
              </a:solidFill>
              <a:latin typeface="Arial" pitchFamily="34" charset="0"/>
              <a:cs typeface="Arial" pitchFamily="34" charset="0"/>
            </a:endParaRPr>
          </a:p>
          <a:p>
            <a:pPr lvl="0">
              <a:spcBef>
                <a:spcPts val="600"/>
              </a:spcBef>
              <a:spcAft>
                <a:spcPts val="600"/>
              </a:spcAft>
            </a:pPr>
            <a:r>
              <a:rPr lang="en-AU" sz="2000" b="1" dirty="0" smtClean="0">
                <a:solidFill>
                  <a:prstClr val="black"/>
                </a:solidFill>
                <a:latin typeface="Arial" pitchFamily="34" charset="0"/>
                <a:cs typeface="Arial" pitchFamily="34" charset="0"/>
              </a:rPr>
              <a:t>The importance of the solution</a:t>
            </a:r>
          </a:p>
          <a:p>
            <a:pPr marL="342900" lvl="0" indent="-342900">
              <a:spcBef>
                <a:spcPts val="600"/>
              </a:spcBef>
              <a:spcAft>
                <a:spcPts val="600"/>
              </a:spcAft>
              <a:buFont typeface="Arial" pitchFamily="34" charset="0"/>
              <a:buChar char="•"/>
            </a:pPr>
            <a:r>
              <a:rPr lang="en-AU" sz="2000" dirty="0" smtClean="0">
                <a:solidFill>
                  <a:prstClr val="black"/>
                </a:solidFill>
                <a:latin typeface="Arial" pitchFamily="34" charset="0"/>
                <a:cs typeface="Arial" pitchFamily="34" charset="0"/>
              </a:rPr>
              <a:t>Parliament and King Charles shared the power for a time.</a:t>
            </a:r>
          </a:p>
          <a:p>
            <a:pPr marL="342900" lvl="0" indent="-342900">
              <a:spcBef>
                <a:spcPts val="600"/>
              </a:spcBef>
              <a:spcAft>
                <a:spcPts val="600"/>
              </a:spcAft>
              <a:buFont typeface="Arial" pitchFamily="34" charset="0"/>
              <a:buChar char="•"/>
            </a:pPr>
            <a:r>
              <a:rPr lang="en-AU" sz="2000" dirty="0" smtClean="0">
                <a:solidFill>
                  <a:prstClr val="black"/>
                </a:solidFill>
                <a:latin typeface="Arial" pitchFamily="34" charset="0"/>
                <a:cs typeface="Arial" pitchFamily="34" charset="0"/>
              </a:rPr>
              <a:t>In 1681, Charles dissolved parliament and ruled alone until his death.</a:t>
            </a:r>
          </a:p>
        </p:txBody>
      </p:sp>
      <p:pic>
        <p:nvPicPr>
          <p:cNvPr id="2050" name="LBoxImage" descr="Description: Charles II"/>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287525" y="2420888"/>
            <a:ext cx="3185295" cy="3168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itle 1"/>
          <p:cNvSpPr txBox="1">
            <a:spLocks/>
          </p:cNvSpPr>
          <p:nvPr/>
        </p:nvSpPr>
        <p:spPr>
          <a:xfrm>
            <a:off x="287524" y="260648"/>
            <a:ext cx="8568951" cy="1858218"/>
          </a:xfrm>
          <a:prstGeom prst="rect">
            <a:avLst/>
          </a:prstGeom>
          <a:solidFill>
            <a:schemeClr val="accent4">
              <a:lumMod val="75000"/>
            </a:schemeClr>
          </a:solidFill>
        </p:spPr>
        <p:txBody>
          <a:bodyPr tIns="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spcBef>
                <a:spcPts val="0"/>
              </a:spcBef>
              <a:spcAft>
                <a:spcPts val="300"/>
              </a:spcAft>
            </a:pPr>
            <a:r>
              <a:rPr lang="en-AU" dirty="0" smtClean="0">
                <a:solidFill>
                  <a:schemeClr val="bg1"/>
                </a:solidFill>
                <a:latin typeface="Arial" pitchFamily="34" charset="0"/>
                <a:cs typeface="Arial" pitchFamily="34" charset="0"/>
              </a:rPr>
              <a:t>1660–1685</a:t>
            </a:r>
          </a:p>
          <a:p>
            <a:pPr algn="l">
              <a:spcBef>
                <a:spcPts val="0"/>
              </a:spcBef>
              <a:spcAft>
                <a:spcPts val="600"/>
              </a:spcAft>
            </a:pPr>
            <a:r>
              <a:rPr lang="en-AU" sz="4000" dirty="0" smtClean="0">
                <a:solidFill>
                  <a:schemeClr val="bg1"/>
                </a:solidFill>
                <a:latin typeface="Arial" pitchFamily="34" charset="0"/>
                <a:cs typeface="Arial" pitchFamily="34" charset="0"/>
              </a:rPr>
              <a:t>Charles II works with parliament</a:t>
            </a:r>
            <a:br>
              <a:rPr lang="en-AU" sz="4000" dirty="0" smtClean="0">
                <a:solidFill>
                  <a:schemeClr val="bg1"/>
                </a:solidFill>
                <a:latin typeface="Arial" pitchFamily="34" charset="0"/>
                <a:cs typeface="Arial" pitchFamily="34" charset="0"/>
              </a:rPr>
            </a:br>
            <a:r>
              <a:rPr lang="en-AU" sz="2000" dirty="0" smtClean="0">
                <a:solidFill>
                  <a:schemeClr val="bg1"/>
                </a:solidFill>
                <a:latin typeface="Arial" pitchFamily="34" charset="0"/>
                <a:cs typeface="Arial" pitchFamily="34" charset="0"/>
              </a:rPr>
              <a:t>— </a:t>
            </a:r>
            <a:r>
              <a:rPr lang="en-AU" sz="2100" dirty="0" smtClean="0">
                <a:solidFill>
                  <a:schemeClr val="bg1"/>
                </a:solidFill>
                <a:latin typeface="Arial" pitchFamily="34" charset="0"/>
                <a:cs typeface="Arial" pitchFamily="34" charset="0"/>
              </a:rPr>
              <a:t>challenges to the use of democratic processes to resolve di</a:t>
            </a:r>
            <a:r>
              <a:rPr lang="en-AU" sz="2000" dirty="0" smtClean="0">
                <a:solidFill>
                  <a:schemeClr val="bg1"/>
                </a:solidFill>
                <a:latin typeface="Arial" pitchFamily="34" charset="0"/>
                <a:cs typeface="Arial" pitchFamily="34" charset="0"/>
              </a:rPr>
              <a:t>sputes</a:t>
            </a:r>
            <a:endParaRPr lang="en-AU" sz="2000" dirty="0">
              <a:solidFill>
                <a:schemeClr val="bg1"/>
              </a:solidFill>
              <a:latin typeface="Arial" pitchFamily="34" charset="0"/>
              <a:cs typeface="Arial" pitchFamily="34" charset="0"/>
            </a:endParaRPr>
          </a:p>
        </p:txBody>
      </p:sp>
    </p:spTree>
    <p:extLst>
      <p:ext uri="{BB962C8B-B14F-4D97-AF65-F5344CB8AC3E}">
        <p14:creationId xmlns:p14="http://schemas.microsoft.com/office/powerpoint/2010/main" val="409789847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p:cNvSpPr txBox="1"/>
          <p:nvPr/>
        </p:nvSpPr>
        <p:spPr>
          <a:xfrm>
            <a:off x="251520" y="2132856"/>
            <a:ext cx="5040560" cy="4093428"/>
          </a:xfrm>
          <a:prstGeom prst="rect">
            <a:avLst/>
          </a:prstGeom>
          <a:noFill/>
        </p:spPr>
        <p:txBody>
          <a:bodyPr wrap="square" rtlCol="0">
            <a:spAutoFit/>
          </a:bodyPr>
          <a:lstStyle/>
          <a:p>
            <a:pPr lvl="0">
              <a:spcBef>
                <a:spcPts val="600"/>
              </a:spcBef>
              <a:spcAft>
                <a:spcPts val="600"/>
              </a:spcAft>
            </a:pPr>
            <a:r>
              <a:rPr lang="en-AU" sz="2000" b="1" dirty="0" smtClean="0">
                <a:solidFill>
                  <a:prstClr val="black"/>
                </a:solidFill>
                <a:latin typeface="Arial" pitchFamily="34" charset="0"/>
                <a:cs typeface="Arial" pitchFamily="34" charset="0"/>
              </a:rPr>
              <a:t>Issue</a:t>
            </a:r>
          </a:p>
          <a:p>
            <a:pPr lvl="0">
              <a:spcBef>
                <a:spcPts val="600"/>
              </a:spcBef>
              <a:spcAft>
                <a:spcPts val="600"/>
              </a:spcAft>
            </a:pPr>
            <a:r>
              <a:rPr lang="en-AU" sz="2000" dirty="0" smtClean="0">
                <a:solidFill>
                  <a:prstClr val="black"/>
                </a:solidFill>
                <a:latin typeface="Arial" pitchFamily="34" charset="0"/>
                <a:cs typeface="Arial" pitchFamily="34" charset="0"/>
              </a:rPr>
              <a:t>In 1685 King James II ascended the throne. He was determined to reduce the influence of parliament.</a:t>
            </a:r>
          </a:p>
          <a:p>
            <a:pPr lvl="0">
              <a:spcBef>
                <a:spcPts val="600"/>
              </a:spcBef>
              <a:spcAft>
                <a:spcPts val="600"/>
              </a:spcAft>
            </a:pPr>
            <a:r>
              <a:rPr lang="en-AU" sz="2000" b="1" dirty="0" smtClean="0">
                <a:solidFill>
                  <a:prstClr val="black"/>
                </a:solidFill>
                <a:latin typeface="Arial" pitchFamily="34" charset="0"/>
                <a:cs typeface="Arial" pitchFamily="34" charset="0"/>
              </a:rPr>
              <a:t>Points of view on the issue</a:t>
            </a:r>
          </a:p>
          <a:p>
            <a:pPr marL="342900" lvl="0" indent="-342900">
              <a:spcBef>
                <a:spcPts val="600"/>
              </a:spcBef>
              <a:spcAft>
                <a:spcPts val="600"/>
              </a:spcAft>
              <a:buFont typeface="Arial" pitchFamily="34" charset="0"/>
              <a:buChar char="•"/>
            </a:pPr>
            <a:r>
              <a:rPr lang="en-AU" sz="2000" dirty="0" smtClean="0">
                <a:solidFill>
                  <a:prstClr val="black"/>
                </a:solidFill>
                <a:latin typeface="Arial" pitchFamily="34" charset="0"/>
                <a:cs typeface="Arial" pitchFamily="34" charset="0"/>
              </a:rPr>
              <a:t>James II believed he had the right to suspend any laws made by Parliament. He wanted laws to promote religious tolerance.</a:t>
            </a:r>
          </a:p>
          <a:p>
            <a:pPr marL="342900" lvl="0" indent="-342900">
              <a:spcBef>
                <a:spcPts val="600"/>
              </a:spcBef>
              <a:spcAft>
                <a:spcPts val="600"/>
              </a:spcAft>
              <a:buFont typeface="Arial" pitchFamily="34" charset="0"/>
              <a:buChar char="•"/>
            </a:pPr>
            <a:r>
              <a:rPr lang="en-AU" sz="2000" dirty="0" smtClean="0">
                <a:solidFill>
                  <a:prstClr val="black"/>
                </a:solidFill>
                <a:latin typeface="Arial" pitchFamily="34" charset="0"/>
                <a:cs typeface="Arial" pitchFamily="34" charset="0"/>
              </a:rPr>
              <a:t>Parliament refused and replaced James as king</a:t>
            </a:r>
            <a:r>
              <a:rPr lang="en-AU" sz="2000" dirty="0">
                <a:solidFill>
                  <a:prstClr val="black"/>
                </a:solidFill>
                <a:latin typeface="Arial" pitchFamily="34" charset="0"/>
                <a:cs typeface="Arial" pitchFamily="34" charset="0"/>
              </a:rPr>
              <a:t>.</a:t>
            </a:r>
            <a:endParaRPr lang="en-AU" sz="2000" dirty="0" smtClean="0">
              <a:solidFill>
                <a:prstClr val="black"/>
              </a:solidFill>
              <a:latin typeface="Arial" pitchFamily="34" charset="0"/>
              <a:cs typeface="Arial" pitchFamily="34" charset="0"/>
            </a:endParaRPr>
          </a:p>
        </p:txBody>
      </p:sp>
      <p:pic>
        <p:nvPicPr>
          <p:cNvPr id="1026" name="LBoxImage" descr="Description: James II"/>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5724128" y="2314037"/>
            <a:ext cx="3130348" cy="36352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itle 1"/>
          <p:cNvSpPr txBox="1">
            <a:spLocks/>
          </p:cNvSpPr>
          <p:nvPr/>
        </p:nvSpPr>
        <p:spPr>
          <a:xfrm>
            <a:off x="287525" y="260648"/>
            <a:ext cx="8568951" cy="1714202"/>
          </a:xfrm>
          <a:prstGeom prst="rect">
            <a:avLst/>
          </a:prstGeom>
          <a:solidFill>
            <a:schemeClr val="accent4">
              <a:lumMod val="75000"/>
            </a:schemeClr>
          </a:solidFill>
        </p:spPr>
        <p:txBody>
          <a:bodyPr tIns="10800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lnSpc>
                <a:spcPct val="80000"/>
              </a:lnSpc>
              <a:spcBef>
                <a:spcPts val="0"/>
              </a:spcBef>
            </a:pPr>
            <a:r>
              <a:rPr lang="en-AU" dirty="0" smtClean="0">
                <a:solidFill>
                  <a:schemeClr val="bg1"/>
                </a:solidFill>
                <a:latin typeface="Arial" pitchFamily="34" charset="0"/>
                <a:cs typeface="Arial" pitchFamily="34" charset="0"/>
              </a:rPr>
              <a:t>1685–1688</a:t>
            </a:r>
          </a:p>
          <a:p>
            <a:pPr algn="l">
              <a:spcBef>
                <a:spcPts val="0"/>
              </a:spcBef>
              <a:spcAft>
                <a:spcPts val="600"/>
              </a:spcAft>
            </a:pPr>
            <a:r>
              <a:rPr lang="en-AU" sz="3000" dirty="0" smtClean="0">
                <a:solidFill>
                  <a:schemeClr val="bg1"/>
                </a:solidFill>
                <a:latin typeface="Arial" pitchFamily="34" charset="0"/>
                <a:cs typeface="Arial" pitchFamily="34" charset="0"/>
              </a:rPr>
              <a:t>Final challenge for power in England</a:t>
            </a:r>
            <a:r>
              <a:rPr lang="en-AU" sz="4000" dirty="0" smtClean="0">
                <a:solidFill>
                  <a:schemeClr val="bg1"/>
                </a:solidFill>
                <a:latin typeface="Arial" pitchFamily="34" charset="0"/>
                <a:cs typeface="Arial" pitchFamily="34" charset="0"/>
              </a:rPr>
              <a:t/>
            </a:r>
            <a:br>
              <a:rPr lang="en-AU" sz="4000" dirty="0" smtClean="0">
                <a:solidFill>
                  <a:schemeClr val="bg1"/>
                </a:solidFill>
                <a:latin typeface="Arial" pitchFamily="34" charset="0"/>
                <a:cs typeface="Arial" pitchFamily="34" charset="0"/>
              </a:rPr>
            </a:br>
            <a:r>
              <a:rPr lang="en-AU" sz="2200" dirty="0" smtClean="0">
                <a:solidFill>
                  <a:schemeClr val="bg1"/>
                </a:solidFill>
                <a:latin typeface="Arial" pitchFamily="34" charset="0"/>
                <a:cs typeface="Arial" pitchFamily="34" charset="0"/>
              </a:rPr>
              <a:t>— use of democratic processes to make decisions</a:t>
            </a:r>
            <a:endParaRPr lang="en-AU" sz="2200" dirty="0">
              <a:solidFill>
                <a:schemeClr val="bg1"/>
              </a:solidFill>
              <a:latin typeface="Arial" pitchFamily="34" charset="0"/>
              <a:cs typeface="Arial" pitchFamily="34" charset="0"/>
            </a:endParaRPr>
          </a:p>
        </p:txBody>
      </p:sp>
    </p:spTree>
    <p:extLst>
      <p:ext uri="{BB962C8B-B14F-4D97-AF65-F5344CB8AC3E}">
        <p14:creationId xmlns:p14="http://schemas.microsoft.com/office/powerpoint/2010/main" val="203296941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p:cNvSpPr txBox="1"/>
          <p:nvPr/>
        </p:nvSpPr>
        <p:spPr>
          <a:xfrm>
            <a:off x="323528" y="2132856"/>
            <a:ext cx="4896543" cy="4185762"/>
          </a:xfrm>
          <a:prstGeom prst="rect">
            <a:avLst/>
          </a:prstGeom>
          <a:noFill/>
        </p:spPr>
        <p:txBody>
          <a:bodyPr wrap="square" rtlCol="0">
            <a:spAutoFit/>
          </a:bodyPr>
          <a:lstStyle/>
          <a:p>
            <a:pPr lvl="0">
              <a:spcBef>
                <a:spcPts val="600"/>
              </a:spcBef>
              <a:spcAft>
                <a:spcPts val="600"/>
              </a:spcAft>
            </a:pPr>
            <a:r>
              <a:rPr lang="en-AU" b="1" dirty="0" smtClean="0">
                <a:solidFill>
                  <a:prstClr val="black"/>
                </a:solidFill>
                <a:latin typeface="Arial" pitchFamily="34" charset="0"/>
                <a:cs typeface="Arial" pitchFamily="34" charset="0"/>
              </a:rPr>
              <a:t>Resolution of the dispute </a:t>
            </a:r>
            <a:endParaRPr lang="en-AU" dirty="0">
              <a:solidFill>
                <a:prstClr val="black"/>
              </a:solidFill>
              <a:latin typeface="Arial" pitchFamily="34" charset="0"/>
              <a:cs typeface="Arial" pitchFamily="34" charset="0"/>
            </a:endParaRPr>
          </a:p>
          <a:p>
            <a:pPr lvl="0">
              <a:spcBef>
                <a:spcPts val="600"/>
              </a:spcBef>
              <a:spcAft>
                <a:spcPts val="600"/>
              </a:spcAft>
            </a:pPr>
            <a:r>
              <a:rPr lang="en-AU" dirty="0" smtClean="0">
                <a:solidFill>
                  <a:prstClr val="black"/>
                </a:solidFill>
                <a:latin typeface="Arial" pitchFamily="34" charset="0"/>
                <a:cs typeface="Arial" pitchFamily="34" charset="0"/>
              </a:rPr>
              <a:t>The English parliament invited William and Mary of Orange to invade England.</a:t>
            </a:r>
            <a:endParaRPr lang="en-AU" dirty="0" smtClean="0">
              <a:solidFill>
                <a:srgbClr val="FF0000"/>
              </a:solidFill>
              <a:latin typeface="Arial" pitchFamily="34" charset="0"/>
              <a:cs typeface="Arial" pitchFamily="34" charset="0"/>
            </a:endParaRPr>
          </a:p>
          <a:p>
            <a:pPr lvl="0">
              <a:spcBef>
                <a:spcPts val="600"/>
              </a:spcBef>
              <a:spcAft>
                <a:spcPts val="600"/>
              </a:spcAft>
            </a:pPr>
            <a:r>
              <a:rPr lang="en-AU" b="1" dirty="0" smtClean="0">
                <a:solidFill>
                  <a:prstClr val="black"/>
                </a:solidFill>
                <a:latin typeface="Arial" pitchFamily="34" charset="0"/>
                <a:cs typeface="Arial" pitchFamily="34" charset="0"/>
              </a:rPr>
              <a:t>The importance of the solution </a:t>
            </a:r>
            <a:endParaRPr lang="en-AU" dirty="0">
              <a:solidFill>
                <a:prstClr val="black"/>
              </a:solidFill>
              <a:latin typeface="Arial" pitchFamily="34" charset="0"/>
              <a:cs typeface="Arial" pitchFamily="34" charset="0"/>
            </a:endParaRPr>
          </a:p>
          <a:p>
            <a:pPr marL="285750" lvl="0" indent="-285750">
              <a:spcBef>
                <a:spcPts val="600"/>
              </a:spcBef>
              <a:spcAft>
                <a:spcPts val="600"/>
              </a:spcAft>
              <a:buFont typeface="Arial" pitchFamily="34" charset="0"/>
              <a:buChar char="•"/>
            </a:pPr>
            <a:r>
              <a:rPr lang="en-AU" dirty="0" smtClean="0">
                <a:solidFill>
                  <a:prstClr val="black"/>
                </a:solidFill>
                <a:latin typeface="Arial" pitchFamily="34" charset="0"/>
                <a:cs typeface="Arial" pitchFamily="34" charset="0"/>
              </a:rPr>
              <a:t>King James II fled England, vacating the throne; parliament made a proclamation that England did not have a king.</a:t>
            </a:r>
          </a:p>
          <a:p>
            <a:pPr marL="285750" lvl="0" indent="-285750">
              <a:spcBef>
                <a:spcPts val="600"/>
              </a:spcBef>
              <a:spcAft>
                <a:spcPts val="600"/>
              </a:spcAft>
              <a:buFont typeface="Arial" pitchFamily="34" charset="0"/>
              <a:buChar char="•"/>
            </a:pPr>
            <a:r>
              <a:rPr lang="en-AU" dirty="0" smtClean="0">
                <a:solidFill>
                  <a:prstClr val="black"/>
                </a:solidFill>
                <a:latin typeface="Arial" pitchFamily="34" charset="0"/>
                <a:cs typeface="Arial" pitchFamily="34" charset="0"/>
              </a:rPr>
              <a:t>William and Mary of Orange were crowned king and queen of England.</a:t>
            </a:r>
          </a:p>
          <a:p>
            <a:pPr marL="285750" lvl="0" indent="-285750">
              <a:spcBef>
                <a:spcPts val="600"/>
              </a:spcBef>
              <a:spcAft>
                <a:spcPts val="600"/>
              </a:spcAft>
              <a:buFont typeface="Arial" pitchFamily="34" charset="0"/>
              <a:buChar char="•"/>
            </a:pPr>
            <a:r>
              <a:rPr lang="en-AU" dirty="0">
                <a:solidFill>
                  <a:prstClr val="black"/>
                </a:solidFill>
                <a:latin typeface="Arial" pitchFamily="34" charset="0"/>
                <a:cs typeface="Arial" pitchFamily="34" charset="0"/>
              </a:rPr>
              <a:t>T</a:t>
            </a:r>
            <a:r>
              <a:rPr lang="en-AU" dirty="0" smtClean="0">
                <a:solidFill>
                  <a:prstClr val="black"/>
                </a:solidFill>
                <a:latin typeface="Arial" pitchFamily="34" charset="0"/>
                <a:cs typeface="Arial" pitchFamily="34" charset="0"/>
              </a:rPr>
              <a:t>he roles of the monarchy and parliament were established, and this is now known as the Westminster system.</a:t>
            </a:r>
          </a:p>
        </p:txBody>
      </p:sp>
      <p:pic>
        <p:nvPicPr>
          <p:cNvPr id="2050" name="Picture 1"/>
          <p:cNvPicPr>
            <a:picLocks noChangeAspect="1" noChangeArrowheads="1"/>
          </p:cNvPicPr>
          <p:nvPr/>
        </p:nvPicPr>
        <p:blipFill>
          <a:blip r:embed="rId3" cstate="screen">
            <a:extLst>
              <a:ext uri="{28A0092B-C50C-407E-A947-70E740481C1C}">
                <a14:useLocalDpi xmlns:a14="http://schemas.microsoft.com/office/drawing/2010/main"/>
              </a:ext>
            </a:extLst>
          </a:blip>
          <a:stretch>
            <a:fillRect/>
          </a:stretch>
        </p:blipFill>
        <p:spPr bwMode="auto">
          <a:xfrm>
            <a:off x="5364088" y="2132856"/>
            <a:ext cx="3503545" cy="3096344"/>
          </a:xfrm>
          <a:prstGeom prst="rect">
            <a:avLst/>
          </a:prstGeom>
          <a:noFill/>
          <a:ln w="22225">
            <a:noFill/>
            <a:miter lim="800000"/>
            <a:headEnd/>
            <a:tailEnd/>
          </a:ln>
          <a:extLst>
            <a:ext uri="{909E8E84-426E-40DD-AFC4-6F175D3DCCD1}">
              <a14:hiddenFill xmlns:a14="http://schemas.microsoft.com/office/drawing/2010/main">
                <a:solidFill>
                  <a:srgbClr val="FFFFFF"/>
                </a:solidFill>
              </a14:hiddenFill>
            </a:ext>
          </a:extLst>
        </p:spPr>
      </p:pic>
      <p:sp>
        <p:nvSpPr>
          <p:cNvPr id="8" name="Title 1"/>
          <p:cNvSpPr txBox="1">
            <a:spLocks/>
          </p:cNvSpPr>
          <p:nvPr/>
        </p:nvSpPr>
        <p:spPr>
          <a:xfrm>
            <a:off x="287525" y="260648"/>
            <a:ext cx="8568951" cy="1714202"/>
          </a:xfrm>
          <a:prstGeom prst="rect">
            <a:avLst/>
          </a:prstGeom>
          <a:solidFill>
            <a:schemeClr val="accent4">
              <a:lumMod val="75000"/>
            </a:schemeClr>
          </a:solidFill>
        </p:spPr>
        <p:txBody>
          <a:bodyPr tIns="14400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lnSpc>
                <a:spcPct val="80000"/>
              </a:lnSpc>
              <a:spcBef>
                <a:spcPts val="0"/>
              </a:spcBef>
            </a:pPr>
            <a:r>
              <a:rPr lang="en-AU" dirty="0" smtClean="0">
                <a:solidFill>
                  <a:schemeClr val="bg1"/>
                </a:solidFill>
                <a:latin typeface="Arial" pitchFamily="34" charset="0"/>
                <a:cs typeface="Arial" pitchFamily="34" charset="0"/>
              </a:rPr>
              <a:t>1689–1694 </a:t>
            </a:r>
          </a:p>
          <a:p>
            <a:pPr algn="l">
              <a:spcBef>
                <a:spcPts val="600"/>
              </a:spcBef>
              <a:spcAft>
                <a:spcPts val="600"/>
              </a:spcAft>
            </a:pPr>
            <a:r>
              <a:rPr lang="en-AU" sz="2800" dirty="0" smtClean="0">
                <a:solidFill>
                  <a:schemeClr val="bg1"/>
                </a:solidFill>
                <a:latin typeface="Arial" pitchFamily="34" charset="0"/>
                <a:cs typeface="Arial" pitchFamily="34" charset="0"/>
              </a:rPr>
              <a:t>William III and Mary II hand control to parliament</a:t>
            </a:r>
          </a:p>
          <a:p>
            <a:pPr algn="l">
              <a:lnSpc>
                <a:spcPct val="80000"/>
              </a:lnSpc>
              <a:spcBef>
                <a:spcPts val="0"/>
              </a:spcBef>
            </a:pPr>
            <a:r>
              <a:rPr lang="en-AU" sz="2200" dirty="0" smtClean="0">
                <a:solidFill>
                  <a:schemeClr val="bg1"/>
                </a:solidFill>
                <a:latin typeface="Arial" pitchFamily="34" charset="0"/>
                <a:cs typeface="Arial" pitchFamily="34" charset="0"/>
              </a:rPr>
              <a:t>— use of democratic processes to make decisions</a:t>
            </a:r>
            <a:endParaRPr lang="en-AU" sz="2200" dirty="0">
              <a:solidFill>
                <a:schemeClr val="bg1"/>
              </a:solidFill>
              <a:latin typeface="Arial" pitchFamily="34" charset="0"/>
              <a:cs typeface="Arial" pitchFamily="34" charset="0"/>
            </a:endParaRPr>
          </a:p>
        </p:txBody>
      </p:sp>
    </p:spTree>
    <p:extLst>
      <p:ext uri="{BB962C8B-B14F-4D97-AF65-F5344CB8AC3E}">
        <p14:creationId xmlns:p14="http://schemas.microsoft.com/office/powerpoint/2010/main" val="55864986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741859" y="2060848"/>
            <a:ext cx="1590617" cy="646331"/>
          </a:xfrm>
          <a:prstGeom prst="rect">
            <a:avLst/>
          </a:prstGeom>
          <a:noFill/>
        </p:spPr>
        <p:txBody>
          <a:bodyPr wrap="square" rtlCol="0">
            <a:spAutoFit/>
          </a:bodyPr>
          <a:lstStyle/>
          <a:p>
            <a:endParaRPr lang="en-AU" dirty="0">
              <a:latin typeface="Arial" pitchFamily="34" charset="0"/>
              <a:cs typeface="Arial" pitchFamily="34" charset="0"/>
            </a:endParaRPr>
          </a:p>
          <a:p>
            <a:endParaRPr lang="en-AU" dirty="0">
              <a:latin typeface="Arial" pitchFamily="34" charset="0"/>
              <a:cs typeface="Arial" pitchFamily="34" charset="0"/>
            </a:endParaRPr>
          </a:p>
        </p:txBody>
      </p:sp>
      <p:pic>
        <p:nvPicPr>
          <p:cNvPr id="1026" name="Picture 8" descr="Description: http://www.peo.gov.au/uploads/peo/images/image-library/img-e76bc8f7da4fd2a311579bc08af9ef9a.jpg"/>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3459404" y="2203186"/>
            <a:ext cx="2473701" cy="1800200"/>
          </a:xfrm>
          <a:prstGeom prst="rect">
            <a:avLst/>
          </a:prstGeom>
          <a:noFill/>
          <a:ln>
            <a:noFill/>
          </a:ln>
          <a:extLst>
            <a:ext uri="{909E8E84-426E-40DD-AFC4-6F175D3DCCD1}">
              <a14:hiddenFill xmlns:a14="http://schemas.microsoft.com/office/drawing/2010/main">
                <a:solidFill>
                  <a:srgbClr val="FFFFFF"/>
                </a:solidFill>
              </a14:hiddenFill>
            </a:ext>
          </a:extLst>
        </p:spPr>
      </p:pic>
      <p:pic>
        <p:nvPicPr>
          <p:cNvPr id="11" name="Picture 7" descr="http://london-hotels.co.uk/blog/wp-content/uploads/2013/09/House_of_Commons_Chamber_Speakers_table.jpg"/>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287525" y="2203185"/>
            <a:ext cx="2948808" cy="1800200"/>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3" name="TextBox 2"/>
          <p:cNvSpPr txBox="1"/>
          <p:nvPr/>
        </p:nvSpPr>
        <p:spPr>
          <a:xfrm>
            <a:off x="323528" y="4221088"/>
            <a:ext cx="8321422" cy="1908215"/>
          </a:xfrm>
          <a:prstGeom prst="rect">
            <a:avLst/>
          </a:prstGeom>
          <a:noFill/>
        </p:spPr>
        <p:txBody>
          <a:bodyPr wrap="square" rtlCol="0">
            <a:spAutoFit/>
          </a:bodyPr>
          <a:lstStyle/>
          <a:p>
            <a:pPr>
              <a:spcAft>
                <a:spcPts val="600"/>
              </a:spcAft>
            </a:pPr>
            <a:r>
              <a:rPr lang="en-AU" dirty="0" smtClean="0">
                <a:latin typeface="Arial" pitchFamily="34" charset="0"/>
                <a:cs typeface="Arial" pitchFamily="34" charset="0"/>
              </a:rPr>
              <a:t>The Westminster system is based on a system of rules and procedures, which allows parliament </a:t>
            </a:r>
            <a:r>
              <a:rPr lang="en-AU" dirty="0" smtClean="0">
                <a:solidFill>
                  <a:srgbClr val="FF0000"/>
                </a:solidFill>
                <a:latin typeface="Arial" pitchFamily="34" charset="0"/>
                <a:cs typeface="Arial" pitchFamily="34" charset="0"/>
              </a:rPr>
              <a:t>to meet and make decisions on behalf of the people</a:t>
            </a:r>
            <a:r>
              <a:rPr lang="en-AU" dirty="0" smtClean="0">
                <a:latin typeface="Arial" pitchFamily="34" charset="0"/>
                <a:cs typeface="Arial" pitchFamily="34" charset="0"/>
              </a:rPr>
              <a:t>. </a:t>
            </a:r>
          </a:p>
          <a:p>
            <a:pPr>
              <a:spcAft>
                <a:spcPts val="600"/>
              </a:spcAft>
            </a:pPr>
            <a:r>
              <a:rPr lang="en-AU" dirty="0" smtClean="0">
                <a:latin typeface="Arial" pitchFamily="34" charset="0"/>
                <a:cs typeface="Arial" pitchFamily="34" charset="0"/>
              </a:rPr>
              <a:t>The Westminster system consists of a head of state and parliament. </a:t>
            </a:r>
          </a:p>
          <a:p>
            <a:pPr>
              <a:spcAft>
                <a:spcPts val="600"/>
              </a:spcAft>
            </a:pPr>
            <a:r>
              <a:rPr lang="en-AU" dirty="0" smtClean="0">
                <a:latin typeface="Arial" pitchFamily="34" charset="0"/>
                <a:cs typeface="Arial" pitchFamily="34" charset="0"/>
              </a:rPr>
              <a:t>Today, Queen Elizabeth II is Britain’s head of state. She has an important formal and ceremonial relationship with </a:t>
            </a:r>
            <a:r>
              <a:rPr lang="en-AU" dirty="0">
                <a:latin typeface="Arial" pitchFamily="34" charset="0"/>
                <a:cs typeface="Arial" pitchFamily="34" charset="0"/>
              </a:rPr>
              <a:t>p</a:t>
            </a:r>
            <a:r>
              <a:rPr lang="en-AU" dirty="0" smtClean="0">
                <a:latin typeface="Arial" pitchFamily="34" charset="0"/>
                <a:cs typeface="Arial" pitchFamily="34" charset="0"/>
              </a:rPr>
              <a:t>arliament. Queen Elizabeth’s royal assent is required to all acts of </a:t>
            </a:r>
            <a:r>
              <a:rPr lang="en-AU" dirty="0">
                <a:latin typeface="Arial" pitchFamily="34" charset="0"/>
                <a:cs typeface="Arial" pitchFamily="34" charset="0"/>
              </a:rPr>
              <a:t>p</a:t>
            </a:r>
            <a:r>
              <a:rPr lang="en-AU" dirty="0" smtClean="0">
                <a:latin typeface="Arial" pitchFamily="34" charset="0"/>
                <a:cs typeface="Arial" pitchFamily="34" charset="0"/>
              </a:rPr>
              <a:t>arliament for them to become law.</a:t>
            </a:r>
            <a:endParaRPr lang="en-AU" dirty="0">
              <a:latin typeface="Arial" pitchFamily="34" charset="0"/>
              <a:cs typeface="Arial" pitchFamily="34" charset="0"/>
            </a:endParaRPr>
          </a:p>
        </p:txBody>
      </p:sp>
      <p:pic>
        <p:nvPicPr>
          <p:cNvPr id="4" name="Picture 2" descr="G:\8047_C2C\Civics Citizenship\Years 5 and 6\untitled.bmp"/>
          <p:cNvPicPr>
            <a:picLocks noChangeAspect="1" noChangeArrowheads="1"/>
          </p:cNvPicPr>
          <p:nvPr/>
        </p:nvPicPr>
        <p:blipFill>
          <a:blip r:embed="rId5" cstate="screen">
            <a:extLst>
              <a:ext uri="{28A0092B-C50C-407E-A947-70E740481C1C}">
                <a14:useLocalDpi xmlns:a14="http://schemas.microsoft.com/office/drawing/2010/main"/>
              </a:ext>
            </a:extLst>
          </a:blip>
          <a:srcRect/>
          <a:stretch>
            <a:fillRect/>
          </a:stretch>
        </p:blipFill>
        <p:spPr bwMode="auto">
          <a:xfrm>
            <a:off x="6156176" y="2203186"/>
            <a:ext cx="2697421" cy="1801878"/>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12" name="Title 1"/>
          <p:cNvSpPr txBox="1">
            <a:spLocks/>
          </p:cNvSpPr>
          <p:nvPr/>
        </p:nvSpPr>
        <p:spPr>
          <a:xfrm>
            <a:off x="287525" y="260648"/>
            <a:ext cx="8568951" cy="1714202"/>
          </a:xfrm>
          <a:prstGeom prst="rect">
            <a:avLst/>
          </a:prstGeom>
          <a:solidFill>
            <a:schemeClr val="accent4">
              <a:lumMod val="75000"/>
            </a:schemeClr>
          </a:solidFill>
        </p:spPr>
        <p:txBody>
          <a:bodyPr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spcBef>
                <a:spcPts val="0"/>
              </a:spcBef>
              <a:spcAft>
                <a:spcPts val="600"/>
              </a:spcAft>
            </a:pPr>
            <a:r>
              <a:rPr lang="en-AU" dirty="0" smtClean="0">
                <a:solidFill>
                  <a:schemeClr val="bg1"/>
                </a:solidFill>
                <a:latin typeface="Arial" pitchFamily="34" charset="0"/>
                <a:cs typeface="Arial" pitchFamily="34" charset="0"/>
              </a:rPr>
              <a:t>Present</a:t>
            </a:r>
          </a:p>
          <a:p>
            <a:pPr algn="l">
              <a:spcBef>
                <a:spcPts val="0"/>
              </a:spcBef>
              <a:spcAft>
                <a:spcPts val="600"/>
              </a:spcAft>
            </a:pPr>
            <a:r>
              <a:rPr lang="en-AU" sz="2800" dirty="0" smtClean="0">
                <a:solidFill>
                  <a:schemeClr val="bg1"/>
                </a:solidFill>
                <a:latin typeface="Arial" pitchFamily="34" charset="0"/>
                <a:cs typeface="Arial" pitchFamily="34" charset="0"/>
              </a:rPr>
              <a:t>Parliament and a constitutional monarchy</a:t>
            </a:r>
            <a:br>
              <a:rPr lang="en-AU" sz="2800" dirty="0" smtClean="0">
                <a:solidFill>
                  <a:schemeClr val="bg1"/>
                </a:solidFill>
                <a:latin typeface="Arial" pitchFamily="34" charset="0"/>
                <a:cs typeface="Arial" pitchFamily="34" charset="0"/>
              </a:rPr>
            </a:br>
            <a:r>
              <a:rPr lang="en-AU" sz="2200" dirty="0" smtClean="0">
                <a:solidFill>
                  <a:schemeClr val="bg1"/>
                </a:solidFill>
                <a:latin typeface="Arial" pitchFamily="34" charset="0"/>
                <a:cs typeface="Arial" pitchFamily="34" charset="0"/>
              </a:rPr>
              <a:t>— use of democratic processes to make decisions</a:t>
            </a:r>
            <a:endParaRPr lang="en-AU" sz="2200" dirty="0">
              <a:solidFill>
                <a:schemeClr val="bg1"/>
              </a:solidFill>
              <a:latin typeface="Arial" pitchFamily="34" charset="0"/>
              <a:cs typeface="Arial" pitchFamily="34" charset="0"/>
            </a:endParaRPr>
          </a:p>
        </p:txBody>
      </p:sp>
    </p:spTree>
    <p:extLst>
      <p:ext uri="{BB962C8B-B14F-4D97-AF65-F5344CB8AC3E}">
        <p14:creationId xmlns:p14="http://schemas.microsoft.com/office/powerpoint/2010/main" val="96767399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p:nvPr/>
        </p:nvPicPr>
        <p:blipFill>
          <a:blip r:embed="rId3">
            <a:extLst>
              <a:ext uri="{28A0092B-C50C-407E-A947-70E740481C1C}">
                <a14:useLocalDpi xmlns:a14="http://schemas.microsoft.com/office/drawing/2010/main"/>
              </a:ext>
            </a:extLst>
          </a:blip>
          <a:srcRect/>
          <a:stretch>
            <a:fillRect/>
          </a:stretch>
        </p:blipFill>
        <p:spPr bwMode="auto">
          <a:xfrm>
            <a:off x="1010752" y="1988840"/>
            <a:ext cx="7122497" cy="1559062"/>
          </a:xfrm>
          <a:prstGeom prst="rect">
            <a:avLst/>
          </a:prstGeom>
          <a:noFill/>
          <a:ln w="19050">
            <a:noFill/>
            <a:miter lim="800000"/>
            <a:headEnd/>
            <a:tailEnd/>
          </a:ln>
          <a:extLst/>
        </p:spPr>
      </p:pic>
      <p:sp>
        <p:nvSpPr>
          <p:cNvPr id="11" name="TextBox 10"/>
          <p:cNvSpPr txBox="1"/>
          <p:nvPr/>
        </p:nvSpPr>
        <p:spPr>
          <a:xfrm>
            <a:off x="431540" y="4005064"/>
            <a:ext cx="8280920" cy="2262158"/>
          </a:xfrm>
          <a:prstGeom prst="rect">
            <a:avLst/>
          </a:prstGeom>
          <a:noFill/>
        </p:spPr>
        <p:txBody>
          <a:bodyPr wrap="square" rtlCol="0">
            <a:spAutoFit/>
          </a:bodyPr>
          <a:lstStyle/>
          <a:p>
            <a:pPr>
              <a:spcAft>
                <a:spcPts val="600"/>
              </a:spcAft>
            </a:pPr>
            <a:r>
              <a:rPr lang="en-AU" dirty="0" smtClean="0">
                <a:latin typeface="Arial" pitchFamily="34" charset="0"/>
                <a:cs typeface="Arial" pitchFamily="34" charset="0"/>
              </a:rPr>
              <a:t>Australia’s system of government is based on the Westminster system. </a:t>
            </a:r>
          </a:p>
          <a:p>
            <a:pPr>
              <a:spcAft>
                <a:spcPts val="600"/>
              </a:spcAft>
            </a:pPr>
            <a:r>
              <a:rPr lang="en-AU" dirty="0" smtClean="0">
                <a:latin typeface="Arial" pitchFamily="34" charset="0"/>
                <a:cs typeface="Arial" pitchFamily="34" charset="0"/>
              </a:rPr>
              <a:t>Queen Elizabeth II is Australia’s </a:t>
            </a:r>
            <a:r>
              <a:rPr lang="en-AU" b="1" dirty="0" smtClean="0">
                <a:solidFill>
                  <a:srgbClr val="FF0000"/>
                </a:solidFill>
                <a:latin typeface="Arial" pitchFamily="34" charset="0"/>
                <a:cs typeface="Arial" pitchFamily="34" charset="0"/>
              </a:rPr>
              <a:t>constitutional monarch </a:t>
            </a:r>
            <a:r>
              <a:rPr lang="en-AU" dirty="0" smtClean="0">
                <a:latin typeface="Arial" pitchFamily="34" charset="0"/>
                <a:cs typeface="Arial" pitchFamily="34" charset="0"/>
              </a:rPr>
              <a:t>because Australia is part of the Commonwealth of Nations. </a:t>
            </a:r>
          </a:p>
          <a:p>
            <a:pPr>
              <a:spcAft>
                <a:spcPts val="600"/>
              </a:spcAft>
            </a:pPr>
            <a:r>
              <a:rPr lang="en-AU" dirty="0" smtClean="0">
                <a:latin typeface="Arial" pitchFamily="34" charset="0"/>
                <a:cs typeface="Arial" pitchFamily="34" charset="0"/>
              </a:rPr>
              <a:t>When in Australia, the Queen attends the opening of parliament in the Senate. </a:t>
            </a:r>
          </a:p>
          <a:p>
            <a:pPr>
              <a:spcAft>
                <a:spcPts val="600"/>
              </a:spcAft>
            </a:pPr>
            <a:r>
              <a:rPr lang="en-AU" dirty="0" smtClean="0">
                <a:latin typeface="Arial" pitchFamily="34" charset="0"/>
                <a:cs typeface="Arial" pitchFamily="34" charset="0"/>
              </a:rPr>
              <a:t>It is impractical for the Queen Elizabeth II to give her </a:t>
            </a:r>
            <a:r>
              <a:rPr lang="en-AU" dirty="0">
                <a:latin typeface="Arial" pitchFamily="34" charset="0"/>
                <a:cs typeface="Arial" pitchFamily="34" charset="0"/>
              </a:rPr>
              <a:t>r</a:t>
            </a:r>
            <a:r>
              <a:rPr lang="en-AU" dirty="0" smtClean="0">
                <a:latin typeface="Arial" pitchFamily="34" charset="0"/>
                <a:cs typeface="Arial" pitchFamily="34" charset="0"/>
              </a:rPr>
              <a:t>oyal assent for acts of parliament passed in Australia, so a Governor-General has been appointed to fulfil this role. The current Governor-General is Sir Peter Cosgrove.</a:t>
            </a:r>
            <a:endParaRPr lang="en-AU" dirty="0">
              <a:latin typeface="Arial" pitchFamily="34" charset="0"/>
              <a:cs typeface="Arial" pitchFamily="34" charset="0"/>
            </a:endParaRPr>
          </a:p>
        </p:txBody>
      </p:sp>
      <p:sp>
        <p:nvSpPr>
          <p:cNvPr id="4" name="TextBox 3"/>
          <p:cNvSpPr txBox="1"/>
          <p:nvPr/>
        </p:nvSpPr>
        <p:spPr>
          <a:xfrm>
            <a:off x="1043608" y="3573016"/>
            <a:ext cx="6423070" cy="215444"/>
          </a:xfrm>
          <a:prstGeom prst="rect">
            <a:avLst/>
          </a:prstGeom>
          <a:noFill/>
        </p:spPr>
        <p:txBody>
          <a:bodyPr wrap="square" rtlCol="0">
            <a:spAutoFit/>
          </a:bodyPr>
          <a:lstStyle/>
          <a:p>
            <a:r>
              <a:rPr lang="en-AU" sz="800" dirty="0">
                <a:solidFill>
                  <a:schemeClr val="tx1">
                    <a:lumMod val="50000"/>
                    <a:lumOff val="50000"/>
                  </a:schemeClr>
                </a:solidFill>
                <a:latin typeface="Arial" pitchFamily="34" charset="0"/>
                <a:cs typeface="Arial" pitchFamily="34" charset="0"/>
              </a:rPr>
              <a:t>Parliamentary Education </a:t>
            </a:r>
            <a:r>
              <a:rPr lang="en-AU" sz="800" dirty="0" smtClean="0">
                <a:solidFill>
                  <a:schemeClr val="tx1">
                    <a:lumMod val="50000"/>
                    <a:lumOff val="50000"/>
                  </a:schemeClr>
                </a:solidFill>
                <a:latin typeface="Arial" pitchFamily="34" charset="0"/>
                <a:cs typeface="Arial" pitchFamily="34" charset="0"/>
              </a:rPr>
              <a:t>Office (www.peo.gov.au) CC </a:t>
            </a:r>
            <a:r>
              <a:rPr lang="en-AU" sz="800" dirty="0">
                <a:solidFill>
                  <a:schemeClr val="tx1">
                    <a:lumMod val="50000"/>
                    <a:lumOff val="50000"/>
                  </a:schemeClr>
                </a:solidFill>
                <a:latin typeface="Arial" pitchFamily="34" charset="0"/>
                <a:cs typeface="Arial" pitchFamily="34" charset="0"/>
              </a:rPr>
              <a:t>BY-NC-ND </a:t>
            </a:r>
            <a:r>
              <a:rPr lang="en-AU" sz="800" dirty="0" smtClean="0">
                <a:solidFill>
                  <a:schemeClr val="tx1">
                    <a:lumMod val="50000"/>
                    <a:lumOff val="50000"/>
                  </a:schemeClr>
                </a:solidFill>
                <a:latin typeface="Arial" pitchFamily="34" charset="0"/>
                <a:cs typeface="Arial" pitchFamily="34" charset="0"/>
              </a:rPr>
              <a:t>3.0 http</a:t>
            </a:r>
            <a:r>
              <a:rPr lang="en-AU" sz="800" dirty="0">
                <a:solidFill>
                  <a:schemeClr val="tx1">
                    <a:lumMod val="50000"/>
                    <a:lumOff val="50000"/>
                  </a:schemeClr>
                </a:solidFill>
                <a:latin typeface="Arial" pitchFamily="34" charset="0"/>
                <a:cs typeface="Arial" pitchFamily="34" charset="0"/>
              </a:rPr>
              <a:t>://creativecommons.org/licenses/by-nc-nd/3.0/</a:t>
            </a:r>
          </a:p>
        </p:txBody>
      </p:sp>
      <p:sp>
        <p:nvSpPr>
          <p:cNvPr id="12" name="Title 1"/>
          <p:cNvSpPr txBox="1">
            <a:spLocks/>
          </p:cNvSpPr>
          <p:nvPr/>
        </p:nvSpPr>
        <p:spPr>
          <a:xfrm>
            <a:off x="287525" y="260648"/>
            <a:ext cx="8568951" cy="1512590"/>
          </a:xfrm>
          <a:prstGeom prst="rect">
            <a:avLst/>
          </a:prstGeom>
          <a:solidFill>
            <a:schemeClr val="accent4">
              <a:lumMod val="75000"/>
            </a:schemeClr>
          </a:solidFill>
        </p:spPr>
        <p:txBody>
          <a:bodyPr tIns="32400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spcBef>
                <a:spcPts val="1200"/>
              </a:spcBef>
            </a:pPr>
            <a:r>
              <a:rPr lang="en-AU" dirty="0">
                <a:solidFill>
                  <a:schemeClr val="bg1"/>
                </a:solidFill>
                <a:latin typeface="Arial" pitchFamily="34" charset="0"/>
                <a:cs typeface="Arial" pitchFamily="34" charset="0"/>
              </a:rPr>
              <a:t>Present</a:t>
            </a:r>
            <a:endParaRPr lang="en-AU" dirty="0" smtClean="0">
              <a:solidFill>
                <a:schemeClr val="bg1"/>
              </a:solidFill>
              <a:latin typeface="Arial" pitchFamily="34" charset="0"/>
              <a:cs typeface="Arial" pitchFamily="34" charset="0"/>
            </a:endParaRPr>
          </a:p>
          <a:p>
            <a:pPr algn="l">
              <a:spcBef>
                <a:spcPts val="600"/>
              </a:spcBef>
            </a:pPr>
            <a:r>
              <a:rPr lang="en-AU" sz="3600" dirty="0" smtClean="0">
                <a:solidFill>
                  <a:schemeClr val="bg1"/>
                </a:solidFill>
                <a:latin typeface="Arial" pitchFamily="34" charset="0"/>
                <a:cs typeface="Arial" pitchFamily="34" charset="0"/>
              </a:rPr>
              <a:t>Australia’s parliamentary government</a:t>
            </a:r>
            <a:r>
              <a:rPr lang="en-AU" sz="4000" dirty="0" smtClean="0">
                <a:solidFill>
                  <a:schemeClr val="bg1"/>
                </a:solidFill>
                <a:latin typeface="Arial" pitchFamily="34" charset="0"/>
                <a:cs typeface="Arial" pitchFamily="34" charset="0"/>
              </a:rPr>
              <a:t/>
            </a:r>
            <a:br>
              <a:rPr lang="en-AU" sz="4000" dirty="0" smtClean="0">
                <a:solidFill>
                  <a:schemeClr val="bg1"/>
                </a:solidFill>
                <a:latin typeface="Arial" pitchFamily="34" charset="0"/>
                <a:cs typeface="Arial" pitchFamily="34" charset="0"/>
              </a:rPr>
            </a:br>
            <a:endParaRPr lang="en-AU" sz="2200" dirty="0">
              <a:solidFill>
                <a:schemeClr val="bg1"/>
              </a:solidFill>
              <a:latin typeface="Arial" pitchFamily="34" charset="0"/>
              <a:cs typeface="Arial" pitchFamily="34" charset="0"/>
            </a:endParaRPr>
          </a:p>
        </p:txBody>
      </p:sp>
    </p:spTree>
    <p:extLst>
      <p:ext uri="{BB962C8B-B14F-4D97-AF65-F5344CB8AC3E}">
        <p14:creationId xmlns:p14="http://schemas.microsoft.com/office/powerpoint/2010/main" val="3402973886"/>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251520" y="260648"/>
            <a:ext cx="8640960" cy="6048672"/>
          </a:xfrm>
          <a:prstGeom prst="rect">
            <a:avLst/>
          </a:prstGeom>
        </p:spPr>
        <p:txBody>
          <a:bodyPr>
            <a:noAutofit/>
          </a:bodyPr>
          <a:lstStyle/>
          <a:p>
            <a:pPr marL="0" indent="0">
              <a:buNone/>
            </a:pPr>
            <a:r>
              <a:rPr lang="en-AU" sz="1600" b="1" dirty="0" smtClean="0">
                <a:latin typeface="Arial"/>
                <a:cs typeface="Arial"/>
              </a:rPr>
              <a:t>Attributions</a:t>
            </a:r>
          </a:p>
          <a:p>
            <a:pPr marL="0" indent="0">
              <a:spcBef>
                <a:spcPts val="300"/>
              </a:spcBef>
              <a:buNone/>
            </a:pPr>
            <a:r>
              <a:rPr lang="en-AU" sz="1100" b="1" dirty="0" smtClean="0">
                <a:latin typeface="Arial" pitchFamily="34" charset="0"/>
                <a:cs typeface="Arial" pitchFamily="34" charset="0"/>
              </a:rPr>
              <a:t>Slide </a:t>
            </a:r>
            <a:r>
              <a:rPr lang="en-AU" sz="1100" b="1" dirty="0" smtClean="0">
                <a:latin typeface="Arial" pitchFamily="34" charset="0"/>
                <a:cs typeface="Arial" pitchFamily="34" charset="0"/>
              </a:rPr>
              <a:t>3:</a:t>
            </a:r>
            <a:r>
              <a:rPr lang="en-AU" sz="1100" dirty="0" smtClean="0">
                <a:latin typeface="Arial" pitchFamily="34" charset="0"/>
                <a:cs typeface="Arial" pitchFamily="34" charset="0"/>
              </a:rPr>
              <a:t> </a:t>
            </a:r>
            <a:endParaRPr lang="en-AU" sz="1100" dirty="0" smtClean="0">
              <a:latin typeface="Arial" pitchFamily="34" charset="0"/>
              <a:cs typeface="Arial" pitchFamily="34" charset="0"/>
            </a:endParaRPr>
          </a:p>
          <a:p>
            <a:pPr marL="0" indent="0">
              <a:spcBef>
                <a:spcPts val="0"/>
              </a:spcBef>
              <a:buNone/>
            </a:pPr>
            <a:r>
              <a:rPr lang="en-AU" sz="1100" i="1" dirty="0" smtClean="0">
                <a:latin typeface="Arial" pitchFamily="34" charset="0"/>
                <a:cs typeface="Arial" pitchFamily="34" charset="0"/>
              </a:rPr>
              <a:t>King </a:t>
            </a:r>
            <a:r>
              <a:rPr lang="en-AU" sz="1100" i="1" dirty="0" smtClean="0">
                <a:latin typeface="Arial" pitchFamily="34" charset="0"/>
                <a:cs typeface="Arial" pitchFamily="34" charset="0"/>
              </a:rPr>
              <a:t>John I </a:t>
            </a:r>
            <a:r>
              <a:rPr lang="en-AU" sz="1100" dirty="0">
                <a:latin typeface="Arial" panose="020B0604020202020204" pitchFamily="34" charset="0"/>
                <a:cs typeface="Arial" panose="020B0604020202020204" pitchFamily="34" charset="0"/>
              </a:rPr>
              <a:t>http://commons.wikimedia.org/wiki/File:John,_Magna_Carta.jpg</a:t>
            </a:r>
            <a:endParaRPr lang="en-AU" sz="1100" dirty="0" smtClean="0">
              <a:latin typeface="Arial" pitchFamily="34" charset="0"/>
              <a:cs typeface="Arial" pitchFamily="34" charset="0"/>
            </a:endParaRPr>
          </a:p>
          <a:p>
            <a:pPr marL="0" indent="0">
              <a:spcBef>
                <a:spcPts val="300"/>
              </a:spcBef>
              <a:buNone/>
            </a:pPr>
            <a:r>
              <a:rPr lang="en-AU" sz="1100" b="1" dirty="0" smtClean="0">
                <a:latin typeface="Arial" pitchFamily="34" charset="0"/>
                <a:cs typeface="Arial" pitchFamily="34" charset="0"/>
              </a:rPr>
              <a:t>Slide 6:</a:t>
            </a:r>
            <a:r>
              <a:rPr lang="en-AU" sz="1100" dirty="0" smtClean="0">
                <a:latin typeface="Arial" pitchFamily="34" charset="0"/>
                <a:cs typeface="Arial" pitchFamily="34" charset="0"/>
              </a:rPr>
              <a:t> </a:t>
            </a:r>
            <a:endParaRPr lang="en-AU" sz="1100" dirty="0" smtClean="0">
              <a:latin typeface="Arial" pitchFamily="34" charset="0"/>
              <a:cs typeface="Arial" pitchFamily="34" charset="0"/>
            </a:endParaRPr>
          </a:p>
          <a:p>
            <a:pPr marL="0" indent="0">
              <a:spcBef>
                <a:spcPts val="0"/>
              </a:spcBef>
              <a:buNone/>
            </a:pPr>
            <a:r>
              <a:rPr lang="en-AU" sz="1100" i="1" dirty="0" smtClean="0">
                <a:latin typeface="Arial" pitchFamily="34" charset="0"/>
                <a:cs typeface="Arial" pitchFamily="34" charset="0"/>
              </a:rPr>
              <a:t>Parliament </a:t>
            </a:r>
            <a:r>
              <a:rPr lang="en-AU" sz="1100" i="1" dirty="0">
                <a:latin typeface="Arial" pitchFamily="34" charset="0"/>
                <a:cs typeface="Arial" pitchFamily="34" charset="0"/>
              </a:rPr>
              <a:t>vs monarch - unit of work </a:t>
            </a:r>
            <a:r>
              <a:rPr lang="en-AU" sz="1100" dirty="0">
                <a:latin typeface="Arial" pitchFamily="34" charset="0"/>
                <a:cs typeface="Arial" pitchFamily="34" charset="0"/>
              </a:rPr>
              <a:t>© Commonwealth of Australia </a:t>
            </a:r>
            <a:r>
              <a:rPr lang="en-AU" sz="1100" dirty="0" smtClean="0">
                <a:latin typeface="Arial" pitchFamily="34" charset="0"/>
                <a:cs typeface="Arial" pitchFamily="34" charset="0"/>
              </a:rPr>
              <a:t>(</a:t>
            </a:r>
            <a:r>
              <a:rPr lang="en-AU" sz="1100" dirty="0">
                <a:latin typeface="Arial" pitchFamily="34" charset="0"/>
                <a:cs typeface="Arial" pitchFamily="34" charset="0"/>
              </a:rPr>
              <a:t>TLF M009555) </a:t>
            </a:r>
            <a:r>
              <a:rPr lang="en-AU" sz="1100" dirty="0" smtClean="0">
                <a:latin typeface="Arial" pitchFamily="34" charset="0"/>
                <a:cs typeface="Arial" pitchFamily="34" charset="0"/>
              </a:rPr>
              <a:t>CC </a:t>
            </a:r>
            <a:r>
              <a:rPr lang="en-AU" sz="1100" dirty="0">
                <a:latin typeface="Arial" pitchFamily="34" charset="0"/>
                <a:cs typeface="Arial" pitchFamily="34" charset="0"/>
              </a:rPr>
              <a:t>BY-SA </a:t>
            </a:r>
            <a:r>
              <a:rPr lang="en-AU" sz="1100" dirty="0" smtClean="0">
                <a:latin typeface="Arial" pitchFamily="34" charset="0"/>
                <a:cs typeface="Arial" pitchFamily="34" charset="0"/>
              </a:rPr>
              <a:t>creativecommons.org/licenses/by-</a:t>
            </a:r>
            <a:r>
              <a:rPr lang="en-AU" sz="1100" dirty="0" err="1" smtClean="0">
                <a:latin typeface="Arial" pitchFamily="34" charset="0"/>
                <a:cs typeface="Arial" pitchFamily="34" charset="0"/>
              </a:rPr>
              <a:t>sa</a:t>
            </a:r>
            <a:r>
              <a:rPr lang="en-AU" sz="1100" dirty="0" smtClean="0">
                <a:latin typeface="Arial" pitchFamily="34" charset="0"/>
                <a:cs typeface="Arial" pitchFamily="34" charset="0"/>
              </a:rPr>
              <a:t>/3.0/au/</a:t>
            </a:r>
          </a:p>
          <a:p>
            <a:pPr marL="0" indent="0">
              <a:spcBef>
                <a:spcPts val="300"/>
              </a:spcBef>
              <a:buNone/>
            </a:pPr>
            <a:r>
              <a:rPr lang="en-AU" sz="1100" b="1" dirty="0" smtClean="0">
                <a:latin typeface="Arial" pitchFamily="34" charset="0"/>
                <a:cs typeface="Arial" pitchFamily="34" charset="0"/>
              </a:rPr>
              <a:t>Slides 7, 10 and 11 </a:t>
            </a:r>
            <a:endParaRPr lang="en-AU" sz="1100" b="1" dirty="0" smtClean="0">
              <a:latin typeface="Arial" pitchFamily="34" charset="0"/>
              <a:cs typeface="Arial" pitchFamily="34" charset="0"/>
            </a:endParaRPr>
          </a:p>
          <a:p>
            <a:pPr marL="0" indent="0">
              <a:spcBef>
                <a:spcPts val="0"/>
              </a:spcBef>
              <a:buNone/>
            </a:pPr>
            <a:r>
              <a:rPr lang="en-AU" sz="1100" i="1" dirty="0" smtClean="0">
                <a:latin typeface="Arial" pitchFamily="34" charset="0"/>
                <a:cs typeface="Arial" pitchFamily="34" charset="0"/>
              </a:rPr>
              <a:t>King </a:t>
            </a:r>
            <a:r>
              <a:rPr lang="en-AU" sz="1100" i="1" dirty="0" smtClean="0">
                <a:latin typeface="Arial" pitchFamily="34" charset="0"/>
                <a:cs typeface="Arial" pitchFamily="34" charset="0"/>
              </a:rPr>
              <a:t>Charles I, </a:t>
            </a:r>
            <a:r>
              <a:rPr lang="en-AU" sz="1100" dirty="0" smtClean="0">
                <a:latin typeface="Arial" pitchFamily="34" charset="0"/>
                <a:cs typeface="Arial" pitchFamily="34" charset="0"/>
              </a:rPr>
              <a:t>Royal </a:t>
            </a:r>
            <a:r>
              <a:rPr lang="en-AU" sz="1100" dirty="0">
                <a:latin typeface="Arial" pitchFamily="34" charset="0"/>
                <a:cs typeface="Arial" pitchFamily="34" charset="0"/>
              </a:rPr>
              <a:t>Collection Trust/© Her Majesty Queen Elizabeth II </a:t>
            </a:r>
            <a:r>
              <a:rPr lang="en-AU" sz="1100" dirty="0" smtClean="0">
                <a:latin typeface="Arial" pitchFamily="34" charset="0"/>
                <a:cs typeface="Arial" pitchFamily="34" charset="0"/>
              </a:rPr>
              <a:t>2014. Used with Permission.</a:t>
            </a:r>
          </a:p>
          <a:p>
            <a:pPr marL="0" indent="0">
              <a:spcBef>
                <a:spcPts val="300"/>
              </a:spcBef>
              <a:buNone/>
            </a:pPr>
            <a:r>
              <a:rPr lang="en-AU" sz="1100" b="1" dirty="0" smtClean="0">
                <a:latin typeface="Arial" pitchFamily="34" charset="0"/>
                <a:cs typeface="Arial" pitchFamily="34" charset="0"/>
              </a:rPr>
              <a:t>Slide 9:</a:t>
            </a:r>
            <a:r>
              <a:rPr lang="en-AU" sz="1100" dirty="0" smtClean="0">
                <a:latin typeface="Arial" pitchFamily="34" charset="0"/>
                <a:cs typeface="Arial" pitchFamily="34" charset="0"/>
              </a:rPr>
              <a:t> </a:t>
            </a:r>
            <a:endParaRPr lang="en-AU" sz="1100" dirty="0" smtClean="0">
              <a:latin typeface="Arial" pitchFamily="34" charset="0"/>
              <a:cs typeface="Arial" pitchFamily="34" charset="0"/>
            </a:endParaRPr>
          </a:p>
          <a:p>
            <a:pPr marL="0" indent="0">
              <a:spcBef>
                <a:spcPts val="0"/>
              </a:spcBef>
              <a:buNone/>
            </a:pPr>
            <a:r>
              <a:rPr lang="en-AU" sz="1100" dirty="0" smtClean="0">
                <a:latin typeface="Arial" pitchFamily="34" charset="0"/>
                <a:cs typeface="Arial" pitchFamily="34" charset="0"/>
              </a:rPr>
              <a:t>Oliver </a:t>
            </a:r>
            <a:r>
              <a:rPr lang="en-AU" sz="1100" dirty="0" smtClean="0">
                <a:latin typeface="Arial" pitchFamily="34" charset="0"/>
                <a:cs typeface="Arial" pitchFamily="34" charset="0"/>
              </a:rPr>
              <a:t>Cromwell </a:t>
            </a:r>
            <a:r>
              <a:rPr lang="en-AU" sz="1100" dirty="0">
                <a:latin typeface="Arial" pitchFamily="34" charset="0"/>
                <a:cs typeface="Arial" pitchFamily="34" charset="0"/>
              </a:rPr>
              <a:t>© </a:t>
            </a:r>
            <a:r>
              <a:rPr lang="en-AU" sz="1100" dirty="0" smtClean="0">
                <a:latin typeface="Arial" panose="020B0604020202020204" pitchFamily="34" charset="0"/>
                <a:cs typeface="Arial" panose="020B0604020202020204" pitchFamily="34" charset="0"/>
              </a:rPr>
              <a:t>National </a:t>
            </a:r>
            <a:r>
              <a:rPr lang="en-AU" sz="1100" dirty="0">
                <a:latin typeface="Arial" panose="020B0604020202020204" pitchFamily="34" charset="0"/>
                <a:cs typeface="Arial" panose="020B0604020202020204" pitchFamily="34" charset="0"/>
              </a:rPr>
              <a:t>Portrait Gallery, London</a:t>
            </a:r>
            <a:r>
              <a:rPr lang="en-AU" sz="1100" dirty="0" smtClean="0">
                <a:latin typeface="Arial" panose="020B0604020202020204" pitchFamily="34" charset="0"/>
                <a:cs typeface="Arial" panose="020B0604020202020204" pitchFamily="34" charset="0"/>
              </a:rPr>
              <a:t>. </a:t>
            </a:r>
            <a:r>
              <a:rPr lang="en-AU" sz="1100" dirty="0">
                <a:latin typeface="Arial" panose="020B0604020202020204" pitchFamily="34" charset="0"/>
                <a:cs typeface="Arial" panose="020B0604020202020204" pitchFamily="34" charset="0"/>
              </a:rPr>
              <a:t>CC BY-NC-ND </a:t>
            </a:r>
            <a:r>
              <a:rPr lang="en-AU" sz="1100" dirty="0" smtClean="0">
                <a:latin typeface="Arial" panose="020B0604020202020204" pitchFamily="34" charset="0"/>
                <a:cs typeface="Arial" panose="020B0604020202020204" pitchFamily="34" charset="0"/>
              </a:rPr>
              <a:t>creativecommons.org/licenses/by-</a:t>
            </a:r>
            <a:r>
              <a:rPr lang="en-AU" sz="1100" dirty="0" err="1" smtClean="0">
                <a:latin typeface="Arial" panose="020B0604020202020204" pitchFamily="34" charset="0"/>
                <a:cs typeface="Arial" panose="020B0604020202020204" pitchFamily="34" charset="0"/>
              </a:rPr>
              <a:t>nc</a:t>
            </a:r>
            <a:r>
              <a:rPr lang="en-AU" sz="1100" dirty="0" smtClean="0">
                <a:latin typeface="Arial" panose="020B0604020202020204" pitchFamily="34" charset="0"/>
                <a:cs typeface="Arial" panose="020B0604020202020204" pitchFamily="34" charset="0"/>
              </a:rPr>
              <a:t>-</a:t>
            </a:r>
            <a:r>
              <a:rPr lang="en-AU" sz="1100" dirty="0" err="1" smtClean="0">
                <a:latin typeface="Arial" panose="020B0604020202020204" pitchFamily="34" charset="0"/>
                <a:cs typeface="Arial" panose="020B0604020202020204" pitchFamily="34" charset="0"/>
              </a:rPr>
              <a:t>nd</a:t>
            </a:r>
            <a:r>
              <a:rPr lang="en-AU" sz="1100" dirty="0" smtClean="0">
                <a:latin typeface="Arial" panose="020B0604020202020204" pitchFamily="34" charset="0"/>
                <a:cs typeface="Arial" panose="020B0604020202020204" pitchFamily="34" charset="0"/>
              </a:rPr>
              <a:t>/</a:t>
            </a:r>
          </a:p>
          <a:p>
            <a:pPr marL="0" indent="0">
              <a:spcBef>
                <a:spcPts val="300"/>
              </a:spcBef>
              <a:buNone/>
            </a:pPr>
            <a:r>
              <a:rPr lang="en-AU" sz="1100" b="1" dirty="0">
                <a:latin typeface="Arial" pitchFamily="34" charset="0"/>
                <a:cs typeface="Arial" pitchFamily="34" charset="0"/>
              </a:rPr>
              <a:t>Slide </a:t>
            </a:r>
            <a:r>
              <a:rPr lang="en-AU" sz="1100" b="1" dirty="0" smtClean="0">
                <a:latin typeface="Arial" pitchFamily="34" charset="0"/>
                <a:cs typeface="Arial" pitchFamily="34" charset="0"/>
              </a:rPr>
              <a:t>10:</a:t>
            </a:r>
            <a:r>
              <a:rPr lang="en-AU" sz="1100" dirty="0" smtClean="0">
                <a:latin typeface="Arial" pitchFamily="34" charset="0"/>
                <a:cs typeface="Arial" pitchFamily="34" charset="0"/>
              </a:rPr>
              <a:t> </a:t>
            </a:r>
            <a:endParaRPr lang="en-AU" sz="1100" dirty="0" smtClean="0">
              <a:latin typeface="Arial" pitchFamily="34" charset="0"/>
              <a:cs typeface="Arial" pitchFamily="34" charset="0"/>
            </a:endParaRPr>
          </a:p>
          <a:p>
            <a:pPr marL="0" indent="0">
              <a:spcBef>
                <a:spcPts val="0"/>
              </a:spcBef>
              <a:buNone/>
            </a:pPr>
            <a:r>
              <a:rPr lang="en-AU" sz="1100" i="1" dirty="0" smtClean="0">
                <a:latin typeface="Arial" pitchFamily="34" charset="0"/>
                <a:cs typeface="Arial" pitchFamily="34" charset="0"/>
              </a:rPr>
              <a:t>King </a:t>
            </a:r>
            <a:r>
              <a:rPr lang="en-AU" sz="1100" i="1" dirty="0">
                <a:latin typeface="Arial" pitchFamily="34" charset="0"/>
                <a:cs typeface="Arial" pitchFamily="34" charset="0"/>
              </a:rPr>
              <a:t>Charles II, </a:t>
            </a:r>
            <a:r>
              <a:rPr lang="en-AU" sz="1100" dirty="0" smtClean="0">
                <a:latin typeface="Arial" pitchFamily="34" charset="0"/>
                <a:cs typeface="Arial" pitchFamily="34" charset="0"/>
              </a:rPr>
              <a:t>Royal </a:t>
            </a:r>
            <a:r>
              <a:rPr lang="en-AU" sz="1100" dirty="0">
                <a:latin typeface="Arial" pitchFamily="34" charset="0"/>
                <a:cs typeface="Arial" pitchFamily="34" charset="0"/>
              </a:rPr>
              <a:t>Collection Trust/© Her Majesty Queen Elizabeth II 2014. Used with Permission.</a:t>
            </a:r>
          </a:p>
          <a:p>
            <a:pPr marL="0" indent="0">
              <a:spcBef>
                <a:spcPts val="300"/>
              </a:spcBef>
              <a:buNone/>
            </a:pPr>
            <a:r>
              <a:rPr lang="en-AU" sz="1100" b="1" dirty="0" smtClean="0">
                <a:latin typeface="Arial" pitchFamily="34" charset="0"/>
                <a:cs typeface="Arial" pitchFamily="34" charset="0"/>
              </a:rPr>
              <a:t>Slide 11:</a:t>
            </a:r>
            <a:r>
              <a:rPr lang="en-AU" sz="1100" dirty="0" smtClean="0">
                <a:latin typeface="Arial" pitchFamily="34" charset="0"/>
                <a:cs typeface="Arial" pitchFamily="34" charset="0"/>
              </a:rPr>
              <a:t> </a:t>
            </a:r>
            <a:endParaRPr lang="en-AU" sz="1100" dirty="0" smtClean="0">
              <a:latin typeface="Arial" pitchFamily="34" charset="0"/>
              <a:cs typeface="Arial" pitchFamily="34" charset="0"/>
            </a:endParaRPr>
          </a:p>
          <a:p>
            <a:pPr marL="0" indent="0">
              <a:spcBef>
                <a:spcPts val="0"/>
              </a:spcBef>
              <a:buNone/>
            </a:pPr>
            <a:r>
              <a:rPr lang="en-AU" sz="1100" i="1" dirty="0" smtClean="0">
                <a:latin typeface="Arial" pitchFamily="34" charset="0"/>
                <a:cs typeface="Arial" pitchFamily="34" charset="0"/>
              </a:rPr>
              <a:t>King </a:t>
            </a:r>
            <a:r>
              <a:rPr lang="en-AU" sz="1100" i="1" dirty="0">
                <a:latin typeface="Arial" pitchFamily="34" charset="0"/>
                <a:cs typeface="Arial" pitchFamily="34" charset="0"/>
              </a:rPr>
              <a:t>James </a:t>
            </a:r>
            <a:r>
              <a:rPr lang="en-AU" sz="1100" i="1" dirty="0" smtClean="0">
                <a:latin typeface="Arial" pitchFamily="34" charset="0"/>
                <a:cs typeface="Arial" pitchFamily="34" charset="0"/>
              </a:rPr>
              <a:t>II, </a:t>
            </a:r>
            <a:r>
              <a:rPr lang="en-AU" sz="1100" dirty="0">
                <a:latin typeface="Arial" pitchFamily="34" charset="0"/>
                <a:cs typeface="Arial" pitchFamily="34" charset="0"/>
              </a:rPr>
              <a:t>Royal Collection Trust/© Her Majesty Queen Elizabeth II 2014. Used with Permission.</a:t>
            </a:r>
            <a:endParaRPr lang="en-AU" sz="1100" dirty="0" smtClean="0">
              <a:latin typeface="Arial" pitchFamily="34" charset="0"/>
              <a:cs typeface="Arial" pitchFamily="34" charset="0"/>
            </a:endParaRPr>
          </a:p>
          <a:p>
            <a:pPr marL="0" indent="0">
              <a:spcBef>
                <a:spcPts val="300"/>
              </a:spcBef>
              <a:buNone/>
            </a:pPr>
            <a:r>
              <a:rPr lang="en-AU" sz="1100" b="1" dirty="0" smtClean="0">
                <a:latin typeface="Arial" pitchFamily="34" charset="0"/>
                <a:cs typeface="Arial" pitchFamily="34" charset="0"/>
              </a:rPr>
              <a:t>Slide 12</a:t>
            </a:r>
            <a:r>
              <a:rPr lang="en-AU" sz="1100" b="1" dirty="0" smtClean="0">
                <a:latin typeface="Arial" pitchFamily="34" charset="0"/>
                <a:cs typeface="Arial" pitchFamily="34" charset="0"/>
              </a:rPr>
              <a:t>:</a:t>
            </a:r>
          </a:p>
          <a:p>
            <a:pPr marL="0" indent="0">
              <a:spcBef>
                <a:spcPts val="0"/>
              </a:spcBef>
              <a:buNone/>
            </a:pPr>
            <a:r>
              <a:rPr lang="en-AU" sz="1100" dirty="0" smtClean="0">
                <a:latin typeface="Arial" panose="020B0604020202020204" pitchFamily="34" charset="0"/>
                <a:cs typeface="Arial" panose="020B0604020202020204" pitchFamily="34" charset="0"/>
              </a:rPr>
              <a:t>Ward</a:t>
            </a:r>
            <a:r>
              <a:rPr lang="en-AU" sz="1100" dirty="0">
                <a:latin typeface="Arial" panose="020B0604020202020204" pitchFamily="34" charset="0"/>
                <a:cs typeface="Arial" panose="020B0604020202020204" pitchFamily="34" charset="0"/>
              </a:rPr>
              <a:t>, E.M., </a:t>
            </a:r>
            <a:r>
              <a:rPr lang="en-AU" sz="1100" i="1" dirty="0">
                <a:latin typeface="Arial" panose="020B0604020202020204" pitchFamily="34" charset="0"/>
                <a:cs typeface="Arial" panose="020B0604020202020204" pitchFamily="34" charset="0"/>
              </a:rPr>
              <a:t>The Lords and Commons presenting the crown to William and Mary in the Banqueting house 1688 </a:t>
            </a:r>
            <a:r>
              <a:rPr lang="en-AU" sz="1100" dirty="0">
                <a:latin typeface="Arial" panose="020B0604020202020204" pitchFamily="34" charset="0"/>
                <a:cs typeface="Arial" panose="020B0604020202020204" pitchFamily="34" charset="0"/>
              </a:rPr>
              <a:t>ID: WOA 2606 www.parliament.uk/art Contains Parliamentary information licensed under the Open Parliament Licence v3.0 www.parliament.uk/site-information/copyright/open-parliament-licence</a:t>
            </a:r>
            <a:r>
              <a:rPr lang="en-AU" sz="1100" dirty="0" smtClean="0">
                <a:latin typeface="Arial" panose="020B0604020202020204" pitchFamily="34" charset="0"/>
                <a:cs typeface="Arial" panose="020B0604020202020204" pitchFamily="34" charset="0"/>
              </a:rPr>
              <a:t>/</a:t>
            </a:r>
            <a:endParaRPr lang="en-AU" sz="1100" dirty="0">
              <a:latin typeface="Arial" panose="020B0604020202020204" pitchFamily="34" charset="0"/>
              <a:cs typeface="Arial" panose="020B0604020202020204" pitchFamily="34" charset="0"/>
            </a:endParaRPr>
          </a:p>
          <a:p>
            <a:pPr marL="0" indent="0">
              <a:spcBef>
                <a:spcPts val="300"/>
              </a:spcBef>
              <a:buNone/>
            </a:pPr>
            <a:r>
              <a:rPr lang="en-AU" sz="1100" b="1" dirty="0" smtClean="0">
                <a:latin typeface="Arial" pitchFamily="34" charset="0"/>
                <a:cs typeface="Arial" pitchFamily="34" charset="0"/>
              </a:rPr>
              <a:t>Slide 13: </a:t>
            </a:r>
            <a:endParaRPr lang="en-AU" sz="1100" b="1" dirty="0" smtClean="0">
              <a:latin typeface="Arial" pitchFamily="34" charset="0"/>
              <a:cs typeface="Arial" pitchFamily="34" charset="0"/>
            </a:endParaRPr>
          </a:p>
          <a:p>
            <a:pPr marL="0" indent="0">
              <a:spcBef>
                <a:spcPts val="0"/>
              </a:spcBef>
              <a:buNone/>
            </a:pPr>
            <a:r>
              <a:rPr lang="en-AU" sz="1100" dirty="0" smtClean="0">
                <a:latin typeface="Arial" pitchFamily="34" charset="0"/>
                <a:cs typeface="Arial" pitchFamily="34" charset="0"/>
              </a:rPr>
              <a:t>UK </a:t>
            </a:r>
            <a:r>
              <a:rPr lang="en-AU" sz="1100" dirty="0">
                <a:latin typeface="Arial" pitchFamily="34" charset="0"/>
                <a:cs typeface="Arial" pitchFamily="34" charset="0"/>
              </a:rPr>
              <a:t>Parliament, </a:t>
            </a:r>
            <a:r>
              <a:rPr lang="en-AU" sz="1100" i="1" dirty="0">
                <a:latin typeface="Arial" pitchFamily="34" charset="0"/>
                <a:cs typeface="Arial" pitchFamily="34" charset="0"/>
              </a:rPr>
              <a:t>House of Common’s Chamber</a:t>
            </a:r>
            <a:r>
              <a:rPr lang="en-AU" sz="1100" i="1" dirty="0" smtClean="0">
                <a:latin typeface="Arial" pitchFamily="34" charset="0"/>
                <a:cs typeface="Arial" pitchFamily="34" charset="0"/>
              </a:rPr>
              <a:t>, Speaker’s </a:t>
            </a:r>
            <a:r>
              <a:rPr lang="en-AU" sz="1100" i="1" dirty="0">
                <a:latin typeface="Arial" pitchFamily="34" charset="0"/>
                <a:cs typeface="Arial" pitchFamily="34" charset="0"/>
              </a:rPr>
              <a:t>table </a:t>
            </a:r>
            <a:r>
              <a:rPr lang="en-AU" sz="1100" dirty="0">
                <a:latin typeface="Arial" pitchFamily="34" charset="0"/>
                <a:cs typeface="Arial" pitchFamily="34" charset="0"/>
              </a:rPr>
              <a:t>https://www.flickr.com/photos/uk_parliament/2700549757/ CC BY-NC-ND 2.0 creativecommons.org/licenses/by-</a:t>
            </a:r>
            <a:r>
              <a:rPr lang="en-AU" sz="1100" dirty="0" err="1">
                <a:latin typeface="Arial" pitchFamily="34" charset="0"/>
                <a:cs typeface="Arial" pitchFamily="34" charset="0"/>
              </a:rPr>
              <a:t>nc</a:t>
            </a:r>
            <a:r>
              <a:rPr lang="en-AU" sz="1100" dirty="0">
                <a:latin typeface="Arial" pitchFamily="34" charset="0"/>
                <a:cs typeface="Arial" pitchFamily="34" charset="0"/>
              </a:rPr>
              <a:t>-</a:t>
            </a:r>
            <a:r>
              <a:rPr lang="en-AU" sz="1100" dirty="0" err="1">
                <a:latin typeface="Arial" pitchFamily="34" charset="0"/>
                <a:cs typeface="Arial" pitchFamily="34" charset="0"/>
              </a:rPr>
              <a:t>nd</a:t>
            </a:r>
            <a:r>
              <a:rPr lang="en-AU" sz="1100" dirty="0">
                <a:latin typeface="Arial" pitchFamily="34" charset="0"/>
                <a:cs typeface="Arial" pitchFamily="34" charset="0"/>
              </a:rPr>
              <a:t>/2.0/</a:t>
            </a:r>
          </a:p>
          <a:p>
            <a:pPr marL="0" indent="0" defTabSz="358775">
              <a:spcBef>
                <a:spcPts val="0"/>
              </a:spcBef>
              <a:buNone/>
            </a:pPr>
            <a:r>
              <a:rPr lang="en-AU" sz="1100" dirty="0" smtClean="0">
                <a:latin typeface="Arial" pitchFamily="34" charset="0"/>
                <a:cs typeface="Arial" pitchFamily="34" charset="0"/>
              </a:rPr>
              <a:t>David </a:t>
            </a:r>
            <a:r>
              <a:rPr lang="en-AU" sz="1100" dirty="0" smtClean="0">
                <a:latin typeface="Arial" pitchFamily="34" charset="0"/>
                <a:cs typeface="Arial" pitchFamily="34" charset="0"/>
              </a:rPr>
              <a:t>Foote/</a:t>
            </a:r>
            <a:r>
              <a:rPr lang="en-AU" sz="1100" dirty="0" err="1" smtClean="0">
                <a:latin typeface="Arial" pitchFamily="34" charset="0"/>
                <a:cs typeface="Arial" pitchFamily="34" charset="0"/>
              </a:rPr>
              <a:t>Auspic</a:t>
            </a:r>
            <a:r>
              <a:rPr lang="en-AU" sz="1100" dirty="0" smtClean="0">
                <a:latin typeface="Arial" pitchFamily="34" charset="0"/>
                <a:cs typeface="Arial" pitchFamily="34" charset="0"/>
              </a:rPr>
              <a:t>, </a:t>
            </a:r>
            <a:r>
              <a:rPr lang="en-AU" sz="1100" i="1" dirty="0" smtClean="0">
                <a:latin typeface="Arial" pitchFamily="34" charset="0"/>
                <a:cs typeface="Arial" pitchFamily="34" charset="0"/>
              </a:rPr>
              <a:t>The </a:t>
            </a:r>
            <a:r>
              <a:rPr lang="en-AU" sz="1100" i="1" dirty="0">
                <a:latin typeface="Arial" pitchFamily="34" charset="0"/>
                <a:cs typeface="Arial" pitchFamily="34" charset="0"/>
              </a:rPr>
              <a:t>Queen engaging in official duties</a:t>
            </a:r>
            <a:r>
              <a:rPr lang="en-AU" sz="1100" dirty="0">
                <a:latin typeface="Arial" pitchFamily="34" charset="0"/>
                <a:cs typeface="Arial" pitchFamily="34" charset="0"/>
              </a:rPr>
              <a:t>, http://www.peo.gov.au/image-library/the-queen-engaging-in-official-duties/214.html </a:t>
            </a:r>
            <a:r>
              <a:rPr lang="en-AU" sz="1100" dirty="0" smtClean="0">
                <a:latin typeface="Arial" pitchFamily="34" charset="0"/>
                <a:cs typeface="Arial" pitchFamily="34" charset="0"/>
              </a:rPr>
              <a:t>CC </a:t>
            </a:r>
            <a:r>
              <a:rPr lang="en-AU" sz="1100" dirty="0">
                <a:latin typeface="Arial" pitchFamily="34" charset="0"/>
                <a:cs typeface="Arial" pitchFamily="34" charset="0"/>
              </a:rPr>
              <a:t>BY-NC-ND 3.0 creativecommons.org/licenses/by-</a:t>
            </a:r>
            <a:r>
              <a:rPr lang="en-AU" sz="1100" dirty="0" err="1">
                <a:latin typeface="Arial" pitchFamily="34" charset="0"/>
                <a:cs typeface="Arial" pitchFamily="34" charset="0"/>
              </a:rPr>
              <a:t>nc</a:t>
            </a:r>
            <a:r>
              <a:rPr lang="en-AU" sz="1100" dirty="0">
                <a:latin typeface="Arial" pitchFamily="34" charset="0"/>
                <a:cs typeface="Arial" pitchFamily="34" charset="0"/>
              </a:rPr>
              <a:t>-</a:t>
            </a:r>
            <a:r>
              <a:rPr lang="en-AU" sz="1100" dirty="0" err="1">
                <a:latin typeface="Arial" pitchFamily="34" charset="0"/>
                <a:cs typeface="Arial" pitchFamily="34" charset="0"/>
              </a:rPr>
              <a:t>nd</a:t>
            </a:r>
            <a:r>
              <a:rPr lang="en-AU" sz="1100" dirty="0">
                <a:latin typeface="Arial" pitchFamily="34" charset="0"/>
                <a:cs typeface="Arial" pitchFamily="34" charset="0"/>
              </a:rPr>
              <a:t>/3.0/</a:t>
            </a:r>
            <a:endParaRPr lang="en-AU" sz="1100" dirty="0" smtClean="0">
              <a:latin typeface="Arial" pitchFamily="34" charset="0"/>
              <a:cs typeface="Arial" pitchFamily="34" charset="0"/>
            </a:endParaRPr>
          </a:p>
          <a:p>
            <a:pPr marL="0" indent="0">
              <a:spcBef>
                <a:spcPts val="0"/>
              </a:spcBef>
              <a:buNone/>
              <a:tabLst>
                <a:tab pos="358775" algn="l"/>
              </a:tabLst>
            </a:pPr>
            <a:r>
              <a:rPr lang="en-AU" sz="1100" dirty="0" smtClean="0">
                <a:latin typeface="Arial" pitchFamily="34" charset="0"/>
                <a:cs typeface="Arial" pitchFamily="34" charset="0"/>
              </a:rPr>
              <a:t>UK </a:t>
            </a:r>
            <a:r>
              <a:rPr lang="en-AU" sz="1100" dirty="0">
                <a:latin typeface="Arial" pitchFamily="34" charset="0"/>
                <a:cs typeface="Arial" pitchFamily="34" charset="0"/>
              </a:rPr>
              <a:t>Parliament, </a:t>
            </a:r>
            <a:r>
              <a:rPr lang="en-AU" sz="1100" i="1" dirty="0">
                <a:latin typeface="Arial" pitchFamily="34" charset="0"/>
                <a:cs typeface="Arial" pitchFamily="34" charset="0"/>
              </a:rPr>
              <a:t>Queen’s Speech: The Royal Party – The Queen, the Duke of Edinburgh, the Prince of Wales and the Duchess of Cornwall – in the Lords chamber</a:t>
            </a:r>
            <a:r>
              <a:rPr lang="en-AU" sz="1100" dirty="0">
                <a:latin typeface="Arial" pitchFamily="34" charset="0"/>
                <a:cs typeface="Arial" pitchFamily="34" charset="0"/>
              </a:rPr>
              <a:t>, https://www.flickr.com/photos/uk_parliament/14158885157/ CC BY-NC-ND 2.0 creativecommons.org/licenses/by-</a:t>
            </a:r>
            <a:r>
              <a:rPr lang="en-AU" sz="1100" dirty="0" err="1">
                <a:latin typeface="Arial" pitchFamily="34" charset="0"/>
                <a:cs typeface="Arial" pitchFamily="34" charset="0"/>
              </a:rPr>
              <a:t>nc</a:t>
            </a:r>
            <a:r>
              <a:rPr lang="en-AU" sz="1100" dirty="0">
                <a:latin typeface="Arial" pitchFamily="34" charset="0"/>
                <a:cs typeface="Arial" pitchFamily="34" charset="0"/>
              </a:rPr>
              <a:t>-</a:t>
            </a:r>
            <a:r>
              <a:rPr lang="en-AU" sz="1100" dirty="0" err="1">
                <a:latin typeface="Arial" pitchFamily="34" charset="0"/>
                <a:cs typeface="Arial" pitchFamily="34" charset="0"/>
              </a:rPr>
              <a:t>nd</a:t>
            </a:r>
            <a:r>
              <a:rPr lang="en-AU" sz="1100" dirty="0">
                <a:latin typeface="Arial" pitchFamily="34" charset="0"/>
                <a:cs typeface="Arial" pitchFamily="34" charset="0"/>
              </a:rPr>
              <a:t>/2.0</a:t>
            </a:r>
            <a:r>
              <a:rPr lang="en-AU" sz="1100" dirty="0" smtClean="0">
                <a:latin typeface="Arial" pitchFamily="34" charset="0"/>
                <a:cs typeface="Arial" pitchFamily="34" charset="0"/>
              </a:rPr>
              <a:t>/</a:t>
            </a:r>
          </a:p>
          <a:p>
            <a:pPr marL="0" indent="0">
              <a:spcBef>
                <a:spcPts val="300"/>
              </a:spcBef>
              <a:buNone/>
            </a:pPr>
            <a:r>
              <a:rPr lang="en-AU" sz="1100" b="1" dirty="0" smtClean="0">
                <a:latin typeface="Arial" pitchFamily="34" charset="0"/>
                <a:cs typeface="Arial" pitchFamily="34" charset="0"/>
              </a:rPr>
              <a:t>Slide 14</a:t>
            </a:r>
            <a:r>
              <a:rPr lang="en-AU" sz="1100" b="1" dirty="0">
                <a:latin typeface="Arial" pitchFamily="34" charset="0"/>
                <a:cs typeface="Arial" pitchFamily="34" charset="0"/>
              </a:rPr>
              <a:t>: </a:t>
            </a:r>
            <a:endParaRPr lang="en-AU" sz="1100" b="1" dirty="0" smtClean="0">
              <a:latin typeface="Arial" pitchFamily="34" charset="0"/>
              <a:cs typeface="Arial" pitchFamily="34" charset="0"/>
            </a:endParaRPr>
          </a:p>
          <a:p>
            <a:pPr marL="0" indent="0">
              <a:spcBef>
                <a:spcPts val="0"/>
              </a:spcBef>
              <a:buNone/>
            </a:pPr>
            <a:r>
              <a:rPr lang="en-AU" sz="1100" dirty="0" smtClean="0">
                <a:latin typeface="Arial" pitchFamily="34" charset="0"/>
                <a:cs typeface="Arial" pitchFamily="34" charset="0"/>
              </a:rPr>
              <a:t>Parliamentary </a:t>
            </a:r>
            <a:r>
              <a:rPr lang="en-AU" sz="1100" dirty="0">
                <a:latin typeface="Arial" pitchFamily="34" charset="0"/>
                <a:cs typeface="Arial" pitchFamily="34" charset="0"/>
              </a:rPr>
              <a:t>Education Office (www.peo.gov.au) CC BY-NC-ND 3.0 </a:t>
            </a:r>
            <a:r>
              <a:rPr lang="en-AU" sz="1100" dirty="0" smtClean="0">
                <a:latin typeface="Arial" pitchFamily="34" charset="0"/>
                <a:cs typeface="Arial" pitchFamily="34" charset="0"/>
              </a:rPr>
              <a:t>creativecommons.org/licenses/by-</a:t>
            </a:r>
            <a:r>
              <a:rPr lang="en-AU" sz="1100" dirty="0" err="1" smtClean="0">
                <a:latin typeface="Arial" pitchFamily="34" charset="0"/>
                <a:cs typeface="Arial" pitchFamily="34" charset="0"/>
              </a:rPr>
              <a:t>nc</a:t>
            </a:r>
            <a:r>
              <a:rPr lang="en-AU" sz="1100" dirty="0" smtClean="0">
                <a:latin typeface="Arial" pitchFamily="34" charset="0"/>
                <a:cs typeface="Arial" pitchFamily="34" charset="0"/>
              </a:rPr>
              <a:t>-</a:t>
            </a:r>
            <a:r>
              <a:rPr lang="en-AU" sz="1100" dirty="0" err="1" smtClean="0">
                <a:latin typeface="Arial" pitchFamily="34" charset="0"/>
                <a:cs typeface="Arial" pitchFamily="34" charset="0"/>
              </a:rPr>
              <a:t>nd</a:t>
            </a:r>
            <a:r>
              <a:rPr lang="en-AU" sz="1100" dirty="0" smtClean="0">
                <a:latin typeface="Arial" pitchFamily="34" charset="0"/>
                <a:cs typeface="Arial" pitchFamily="34" charset="0"/>
              </a:rPr>
              <a:t>/3.0</a:t>
            </a:r>
            <a:r>
              <a:rPr lang="en-AU" sz="1100" dirty="0">
                <a:latin typeface="Arial" pitchFamily="34" charset="0"/>
                <a:cs typeface="Arial" pitchFamily="34" charset="0"/>
              </a:rPr>
              <a:t>/</a:t>
            </a:r>
            <a:endParaRPr lang="en-AU" sz="1100" dirty="0" smtClean="0">
              <a:latin typeface="Arial" pitchFamily="34" charset="0"/>
              <a:cs typeface="Arial" pitchFamily="34" charset="0"/>
            </a:endParaRPr>
          </a:p>
          <a:p>
            <a:pPr marL="0" indent="0">
              <a:spcBef>
                <a:spcPts val="300"/>
              </a:spcBef>
              <a:buNone/>
            </a:pPr>
            <a:r>
              <a:rPr lang="en-AU" sz="1100" b="1" dirty="0">
                <a:latin typeface="Arial" pitchFamily="34" charset="0"/>
                <a:cs typeface="Arial" pitchFamily="34" charset="0"/>
              </a:rPr>
              <a:t>References: </a:t>
            </a:r>
          </a:p>
          <a:p>
            <a:pPr marL="0" indent="0">
              <a:spcBef>
                <a:spcPts val="0"/>
              </a:spcBef>
              <a:buNone/>
            </a:pPr>
            <a:r>
              <a:rPr lang="en-AU" sz="1100" dirty="0">
                <a:latin typeface="Arial" pitchFamily="34" charset="0"/>
                <a:cs typeface="Arial" pitchFamily="34" charset="0"/>
              </a:rPr>
              <a:t>Website: Parliament versus Monarch (Civics and Citizenship Education, Discovering Democracy Units) http://www1.curriculum.edu.au/ddunits/units/up1parl-glance.htm</a:t>
            </a:r>
          </a:p>
          <a:p>
            <a:pPr marL="0" indent="0">
              <a:spcBef>
                <a:spcPts val="0"/>
              </a:spcBef>
              <a:buNone/>
            </a:pPr>
            <a:r>
              <a:rPr lang="en-AU" sz="1100" spc="-10" dirty="0">
                <a:latin typeface="Arial" pitchFamily="34" charset="0"/>
                <a:cs typeface="Arial" pitchFamily="34" charset="0"/>
              </a:rPr>
              <a:t>The official website of The British </a:t>
            </a:r>
            <a:r>
              <a:rPr lang="en-AU" sz="1100" spc="-10" dirty="0" smtClean="0">
                <a:latin typeface="Arial" pitchFamily="34" charset="0"/>
                <a:cs typeface="Arial" pitchFamily="34" charset="0"/>
              </a:rPr>
              <a:t>Monarchy http</a:t>
            </a:r>
            <a:r>
              <a:rPr lang="en-AU" sz="1100" spc="-10" dirty="0">
                <a:latin typeface="Arial" pitchFamily="34" charset="0"/>
                <a:cs typeface="Arial" pitchFamily="34" charset="0"/>
              </a:rPr>
              <a:t>://www.royal.gov.uk/historyofthemonarchy/kingsandqueensoftheunitedkingdom/thestuarts/charlesi.aspx</a:t>
            </a:r>
          </a:p>
          <a:p>
            <a:pPr marL="0" indent="0">
              <a:spcBef>
                <a:spcPts val="0"/>
              </a:spcBef>
              <a:buNone/>
            </a:pPr>
            <a:endParaRPr lang="en-AU" sz="1100" dirty="0" smtClean="0">
              <a:latin typeface="Arial" pitchFamily="34" charset="0"/>
              <a:cs typeface="Arial" pitchFamily="34" charset="0"/>
            </a:endParaRPr>
          </a:p>
        </p:txBody>
      </p:sp>
    </p:spTree>
    <p:extLst>
      <p:ext uri="{BB962C8B-B14F-4D97-AF65-F5344CB8AC3E}">
        <p14:creationId xmlns:p14="http://schemas.microsoft.com/office/powerpoint/2010/main" val="211651891"/>
      </p:ext>
    </p:extLst>
  </p:cSld>
  <p:clrMapOvr>
    <a:masterClrMapping/>
  </p:clrMapOvr>
  <p:timing>
    <p:tnLst>
      <p:par>
        <p:cTn id="1" dur="indefinite" restart="never" nodeType="tmRoot"/>
      </p:par>
    </p:tnLst>
  </p:timing>
</p:sld>
</file>

<file path=ppt/theme/theme1.xml><?xml version="1.0" encoding="utf-8"?>
<a:theme xmlns:a="http://schemas.openxmlformats.org/drawingml/2006/main" name="blank powerPoint presentatio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blank powerPoint presentation</Template>
  <TotalTime>4899</TotalTime>
  <Words>1524</Words>
  <Application>Microsoft Office PowerPoint</Application>
  <PresentationFormat>On-screen Show (4:3)</PresentationFormat>
  <Paragraphs>141</Paragraphs>
  <Slides>15</Slides>
  <Notes>14</Notes>
  <HiddenSlides>0</HiddenSlides>
  <MMClips>0</MMClips>
  <ScaleCrop>false</ScaleCrop>
  <HeadingPairs>
    <vt:vector size="4" baseType="variant">
      <vt:variant>
        <vt:lpstr>Theme</vt:lpstr>
      </vt:variant>
      <vt:variant>
        <vt:i4>1</vt:i4>
      </vt:variant>
      <vt:variant>
        <vt:lpstr>Slide Titles</vt:lpstr>
      </vt:variant>
      <vt:variant>
        <vt:i4>15</vt:i4>
      </vt:variant>
    </vt:vector>
  </HeadingPairs>
  <TitlesOfParts>
    <vt:vector size="16" baseType="lpstr">
      <vt:lpstr>blank powerPoint presentation</vt:lpstr>
      <vt:lpstr>  The importance of  the Magna Carta  and  the Westminster system  1215–present </vt:lpstr>
      <vt:lpstr>1167–1216 King John I — start of a shift in the power of the monarch</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Queensland Government</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SOMERVILLE, Elizabeth</dc:creator>
  <cp:lastModifiedBy>LANGDALE, Susann</cp:lastModifiedBy>
  <cp:revision>257</cp:revision>
  <cp:lastPrinted>2014-08-15T01:36:11Z</cp:lastPrinted>
  <dcterms:created xsi:type="dcterms:W3CDTF">2014-07-10T04:25:35Z</dcterms:created>
  <dcterms:modified xsi:type="dcterms:W3CDTF">2017-01-18T03:39:11Z</dcterms:modified>
</cp:coreProperties>
</file>