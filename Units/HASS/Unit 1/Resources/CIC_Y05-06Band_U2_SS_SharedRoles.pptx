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81" r:id="rId4"/>
    <p:sldId id="280" r:id="rId5"/>
    <p:sldId id="282" r:id="rId6"/>
    <p:sldId id="267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PPER, Katherine" initials="C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C808"/>
    <a:srgbClr val="FF9900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7" autoAdjust="0"/>
    <p:restoredTop sz="90400" autoAdjust="0"/>
  </p:normalViewPr>
  <p:slideViewPr>
    <p:cSldViewPr>
      <p:cViewPr>
        <p:scale>
          <a:sx n="100" d="100"/>
          <a:sy n="100" d="100"/>
        </p:scale>
        <p:origin x="-2058" y="-156"/>
      </p:cViewPr>
      <p:guideLst>
        <p:guide orient="horz" pos="238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848D2970-F922-4D7F-BA2B-EF6C341322B0}">
      <dgm:prSet phldrT="[Text]"/>
      <dgm:spPr>
        <a:solidFill>
          <a:schemeClr val="accent4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State/Territory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E29591E3-055E-4263-B569-AF17520F567D}" type="parTrans" cxnId="{5D2ABE60-AAA2-449E-A36F-04BD8B08B2F6}">
      <dgm:prSet/>
      <dgm:spPr/>
      <dgm:t>
        <a:bodyPr/>
        <a:lstStyle/>
        <a:p>
          <a:endParaRPr lang="en-AU"/>
        </a:p>
      </dgm:t>
    </dgm:pt>
    <dgm:pt modelId="{71659012-747A-40D2-8B91-E85522C5FBB1}" type="sibTrans" cxnId="{5D2ABE60-AAA2-449E-A36F-04BD8B08B2F6}">
      <dgm:prSet/>
      <dgm:spPr/>
      <dgm:t>
        <a:bodyPr/>
        <a:lstStyle/>
        <a:p>
          <a:endParaRPr lang="en-AU"/>
        </a:p>
      </dgm:t>
    </dgm:pt>
    <dgm:pt modelId="{180AA581-87C7-4580-AFBC-4C77D7A2ED53}">
      <dgm:prSet phldrT="[Text]"/>
      <dgm:spPr>
        <a:solidFill>
          <a:schemeClr val="accent3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Local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3CBE24C6-7297-47B3-B1D8-E908FCD935A2}" type="parTrans" cxnId="{C5AD2483-B245-4192-84D8-F2C54261E703}">
      <dgm:prSet/>
      <dgm:spPr/>
      <dgm:t>
        <a:bodyPr/>
        <a:lstStyle/>
        <a:p>
          <a:endParaRPr lang="en-AU"/>
        </a:p>
      </dgm:t>
    </dgm:pt>
    <dgm:pt modelId="{052AF91E-815B-4994-9FCC-1A003D2BB9E5}" type="sibTrans" cxnId="{C5AD2483-B245-4192-84D8-F2C54261E703}">
      <dgm:prSet/>
      <dgm:spPr/>
      <dgm:t>
        <a:bodyPr/>
        <a:lstStyle/>
        <a:p>
          <a:endParaRPr lang="en-AU"/>
        </a:p>
      </dgm:t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 w="38100" cmpd="sng"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  <dgm:pt modelId="{D27E7769-FB84-47CF-8AC8-1945A376AFE6}" type="pres">
      <dgm:prSet presAssocID="{848D2970-F922-4D7F-BA2B-EF6C341322B0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6A0F7A-87D0-4781-ABA6-8672B5277E9F}" type="pres">
      <dgm:prSet presAssocID="{848D2970-F922-4D7F-BA2B-EF6C341322B0}" presName="aSpace" presStyleCnt="0"/>
      <dgm:spPr/>
    </dgm:pt>
    <dgm:pt modelId="{1A536FB5-3A6E-43B2-9FF3-BA4C82A76749}" type="pres">
      <dgm:prSet presAssocID="{180AA581-87C7-4580-AFBC-4C77D7A2ED53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B57ADB0-6857-469D-BD72-13358C4E1EB8}" type="pres">
      <dgm:prSet presAssocID="{180AA581-87C7-4580-AFBC-4C77D7A2ED53}" presName="aSpace" presStyleCnt="0"/>
      <dgm:spPr/>
    </dgm:pt>
  </dgm:ptLst>
  <dgm:cxnLst>
    <dgm:cxn modelId="{28241626-1790-4872-BA53-87888647DA81}" type="presOf" srcId="{5F048EC4-9ABF-4395-8D6B-79D18EC713E2}" destId="{5C0A4D0F-D644-4753-8A4B-B4BC1D273EC7}" srcOrd="0" destOrd="0" presId="urn:microsoft.com/office/officeart/2005/8/layout/pyramid2"/>
    <dgm:cxn modelId="{C5AD2483-B245-4192-84D8-F2C54261E703}" srcId="{71C6D224-D09E-4DAA-8688-37A80FA77CC2}" destId="{180AA581-87C7-4580-AFBC-4C77D7A2ED53}" srcOrd="2" destOrd="0" parTransId="{3CBE24C6-7297-47B3-B1D8-E908FCD935A2}" sibTransId="{052AF91E-815B-4994-9FCC-1A003D2BB9E5}"/>
    <dgm:cxn modelId="{C93B0329-D732-4D82-B61C-3F1AEF6A3B90}" type="presOf" srcId="{848D2970-F922-4D7F-BA2B-EF6C341322B0}" destId="{D27E7769-FB84-47CF-8AC8-1945A376AFE6}" srcOrd="0" destOrd="0" presId="urn:microsoft.com/office/officeart/2005/8/layout/pyramid2"/>
    <dgm:cxn modelId="{2DCF3099-92E9-4151-A980-41BB3EB22DB7}" type="presOf" srcId="{180AA581-87C7-4580-AFBC-4C77D7A2ED53}" destId="{1A536FB5-3A6E-43B2-9FF3-BA4C82A76749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CDEAB2B5-6BBA-4C5F-A025-D0252644DDF3}" type="presOf" srcId="{71C6D224-D09E-4DAA-8688-37A80FA77CC2}" destId="{902B2E8C-D64D-4F9A-873B-7303A2FF0CFA}" srcOrd="0" destOrd="0" presId="urn:microsoft.com/office/officeart/2005/8/layout/pyramid2"/>
    <dgm:cxn modelId="{5D2ABE60-AAA2-449E-A36F-04BD8B08B2F6}" srcId="{71C6D224-D09E-4DAA-8688-37A80FA77CC2}" destId="{848D2970-F922-4D7F-BA2B-EF6C341322B0}" srcOrd="1" destOrd="0" parTransId="{E29591E3-055E-4263-B569-AF17520F567D}" sibTransId="{71659012-747A-40D2-8B91-E85522C5FBB1}"/>
    <dgm:cxn modelId="{38BE8576-DBB2-455E-8425-0C673001E979}" type="presParOf" srcId="{902B2E8C-D64D-4F9A-873B-7303A2FF0CFA}" destId="{82DE59EA-53DA-4AF3-AA38-DE908764EDCB}" srcOrd="0" destOrd="0" presId="urn:microsoft.com/office/officeart/2005/8/layout/pyramid2"/>
    <dgm:cxn modelId="{E79CCAFC-BEAD-4706-9278-6E8FA93FD6DC}" type="presParOf" srcId="{902B2E8C-D64D-4F9A-873B-7303A2FF0CFA}" destId="{1DD338AE-A23F-40DF-861D-CE68BC174883}" srcOrd="1" destOrd="0" presId="urn:microsoft.com/office/officeart/2005/8/layout/pyramid2"/>
    <dgm:cxn modelId="{EA84D686-0C2A-44A0-8E3A-0B5BF09C57B8}" type="presParOf" srcId="{1DD338AE-A23F-40DF-861D-CE68BC174883}" destId="{5C0A4D0F-D644-4753-8A4B-B4BC1D273EC7}" srcOrd="0" destOrd="0" presId="urn:microsoft.com/office/officeart/2005/8/layout/pyramid2"/>
    <dgm:cxn modelId="{7AC9597A-79D8-41D9-875B-0B75F94F6F48}" type="presParOf" srcId="{1DD338AE-A23F-40DF-861D-CE68BC174883}" destId="{F6D1E2C3-B938-4166-AF8B-CD9B463675CD}" srcOrd="1" destOrd="0" presId="urn:microsoft.com/office/officeart/2005/8/layout/pyramid2"/>
    <dgm:cxn modelId="{E740AFA0-ADBE-4C14-A99A-CE7C09795F7D}" type="presParOf" srcId="{1DD338AE-A23F-40DF-861D-CE68BC174883}" destId="{D27E7769-FB84-47CF-8AC8-1945A376AFE6}" srcOrd="2" destOrd="0" presId="urn:microsoft.com/office/officeart/2005/8/layout/pyramid2"/>
    <dgm:cxn modelId="{762FC208-5702-4BCD-A90C-16A0EE35585B}" type="presParOf" srcId="{1DD338AE-A23F-40DF-861D-CE68BC174883}" destId="{C66A0F7A-87D0-4781-ABA6-8672B5277E9F}" srcOrd="3" destOrd="0" presId="urn:microsoft.com/office/officeart/2005/8/layout/pyramid2"/>
    <dgm:cxn modelId="{C3FDDE1F-AAE1-4255-B81B-65577A30A5AE}" type="presParOf" srcId="{1DD338AE-A23F-40DF-861D-CE68BC174883}" destId="{1A536FB5-3A6E-43B2-9FF3-BA4C82A76749}" srcOrd="4" destOrd="0" presId="urn:microsoft.com/office/officeart/2005/8/layout/pyramid2"/>
    <dgm:cxn modelId="{C14040B1-E89E-42F7-8E10-EBC3BEA14052}" type="presParOf" srcId="{1DD338AE-A23F-40DF-861D-CE68BC174883}" destId="{3B57ADB0-6857-469D-BD72-13358C4E1EB8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A6065-52A2-4405-95D5-5613E5FBD50B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605B91F0-CC9D-44F2-91B1-44A3201374C8}">
      <dgm:prSet phldrT="[Text]" custT="1"/>
      <dgm:spPr>
        <a:xfrm rot="10800000">
          <a:off x="1266727" y="1562"/>
          <a:ext cx="3648456" cy="1391022"/>
        </a:xfrm>
        <a:prstGeom prst="homePlate">
          <a:avLst/>
        </a:prstGeom>
        <a:solidFill>
          <a:schemeClr val="accent2">
            <a:lumMod val="75000"/>
          </a:schemeClr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 algn="l"/>
          <a:r>
            <a:rPr lang="en-AU" sz="18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Education: universities, colleges, grants to schools</a:t>
          </a:r>
        </a:p>
        <a:p>
          <a:pPr algn="l"/>
          <a:r>
            <a:rPr lang="en-AU" sz="18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Health: Medicare</a:t>
          </a:r>
        </a:p>
        <a:p>
          <a:pPr algn="l"/>
          <a:r>
            <a:rPr lang="en-AU" sz="18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Police: federal police</a:t>
          </a:r>
        </a:p>
      </dgm:t>
    </dgm:pt>
    <dgm:pt modelId="{7D37A5F9-A506-4F26-8BE3-B85EE958B625}" type="parTrans" cxnId="{800D5179-3C17-49ED-A059-18769C1D422F}">
      <dgm:prSet/>
      <dgm:spPr/>
      <dgm:t>
        <a:bodyPr/>
        <a:lstStyle/>
        <a:p>
          <a:endParaRPr lang="en-AU"/>
        </a:p>
      </dgm:t>
    </dgm:pt>
    <dgm:pt modelId="{3A86B3B2-725A-4C29-BB48-6356CC003187}" type="sibTrans" cxnId="{800D5179-3C17-49ED-A059-18769C1D422F}">
      <dgm:prSet/>
      <dgm:spPr/>
      <dgm:t>
        <a:bodyPr/>
        <a:lstStyle/>
        <a:p>
          <a:endParaRPr lang="en-AU"/>
        </a:p>
      </dgm:t>
    </dgm:pt>
    <dgm:pt modelId="{5EBDD59B-3C0E-40B6-8A22-FBFAA3CB14C4}">
      <dgm:prSet phldrT="[Text]" custT="1"/>
      <dgm:spPr>
        <a:xfrm rot="10800000">
          <a:off x="1266727" y="1807815"/>
          <a:ext cx="3648456" cy="1391022"/>
        </a:xfrm>
        <a:prstGeom prst="homePlate">
          <a:avLst/>
        </a:prstGeom>
        <a:solidFill>
          <a:schemeClr val="accent4">
            <a:lumMod val="75000"/>
          </a:schemeClr>
        </a:solidFill>
        <a:ln w="25400" cap="flat" cmpd="sng" algn="ctr">
          <a:noFill/>
          <a:prstDash val="solid"/>
        </a:ln>
        <a:effectLst/>
      </dgm:spPr>
      <dgm:t>
        <a:bodyPr/>
        <a:lstStyle/>
        <a:p>
          <a:pPr algn="l"/>
          <a:endParaRPr lang="en-AU" sz="1100" dirty="0">
            <a:solidFill>
              <a:sysClr val="window" lastClr="FFFFFF"/>
            </a:solidFill>
            <a:latin typeface="Arial" pitchFamily="34" charset="0"/>
            <a:ea typeface="+mn-ea"/>
            <a:cs typeface="Arial" pitchFamily="34" charset="0"/>
          </a:endParaRPr>
        </a:p>
        <a:p>
          <a:pPr algn="l"/>
          <a:r>
            <a:rPr lang="en-AU" sz="18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Education: </a:t>
          </a:r>
          <a:r>
            <a:rPr lang="en-AU" sz="1800" dirty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primary and secondary schools</a:t>
          </a:r>
        </a:p>
        <a:p>
          <a:pPr algn="l"/>
          <a:r>
            <a:rPr lang="en-AU" sz="18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Health: </a:t>
          </a:r>
          <a:r>
            <a:rPr lang="en-AU" sz="1800" dirty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hospitals</a:t>
          </a:r>
        </a:p>
        <a:p>
          <a:pPr algn="l"/>
          <a:r>
            <a:rPr lang="en-AU" sz="18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Police: </a:t>
          </a:r>
          <a:r>
            <a:rPr lang="en-AU" sz="1800" dirty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state and territory police</a:t>
          </a:r>
        </a:p>
        <a:p>
          <a:pPr algn="ctr"/>
          <a:endParaRPr lang="en-AU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FF860254-3C0B-4883-A8B7-5816E371B9C2}" type="parTrans" cxnId="{2D736BD8-5C31-4814-B3A8-D3E34BBA673F}">
      <dgm:prSet/>
      <dgm:spPr/>
      <dgm:t>
        <a:bodyPr/>
        <a:lstStyle/>
        <a:p>
          <a:endParaRPr lang="en-AU"/>
        </a:p>
      </dgm:t>
    </dgm:pt>
    <dgm:pt modelId="{D208E220-2BB2-40F5-A124-EEC4C5FAB1D8}" type="sibTrans" cxnId="{2D736BD8-5C31-4814-B3A8-D3E34BBA673F}">
      <dgm:prSet/>
      <dgm:spPr/>
      <dgm:t>
        <a:bodyPr/>
        <a:lstStyle/>
        <a:p>
          <a:endParaRPr lang="en-AU"/>
        </a:p>
      </dgm:t>
    </dgm:pt>
    <dgm:pt modelId="{A169C4E3-A0A0-499E-86D1-EC996EB09913}" type="pres">
      <dgm:prSet presAssocID="{D1AA6065-52A2-4405-95D5-5613E5FBD50B}" presName="linearFlow" presStyleCnt="0">
        <dgm:presLayoutVars>
          <dgm:dir/>
          <dgm:resizeHandles val="exact"/>
        </dgm:presLayoutVars>
      </dgm:prSet>
      <dgm:spPr/>
    </dgm:pt>
    <dgm:pt modelId="{4B4A15B6-2F2C-4250-8ACD-B5B828739A16}" type="pres">
      <dgm:prSet presAssocID="{605B91F0-CC9D-44F2-91B1-44A3201374C8}" presName="composite" presStyleCnt="0"/>
      <dgm:spPr/>
    </dgm:pt>
    <dgm:pt modelId="{C40B337F-FF8E-46CC-B870-B13CF1ABFC4B}" type="pres">
      <dgm:prSet presAssocID="{605B91F0-CC9D-44F2-91B1-44A3201374C8}" presName="imgShp" presStyleLbl="fgImgPlace1" presStyleIdx="0" presStyleCnt="2" custScaleX="95117" custScaleY="95117" custLinFactNeighborX="-38939" custLinFactNeighborY="3753"/>
      <dgm:spPr>
        <a:xfrm>
          <a:off x="571216" y="1562"/>
          <a:ext cx="1391022" cy="1391022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</dgm:pt>
    <dgm:pt modelId="{54D553C4-B5FC-4263-9F11-6703A81C2504}" type="pres">
      <dgm:prSet presAssocID="{605B91F0-CC9D-44F2-91B1-44A3201374C8}" presName="txShp" presStyleLbl="node1" presStyleIdx="0" presStyleCnt="2" custScaleX="114709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8E317BFB-4FEA-481C-B053-85C5C96BB1E5}" type="pres">
      <dgm:prSet presAssocID="{3A86B3B2-725A-4C29-BB48-6356CC003187}" presName="spacing" presStyleCnt="0"/>
      <dgm:spPr/>
    </dgm:pt>
    <dgm:pt modelId="{D0E222E0-F37C-4561-BA2A-E2C4F4D67474}" type="pres">
      <dgm:prSet presAssocID="{5EBDD59B-3C0E-40B6-8A22-FBFAA3CB14C4}" presName="composite" presStyleCnt="0"/>
      <dgm:spPr/>
    </dgm:pt>
    <dgm:pt modelId="{FA229F0A-82A3-48C2-BA84-166E79340B2F}" type="pres">
      <dgm:prSet presAssocID="{5EBDD59B-3C0E-40B6-8A22-FBFAA3CB14C4}" presName="imgShp" presStyleLbl="fgImgPlace1" presStyleIdx="1" presStyleCnt="2" custLinFactNeighborX="-42299" custLinFactNeighborY="2773"/>
      <dgm:spPr>
        <a:xfrm>
          <a:off x="571216" y="1807815"/>
          <a:ext cx="1391022" cy="1391022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</dgm:pt>
    <dgm:pt modelId="{2E9F485F-97EF-4AA7-B1D5-45BE32B08E9C}" type="pres">
      <dgm:prSet presAssocID="{5EBDD59B-3C0E-40B6-8A22-FBFAA3CB14C4}" presName="txShp" presStyleLbl="node1" presStyleIdx="1" presStyleCnt="2" custScaleX="113192" custLinFactNeighborX="-257" custLinFactNeighborY="-165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12152E47-B523-4AFE-A5AF-37F54280324A}" type="presOf" srcId="{605B91F0-CC9D-44F2-91B1-44A3201374C8}" destId="{54D553C4-B5FC-4263-9F11-6703A81C2504}" srcOrd="0" destOrd="0" presId="urn:microsoft.com/office/officeart/2005/8/layout/vList3"/>
    <dgm:cxn modelId="{2D736BD8-5C31-4814-B3A8-D3E34BBA673F}" srcId="{D1AA6065-52A2-4405-95D5-5613E5FBD50B}" destId="{5EBDD59B-3C0E-40B6-8A22-FBFAA3CB14C4}" srcOrd="1" destOrd="0" parTransId="{FF860254-3C0B-4883-A8B7-5816E371B9C2}" sibTransId="{D208E220-2BB2-40F5-A124-EEC4C5FAB1D8}"/>
    <dgm:cxn modelId="{E6599790-653B-4F10-8D18-D468A7736380}" type="presOf" srcId="{5EBDD59B-3C0E-40B6-8A22-FBFAA3CB14C4}" destId="{2E9F485F-97EF-4AA7-B1D5-45BE32B08E9C}" srcOrd="0" destOrd="0" presId="urn:microsoft.com/office/officeart/2005/8/layout/vList3"/>
    <dgm:cxn modelId="{24A91CE4-7A34-4F7C-9A83-2FB5E63215B7}" type="presOf" srcId="{D1AA6065-52A2-4405-95D5-5613E5FBD50B}" destId="{A169C4E3-A0A0-499E-86D1-EC996EB09913}" srcOrd="0" destOrd="0" presId="urn:microsoft.com/office/officeart/2005/8/layout/vList3"/>
    <dgm:cxn modelId="{800D5179-3C17-49ED-A059-18769C1D422F}" srcId="{D1AA6065-52A2-4405-95D5-5613E5FBD50B}" destId="{605B91F0-CC9D-44F2-91B1-44A3201374C8}" srcOrd="0" destOrd="0" parTransId="{7D37A5F9-A506-4F26-8BE3-B85EE958B625}" sibTransId="{3A86B3B2-725A-4C29-BB48-6356CC003187}"/>
    <dgm:cxn modelId="{79741878-D627-4C8F-9FA3-2F67AF28C56C}" type="presParOf" srcId="{A169C4E3-A0A0-499E-86D1-EC996EB09913}" destId="{4B4A15B6-2F2C-4250-8ACD-B5B828739A16}" srcOrd="0" destOrd="0" presId="urn:microsoft.com/office/officeart/2005/8/layout/vList3"/>
    <dgm:cxn modelId="{BC54C547-E7B1-4BC7-96CD-F2772338D810}" type="presParOf" srcId="{4B4A15B6-2F2C-4250-8ACD-B5B828739A16}" destId="{C40B337F-FF8E-46CC-B870-B13CF1ABFC4B}" srcOrd="0" destOrd="0" presId="urn:microsoft.com/office/officeart/2005/8/layout/vList3"/>
    <dgm:cxn modelId="{107492B3-45E0-405A-BC13-584180051D53}" type="presParOf" srcId="{4B4A15B6-2F2C-4250-8ACD-B5B828739A16}" destId="{54D553C4-B5FC-4263-9F11-6703A81C2504}" srcOrd="1" destOrd="0" presId="urn:microsoft.com/office/officeart/2005/8/layout/vList3"/>
    <dgm:cxn modelId="{73BAEAA7-99A1-4188-8B4E-CEB4F02D6906}" type="presParOf" srcId="{A169C4E3-A0A0-499E-86D1-EC996EB09913}" destId="{8E317BFB-4FEA-481C-B053-85C5C96BB1E5}" srcOrd="1" destOrd="0" presId="urn:microsoft.com/office/officeart/2005/8/layout/vList3"/>
    <dgm:cxn modelId="{C2407600-F116-4447-A341-08AFCA1A8F40}" type="presParOf" srcId="{A169C4E3-A0A0-499E-86D1-EC996EB09913}" destId="{D0E222E0-F37C-4561-BA2A-E2C4F4D67474}" srcOrd="2" destOrd="0" presId="urn:microsoft.com/office/officeart/2005/8/layout/vList3"/>
    <dgm:cxn modelId="{9D2298A6-5E9D-44CE-9D3C-40310F17CCA5}" type="presParOf" srcId="{D0E222E0-F37C-4561-BA2A-E2C4F4D67474}" destId="{FA229F0A-82A3-48C2-BA84-166E79340B2F}" srcOrd="0" destOrd="0" presId="urn:microsoft.com/office/officeart/2005/8/layout/vList3"/>
    <dgm:cxn modelId="{02A82090-B898-430D-B66D-FCB122A290BD}" type="presParOf" srcId="{D0E222E0-F37C-4561-BA2A-E2C4F4D67474}" destId="{2E9F485F-97EF-4AA7-B1D5-45BE32B08E9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848D2970-F922-4D7F-BA2B-EF6C341322B0}">
      <dgm:prSet phldrT="[Text]"/>
      <dgm:spPr>
        <a:solidFill>
          <a:schemeClr val="accent4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State/Territory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E29591E3-055E-4263-B569-AF17520F567D}" type="parTrans" cxnId="{5D2ABE60-AAA2-449E-A36F-04BD8B08B2F6}">
      <dgm:prSet/>
      <dgm:spPr/>
      <dgm:t>
        <a:bodyPr/>
        <a:lstStyle/>
        <a:p>
          <a:endParaRPr lang="en-AU"/>
        </a:p>
      </dgm:t>
    </dgm:pt>
    <dgm:pt modelId="{71659012-747A-40D2-8B91-E85522C5FBB1}" type="sibTrans" cxnId="{5D2ABE60-AAA2-449E-A36F-04BD8B08B2F6}">
      <dgm:prSet/>
      <dgm:spPr/>
      <dgm:t>
        <a:bodyPr/>
        <a:lstStyle/>
        <a:p>
          <a:endParaRPr lang="en-AU"/>
        </a:p>
      </dgm:t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2" custScaleY="33694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  <dgm:pt modelId="{D27E7769-FB84-47CF-8AC8-1945A376AFE6}" type="pres">
      <dgm:prSet presAssocID="{848D2970-F922-4D7F-BA2B-EF6C341322B0}" presName="aNode" presStyleLbl="fgAcc1" presStyleIdx="1" presStyleCnt="2" custScaleY="33686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6A0F7A-87D0-4781-ABA6-8672B5277E9F}" type="pres">
      <dgm:prSet presAssocID="{848D2970-F922-4D7F-BA2B-EF6C341322B0}" presName="aSpace" presStyleCnt="0"/>
      <dgm:spPr/>
    </dgm:pt>
  </dgm:ptLst>
  <dgm:cxnLst>
    <dgm:cxn modelId="{FDBE4E0E-C3CE-6549-BB90-CE00CC2EA4AA}" type="presOf" srcId="{71C6D224-D09E-4DAA-8688-37A80FA77CC2}" destId="{902B2E8C-D64D-4F9A-873B-7303A2FF0CFA}" srcOrd="0" destOrd="0" presId="urn:microsoft.com/office/officeart/2005/8/layout/pyramid2"/>
    <dgm:cxn modelId="{75FAECCC-E112-B04F-861F-D8CCAAC49EDC}" type="presOf" srcId="{848D2970-F922-4D7F-BA2B-EF6C341322B0}" destId="{D27E7769-FB84-47CF-8AC8-1945A376AFE6}" srcOrd="0" destOrd="0" presId="urn:microsoft.com/office/officeart/2005/8/layout/pyramid2"/>
    <dgm:cxn modelId="{7A11B728-F43F-3D4E-814C-B434179E9074}" type="presOf" srcId="{5F048EC4-9ABF-4395-8D6B-79D18EC713E2}" destId="{5C0A4D0F-D644-4753-8A4B-B4BC1D273EC7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5D2ABE60-AAA2-449E-A36F-04BD8B08B2F6}" srcId="{71C6D224-D09E-4DAA-8688-37A80FA77CC2}" destId="{848D2970-F922-4D7F-BA2B-EF6C341322B0}" srcOrd="1" destOrd="0" parTransId="{E29591E3-055E-4263-B569-AF17520F567D}" sibTransId="{71659012-747A-40D2-8B91-E85522C5FBB1}"/>
    <dgm:cxn modelId="{9BBE19BA-DE42-D140-8645-8BA6A3CF2412}" type="presParOf" srcId="{902B2E8C-D64D-4F9A-873B-7303A2FF0CFA}" destId="{82DE59EA-53DA-4AF3-AA38-DE908764EDCB}" srcOrd="0" destOrd="0" presId="urn:microsoft.com/office/officeart/2005/8/layout/pyramid2"/>
    <dgm:cxn modelId="{3B0F2CA9-3161-3348-AEAE-2B5F0C75CB9A}" type="presParOf" srcId="{902B2E8C-D64D-4F9A-873B-7303A2FF0CFA}" destId="{1DD338AE-A23F-40DF-861D-CE68BC174883}" srcOrd="1" destOrd="0" presId="urn:microsoft.com/office/officeart/2005/8/layout/pyramid2"/>
    <dgm:cxn modelId="{21311E81-63FC-B04D-B65F-00256E293AC7}" type="presParOf" srcId="{1DD338AE-A23F-40DF-861D-CE68BC174883}" destId="{5C0A4D0F-D644-4753-8A4B-B4BC1D273EC7}" srcOrd="0" destOrd="0" presId="urn:microsoft.com/office/officeart/2005/8/layout/pyramid2"/>
    <dgm:cxn modelId="{502CBD25-AE84-3147-BB48-0C773A523FC8}" type="presParOf" srcId="{1DD338AE-A23F-40DF-861D-CE68BC174883}" destId="{F6D1E2C3-B938-4166-AF8B-CD9B463675CD}" srcOrd="1" destOrd="0" presId="urn:microsoft.com/office/officeart/2005/8/layout/pyramid2"/>
    <dgm:cxn modelId="{400712D1-97F1-D742-A4D9-DEF66A1187BB}" type="presParOf" srcId="{1DD338AE-A23F-40DF-861D-CE68BC174883}" destId="{D27E7769-FB84-47CF-8AC8-1945A376AFE6}" srcOrd="2" destOrd="0" presId="urn:microsoft.com/office/officeart/2005/8/layout/pyramid2"/>
    <dgm:cxn modelId="{FF566235-A472-0948-9893-FCB6BA5B1A9D}" type="presParOf" srcId="{1DD338AE-A23F-40DF-861D-CE68BC174883}" destId="{C66A0F7A-87D0-4781-ABA6-8672B5277E9F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1443542" y="0"/>
          <a:ext cx="3489251" cy="3445146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3235866" y="350799"/>
          <a:ext cx="2268013" cy="825971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23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3276187" y="391120"/>
        <a:ext cx="2187371" cy="745329"/>
      </dsp:txXfrm>
    </dsp:sp>
    <dsp:sp modelId="{D27E7769-FB84-47CF-8AC8-1945A376AFE6}">
      <dsp:nvSpPr>
        <dsp:cNvPr id="0" name=""/>
        <dsp:cNvSpPr/>
      </dsp:nvSpPr>
      <dsp:spPr>
        <a:xfrm>
          <a:off x="3235866" y="1280016"/>
          <a:ext cx="2268013" cy="825971"/>
        </a:xfrm>
        <a:prstGeom prst="roundRect">
          <a:avLst/>
        </a:prstGeom>
        <a:solidFill>
          <a:schemeClr val="accent4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 dirty="0" smtClean="0">
              <a:solidFill>
                <a:schemeClr val="bg1"/>
              </a:solidFill>
              <a:latin typeface="Arial"/>
              <a:cs typeface="Arial"/>
            </a:rPr>
            <a:t>State/Territory</a:t>
          </a:r>
          <a:endParaRPr lang="en-AU" sz="23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3276187" y="1320337"/>
        <a:ext cx="2187371" cy="745329"/>
      </dsp:txXfrm>
    </dsp:sp>
    <dsp:sp modelId="{1A536FB5-3A6E-43B2-9FF3-BA4C82A76749}">
      <dsp:nvSpPr>
        <dsp:cNvPr id="0" name=""/>
        <dsp:cNvSpPr/>
      </dsp:nvSpPr>
      <dsp:spPr>
        <a:xfrm>
          <a:off x="3235866" y="2209234"/>
          <a:ext cx="2268013" cy="825971"/>
        </a:xfrm>
        <a:prstGeom prst="roundRect">
          <a:avLst/>
        </a:prstGeom>
        <a:solidFill>
          <a:schemeClr val="accent3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300" kern="1200" dirty="0" smtClean="0">
              <a:solidFill>
                <a:schemeClr val="bg1"/>
              </a:solidFill>
              <a:latin typeface="Arial"/>
              <a:cs typeface="Arial"/>
            </a:rPr>
            <a:t>Local</a:t>
          </a:r>
          <a:endParaRPr lang="en-AU" sz="23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3276187" y="2249555"/>
        <a:ext cx="2187371" cy="7453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553C4-B5FC-4263-9F11-6703A81C2504}">
      <dsp:nvSpPr>
        <dsp:cNvPr id="0" name=""/>
        <dsp:cNvSpPr/>
      </dsp:nvSpPr>
      <dsp:spPr>
        <a:xfrm rot="10800000">
          <a:off x="1190281" y="1833"/>
          <a:ext cx="6509060" cy="1627468"/>
        </a:xfrm>
        <a:prstGeom prst="homePlate">
          <a:avLst/>
        </a:prstGeom>
        <a:solidFill>
          <a:schemeClr val="accent2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7668" tIns="68580" rIns="128016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Education: universities, colleges, grants to schools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Health: Medicare</a:t>
          </a: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Police: federal police</a:t>
          </a:r>
        </a:p>
      </dsp:txBody>
      <dsp:txXfrm rot="10800000">
        <a:off x="1597148" y="1833"/>
        <a:ext cx="6102193" cy="1627468"/>
      </dsp:txXfrm>
    </dsp:sp>
    <dsp:sp modelId="{C40B337F-FF8E-46CC-B870-B13CF1ABFC4B}">
      <dsp:nvSpPr>
        <dsp:cNvPr id="0" name=""/>
        <dsp:cNvSpPr/>
      </dsp:nvSpPr>
      <dsp:spPr>
        <a:xfrm>
          <a:off x="199886" y="102647"/>
          <a:ext cx="1547999" cy="1547999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F485F-97EF-4AA7-B1D5-45BE32B08E9C}">
      <dsp:nvSpPr>
        <dsp:cNvPr id="0" name=""/>
        <dsp:cNvSpPr/>
      </dsp:nvSpPr>
      <dsp:spPr>
        <a:xfrm rot="10800000">
          <a:off x="1260126" y="2088227"/>
          <a:ext cx="6422979" cy="1627468"/>
        </a:xfrm>
        <a:prstGeom prst="homePlate">
          <a:avLst/>
        </a:prstGeom>
        <a:solidFill>
          <a:schemeClr val="accent4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7668" tIns="41910" rIns="78232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100" kern="1200" dirty="0">
            <a:solidFill>
              <a:sysClr val="window" lastClr="FFFFFF"/>
            </a:solidFill>
            <a:latin typeface="Arial" pitchFamily="34" charset="0"/>
            <a:ea typeface="+mn-ea"/>
            <a:cs typeface="Arial" pitchFamily="34" charset="0"/>
          </a:endParaRP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Education: </a:t>
          </a:r>
          <a:r>
            <a:rPr lang="en-AU" sz="1800" kern="1200" dirty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primary and secondary schools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Health: </a:t>
          </a:r>
          <a:r>
            <a:rPr lang="en-AU" sz="1800" kern="1200" dirty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hospitals</a:t>
          </a:r>
        </a:p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800" kern="1200" dirty="0" smtClean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Police: </a:t>
          </a:r>
          <a:r>
            <a:rPr lang="en-AU" sz="1800" kern="1200" dirty="0">
              <a:solidFill>
                <a:sysClr val="window" lastClr="FFFFFF"/>
              </a:solidFill>
              <a:latin typeface="Arial" pitchFamily="34" charset="0"/>
              <a:ea typeface="+mn-ea"/>
              <a:cs typeface="Arial" pitchFamily="34" charset="0"/>
            </a:rPr>
            <a:t>state and territory police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 rot="10800000">
        <a:off x="1666993" y="2088227"/>
        <a:ext cx="6016112" cy="1627468"/>
      </dsp:txXfrm>
    </dsp:sp>
    <dsp:sp modelId="{FA229F0A-82A3-48C2-BA84-166E79340B2F}">
      <dsp:nvSpPr>
        <dsp:cNvPr id="0" name=""/>
        <dsp:cNvSpPr/>
      </dsp:nvSpPr>
      <dsp:spPr>
        <a:xfrm>
          <a:off x="146856" y="2116947"/>
          <a:ext cx="1627468" cy="1627468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460656" y="0"/>
          <a:ext cx="1113472" cy="1099397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1032613" y="145285"/>
          <a:ext cx="723756" cy="300138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7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7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1047265" y="159937"/>
        <a:ext cx="694452" cy="270834"/>
      </dsp:txXfrm>
    </dsp:sp>
    <dsp:sp modelId="{D27E7769-FB84-47CF-8AC8-1945A376AFE6}">
      <dsp:nvSpPr>
        <dsp:cNvPr id="0" name=""/>
        <dsp:cNvSpPr/>
      </dsp:nvSpPr>
      <dsp:spPr>
        <a:xfrm>
          <a:off x="1032613" y="556771"/>
          <a:ext cx="723756" cy="300067"/>
        </a:xfrm>
        <a:prstGeom prst="roundRect">
          <a:avLst/>
        </a:prstGeom>
        <a:solidFill>
          <a:schemeClr val="accent4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700" kern="1200" dirty="0" smtClean="0">
              <a:solidFill>
                <a:schemeClr val="bg1"/>
              </a:solidFill>
              <a:latin typeface="Arial"/>
              <a:cs typeface="Arial"/>
            </a:rPr>
            <a:t>State/Territory</a:t>
          </a:r>
          <a:endParaRPr lang="en-AU" sz="7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1047261" y="571419"/>
        <a:ext cx="694460" cy="270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18/01/2017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0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15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20000"/>
            <a:lumOff val="8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695787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HASS_Y06_U1_SS_SharedRoles</a:t>
            </a:r>
          </a:p>
        </p:txBody>
      </p:sp>
      <p:pic>
        <p:nvPicPr>
          <p:cNvPr id="7" name="Picture 6" descr="C2CIcon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11769"/>
            <a:ext cx="424150" cy="184018"/>
          </a:xfrm>
          <a:prstGeom prst="rect">
            <a:avLst/>
          </a:prstGeom>
        </p:spPr>
      </p:pic>
      <p:pic>
        <p:nvPicPr>
          <p:cNvPr id="8" name="Picture 7" descr="Qld-CoA-1LS-S-mono-webTRANS.png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3" name="Picture 12" descr="../../../../../../../../Volumes/Data/Coredata/DevArea/C2C/ePublishing/Templates/logos/201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605324"/>
            <a:ext cx="1719220" cy="208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diagramDrawing" Target="../diagrams/drawing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0" Type="http://schemas.openxmlformats.org/officeDocument/2006/relationships/diagramLayout" Target="../diagrams/layout3.xml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683568" y="332656"/>
            <a:ext cx="7772400" cy="187220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Shared roles and responsibilities within Australia’s federal system of government: An everyday example</a:t>
            </a:r>
            <a:endParaRPr lang="en-A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291315"/>
              </p:ext>
            </p:extLst>
          </p:nvPr>
        </p:nvGraphicFramePr>
        <p:xfrm>
          <a:off x="971600" y="2420888"/>
          <a:ext cx="6995120" cy="3489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589240"/>
            <a:ext cx="1669926" cy="64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315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Three levels of government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4047367"/>
            <a:ext cx="2753238" cy="2189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5804" y="4001612"/>
            <a:ext cx="2415138" cy="2235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529" y="4247564"/>
            <a:ext cx="2592288" cy="1986367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6358815" y="1630052"/>
            <a:ext cx="2180188" cy="1908000"/>
          </a:xfrm>
          <a:prstGeom prst="wedgeRoundRectCallout">
            <a:avLst>
              <a:gd name="adj1" fmla="val -15281"/>
              <a:gd name="adj2" fmla="val 78732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Sometimes, two or three levels of government might share responsibilities.</a:t>
            </a:r>
            <a:endParaRPr lang="en-A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3611335" y="1630052"/>
            <a:ext cx="2412000" cy="1908000"/>
          </a:xfrm>
          <a:prstGeom prst="wedgeRoundRectCallout">
            <a:avLst>
              <a:gd name="adj1" fmla="val -11597"/>
              <a:gd name="adj2" fmla="val 76670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three levels of government work together to serve the people of Australia.</a:t>
            </a:r>
            <a:endParaRPr lang="en-A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539855" y="1630052"/>
            <a:ext cx="2736000" cy="1908000"/>
          </a:xfrm>
          <a:prstGeom prst="wedgeRoundRectCallout">
            <a:avLst>
              <a:gd name="adj1" fmla="val -10865"/>
              <a:gd name="adj2" fmla="val 72712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There are three levels of government in Australia: federal, state/territory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local.</a:t>
            </a:r>
            <a:endParaRPr lang="en-A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63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 txBox="1">
            <a:spLocks/>
          </p:cNvSpPr>
          <p:nvPr/>
        </p:nvSpPr>
        <p:spPr>
          <a:xfrm>
            <a:off x="367138" y="185819"/>
            <a:ext cx="8453334" cy="12269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Shared responsibilities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95536" y="1256806"/>
            <a:ext cx="1440160" cy="1333160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>
          <a:xfrm>
            <a:off x="2843808" y="1556792"/>
            <a:ext cx="4608512" cy="726634"/>
          </a:xfrm>
          <a:prstGeom prst="wedgeRoundRectCallout">
            <a:avLst>
              <a:gd name="adj1" fmla="val -72597"/>
              <a:gd name="adj2" fmla="val 17408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Here are some shared responsibilities between federal and state/territory governments.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543090584"/>
              </p:ext>
            </p:extLst>
          </p:nvPr>
        </p:nvGraphicFramePr>
        <p:xfrm>
          <a:off x="287523" y="2492896"/>
          <a:ext cx="8532949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5940152" y="3429000"/>
            <a:ext cx="3096344" cy="1008112"/>
          </a:xfrm>
          <a:prstGeom prst="wedgeRoundRectCallout">
            <a:avLst>
              <a:gd name="adj1" fmla="val 3487"/>
              <a:gd name="adj2" fmla="val 118032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federal </a:t>
            </a: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state </a:t>
            </a: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laws conflict on an issue, the 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federal </a:t>
            </a: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law 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overrides state laws.</a:t>
            </a:r>
            <a:r>
              <a:rPr lang="en-AU" sz="16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5388" y="5085184"/>
            <a:ext cx="1469264" cy="1342975"/>
          </a:xfrm>
          <a:prstGeom prst="rect">
            <a:avLst/>
          </a:prstGeom>
        </p:spPr>
      </p:pic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362674"/>
              </p:ext>
            </p:extLst>
          </p:nvPr>
        </p:nvGraphicFramePr>
        <p:xfrm>
          <a:off x="6948264" y="227468"/>
          <a:ext cx="2232248" cy="1113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80938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95536" y="260039"/>
            <a:ext cx="8424936" cy="79269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en-AU" sz="4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Scenario: Will’s day</a:t>
            </a:r>
            <a:endParaRPr lang="en-AU" sz="4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694" y="4437111"/>
            <a:ext cx="1769721" cy="1638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540" y="1196752"/>
            <a:ext cx="8352928" cy="316779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AU" sz="1900" dirty="0" smtClean="0">
                <a:latin typeface="Arial" pitchFamily="34" charset="0"/>
                <a:cs typeface="Arial" pitchFamily="34" charset="0"/>
              </a:rPr>
              <a:t>Will </a:t>
            </a:r>
            <a:r>
              <a:rPr lang="en-AU" sz="21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rides </a:t>
            </a:r>
            <a:r>
              <a:rPr lang="en-AU" sz="2100" b="1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his bike </a:t>
            </a:r>
            <a:r>
              <a:rPr lang="en-AU" sz="1900" dirty="0">
                <a:latin typeface="Arial" pitchFamily="34" charset="0"/>
                <a:cs typeface="Arial" pitchFamily="34" charset="0"/>
              </a:rPr>
              <a:t>to school every day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AU" sz="1900" dirty="0" smtClean="0">
                <a:latin typeface="Arial" pitchFamily="34" charset="0"/>
                <a:cs typeface="Arial" pitchFamily="34" charset="0"/>
              </a:rPr>
              <a:t>Last </a:t>
            </a:r>
            <a:r>
              <a:rPr lang="en-AU" sz="1900" dirty="0">
                <a:latin typeface="Arial" pitchFamily="34" charset="0"/>
                <a:cs typeface="Arial" pitchFamily="34" charset="0"/>
              </a:rPr>
              <a:t>Tuesday, he fell off his 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bike and knocked his head </a:t>
            </a:r>
            <a:r>
              <a:rPr lang="en-AU" sz="1900" dirty="0">
                <a:latin typeface="Arial" pitchFamily="34" charset="0"/>
                <a:cs typeface="Arial" pitchFamily="34" charset="0"/>
              </a:rPr>
              <a:t>because the </a:t>
            </a:r>
            <a:r>
              <a:rPr lang="en-AU" sz="21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bikeway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1900" dirty="0">
                <a:latin typeface="Arial" pitchFamily="34" charset="0"/>
                <a:cs typeface="Arial" pitchFamily="34" charset="0"/>
              </a:rPr>
              <a:t>he was riding on was 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uneven.</a:t>
            </a:r>
          </a:p>
          <a:p>
            <a:pPr>
              <a:lnSpc>
                <a:spcPct val="110000"/>
              </a:lnSpc>
            </a:pPr>
            <a:r>
              <a:rPr lang="en-AU" sz="1900" dirty="0" smtClean="0">
                <a:latin typeface="Arial" pitchFamily="34" charset="0"/>
                <a:cs typeface="Arial" pitchFamily="34" charset="0"/>
              </a:rPr>
              <a:t>There were a </a:t>
            </a:r>
            <a:r>
              <a:rPr lang="en-AU" sz="1900" dirty="0">
                <a:latin typeface="Arial" pitchFamily="34" charset="0"/>
                <a:cs typeface="Arial" pitchFamily="34" charset="0"/>
              </a:rPr>
              <a:t>lot of leaves and dirt on the 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path, which made it slippery. </a:t>
            </a:r>
          </a:p>
          <a:p>
            <a:pPr>
              <a:lnSpc>
                <a:spcPct val="110000"/>
              </a:lnSpc>
            </a:pPr>
            <a:r>
              <a:rPr lang="en-AU" sz="1900" dirty="0" smtClean="0">
                <a:latin typeface="Arial" pitchFamily="34" charset="0"/>
                <a:cs typeface="Arial" pitchFamily="34" charset="0"/>
              </a:rPr>
              <a:t>Will’s mother called the </a:t>
            </a:r>
            <a:r>
              <a:rPr lang="en-AU" sz="20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ambulance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 to take him to the </a:t>
            </a:r>
            <a:r>
              <a:rPr lang="en-AU" sz="19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hospital.</a:t>
            </a:r>
            <a:endParaRPr lang="en-AU" sz="19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10000"/>
              </a:lnSpc>
            </a:pPr>
            <a:r>
              <a:rPr lang="en-AU" sz="1900" dirty="0" smtClean="0">
                <a:latin typeface="Arial" pitchFamily="34" charset="0"/>
                <a:cs typeface="Arial" pitchFamily="34" charset="0"/>
              </a:rPr>
              <a:t>Luckily, the hospital said he only had bruising and a few cuts.</a:t>
            </a:r>
          </a:p>
          <a:p>
            <a:pPr>
              <a:lnSpc>
                <a:spcPct val="110000"/>
              </a:lnSpc>
            </a:pPr>
            <a:r>
              <a:rPr lang="en-AU" sz="1900" dirty="0" smtClean="0">
                <a:latin typeface="Arial" pitchFamily="34" charset="0"/>
                <a:cs typeface="Arial" pitchFamily="34" charset="0"/>
              </a:rPr>
              <a:t>After making a claim at </a:t>
            </a:r>
            <a:r>
              <a:rPr lang="en-AU" sz="21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Medicare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, Will’s mother </a:t>
            </a:r>
            <a:r>
              <a:rPr lang="en-AU" sz="21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drove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 him back to </a:t>
            </a:r>
            <a:r>
              <a:rPr lang="en-AU" sz="21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school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. Will’s mother called her local councillor to let her know that the </a:t>
            </a:r>
            <a:r>
              <a:rPr lang="en-AU" sz="2100" b="1" dirty="0" smtClean="0">
                <a:solidFill>
                  <a:srgbClr val="77933C"/>
                </a:solidFill>
                <a:latin typeface="Arial" pitchFamily="34" charset="0"/>
                <a:cs typeface="Arial" pitchFamily="34" charset="0"/>
              </a:rPr>
              <a:t>bikeway</a:t>
            </a:r>
            <a:r>
              <a:rPr lang="en-AU" sz="1900" dirty="0" smtClean="0">
                <a:solidFill>
                  <a:srgbClr val="77933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AU" sz="1900" dirty="0" smtClean="0">
                <a:latin typeface="Arial" pitchFamily="34" charset="0"/>
                <a:cs typeface="Arial" pitchFamily="34" charset="0"/>
              </a:rPr>
              <a:t>is unsafe for children.</a:t>
            </a:r>
            <a:endParaRPr lang="en-AU" sz="19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3635896" y="4509119"/>
            <a:ext cx="3384376" cy="1872209"/>
          </a:xfrm>
          <a:prstGeom prst="wedgeRoundRectCallout">
            <a:avLst>
              <a:gd name="adj1" fmla="val 64459"/>
              <a:gd name="adj2" fmla="val 22696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three colours show the different levels of government responsible for each service. </a:t>
            </a:r>
          </a:p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Discuss reasons for the sharing of responsibilities by governments.</a:t>
            </a:r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1540" y="4602876"/>
            <a:ext cx="3015615" cy="461665"/>
          </a:xfrm>
          <a:prstGeom prst="rect">
            <a:avLst/>
          </a:prstGeom>
          <a:solidFill>
            <a:schemeClr val="bg1"/>
          </a:solidFill>
          <a:ln w="19050" cmpd="sng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AU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AU" sz="24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ocal government</a:t>
            </a:r>
            <a:endParaRPr lang="en-AU" sz="24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136" y="5189229"/>
            <a:ext cx="3015615" cy="461665"/>
          </a:xfrm>
          <a:prstGeom prst="rect">
            <a:avLst/>
          </a:prstGeom>
          <a:solidFill>
            <a:schemeClr val="bg1"/>
          </a:solidFill>
          <a:ln w="19050" cmpd="sng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AU" sz="24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tate government</a:t>
            </a:r>
            <a:endParaRPr lang="en-AU" sz="2400" b="1" dirty="0">
              <a:solidFill>
                <a:schemeClr val="accent4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1136" y="5775647"/>
            <a:ext cx="3012031" cy="461665"/>
          </a:xfrm>
          <a:prstGeom prst="rect">
            <a:avLst/>
          </a:prstGeom>
          <a:solidFill>
            <a:schemeClr val="bg1"/>
          </a:solidFill>
          <a:ln w="19050" cmpd="sng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AU" sz="24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federal government</a:t>
            </a:r>
            <a:endParaRPr lang="en-AU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94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95536" y="260038"/>
            <a:ext cx="8280920" cy="115273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Services provided by government</a:t>
            </a:r>
            <a:br>
              <a:rPr lang="en-AU" sz="4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AU" sz="4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 Will’s day</a:t>
            </a:r>
            <a:endParaRPr lang="en-AU" sz="4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536" y="2089826"/>
            <a:ext cx="3156717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77933C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AU" sz="2400" b="1" dirty="0" smtClean="0">
                <a:solidFill>
                  <a:srgbClr val="77933C"/>
                </a:solidFill>
                <a:latin typeface="Arial" pitchFamily="34" charset="0"/>
                <a:cs typeface="Arial" pitchFamily="34" charset="0"/>
              </a:rPr>
              <a:t>ocal government</a:t>
            </a:r>
            <a:endParaRPr lang="en-AU" sz="2400" b="1" dirty="0">
              <a:solidFill>
                <a:srgbClr val="77933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536" y="3471584"/>
            <a:ext cx="3167433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AU" sz="2400" b="1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tate government</a:t>
            </a:r>
            <a:endParaRPr lang="en-AU" sz="2400" b="1" dirty="0">
              <a:solidFill>
                <a:schemeClr val="accent4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536" y="4853342"/>
            <a:ext cx="3084039" cy="46166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federal government</a:t>
            </a:r>
            <a:endParaRPr lang="en-AU" sz="24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7904" y="1772816"/>
            <a:ext cx="4968553" cy="109568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Local facilities</a:t>
            </a:r>
            <a:r>
              <a:rPr lang="en-AU" sz="24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AU" sz="2400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provision of bike paths and maintenance of gardens and bikeways</a:t>
            </a:r>
            <a:endParaRPr lang="en-AU" sz="2400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7904" y="3154574"/>
            <a:ext cx="4968551" cy="109568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Transport: roads and traffic</a:t>
            </a:r>
          </a:p>
          <a:p>
            <a:pPr>
              <a:lnSpc>
                <a:spcPct val="90000"/>
              </a:lnSpc>
            </a:pPr>
            <a:r>
              <a:rPr lang="en-AU" sz="2400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Health: hospitals, ambulance</a:t>
            </a:r>
          </a:p>
          <a:p>
            <a:pPr>
              <a:lnSpc>
                <a:spcPct val="90000"/>
              </a:lnSpc>
            </a:pPr>
            <a:r>
              <a:rPr lang="en-AU" sz="2400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Education: schools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7904" y="4536332"/>
            <a:ext cx="4968553" cy="109568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Health: Medicare</a:t>
            </a:r>
          </a:p>
          <a:p>
            <a:pPr>
              <a:lnSpc>
                <a:spcPct val="90000"/>
              </a:lnSpc>
            </a:pPr>
            <a:r>
              <a:rPr lang="en-AU" sz="24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Education: funding to states/ territories</a:t>
            </a:r>
          </a:p>
        </p:txBody>
      </p:sp>
    </p:spTree>
    <p:extLst>
      <p:ext uri="{BB962C8B-B14F-4D97-AF65-F5344CB8AC3E}">
        <p14:creationId xmlns:p14="http://schemas.microsoft.com/office/powerpoint/2010/main" val="27731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1" grpId="0" animBg="1"/>
      <p:bldP spid="12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ular Callout 3"/>
          <p:cNvSpPr/>
          <p:nvPr/>
        </p:nvSpPr>
        <p:spPr>
          <a:xfrm>
            <a:off x="4572000" y="2060848"/>
            <a:ext cx="3312368" cy="2520280"/>
          </a:xfrm>
          <a:prstGeom prst="wedgeRoundRectCallout">
            <a:avLst>
              <a:gd name="adj1" fmla="val -70240"/>
              <a:gd name="adj2" fmla="val 45176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Transport and health are just two examples where two or three levels of government might share responsibility. </a:t>
            </a:r>
          </a:p>
          <a:p>
            <a:pPr algn="ctr"/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Discuss other examples </a:t>
            </a:r>
            <a:b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AU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with a partner.</a:t>
            </a:r>
            <a:endParaRPr lang="en-AU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72356" y="2492896"/>
            <a:ext cx="3600401" cy="3290933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128215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Shared responsibilities of the</a:t>
            </a:r>
            <a:br>
              <a:rPr lang="en-A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AU" sz="3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three levels of government</a:t>
            </a:r>
            <a:endParaRPr lang="en-AU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96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548680"/>
            <a:ext cx="8229600" cy="43204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AU" sz="1600" b="1" dirty="0">
                <a:latin typeface="Arial" pitchFamily="34" charset="0"/>
                <a:cs typeface="Arial" pitchFamily="34" charset="0"/>
              </a:rPr>
              <a:t>Attributions</a:t>
            </a:r>
            <a:endParaRPr lang="en-AU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67544" y="1052736"/>
            <a:ext cx="7992888" cy="43204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r>
              <a:rPr lang="en-AU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: Everyone’s parliament, </a:t>
            </a:r>
            <a:r>
              <a:rPr lang="en-AU" sz="11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www.parliament.qld.gov.au </a:t>
            </a:r>
          </a:p>
          <a:p>
            <a:pPr marL="0" indent="0">
              <a:buNone/>
            </a:pP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102114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 powerPoint presentation</Template>
  <TotalTime>1719</TotalTime>
  <Words>344</Words>
  <Application>Microsoft Office PowerPoint</Application>
  <PresentationFormat>On-screen Show (4:3)</PresentationFormat>
  <Paragraphs>51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blank powerPoint presentation</vt:lpstr>
      <vt:lpstr>Shared roles and responsibilities within Australia’s federal system of government: An everyday example</vt:lpstr>
      <vt:lpstr>Three levels of government</vt:lpstr>
      <vt:lpstr>PowerPoint Presentation</vt:lpstr>
      <vt:lpstr>PowerPoint Presentation</vt:lpstr>
      <vt:lpstr>PowerPoint Presentation</vt:lpstr>
      <vt:lpstr>PowerPoint Presentation</vt:lpstr>
      <vt:lpstr>Attributions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SOMERVILLE, Elizabeth</dc:creator>
  <cp:lastModifiedBy>LANGDALE, Susann</cp:lastModifiedBy>
  <cp:revision>140</cp:revision>
  <dcterms:created xsi:type="dcterms:W3CDTF">2014-07-04T04:09:07Z</dcterms:created>
  <dcterms:modified xsi:type="dcterms:W3CDTF">2017-01-17T21:52:34Z</dcterms:modified>
</cp:coreProperties>
</file>