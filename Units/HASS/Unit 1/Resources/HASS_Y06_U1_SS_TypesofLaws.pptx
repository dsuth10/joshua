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6" r:id="rId2"/>
    <p:sldId id="273" r:id="rId3"/>
    <p:sldId id="257" r:id="rId4"/>
    <p:sldId id="279" r:id="rId5"/>
    <p:sldId id="274" r:id="rId6"/>
    <p:sldId id="281" r:id="rId7"/>
    <p:sldId id="263" r:id="rId8"/>
    <p:sldId id="285" r:id="rId9"/>
    <p:sldId id="286" r:id="rId10"/>
    <p:sldId id="275" r:id="rId11"/>
    <p:sldId id="283" r:id="rId12"/>
    <p:sldId id="269" r:id="rId13"/>
    <p:sldId id="277" r:id="rId14"/>
    <p:sldId id="262" r:id="rId15"/>
  </p:sldIdLst>
  <p:sldSz cx="9144000" cy="6858000" type="screen4x3"/>
  <p:notesSz cx="6669088" cy="97536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BEEF4"/>
    <a:srgbClr val="B7DEE8"/>
    <a:srgbClr val="93CDDD"/>
    <a:srgbClr val="CEE98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726" autoAdjust="0"/>
    <p:restoredTop sz="96631" autoAdjust="0"/>
  </p:normalViewPr>
  <p:slideViewPr>
    <p:cSldViewPr>
      <p:cViewPr varScale="1">
        <p:scale>
          <a:sx n="109" d="100"/>
          <a:sy n="109" d="100"/>
        </p:scale>
        <p:origin x="-1842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90568" cy="487918"/>
          </a:xfrm>
          <a:prstGeom prst="rect">
            <a:avLst/>
          </a:prstGeom>
        </p:spPr>
        <p:txBody>
          <a:bodyPr vert="horz" lIns="90988" tIns="45493" rIns="90988" bIns="45493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776946" y="0"/>
            <a:ext cx="2890568" cy="487918"/>
          </a:xfrm>
          <a:prstGeom prst="rect">
            <a:avLst/>
          </a:prstGeom>
        </p:spPr>
        <p:txBody>
          <a:bodyPr vert="horz" lIns="90988" tIns="45493" rIns="90988" bIns="45493" rtlCol="0"/>
          <a:lstStyle>
            <a:lvl1pPr algn="r">
              <a:defRPr sz="1200"/>
            </a:lvl1pPr>
          </a:lstStyle>
          <a:p>
            <a:fld id="{43DE75D4-58C4-46E0-BA77-D420CDC35507}" type="datetimeFigureOut">
              <a:rPr lang="en-AU" smtClean="0"/>
              <a:t>17/01/2017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264098"/>
            <a:ext cx="2890568" cy="487918"/>
          </a:xfrm>
          <a:prstGeom prst="rect">
            <a:avLst/>
          </a:prstGeom>
        </p:spPr>
        <p:txBody>
          <a:bodyPr vert="horz" lIns="90988" tIns="45493" rIns="90988" bIns="45493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776946" y="9264098"/>
            <a:ext cx="2890568" cy="487918"/>
          </a:xfrm>
          <a:prstGeom prst="rect">
            <a:avLst/>
          </a:prstGeom>
        </p:spPr>
        <p:txBody>
          <a:bodyPr vert="horz" lIns="90988" tIns="45493" rIns="90988" bIns="45493" rtlCol="0" anchor="b"/>
          <a:lstStyle>
            <a:lvl1pPr algn="r">
              <a:defRPr sz="1200"/>
            </a:lvl1pPr>
          </a:lstStyle>
          <a:p>
            <a:fld id="{51E395CF-9CD5-4819-AE28-4C2D37D10FB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168363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3" y="0"/>
            <a:ext cx="2889938" cy="487680"/>
          </a:xfrm>
          <a:prstGeom prst="rect">
            <a:avLst/>
          </a:prstGeom>
        </p:spPr>
        <p:txBody>
          <a:bodyPr vert="horz" lIns="90988" tIns="45493" rIns="90988" bIns="45493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87680"/>
          </a:xfrm>
          <a:prstGeom prst="rect">
            <a:avLst/>
          </a:prstGeom>
        </p:spPr>
        <p:txBody>
          <a:bodyPr vert="horz" lIns="90988" tIns="45493" rIns="90988" bIns="45493" rtlCol="0"/>
          <a:lstStyle>
            <a:lvl1pPr algn="r">
              <a:defRPr sz="1200"/>
            </a:lvl1pPr>
          </a:lstStyle>
          <a:p>
            <a:fld id="{7A33441A-51BE-4165-8E1A-B0DFBBA158D1}" type="datetimeFigureOut">
              <a:rPr lang="en-AU" smtClean="0"/>
              <a:t>17/01/2017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896938" y="731838"/>
            <a:ext cx="4875212" cy="3657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988" tIns="45493" rIns="90988" bIns="45493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632960"/>
            <a:ext cx="5335270" cy="4389120"/>
          </a:xfrm>
          <a:prstGeom prst="rect">
            <a:avLst/>
          </a:prstGeom>
        </p:spPr>
        <p:txBody>
          <a:bodyPr vert="horz" lIns="90988" tIns="45493" rIns="90988" bIns="45493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3" y="9264228"/>
            <a:ext cx="2889938" cy="487680"/>
          </a:xfrm>
          <a:prstGeom prst="rect">
            <a:avLst/>
          </a:prstGeom>
        </p:spPr>
        <p:txBody>
          <a:bodyPr vert="horz" lIns="90988" tIns="45493" rIns="90988" bIns="45493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264228"/>
            <a:ext cx="2889938" cy="487680"/>
          </a:xfrm>
          <a:prstGeom prst="rect">
            <a:avLst/>
          </a:prstGeom>
        </p:spPr>
        <p:txBody>
          <a:bodyPr vert="horz" lIns="90988" tIns="45493" rIns="90988" bIns="45493" rtlCol="0" anchor="b"/>
          <a:lstStyle>
            <a:lvl1pPr algn="r">
              <a:defRPr sz="1200"/>
            </a:lvl1pPr>
          </a:lstStyle>
          <a:p>
            <a:fld id="{25CCD570-7A19-4784-B4E4-B49773B3642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100370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CCD570-7A19-4784-B4E4-B49773B3642D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00084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CCD570-7A19-4784-B4E4-B49773B3642D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344186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CCD570-7A19-4784-B4E4-B49773B3642D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143279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CCD570-7A19-4784-B4E4-B49773B3642D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815265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14178">
              <a:defRPr/>
            </a:pPr>
            <a:r>
              <a:rPr lang="en-AU" dirty="0" smtClean="0"/>
              <a:t>Laws</a:t>
            </a:r>
            <a:r>
              <a:rPr lang="en-AU" baseline="0" dirty="0" smtClean="0"/>
              <a:t> are designed to protect society as a whole from wrongful action (police can take action). Civic laws help to solve problems which occur between individuals or groups (legal personnel and courts help solve problems).  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CCD570-7A19-4784-B4E4-B49773B3642D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263457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CCD570-7A19-4784-B4E4-B49773B3642D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4913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14178">
              <a:defRPr/>
            </a:pPr>
            <a:endParaRPr lang="en-AU" dirty="0" smtClean="0">
              <a:solidFill>
                <a:schemeClr val="accent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CCD570-7A19-4784-B4E4-B49773B3642D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143279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CCD570-7A19-4784-B4E4-B49773B3642D}" type="slidenum">
              <a:rPr lang="en-AU" smtClean="0">
                <a:solidFill>
                  <a:prstClr val="black"/>
                </a:solidFill>
              </a:rPr>
              <a:pPr/>
              <a:t>8</a:t>
            </a:fld>
            <a:endParaRPr lang="en-A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62574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14178">
              <a:defRPr/>
            </a:pPr>
            <a:endParaRPr lang="en-AU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CCD570-7A19-4784-B4E4-B49773B3642D}" type="slidenum">
              <a:rPr lang="en-AU" smtClean="0"/>
              <a:t>10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815265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14178">
              <a:defRPr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CCD570-7A19-4784-B4E4-B49773B3642D}" type="slidenum">
              <a:rPr lang="en-AU" smtClean="0"/>
              <a:t>11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263457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CCD570-7A19-4784-B4E4-B49773B3642D}" type="slidenum">
              <a:rPr lang="en-AU" smtClean="0"/>
              <a:t>12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5328367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CCD570-7A19-4784-B4E4-B49773B3642D}" type="slidenum">
              <a:rPr lang="en-AU" smtClean="0"/>
              <a:t>13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1432794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CCD570-7A19-4784-B4E4-B49773B3642D}" type="slidenum">
              <a:rPr lang="en-AU" smtClean="0"/>
              <a:t>14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746992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16E947E6-E89A-4D98-B08E-3F280F334EA1}" type="datetime1">
              <a:rPr lang="en-AU" smtClean="0"/>
              <a:t>17/01/2017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en-AU" smtClean="0"/>
              <a:t>Civ_Y05-6_U1_SS_KeyFeaturesAustralianElectoralProcess</a:t>
            </a: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0C6B666-C518-4F07-984B-5D53DF9AB5E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3742578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0FBC851-EDE5-4300-8AA1-CA5778BC532E}" type="datetime1">
              <a:rPr lang="en-AU" smtClean="0"/>
              <a:t>17/01/2017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en-AU" smtClean="0"/>
              <a:t>Civ_Y05-6_U1_SS_KeyFeaturesAustralianElectoralProcess</a:t>
            </a: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0C6B666-C518-4F07-984B-5D53DF9AB5E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7472115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337FAD3B-854B-42FC-85F1-9AC8F1BCE46B}" type="datetime1">
              <a:rPr lang="en-AU" smtClean="0"/>
              <a:t>17/01/2017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en-AU" smtClean="0"/>
              <a:t>Civ_Y05-6_U1_SS_KeyFeaturesAustralianElectoralProcess</a:t>
            </a:r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0C6B666-C518-4F07-984B-5D53DF9AB5E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6293319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33864A17-5D28-4BF5-B63C-3A30E48A6DE8}" type="datetime1">
              <a:rPr lang="en-AU" smtClean="0"/>
              <a:t>17/01/2017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en-AU" smtClean="0"/>
              <a:t>Civ_Y05-6_U1_SS_KeyFeaturesAustralianElectoralProcess</a:t>
            </a:r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0C6B666-C518-4F07-984B-5D53DF9AB5E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8915445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emf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7750807" y="6590629"/>
            <a:ext cx="1308100" cy="228600"/>
          </a:xfrm>
          <a:prstGeom prst="rect">
            <a:avLst/>
          </a:prstGeom>
        </p:spPr>
      </p:pic>
      <p:sp>
        <p:nvSpPr>
          <p:cNvPr id="10" name="Rectangle 9"/>
          <p:cNvSpPr/>
          <p:nvPr userDrawn="1"/>
        </p:nvSpPr>
        <p:spPr>
          <a:xfrm>
            <a:off x="0" y="6704929"/>
            <a:ext cx="1940280" cy="1692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/>
            <a:r>
              <a:rPr lang="en-US" sz="500" b="0" i="0" u="none" strike="noStrike" kern="1200" baseline="0" dirty="0" smtClean="0">
                <a:solidFill>
                  <a:schemeClr val="tx1"/>
                </a:solidFill>
                <a:latin typeface="Arial"/>
                <a:ea typeface="+mn-ea"/>
                <a:cs typeface="Arial"/>
              </a:rPr>
              <a:t>CIC_Y05-06Band_U1_SS_LawsAffectPeople</a:t>
            </a:r>
          </a:p>
        </p:txBody>
      </p:sp>
      <p:pic>
        <p:nvPicPr>
          <p:cNvPr id="12" name="Picture 11" descr="C2CIcon.png"/>
          <p:cNvPicPr>
            <a:picLocks noChangeAspect="1"/>
          </p:cNvPicPr>
          <p:nvPr userDrawn="1"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144" y="6520911"/>
            <a:ext cx="424150" cy="184018"/>
          </a:xfrm>
          <a:prstGeom prst="rect">
            <a:avLst/>
          </a:prstGeom>
        </p:spPr>
      </p:pic>
      <p:pic>
        <p:nvPicPr>
          <p:cNvPr id="7" name="Picture 6" descr="../../../../../../../../Volumes/Data/Coredata/DevArea/C2C/ePublishing/Templates/logos/201"/>
          <p:cNvPicPr/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3888" y="6566710"/>
            <a:ext cx="2016224" cy="24399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07943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5" r:id="rId4"/>
  </p:sldLayoutIdLst>
  <p:timing>
    <p:tnLst>
      <p:par>
        <p:cTn id="1" dur="indefinite" restart="never" nodeType="tmRoot"/>
      </p:par>
    </p:tnLst>
  </p:timing>
  <p:hf sldNum="0"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2996952"/>
            <a:ext cx="9144000" cy="1800200"/>
          </a:xfrm>
          <a:prstGeom prst="rect">
            <a:avLst/>
          </a:prstGeom>
          <a:solidFill>
            <a:srgbClr val="DBE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 Placeholder 2"/>
          <p:cNvSpPr txBox="1">
            <a:spLocks/>
          </p:cNvSpPr>
          <p:nvPr/>
        </p:nvSpPr>
        <p:spPr>
          <a:xfrm>
            <a:off x="158824" y="288032"/>
            <a:ext cx="7328992" cy="1224135"/>
          </a:xfrm>
          <a:prstGeom prst="rect">
            <a:avLst/>
          </a:prstGeom>
          <a:noFill/>
          <a:ln w="31750">
            <a:noFill/>
          </a:ln>
        </p:spPr>
        <p:txBody>
          <a:bodyPr vert="horz" lIns="91440" tIns="45720" rIns="91440" bIns="45720" rtlCol="0" anchor="ctr">
            <a:normAutofit fontScale="40000" lnSpcReduction="20000"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6000" kern="1200" baseline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AU" sz="18500" b="1" dirty="0" smtClean="0">
                <a:solidFill>
                  <a:schemeClr val="accent5">
                    <a:lumMod val="75000"/>
                  </a:schemeClr>
                </a:solidFill>
              </a:rPr>
              <a:t>Types of laws</a:t>
            </a:r>
          </a:p>
        </p:txBody>
      </p:sp>
      <p:sp>
        <p:nvSpPr>
          <p:cNvPr id="23" name="Text Placeholder 2"/>
          <p:cNvSpPr txBox="1">
            <a:spLocks/>
          </p:cNvSpPr>
          <p:nvPr/>
        </p:nvSpPr>
        <p:spPr>
          <a:xfrm>
            <a:off x="158824" y="1412776"/>
            <a:ext cx="8229600" cy="1008112"/>
          </a:xfrm>
          <a:prstGeom prst="rect">
            <a:avLst/>
          </a:prstGeom>
          <a:noFill/>
          <a:ln w="317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AU" sz="4400" dirty="0" smtClean="0">
                <a:solidFill>
                  <a:srgbClr val="31859C"/>
                </a:solidFill>
              </a:rPr>
              <a:t>How they affect our lives</a:t>
            </a:r>
            <a:endParaRPr lang="en-AU" sz="4400" dirty="0">
              <a:solidFill>
                <a:srgbClr val="31859C"/>
              </a:solidFill>
            </a:endParaRPr>
          </a:p>
        </p:txBody>
      </p:sp>
      <p:pic>
        <p:nvPicPr>
          <p:cNvPr id="15" name="Picture 14" descr="Civ_Y3-4_U2_AT_Rules#D1D933.jpg"/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71600" y="3130920"/>
            <a:ext cx="1556774" cy="1366109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2041" y="2914896"/>
            <a:ext cx="1833366" cy="188225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9396" y="2946836"/>
            <a:ext cx="2448867" cy="1801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31540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iv_Y3-4_U2_AT_Rules#D1D933.jpg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528" y="1556792"/>
            <a:ext cx="6381597" cy="4635906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23528" y="463035"/>
            <a:ext cx="583264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4000" dirty="0" smtClean="0">
                <a:solidFill>
                  <a:schemeClr val="accent5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A </a:t>
            </a:r>
            <a:r>
              <a:rPr lang="en-AU" sz="4000" b="1" dirty="0" smtClean="0">
                <a:solidFill>
                  <a:schemeClr val="accent5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rule</a:t>
            </a:r>
            <a:r>
              <a:rPr lang="en-AU" sz="4000" dirty="0" smtClean="0">
                <a:solidFill>
                  <a:schemeClr val="accent5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 or a </a:t>
            </a:r>
            <a:r>
              <a:rPr lang="en-AU" sz="4000" b="1" dirty="0" smtClean="0">
                <a:solidFill>
                  <a:schemeClr val="accent5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law</a:t>
            </a:r>
            <a:r>
              <a:rPr lang="en-AU" sz="4000" dirty="0" smtClean="0">
                <a:solidFill>
                  <a:schemeClr val="accent5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 ?</a:t>
            </a:r>
            <a:endParaRPr lang="en-AU" sz="4000" dirty="0">
              <a:solidFill>
                <a:schemeClr val="accent5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AutoShape 4"/>
          <p:cNvSpPr>
            <a:spLocks noChangeArrowheads="1"/>
          </p:cNvSpPr>
          <p:nvPr/>
        </p:nvSpPr>
        <p:spPr bwMode="auto">
          <a:xfrm>
            <a:off x="4427984" y="476672"/>
            <a:ext cx="1872208" cy="1080120"/>
          </a:xfrm>
          <a:prstGeom prst="wedgeRoundRectCallout">
            <a:avLst>
              <a:gd name="adj1" fmla="val 77147"/>
              <a:gd name="adj2" fmla="val 19582"/>
              <a:gd name="adj3" fmla="val 16667"/>
            </a:avLst>
          </a:prstGeom>
          <a:solidFill>
            <a:srgbClr val="DBEEF4"/>
          </a:solidFill>
          <a:ln w="19050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AU" altLang="zh-CN" sz="1600" b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SimSun" pitchFamily="2" charset="-122"/>
                <a:cs typeface="Arial" pitchFamily="34" charset="0"/>
              </a:rPr>
              <a:t>There’s a difference between rules and laws.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767095" y="1628800"/>
            <a:ext cx="1981369" cy="427809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1750">
            <a:noFill/>
          </a:ln>
        </p:spPr>
        <p:txBody>
          <a:bodyPr wrap="square" rtlCol="0">
            <a:spAutoFit/>
          </a:bodyPr>
          <a:lstStyle/>
          <a:p>
            <a:r>
              <a:rPr lang="en-AU" sz="1600" b="1" dirty="0" smtClean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Activity time   </a:t>
            </a:r>
          </a:p>
          <a:p>
            <a:r>
              <a:rPr lang="en-AU" sz="1600" dirty="0" smtClean="0">
                <a:latin typeface="Arial" pitchFamily="34" charset="0"/>
                <a:cs typeface="Arial" pitchFamily="34" charset="0"/>
              </a:rPr>
              <a:t>Why are rules and laws different?</a:t>
            </a:r>
          </a:p>
          <a:p>
            <a:endParaRPr lang="en-AU" sz="1600" dirty="0" smtClean="0">
              <a:latin typeface="Arial" pitchFamily="34" charset="0"/>
              <a:cs typeface="Arial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600" b="1" dirty="0" smtClean="0">
                <a:latin typeface="Arial" pitchFamily="34" charset="0"/>
                <a:cs typeface="Arial" pitchFamily="34" charset="0"/>
              </a:rPr>
              <a:t>Read</a:t>
            </a:r>
            <a:r>
              <a:rPr lang="en-AU" sz="1600" dirty="0" smtClean="0">
                <a:latin typeface="Arial" pitchFamily="34" charset="0"/>
                <a:cs typeface="Arial" pitchFamily="34" charset="0"/>
              </a:rPr>
              <a:t> each situation opposite and decide whether it is a rule or a law by </a:t>
            </a:r>
            <a:r>
              <a:rPr lang="en-AU" sz="1600" b="1" dirty="0" smtClean="0">
                <a:latin typeface="Arial" pitchFamily="34" charset="0"/>
                <a:cs typeface="Arial" pitchFamily="34" charset="0"/>
              </a:rPr>
              <a:t>placing a tick </a:t>
            </a:r>
            <a:r>
              <a:rPr lang="en-AU" sz="1600" dirty="0" smtClean="0">
                <a:latin typeface="Arial" pitchFamily="34" charset="0"/>
                <a:cs typeface="Arial" pitchFamily="34" charset="0"/>
              </a:rPr>
              <a:t>(</a:t>
            </a:r>
            <a:r>
              <a:rPr lang="en-AU" sz="1600" dirty="0" smtClean="0">
                <a:latin typeface="Arial" pitchFamily="34" charset="0"/>
                <a:cs typeface="Arial" pitchFamily="34" charset="0"/>
                <a:sym typeface="Wingdings"/>
              </a:rPr>
              <a:t>) in the answer box.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sz="1600" dirty="0" smtClean="0">
              <a:latin typeface="Arial" pitchFamily="34" charset="0"/>
              <a:cs typeface="Arial" pitchFamily="34" charset="0"/>
              <a:sym typeface="Wingding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600" b="1" dirty="0" smtClean="0">
                <a:latin typeface="Arial" pitchFamily="34" charset="0"/>
                <a:cs typeface="Arial" pitchFamily="34" charset="0"/>
                <a:sym typeface="Wingdings"/>
              </a:rPr>
              <a:t>Share </a:t>
            </a:r>
            <a:r>
              <a:rPr lang="en-AU" sz="1600" dirty="0" smtClean="0">
                <a:latin typeface="Arial" pitchFamily="34" charset="0"/>
                <a:cs typeface="Arial" pitchFamily="34" charset="0"/>
                <a:sym typeface="Wingdings"/>
              </a:rPr>
              <a:t>your ideas and opinions with others. </a:t>
            </a:r>
            <a:endParaRPr lang="en-AU" sz="1600" dirty="0" smtClean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8" name="Picture 2" descr="G:\8047_C2C\Civics Citizenship\Art\New Avatars\Civ_Y3-6_Avatars_Mali_head-2.png"/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588224" y="260648"/>
            <a:ext cx="1585464" cy="12148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72759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95058" y="196186"/>
            <a:ext cx="460899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dirty="0" smtClean="0">
                <a:solidFill>
                  <a:srgbClr val="31859C"/>
                </a:solidFill>
                <a:latin typeface="Arial" pitchFamily="34" charset="0"/>
                <a:cs typeface="Arial" pitchFamily="34" charset="0"/>
              </a:rPr>
              <a:t>Examples of laws</a:t>
            </a:r>
            <a:endParaRPr lang="en-AU" sz="4000" dirty="0">
              <a:solidFill>
                <a:srgbClr val="31859C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192180" y="2267580"/>
            <a:ext cx="2453612" cy="369332"/>
          </a:xfrm>
          <a:prstGeom prst="rect">
            <a:avLst/>
          </a:prstGeom>
          <a:solidFill>
            <a:srgbClr val="FFFFFF"/>
          </a:solidFill>
          <a:ln w="317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solidFill>
                  <a:srgbClr val="31859C"/>
                </a:solidFill>
                <a:latin typeface="Arial" pitchFamily="34" charset="0"/>
                <a:cs typeface="Arial" pitchFamily="34" charset="0"/>
              </a:rPr>
              <a:t>k</a:t>
            </a:r>
            <a:r>
              <a:rPr lang="en-AU" dirty="0" smtClean="0">
                <a:solidFill>
                  <a:srgbClr val="31859C"/>
                </a:solidFill>
                <a:latin typeface="Arial" pitchFamily="34" charset="0"/>
                <a:cs typeface="Arial" pitchFamily="34" charset="0"/>
              </a:rPr>
              <a:t>eeping animals</a:t>
            </a:r>
            <a:endParaRPr lang="en-AU" dirty="0">
              <a:solidFill>
                <a:srgbClr val="31859C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81102" y="4355812"/>
            <a:ext cx="1656183" cy="369332"/>
          </a:xfrm>
          <a:prstGeom prst="rect">
            <a:avLst/>
          </a:prstGeom>
          <a:noFill/>
          <a:ln w="317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solidFill>
                  <a:srgbClr val="31859C"/>
                </a:solidFill>
                <a:latin typeface="Arial" pitchFamily="34" charset="0"/>
                <a:cs typeface="Arial" pitchFamily="34" charset="0"/>
              </a:rPr>
              <a:t>t</a:t>
            </a:r>
            <a:r>
              <a:rPr lang="en-AU" dirty="0" smtClean="0">
                <a:solidFill>
                  <a:srgbClr val="31859C"/>
                </a:solidFill>
                <a:latin typeface="Arial" pitchFamily="34" charset="0"/>
                <a:cs typeface="Arial" pitchFamily="34" charset="0"/>
              </a:rPr>
              <a:t>raffic control</a:t>
            </a:r>
            <a:endParaRPr lang="en-AU" dirty="0">
              <a:solidFill>
                <a:srgbClr val="31859C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854085" y="4355812"/>
            <a:ext cx="1985462" cy="369332"/>
          </a:xfrm>
          <a:prstGeom prst="rect">
            <a:avLst/>
          </a:prstGeom>
          <a:noFill/>
          <a:ln w="317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solidFill>
                  <a:srgbClr val="31859C"/>
                </a:solidFill>
                <a:latin typeface="Arial" pitchFamily="34" charset="0"/>
                <a:cs typeface="Arial" pitchFamily="34" charset="0"/>
              </a:rPr>
              <a:t>r</a:t>
            </a:r>
            <a:r>
              <a:rPr lang="en-AU" dirty="0" smtClean="0">
                <a:solidFill>
                  <a:srgbClr val="31859C"/>
                </a:solidFill>
                <a:latin typeface="Arial" pitchFamily="34" charset="0"/>
                <a:cs typeface="Arial" pitchFamily="34" charset="0"/>
              </a:rPr>
              <a:t>ubbish collection</a:t>
            </a:r>
            <a:endParaRPr lang="en-AU" dirty="0">
              <a:solidFill>
                <a:srgbClr val="31859C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16492" y="2267580"/>
            <a:ext cx="1737863" cy="369332"/>
          </a:xfrm>
          <a:prstGeom prst="rect">
            <a:avLst/>
          </a:prstGeom>
          <a:solidFill>
            <a:srgbClr val="FFFFFF"/>
          </a:solidFill>
          <a:ln w="317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AU" dirty="0" smtClean="0">
                <a:solidFill>
                  <a:schemeClr val="accent5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waste disposal</a:t>
            </a:r>
            <a:endParaRPr lang="en-AU" dirty="0">
              <a:solidFill>
                <a:schemeClr val="accent5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483525" y="2267580"/>
            <a:ext cx="1512411" cy="369332"/>
          </a:xfrm>
          <a:prstGeom prst="rect">
            <a:avLst/>
          </a:prstGeom>
          <a:solidFill>
            <a:srgbClr val="FFFFFF"/>
          </a:solidFill>
          <a:ln w="317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solidFill>
                  <a:srgbClr val="31859C"/>
                </a:solidFill>
                <a:latin typeface="Arial" pitchFamily="34" charset="0"/>
                <a:cs typeface="Arial" pitchFamily="34" charset="0"/>
              </a:rPr>
              <a:t>b</a:t>
            </a:r>
            <a:r>
              <a:rPr lang="en-AU" dirty="0" smtClean="0">
                <a:solidFill>
                  <a:srgbClr val="31859C"/>
                </a:solidFill>
                <a:latin typeface="Arial" pitchFamily="34" charset="0"/>
                <a:cs typeface="Arial" pitchFamily="34" charset="0"/>
              </a:rPr>
              <a:t>arking dogs</a:t>
            </a:r>
            <a:endParaRPr lang="en-AU" dirty="0">
              <a:solidFill>
                <a:srgbClr val="31859C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516346" y="4355812"/>
            <a:ext cx="1152128" cy="369332"/>
          </a:xfrm>
          <a:prstGeom prst="rect">
            <a:avLst/>
          </a:prstGeom>
          <a:noFill/>
          <a:ln w="317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AU" dirty="0" smtClean="0">
                <a:solidFill>
                  <a:srgbClr val="31859C"/>
                </a:solidFill>
                <a:latin typeface="Arial" pitchFamily="34" charset="0"/>
                <a:cs typeface="Arial" pitchFamily="34" charset="0"/>
              </a:rPr>
              <a:t>parking</a:t>
            </a:r>
            <a:endParaRPr lang="en-AU" dirty="0">
              <a:solidFill>
                <a:srgbClr val="31859C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139952" y="2267580"/>
            <a:ext cx="1864558" cy="369332"/>
          </a:xfrm>
          <a:prstGeom prst="rect">
            <a:avLst/>
          </a:prstGeom>
          <a:solidFill>
            <a:srgbClr val="FFFFFF"/>
          </a:solidFill>
          <a:ln w="317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solidFill>
                  <a:srgbClr val="31859C"/>
                </a:solidFill>
                <a:latin typeface="Arial" pitchFamily="34" charset="0"/>
                <a:cs typeface="Arial" pitchFamily="34" charset="0"/>
              </a:rPr>
              <a:t>a</a:t>
            </a:r>
            <a:r>
              <a:rPr lang="en-AU" dirty="0" smtClean="0">
                <a:solidFill>
                  <a:srgbClr val="31859C"/>
                </a:solidFill>
                <a:latin typeface="Arial" pitchFamily="34" charset="0"/>
                <a:cs typeface="Arial" pitchFamily="34" charset="0"/>
              </a:rPr>
              <a:t>ttending school</a:t>
            </a:r>
            <a:endParaRPr lang="en-AU" dirty="0">
              <a:solidFill>
                <a:srgbClr val="31859C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663876" y="4325034"/>
            <a:ext cx="776493" cy="400110"/>
          </a:xfrm>
          <a:prstGeom prst="rect">
            <a:avLst/>
          </a:prstGeom>
          <a:noFill/>
          <a:ln w="317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AU" sz="2000" dirty="0" smtClean="0">
                <a:solidFill>
                  <a:srgbClr val="31859C"/>
                </a:solidFill>
                <a:latin typeface="Arial" pitchFamily="34" charset="0"/>
                <a:cs typeface="Arial" pitchFamily="34" charset="0"/>
              </a:rPr>
              <a:t>theft</a:t>
            </a:r>
            <a:endParaRPr lang="en-AU" sz="2000" dirty="0">
              <a:solidFill>
                <a:srgbClr val="31859C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407160" y="6011996"/>
            <a:ext cx="1579047" cy="369332"/>
          </a:xfrm>
          <a:prstGeom prst="rect">
            <a:avLst/>
          </a:prstGeom>
          <a:solidFill>
            <a:srgbClr val="FFFFFF"/>
          </a:solidFill>
          <a:ln w="317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solidFill>
                  <a:srgbClr val="31859C"/>
                </a:solidFill>
                <a:latin typeface="Arial" pitchFamily="34" charset="0"/>
                <a:cs typeface="Arial" pitchFamily="34" charset="0"/>
              </a:rPr>
              <a:t>w</a:t>
            </a:r>
            <a:r>
              <a:rPr lang="en-AU" dirty="0" smtClean="0">
                <a:solidFill>
                  <a:srgbClr val="31859C"/>
                </a:solidFill>
                <a:latin typeface="Arial" pitchFamily="34" charset="0"/>
                <a:cs typeface="Arial" pitchFamily="34" charset="0"/>
              </a:rPr>
              <a:t>ater supply</a:t>
            </a:r>
            <a:endParaRPr lang="en-AU" dirty="0">
              <a:solidFill>
                <a:srgbClr val="31859C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0" name="Rounded Rectangular Callout 29"/>
          <p:cNvSpPr/>
          <p:nvPr/>
        </p:nvSpPr>
        <p:spPr>
          <a:xfrm>
            <a:off x="2479581" y="4737247"/>
            <a:ext cx="3008778" cy="1353948"/>
          </a:xfrm>
          <a:prstGeom prst="wedgeRoundRectCallout">
            <a:avLst>
              <a:gd name="adj1" fmla="val -65774"/>
              <a:gd name="adj2" fmla="val 31424"/>
              <a:gd name="adj3" fmla="val 16667"/>
            </a:avLst>
          </a:prstGeom>
          <a:solidFill>
            <a:srgbClr val="DBEEF4"/>
          </a:solidFill>
          <a:ln w="317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Did you know that there are laws to address all these different issues?</a:t>
            </a:r>
            <a:endParaRPr lang="en-AU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3074" name="Picture 2" descr="G:\8047_C2C\Civics Citizenship\Art\New Avatars\Civ_Y3-6_Avatars_Mali_head-1.png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flipH="1">
            <a:off x="467544" y="5085184"/>
            <a:ext cx="1517650" cy="1162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577" y="915608"/>
            <a:ext cx="1313691" cy="135026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0159" y="889965"/>
            <a:ext cx="1556657" cy="1598168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9803" y="859963"/>
            <a:ext cx="1149867" cy="1411301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2247" y="794062"/>
            <a:ext cx="1685725" cy="1593357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892" y="2602586"/>
            <a:ext cx="1671062" cy="1722448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2461" y="2876175"/>
            <a:ext cx="1455930" cy="1295644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7825" y="2773810"/>
            <a:ext cx="836870" cy="1500374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9990" y="2885022"/>
            <a:ext cx="1441521" cy="147079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5020" y="4635579"/>
            <a:ext cx="1209939" cy="1376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4633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24" grpId="0"/>
      <p:bldP spid="17" grpId="0"/>
      <p:bldP spid="22" grpId="0" animBg="1"/>
      <p:bldP spid="23" grpId="0" animBg="1"/>
      <p:bldP spid="25" grpId="0"/>
      <p:bldP spid="26" grpId="0" animBg="1"/>
      <p:bldP spid="27" grpId="0"/>
      <p:bldP spid="28" grpId="0" animBg="1"/>
      <p:bldP spid="3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39552" y="369530"/>
            <a:ext cx="69847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dirty="0" smtClean="0">
                <a:solidFill>
                  <a:srgbClr val="31859C"/>
                </a:solidFill>
                <a:latin typeface="Arial" pitchFamily="34" charset="0"/>
                <a:cs typeface="Arial" pitchFamily="34" charset="0"/>
              </a:rPr>
              <a:t>Why do we make laws?</a:t>
            </a:r>
            <a:endParaRPr lang="en-AU" sz="4000" dirty="0">
              <a:solidFill>
                <a:srgbClr val="31859C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9552" y="1196752"/>
            <a:ext cx="7935089" cy="1200329"/>
          </a:xfrm>
          <a:prstGeom prst="rect">
            <a:avLst/>
          </a:prstGeom>
          <a:noFill/>
          <a:ln w="31750">
            <a:noFill/>
          </a:ln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AU" sz="3600" dirty="0" smtClean="0">
                <a:latin typeface="Arial" pitchFamily="34" charset="0"/>
                <a:cs typeface="Arial" pitchFamily="34" charset="0"/>
              </a:rPr>
              <a:t>Governments make laws to protect the </a:t>
            </a:r>
            <a:r>
              <a:rPr lang="en-AU" sz="3600" b="1" dirty="0" smtClean="0">
                <a:solidFill>
                  <a:srgbClr val="31859C"/>
                </a:solidFill>
                <a:latin typeface="Arial" pitchFamily="34" charset="0"/>
                <a:cs typeface="Arial" pitchFamily="34" charset="0"/>
              </a:rPr>
              <a:t>rights</a:t>
            </a:r>
            <a:r>
              <a:rPr lang="en-AU" sz="3600" dirty="0" smtClean="0">
                <a:latin typeface="Arial" pitchFamily="34" charset="0"/>
                <a:cs typeface="Arial" pitchFamily="34" charset="0"/>
              </a:rPr>
              <a:t> of citizens.  </a:t>
            </a:r>
            <a:endParaRPr lang="en-AU" sz="3600" dirty="0">
              <a:solidFill>
                <a:srgbClr val="FFFF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Rounded Rectangular Callout 5"/>
          <p:cNvSpPr/>
          <p:nvPr/>
        </p:nvSpPr>
        <p:spPr>
          <a:xfrm>
            <a:off x="3347864" y="3212976"/>
            <a:ext cx="1601286" cy="715888"/>
          </a:xfrm>
          <a:prstGeom prst="wedgeRoundRectCallout">
            <a:avLst>
              <a:gd name="adj1" fmla="val -106395"/>
              <a:gd name="adj2" fmla="val 140404"/>
              <a:gd name="adj3" fmla="val 16667"/>
            </a:avLst>
          </a:prstGeom>
          <a:solidFill>
            <a:schemeClr val="accent5">
              <a:lumMod val="20000"/>
              <a:lumOff val="80000"/>
            </a:schemeClr>
          </a:solidFill>
          <a:ln w="317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What are </a:t>
            </a:r>
            <a:r>
              <a:rPr lang="en-AU" sz="2000" b="1" dirty="0" smtClean="0">
                <a:solidFill>
                  <a:srgbClr val="31859C"/>
                </a:solidFill>
                <a:latin typeface="Arial" pitchFamily="34" charset="0"/>
                <a:cs typeface="Arial" pitchFamily="34" charset="0"/>
              </a:rPr>
              <a:t>rights? </a:t>
            </a:r>
            <a:endParaRPr lang="en-AU" sz="2000" b="1" dirty="0" smtClean="0">
              <a:solidFill>
                <a:srgbClr val="31859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Rounded Rectangular Callout 6"/>
          <p:cNvSpPr/>
          <p:nvPr/>
        </p:nvSpPr>
        <p:spPr>
          <a:xfrm>
            <a:off x="2915816" y="4581128"/>
            <a:ext cx="2314231" cy="862000"/>
          </a:xfrm>
          <a:prstGeom prst="wedgeRoundRectCallout">
            <a:avLst>
              <a:gd name="adj1" fmla="val -73411"/>
              <a:gd name="adj2" fmla="val -36953"/>
              <a:gd name="adj3" fmla="val 16667"/>
            </a:avLst>
          </a:prstGeom>
          <a:solidFill>
            <a:schemeClr val="accent5">
              <a:lumMod val="20000"/>
              <a:lumOff val="80000"/>
            </a:schemeClr>
          </a:solidFill>
          <a:ln w="317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What</a:t>
            </a:r>
            <a:r>
              <a:rPr lang="en-AU" sz="2000" dirty="0" smtClean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 </a:t>
            </a:r>
            <a:r>
              <a:rPr lang="en-AU" sz="20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are some </a:t>
            </a:r>
            <a:r>
              <a:rPr lang="en-AU" sz="2000" b="1" dirty="0" smtClean="0">
                <a:solidFill>
                  <a:srgbClr val="31859C"/>
                </a:solidFill>
                <a:latin typeface="Arial" pitchFamily="34" charset="0"/>
                <a:cs typeface="Arial" pitchFamily="34" charset="0"/>
              </a:rPr>
              <a:t>rights</a:t>
            </a:r>
            <a:r>
              <a:rPr lang="en-AU" sz="2000" dirty="0" smtClean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 </a:t>
            </a:r>
            <a:r>
              <a:rPr lang="en-AU" sz="20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of citizens?</a:t>
            </a:r>
            <a:endParaRPr lang="en-AU" sz="20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13" name="Picture 2" descr="G:\8047_C2C\Civics Citizenship\Art\New Avatars\Civ_Y3-6_Avatars_Mali_head-1.png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flipH="1">
            <a:off x="179512" y="3284984"/>
            <a:ext cx="2450599" cy="187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ounded Rectangle 1"/>
          <p:cNvSpPr/>
          <p:nvPr/>
        </p:nvSpPr>
        <p:spPr>
          <a:xfrm>
            <a:off x="5436096" y="3573016"/>
            <a:ext cx="3600400" cy="1296144"/>
          </a:xfrm>
          <a:prstGeom prst="roundRect">
            <a:avLst/>
          </a:prstGeom>
          <a:solidFill>
            <a:srgbClr val="DBE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For example,</a:t>
            </a:r>
          </a:p>
          <a:p>
            <a:pPr algn="ctr"/>
            <a:r>
              <a:rPr lang="en-AU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the right to feel safe; </a:t>
            </a:r>
          </a:p>
          <a:p>
            <a:pPr algn="ctr"/>
            <a:r>
              <a:rPr lang="en-AU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the right to live in harmony; and</a:t>
            </a:r>
          </a:p>
          <a:p>
            <a:pPr algn="ctr"/>
            <a:r>
              <a:rPr lang="en-AU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the right to live in freedom.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64088" y="3573016"/>
            <a:ext cx="3600400" cy="1296144"/>
          </a:xfrm>
          <a:prstGeom prst="roundRect">
            <a:avLst/>
          </a:prstGeom>
          <a:solidFill>
            <a:srgbClr val="DBE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Rights are claims which are recognised as just and fair </a:t>
            </a:r>
            <a:r>
              <a:rPr lang="en-AU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/>
            </a:r>
            <a:br>
              <a:rPr lang="en-AU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</a:br>
            <a:r>
              <a:rPr lang="en-AU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by </a:t>
            </a:r>
            <a:r>
              <a:rPr lang="en-AU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society.</a:t>
            </a:r>
          </a:p>
        </p:txBody>
      </p:sp>
    </p:spTree>
    <p:extLst>
      <p:ext uri="{BB962C8B-B14F-4D97-AF65-F5344CB8AC3E}">
        <p14:creationId xmlns:p14="http://schemas.microsoft.com/office/powerpoint/2010/main" val="2552471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2" grpId="0" animBg="1"/>
      <p:bldP spid="2" grpId="1" animBg="1"/>
      <p:bldP spid="14" grpId="0" animBg="1"/>
      <p:bldP spid="14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40566" y="968534"/>
            <a:ext cx="7860908" cy="1754326"/>
          </a:xfrm>
          <a:prstGeom prst="rect">
            <a:avLst/>
          </a:prstGeom>
          <a:noFill/>
          <a:ln w="31750">
            <a:noFill/>
          </a:ln>
        </p:spPr>
        <p:txBody>
          <a:bodyPr wrap="square" rtlCol="0">
            <a:spAutoFit/>
          </a:bodyPr>
          <a:lstStyle/>
          <a:p>
            <a:r>
              <a:rPr lang="en-AU" sz="3600" dirty="0" smtClean="0">
                <a:latin typeface="Arial" pitchFamily="34" charset="0"/>
                <a:cs typeface="Arial" pitchFamily="34" charset="0"/>
              </a:rPr>
              <a:t>Laws </a:t>
            </a:r>
            <a:r>
              <a:rPr lang="en-AU" sz="3600" dirty="0">
                <a:latin typeface="Arial" pitchFamily="34" charset="0"/>
                <a:cs typeface="Arial" pitchFamily="34" charset="0"/>
              </a:rPr>
              <a:t>are designed to </a:t>
            </a:r>
            <a:r>
              <a:rPr lang="en-AU" sz="3600" b="1" dirty="0">
                <a:solidFill>
                  <a:srgbClr val="31859C"/>
                </a:solidFill>
                <a:latin typeface="Arial" pitchFamily="34" charset="0"/>
                <a:cs typeface="Arial" pitchFamily="34" charset="0"/>
              </a:rPr>
              <a:t>protect</a:t>
            </a:r>
            <a:r>
              <a:rPr lang="en-AU" sz="3600" dirty="0">
                <a:latin typeface="Arial" pitchFamily="34" charset="0"/>
                <a:cs typeface="Arial" pitchFamily="34" charset="0"/>
              </a:rPr>
              <a:t> society or </a:t>
            </a:r>
            <a:r>
              <a:rPr lang="en-AU" sz="3600" b="1" dirty="0">
                <a:solidFill>
                  <a:srgbClr val="31859C"/>
                </a:solidFill>
                <a:latin typeface="Arial" pitchFamily="34" charset="0"/>
                <a:cs typeface="Arial" pitchFamily="34" charset="0"/>
              </a:rPr>
              <a:t>solve problems </a:t>
            </a:r>
            <a:r>
              <a:rPr lang="en-AU" sz="3600" dirty="0" smtClean="0">
                <a:latin typeface="Arial" pitchFamily="34" charset="0"/>
                <a:cs typeface="Arial" pitchFamily="34" charset="0"/>
              </a:rPr>
              <a:t>that occur </a:t>
            </a:r>
            <a:r>
              <a:rPr lang="en-AU" sz="3600" dirty="0">
                <a:latin typeface="Arial" pitchFamily="34" charset="0"/>
                <a:cs typeface="Arial" pitchFamily="34" charset="0"/>
              </a:rPr>
              <a:t>between individuals and groups. 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566" y="260648"/>
            <a:ext cx="69847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dirty="0" smtClean="0">
                <a:solidFill>
                  <a:srgbClr val="31859C"/>
                </a:solidFill>
                <a:latin typeface="Arial" pitchFamily="34" charset="0"/>
                <a:cs typeface="Arial" pitchFamily="34" charset="0"/>
              </a:rPr>
              <a:t>Why do we make laws?</a:t>
            </a:r>
            <a:endParaRPr lang="en-AU" sz="4000" dirty="0">
              <a:solidFill>
                <a:srgbClr val="31859C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Rounded Rectangular Callout 8"/>
          <p:cNvSpPr/>
          <p:nvPr/>
        </p:nvSpPr>
        <p:spPr>
          <a:xfrm>
            <a:off x="2411760" y="3068960"/>
            <a:ext cx="1872208" cy="1152128"/>
          </a:xfrm>
          <a:prstGeom prst="wedgeRoundRectCallout">
            <a:avLst>
              <a:gd name="adj1" fmla="val -74192"/>
              <a:gd name="adj2" fmla="val 101877"/>
              <a:gd name="adj3" fmla="val 16667"/>
            </a:avLst>
          </a:prstGeom>
          <a:solidFill>
            <a:schemeClr val="accent5">
              <a:lumMod val="20000"/>
              <a:lumOff val="80000"/>
            </a:schemeClr>
          </a:solidFill>
          <a:ln w="317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How do laws  </a:t>
            </a:r>
            <a:r>
              <a:rPr lang="en-AU" sz="2000" b="1" dirty="0" smtClean="0">
                <a:solidFill>
                  <a:srgbClr val="31859C"/>
                </a:solidFill>
                <a:latin typeface="Arial" pitchFamily="34" charset="0"/>
                <a:cs typeface="Arial" pitchFamily="34" charset="0"/>
              </a:rPr>
              <a:t>protect</a:t>
            </a:r>
            <a:r>
              <a:rPr lang="en-AU" sz="2000" dirty="0" smtClean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 </a:t>
            </a:r>
            <a:r>
              <a:rPr lang="en-AU" sz="20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society?</a:t>
            </a:r>
            <a:r>
              <a:rPr lang="en-AU" sz="2000" dirty="0" smtClean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 </a:t>
            </a:r>
          </a:p>
        </p:txBody>
      </p:sp>
      <p:sp>
        <p:nvSpPr>
          <p:cNvPr id="10" name="Rounded Rectangular Callout 9"/>
          <p:cNvSpPr/>
          <p:nvPr/>
        </p:nvSpPr>
        <p:spPr>
          <a:xfrm>
            <a:off x="2411760" y="5171017"/>
            <a:ext cx="1944216" cy="1054706"/>
          </a:xfrm>
          <a:prstGeom prst="wedgeRoundRectCallout">
            <a:avLst>
              <a:gd name="adj1" fmla="val -87587"/>
              <a:gd name="adj2" fmla="val -43812"/>
              <a:gd name="adj3" fmla="val 16667"/>
            </a:avLst>
          </a:prstGeom>
          <a:solidFill>
            <a:schemeClr val="accent5">
              <a:lumMod val="20000"/>
              <a:lumOff val="80000"/>
            </a:schemeClr>
          </a:solidFill>
          <a:ln w="317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How do laws </a:t>
            </a:r>
            <a:r>
              <a:rPr lang="en-AU" sz="2000" b="1" dirty="0" smtClean="0">
                <a:solidFill>
                  <a:srgbClr val="31859C"/>
                </a:solidFill>
                <a:latin typeface="Arial" pitchFamily="34" charset="0"/>
                <a:cs typeface="Arial" pitchFamily="34" charset="0"/>
              </a:rPr>
              <a:t>solve problems?</a:t>
            </a:r>
            <a:endParaRPr lang="en-AU" sz="2000" b="1" dirty="0">
              <a:solidFill>
                <a:srgbClr val="31859C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13" name="Picture 2" descr="G:\8047_C2C\Civics Citizenship\Art\New Avatars\Civ_Y3-6_Avatars_Mali_head-2.png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flipH="1">
            <a:off x="179512" y="4077072"/>
            <a:ext cx="1879466" cy="1440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ounded Rectangle 2"/>
          <p:cNvSpPr/>
          <p:nvPr/>
        </p:nvSpPr>
        <p:spPr>
          <a:xfrm>
            <a:off x="4499992" y="3789040"/>
            <a:ext cx="4320480" cy="1584176"/>
          </a:xfrm>
          <a:prstGeom prst="roundRect">
            <a:avLst/>
          </a:prstGeom>
          <a:solidFill>
            <a:srgbClr val="DBE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For example, laws about wearing a bike helmet have been developed because of the high number of head injuries suffered by cyclists.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99992" y="3789040"/>
            <a:ext cx="4320480" cy="1584176"/>
          </a:xfrm>
          <a:prstGeom prst="roundRect">
            <a:avLst/>
          </a:prstGeom>
          <a:solidFill>
            <a:srgbClr val="DBE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For </a:t>
            </a:r>
            <a:r>
              <a:rPr lang="en-AU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example, laws </a:t>
            </a:r>
            <a:r>
              <a:rPr lang="en-AU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about cycling have been developed to resolve issues about road usage between </a:t>
            </a:r>
            <a:r>
              <a:rPr lang="en-AU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cyclists </a:t>
            </a:r>
            <a:br>
              <a:rPr lang="en-AU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</a:br>
            <a:r>
              <a:rPr lang="en-AU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and </a:t>
            </a:r>
            <a:r>
              <a:rPr lang="en-AU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drivers.</a:t>
            </a:r>
          </a:p>
        </p:txBody>
      </p:sp>
    </p:spTree>
    <p:extLst>
      <p:ext uri="{BB962C8B-B14F-4D97-AF65-F5344CB8AC3E}">
        <p14:creationId xmlns:p14="http://schemas.microsoft.com/office/powerpoint/2010/main" val="244671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3" grpId="0" animBg="1"/>
      <p:bldP spid="3" grpId="1" animBg="1"/>
      <p:bldP spid="18" grpId="0" animBg="1"/>
      <p:bldP spid="18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539552" y="332656"/>
            <a:ext cx="712879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dirty="0" smtClean="0">
                <a:solidFill>
                  <a:srgbClr val="31859C"/>
                </a:solidFill>
                <a:latin typeface="Arial" pitchFamily="34" charset="0"/>
                <a:cs typeface="Arial" pitchFamily="34" charset="0"/>
              </a:rPr>
              <a:t>Examples of laws that protect society or solve problems </a:t>
            </a:r>
            <a:endParaRPr lang="en-AU" sz="3600" dirty="0">
              <a:solidFill>
                <a:srgbClr val="31859C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83568" y="1628800"/>
            <a:ext cx="3672408" cy="458587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1750">
            <a:noFill/>
          </a:ln>
        </p:spPr>
        <p:txBody>
          <a:bodyPr wrap="square" rtlCol="0">
            <a:spAutoFit/>
          </a:bodyPr>
          <a:lstStyle/>
          <a:p>
            <a:r>
              <a:rPr lang="en-AU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Activity time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AU" b="1" dirty="0" smtClean="0">
                <a:latin typeface="Arial" pitchFamily="34" charset="0"/>
                <a:cs typeface="Arial" pitchFamily="34" charset="0"/>
              </a:rPr>
              <a:t>Select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an issue, for example: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AU" sz="1600" dirty="0" smtClean="0">
                <a:latin typeface="Arial" pitchFamily="34" charset="0"/>
                <a:cs typeface="Arial" pitchFamily="34" charset="0"/>
              </a:rPr>
              <a:t>traffic control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AU" sz="1600" dirty="0">
                <a:latin typeface="Arial" pitchFamily="34" charset="0"/>
                <a:cs typeface="Arial" pitchFamily="34" charset="0"/>
              </a:rPr>
              <a:t>a</a:t>
            </a:r>
            <a:r>
              <a:rPr lang="en-AU" sz="1600" dirty="0" smtClean="0">
                <a:latin typeface="Arial" pitchFamily="34" charset="0"/>
                <a:cs typeface="Arial" pitchFamily="34" charset="0"/>
              </a:rPr>
              <a:t>ttending school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AU" sz="1600" dirty="0">
                <a:latin typeface="Arial" pitchFamily="34" charset="0"/>
                <a:cs typeface="Arial" pitchFamily="34" charset="0"/>
              </a:rPr>
              <a:t>b</a:t>
            </a:r>
            <a:r>
              <a:rPr lang="en-AU" sz="1600" dirty="0" smtClean="0">
                <a:latin typeface="Arial" pitchFamily="34" charset="0"/>
                <a:cs typeface="Arial" pitchFamily="34" charset="0"/>
              </a:rPr>
              <a:t>arking dogs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AU" sz="1600" dirty="0">
                <a:latin typeface="Arial" pitchFamily="34" charset="0"/>
                <a:cs typeface="Arial" pitchFamily="34" charset="0"/>
              </a:rPr>
              <a:t>k</a:t>
            </a:r>
            <a:r>
              <a:rPr lang="en-AU" sz="1600" dirty="0" smtClean="0">
                <a:latin typeface="Arial" pitchFamily="34" charset="0"/>
                <a:cs typeface="Arial" pitchFamily="34" charset="0"/>
              </a:rPr>
              <a:t>eeping animals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AU" sz="1600" dirty="0">
                <a:latin typeface="Arial" pitchFamily="34" charset="0"/>
                <a:cs typeface="Arial" pitchFamily="34" charset="0"/>
              </a:rPr>
              <a:t>r</a:t>
            </a:r>
            <a:r>
              <a:rPr lang="en-AU" sz="1600" dirty="0" smtClean="0">
                <a:latin typeface="Arial" pitchFamily="34" charset="0"/>
                <a:cs typeface="Arial" pitchFamily="34" charset="0"/>
              </a:rPr>
              <a:t>ubbish collection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AU" sz="1600" dirty="0">
                <a:latin typeface="Arial" pitchFamily="34" charset="0"/>
                <a:cs typeface="Arial" pitchFamily="34" charset="0"/>
              </a:rPr>
              <a:t>t</a:t>
            </a:r>
            <a:r>
              <a:rPr lang="en-AU" sz="1600" dirty="0" smtClean="0">
                <a:latin typeface="Arial" pitchFamily="34" charset="0"/>
                <a:cs typeface="Arial" pitchFamily="34" charset="0"/>
              </a:rPr>
              <a:t>heft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AU" sz="1600" dirty="0">
                <a:latin typeface="Arial" pitchFamily="34" charset="0"/>
                <a:cs typeface="Arial" pitchFamily="34" charset="0"/>
              </a:rPr>
              <a:t>w</a:t>
            </a:r>
            <a:r>
              <a:rPr lang="en-AU" sz="1600" dirty="0" smtClean="0">
                <a:latin typeface="Arial" pitchFamily="34" charset="0"/>
                <a:cs typeface="Arial" pitchFamily="34" charset="0"/>
              </a:rPr>
              <a:t>ater supply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sz="1600" dirty="0" smtClean="0">
                <a:latin typeface="Arial" pitchFamily="34" charset="0"/>
                <a:cs typeface="Arial" pitchFamily="34" charset="0"/>
              </a:rPr>
              <a:t>p</a:t>
            </a:r>
            <a:r>
              <a:rPr lang="en-AU" sz="1600" dirty="0" err="1" smtClean="0">
                <a:latin typeface="Arial" pitchFamily="34" charset="0"/>
                <a:cs typeface="Arial" pitchFamily="34" charset="0"/>
              </a:rPr>
              <a:t>arking</a:t>
            </a:r>
            <a:r>
              <a:rPr lang="en-AU" sz="16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endParaRPr lang="en-AU" sz="1600" dirty="0">
              <a:latin typeface="Arial" pitchFamily="34" charset="0"/>
              <a:cs typeface="Arial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600" b="1" dirty="0" smtClean="0">
                <a:latin typeface="Arial" pitchFamily="34" charset="0"/>
                <a:cs typeface="Arial" pitchFamily="34" charset="0"/>
              </a:rPr>
              <a:t>Identify </a:t>
            </a:r>
            <a:r>
              <a:rPr lang="en-AU" sz="1600" dirty="0" smtClean="0">
                <a:latin typeface="Arial" pitchFamily="34" charset="0"/>
                <a:cs typeface="Arial" pitchFamily="34" charset="0"/>
              </a:rPr>
              <a:t>an example of a law that addresses the issue.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sz="1600" dirty="0" smtClean="0">
              <a:latin typeface="Arial" pitchFamily="34" charset="0"/>
              <a:cs typeface="Arial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600" b="1" dirty="0" smtClean="0">
                <a:latin typeface="Arial" pitchFamily="34" charset="0"/>
                <a:cs typeface="Arial" pitchFamily="34" charset="0"/>
              </a:rPr>
              <a:t>Decide</a:t>
            </a:r>
            <a:r>
              <a:rPr lang="en-AU" sz="1600" dirty="0" smtClean="0">
                <a:latin typeface="Arial" pitchFamily="34" charset="0"/>
                <a:cs typeface="Arial" pitchFamily="34" charset="0"/>
              </a:rPr>
              <a:t> if the law protects an individual’s rights or resolves a problem between individuals, </a:t>
            </a:r>
            <a:br>
              <a:rPr lang="en-AU" sz="1600" dirty="0" smtClean="0">
                <a:latin typeface="Arial" pitchFamily="34" charset="0"/>
                <a:cs typeface="Arial" pitchFamily="34" charset="0"/>
              </a:rPr>
            </a:br>
            <a:r>
              <a:rPr lang="en-AU" sz="1600" dirty="0" smtClean="0">
                <a:latin typeface="Arial" pitchFamily="34" charset="0"/>
                <a:cs typeface="Arial" pitchFamily="34" charset="0"/>
              </a:rPr>
              <a:t>and record.</a:t>
            </a:r>
            <a:endParaRPr lang="en-AU" sz="16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1" name="Rounded Rectangular Callout 10"/>
          <p:cNvSpPr/>
          <p:nvPr/>
        </p:nvSpPr>
        <p:spPr>
          <a:xfrm>
            <a:off x="5724128" y="1628800"/>
            <a:ext cx="3052664" cy="1152128"/>
          </a:xfrm>
          <a:prstGeom prst="wedgeRoundRectCallout">
            <a:avLst>
              <a:gd name="adj1" fmla="val -37159"/>
              <a:gd name="adj2" fmla="val 122571"/>
              <a:gd name="adj3" fmla="val 16667"/>
            </a:avLst>
          </a:prstGeom>
          <a:solidFill>
            <a:srgbClr val="DBEEF4"/>
          </a:solidFill>
          <a:ln w="317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6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Police can take action if someone breaks a law that protects society.</a:t>
            </a:r>
          </a:p>
        </p:txBody>
      </p:sp>
      <p:sp>
        <p:nvSpPr>
          <p:cNvPr id="12" name="Rounded Rectangular Callout 11"/>
          <p:cNvSpPr/>
          <p:nvPr/>
        </p:nvSpPr>
        <p:spPr>
          <a:xfrm>
            <a:off x="7092281" y="3068960"/>
            <a:ext cx="1728192" cy="2880320"/>
          </a:xfrm>
          <a:prstGeom prst="wedgeRoundRectCallout">
            <a:avLst>
              <a:gd name="adj1" fmla="val -101977"/>
              <a:gd name="adj2" fmla="val -10061"/>
              <a:gd name="adj3" fmla="val 16667"/>
            </a:avLst>
          </a:prstGeom>
          <a:solidFill>
            <a:srgbClr val="DBEEF4"/>
          </a:solidFill>
          <a:ln w="317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289">
              <a:defRPr/>
            </a:pPr>
            <a:r>
              <a:rPr lang="en-AU" sz="16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Legal personnel and courts help to </a:t>
            </a:r>
            <a:r>
              <a:rPr lang="en-AU" sz="16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solve </a:t>
            </a:r>
            <a:r>
              <a:rPr lang="en-AU" sz="16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problems involving laws that occur </a:t>
            </a:r>
            <a:r>
              <a:rPr lang="en-AU" sz="16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between individuals or </a:t>
            </a:r>
            <a:r>
              <a:rPr lang="en-AU" sz="16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groups.</a:t>
            </a:r>
            <a:endParaRPr lang="en-AU" sz="16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4098" name="Picture 2" descr="G:\8047_C2C\Civics Citizenship\Art\New Avatars\Civ_Y3-6_Avatars_Mali_Torso_3.png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779912" y="3284984"/>
            <a:ext cx="3453801" cy="27989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61649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4545453"/>
              </p:ext>
            </p:extLst>
          </p:nvPr>
        </p:nvGraphicFramePr>
        <p:xfrm>
          <a:off x="549354" y="3429000"/>
          <a:ext cx="7776864" cy="24099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2288"/>
                <a:gridCol w="2592288"/>
                <a:gridCol w="2592288"/>
              </a:tblGrid>
              <a:tr h="1224136">
                <a:tc>
                  <a:txBody>
                    <a:bodyPr/>
                    <a:lstStyle/>
                    <a:p>
                      <a:r>
                        <a:rPr lang="en-AU" sz="2000" b="0" dirty="0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Arial" pitchFamily="34" charset="0"/>
                          <a:cs typeface="Arial" pitchFamily="34" charset="0"/>
                        </a:rPr>
                        <a:t>Road laws</a:t>
                      </a:r>
                    </a:p>
                    <a:p>
                      <a:endParaRPr lang="en-AU" sz="2000" b="0" dirty="0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  <a:p>
                      <a:endParaRPr lang="en-AU" sz="2000" b="0" dirty="0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2000" b="0" dirty="0" smtClean="0">
                          <a:solidFill>
                            <a:srgbClr val="215968"/>
                          </a:solidFill>
                          <a:latin typeface="Arial" pitchFamily="34" charset="0"/>
                          <a:cs typeface="Arial" pitchFamily="34" charset="0"/>
                        </a:rPr>
                        <a:t>Health laws</a:t>
                      </a:r>
                    </a:p>
                    <a:p>
                      <a:pPr marL="342900" indent="-342900">
                        <a:buFont typeface="Arial" pitchFamily="34" charset="0"/>
                        <a:buChar char="•"/>
                      </a:pPr>
                      <a:endParaRPr lang="en-AU" sz="1600" b="0" baseline="0" dirty="0" smtClean="0">
                        <a:latin typeface="Arial" pitchFamily="34" charset="0"/>
                        <a:cs typeface="Arial" pitchFamily="34" charset="0"/>
                      </a:endParaRPr>
                    </a:p>
                    <a:p>
                      <a:pPr marL="342900" indent="-342900">
                        <a:buFont typeface="Arial" pitchFamily="34" charset="0"/>
                        <a:buChar char="•"/>
                      </a:pPr>
                      <a:endParaRPr lang="en-AU" sz="1600" b="0" dirty="0" smtClean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B7DE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2000" b="0" dirty="0" smtClean="0">
                          <a:solidFill>
                            <a:srgbClr val="215968"/>
                          </a:solidFill>
                          <a:latin typeface="Arial" pitchFamily="34" charset="0"/>
                          <a:cs typeface="Arial" pitchFamily="34" charset="0"/>
                        </a:rPr>
                        <a:t>Environmental </a:t>
                      </a:r>
                      <a:r>
                        <a:rPr lang="en-AU" sz="2000" b="0" baseline="0" dirty="0" smtClean="0">
                          <a:solidFill>
                            <a:srgbClr val="215968"/>
                          </a:solidFill>
                          <a:latin typeface="Arial" pitchFamily="34" charset="0"/>
                          <a:cs typeface="Arial" pitchFamily="34" charset="0"/>
                        </a:rPr>
                        <a:t>protection</a:t>
                      </a:r>
                      <a:r>
                        <a:rPr lang="en-AU" sz="2000" b="0" dirty="0" smtClean="0">
                          <a:solidFill>
                            <a:srgbClr val="215968"/>
                          </a:solidFill>
                          <a:latin typeface="Arial" pitchFamily="34" charset="0"/>
                          <a:cs typeface="Arial" pitchFamily="34" charset="0"/>
                        </a:rPr>
                        <a:t> laws</a:t>
                      </a:r>
                    </a:p>
                  </a:txBody>
                  <a:tcPr>
                    <a:solidFill>
                      <a:srgbClr val="B7DEE8"/>
                    </a:solidFill>
                  </a:tcPr>
                </a:tc>
              </a:tr>
              <a:tr h="1185860">
                <a:tc>
                  <a:txBody>
                    <a:bodyPr/>
                    <a:lstStyle/>
                    <a:p>
                      <a:r>
                        <a:rPr lang="en-AU" sz="2000" b="0" baseline="0" dirty="0" smtClean="0">
                          <a:solidFill>
                            <a:srgbClr val="215968"/>
                          </a:solidFill>
                          <a:latin typeface="Arial" pitchFamily="34" charset="0"/>
                          <a:cs typeface="Arial" pitchFamily="34" charset="0"/>
                        </a:rPr>
                        <a:t>Public order laws</a:t>
                      </a:r>
                    </a:p>
                    <a:p>
                      <a:endParaRPr lang="en-AU" sz="2000" b="0" baseline="0" dirty="0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  <a:p>
                      <a:endParaRPr lang="en-AU" sz="2000" b="0" baseline="0" dirty="0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2000" b="0" dirty="0" smtClean="0">
                          <a:solidFill>
                            <a:srgbClr val="215968"/>
                          </a:solidFill>
                          <a:latin typeface="Arial" pitchFamily="34" charset="0"/>
                          <a:cs typeface="Arial" pitchFamily="34" charset="0"/>
                        </a:rPr>
                        <a:t>Property</a:t>
                      </a:r>
                      <a:r>
                        <a:rPr lang="en-AU" sz="2000" b="0" baseline="0" dirty="0" smtClean="0">
                          <a:solidFill>
                            <a:srgbClr val="215968"/>
                          </a:solidFill>
                          <a:latin typeface="Arial" pitchFamily="34" charset="0"/>
                          <a:cs typeface="Arial" pitchFamily="34" charset="0"/>
                        </a:rPr>
                        <a:t> laws</a:t>
                      </a:r>
                    </a:p>
                  </a:txBody>
                  <a:tcP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2000" b="0" dirty="0" smtClean="0">
                          <a:solidFill>
                            <a:srgbClr val="215968"/>
                          </a:solidFill>
                          <a:latin typeface="Arial" pitchFamily="34" charset="0"/>
                          <a:cs typeface="Arial" pitchFamily="34" charset="0"/>
                        </a:rPr>
                        <a:t>Customs</a:t>
                      </a:r>
                      <a:r>
                        <a:rPr lang="en-AU" sz="2000" b="0" baseline="0" dirty="0" smtClean="0">
                          <a:solidFill>
                            <a:srgbClr val="215968"/>
                          </a:solidFill>
                          <a:latin typeface="Arial" pitchFamily="34" charset="0"/>
                          <a:cs typeface="Arial" pitchFamily="34" charset="0"/>
                        </a:rPr>
                        <a:t> and </a:t>
                      </a:r>
                      <a:r>
                        <a:rPr lang="en-AU" sz="2000" b="0" dirty="0" smtClean="0">
                          <a:solidFill>
                            <a:srgbClr val="215968"/>
                          </a:solidFill>
                          <a:latin typeface="Arial" pitchFamily="34" charset="0"/>
                          <a:cs typeface="Arial" pitchFamily="34" charset="0"/>
                        </a:rPr>
                        <a:t>border</a:t>
                      </a:r>
                      <a:r>
                        <a:rPr lang="en-AU" sz="2000" b="0" baseline="0" dirty="0" smtClean="0">
                          <a:solidFill>
                            <a:srgbClr val="215968"/>
                          </a:solidFill>
                          <a:latin typeface="Arial" pitchFamily="34" charset="0"/>
                          <a:cs typeface="Arial" pitchFamily="34" charset="0"/>
                        </a:rPr>
                        <a:t> protection laws</a:t>
                      </a:r>
                    </a:p>
                    <a:p>
                      <a:endParaRPr lang="en-AU" sz="2000" b="0" baseline="0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DBEEF4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9354" y="404664"/>
            <a:ext cx="81369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 smtClean="0">
                <a:solidFill>
                  <a:srgbClr val="31859C"/>
                </a:solidFill>
                <a:latin typeface="Arial" pitchFamily="34" charset="0"/>
                <a:cs typeface="Arial" pitchFamily="34" charset="0"/>
              </a:rPr>
              <a:t>Which law is responsible for which offence</a:t>
            </a:r>
            <a:r>
              <a:rPr lang="en-AU" sz="3200" dirty="0" smtClean="0">
                <a:solidFill>
                  <a:srgbClr val="31859C"/>
                </a:solidFill>
                <a:latin typeface="Arial" pitchFamily="34" charset="0"/>
                <a:cs typeface="Arial" pitchFamily="34" charset="0"/>
              </a:rPr>
              <a:t>?</a:t>
            </a:r>
            <a:endParaRPr lang="en-AU" sz="3200" dirty="0">
              <a:solidFill>
                <a:srgbClr val="31859C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9354" y="1032293"/>
            <a:ext cx="8064896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b="1" dirty="0" smtClean="0">
                <a:solidFill>
                  <a:srgbClr val="31859C"/>
                </a:solidFill>
                <a:latin typeface="Arial" pitchFamily="34" charset="0"/>
                <a:cs typeface="Arial" pitchFamily="34" charset="0"/>
              </a:rPr>
              <a:t>Select an issue</a:t>
            </a:r>
          </a:p>
          <a:p>
            <a:r>
              <a:rPr lang="en-AU" dirty="0" smtClean="0">
                <a:latin typeface="Arial" pitchFamily="34" charset="0"/>
                <a:cs typeface="Arial" pitchFamily="34" charset="0"/>
              </a:rPr>
              <a:t>speeding	carrying a weapon in public	importing goods</a:t>
            </a:r>
          </a:p>
          <a:p>
            <a:r>
              <a:rPr lang="en-AU" dirty="0" smtClean="0">
                <a:latin typeface="Arial" pitchFamily="34" charset="0"/>
                <a:cs typeface="Arial" pitchFamily="34" charset="0"/>
              </a:rPr>
              <a:t>theft		radioactive waste disposal		food hygiene </a:t>
            </a:r>
          </a:p>
          <a:p>
            <a:r>
              <a:rPr lang="en-AU" dirty="0">
                <a:latin typeface="Arial" pitchFamily="34" charset="0"/>
                <a:cs typeface="Arial" pitchFamily="34" charset="0"/>
              </a:rPr>
              <a:t>v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andalism	animal protection			wearing a helmet</a:t>
            </a:r>
          </a:p>
          <a:p>
            <a:r>
              <a:rPr lang="en-AU" dirty="0">
                <a:latin typeface="Arial" pitchFamily="34" charset="0"/>
                <a:cs typeface="Arial" pitchFamily="34" charset="0"/>
              </a:rPr>
              <a:t>w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aste disposal	public water supply		trespassing</a:t>
            </a:r>
          </a:p>
          <a:p>
            <a:r>
              <a:rPr lang="en-AU" dirty="0">
                <a:latin typeface="Arial" pitchFamily="34" charset="0"/>
                <a:cs typeface="Arial" pitchFamily="34" charset="0"/>
              </a:rPr>
              <a:t>p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assports	littering				wearing seatbelts</a:t>
            </a:r>
          </a:p>
          <a:p>
            <a:endParaRPr lang="en-AU" dirty="0">
              <a:latin typeface="Arial" pitchFamily="34" charset="0"/>
              <a:cs typeface="Arial" pitchFamily="34" charset="0"/>
            </a:endParaRPr>
          </a:p>
          <a:p>
            <a:r>
              <a:rPr lang="en-AU" b="1" dirty="0" smtClean="0">
                <a:solidFill>
                  <a:srgbClr val="31859C"/>
                </a:solidFill>
                <a:latin typeface="Arial" pitchFamily="34" charset="0"/>
                <a:cs typeface="Arial" pitchFamily="34" charset="0"/>
              </a:rPr>
              <a:t>Identify </a:t>
            </a:r>
            <a:r>
              <a:rPr lang="en-AU" b="1" dirty="0">
                <a:solidFill>
                  <a:srgbClr val="31859C"/>
                </a:solidFill>
                <a:latin typeface="Arial" pitchFamily="34" charset="0"/>
                <a:cs typeface="Arial" pitchFamily="34" charset="0"/>
              </a:rPr>
              <a:t>a </a:t>
            </a:r>
            <a:r>
              <a:rPr lang="en-AU" b="1" dirty="0" smtClean="0">
                <a:solidFill>
                  <a:srgbClr val="31859C"/>
                </a:solidFill>
                <a:latin typeface="Arial" pitchFamily="34" charset="0"/>
                <a:cs typeface="Arial" pitchFamily="34" charset="0"/>
              </a:rPr>
              <a:t>type of law </a:t>
            </a:r>
            <a:r>
              <a:rPr lang="en-AU" b="1" dirty="0">
                <a:solidFill>
                  <a:srgbClr val="31859C"/>
                </a:solidFill>
                <a:latin typeface="Arial" pitchFamily="34" charset="0"/>
                <a:cs typeface="Arial" pitchFamily="34" charset="0"/>
              </a:rPr>
              <a:t>that would address </a:t>
            </a:r>
            <a:r>
              <a:rPr lang="en-AU" b="1" dirty="0" smtClean="0">
                <a:solidFill>
                  <a:srgbClr val="31859C"/>
                </a:solidFill>
                <a:latin typeface="Arial" pitchFamily="34" charset="0"/>
                <a:cs typeface="Arial" pitchFamily="34" charset="0"/>
              </a:rPr>
              <a:t>it</a:t>
            </a:r>
            <a:endParaRPr lang="en-AU" b="1" dirty="0">
              <a:solidFill>
                <a:srgbClr val="31859C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27173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4427984" y="260648"/>
            <a:ext cx="4320480" cy="1200329"/>
          </a:xfrm>
          <a:prstGeom prst="rect">
            <a:avLst/>
          </a:prstGeom>
          <a:noFill/>
          <a:ln w="31750">
            <a:noFill/>
          </a:ln>
        </p:spPr>
        <p:txBody>
          <a:bodyPr wrap="square" rtlCol="0">
            <a:spAutoFit/>
          </a:bodyPr>
          <a:lstStyle/>
          <a:p>
            <a:r>
              <a:rPr lang="en-AU" sz="2400" dirty="0" smtClean="0">
                <a:solidFill>
                  <a:schemeClr val="accent5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Customary law in Aboriginal and Torres Strait Islander communities</a:t>
            </a:r>
            <a:endParaRPr lang="en-AU" sz="2400" dirty="0">
              <a:solidFill>
                <a:schemeClr val="accent5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Rounded Rectangular Callout 7"/>
          <p:cNvSpPr/>
          <p:nvPr/>
        </p:nvSpPr>
        <p:spPr>
          <a:xfrm>
            <a:off x="683568" y="1484784"/>
            <a:ext cx="3370987" cy="864096"/>
          </a:xfrm>
          <a:prstGeom prst="wedgeRoundRectCallout">
            <a:avLst>
              <a:gd name="adj1" fmla="val 73223"/>
              <a:gd name="adj2" fmla="val 25491"/>
              <a:gd name="adj3" fmla="val 16667"/>
            </a:avLst>
          </a:prstGeom>
          <a:solidFill>
            <a:srgbClr val="DBEEF4"/>
          </a:solidFill>
          <a:ln w="317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600" dirty="0" smtClean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Yes, customary law. </a:t>
            </a:r>
            <a:br>
              <a:rPr lang="en-AU" sz="1600" dirty="0" smtClean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</a:br>
            <a:r>
              <a:rPr lang="en-AU" sz="1600" dirty="0" smtClean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It is an unwritten law which is </a:t>
            </a:r>
            <a:br>
              <a:rPr lang="en-AU" sz="1600" dirty="0" smtClean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</a:br>
            <a:r>
              <a:rPr lang="en-AU" sz="1600" dirty="0" smtClean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thousands of years old.</a:t>
            </a:r>
            <a:endParaRPr lang="en-AU" sz="16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13" name="Picture 2" descr="G:\8047_C2C\Civics Citizenship\Art\Avatars\Civ_Y3-6_Avatars_Will_head_1.png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499992" y="1340768"/>
            <a:ext cx="1444857" cy="1031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467544" y="2578314"/>
            <a:ext cx="2736304" cy="120032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1750">
            <a:noFill/>
          </a:ln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Customary laws were created during the time of the Dreaming for Aboriginal peoples.</a:t>
            </a:r>
            <a:endParaRPr lang="en-AU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67544" y="4293096"/>
            <a:ext cx="2736304" cy="1477328"/>
          </a:xfrm>
          <a:prstGeom prst="rect">
            <a:avLst/>
          </a:prstGeom>
          <a:solidFill>
            <a:srgbClr val="B7DEE8"/>
          </a:solidFill>
          <a:ln w="31750">
            <a:noFill/>
          </a:ln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Customary laws were created during the Before </a:t>
            </a:r>
            <a:r>
              <a:rPr lang="en-AU" dirty="0" err="1" smtClean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Before</a:t>
            </a:r>
            <a:r>
              <a:rPr lang="en-AU" dirty="0" smtClean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Time for Torres Strait Islander peoples.</a:t>
            </a:r>
            <a:endParaRPr lang="en-AU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Right Arrow 2"/>
          <p:cNvSpPr/>
          <p:nvPr/>
        </p:nvSpPr>
        <p:spPr>
          <a:xfrm>
            <a:off x="3316695" y="3241341"/>
            <a:ext cx="360040" cy="151274"/>
          </a:xfrm>
          <a:prstGeom prst="rightArrow">
            <a:avLst/>
          </a:prstGeom>
          <a:solidFill>
            <a:srgbClr val="3185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prstClr val="white"/>
              </a:solidFill>
            </a:endParaRPr>
          </a:p>
        </p:txBody>
      </p:sp>
      <p:sp>
        <p:nvSpPr>
          <p:cNvPr id="15" name="Right Arrow 14"/>
          <p:cNvSpPr/>
          <p:nvPr/>
        </p:nvSpPr>
        <p:spPr>
          <a:xfrm>
            <a:off x="3316695" y="4880486"/>
            <a:ext cx="360040" cy="151274"/>
          </a:xfrm>
          <a:prstGeom prst="rightArrow">
            <a:avLst/>
          </a:prstGeom>
          <a:solidFill>
            <a:srgbClr val="3185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prstClr val="white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250631" y="1773602"/>
            <a:ext cx="2429395" cy="584775"/>
          </a:xfrm>
          <a:prstGeom prst="rect">
            <a:avLst/>
          </a:prstGeom>
          <a:solidFill>
            <a:srgbClr val="B7DEE8"/>
          </a:solidFill>
          <a:ln w="31750">
            <a:noFill/>
          </a:ln>
        </p:spPr>
        <p:txBody>
          <a:bodyPr wrap="square" rtlCol="0">
            <a:spAutoFit/>
          </a:bodyPr>
          <a:lstStyle/>
          <a:p>
            <a:r>
              <a:rPr lang="en-AU" sz="1600" dirty="0" smtClean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Varies between different groups</a:t>
            </a:r>
            <a:endParaRPr lang="en-AU" sz="16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250631" y="2386023"/>
            <a:ext cx="2429395" cy="584775"/>
          </a:xfrm>
          <a:prstGeom prst="rect">
            <a:avLst/>
          </a:prstGeom>
          <a:solidFill>
            <a:srgbClr val="B7DEE8"/>
          </a:solidFill>
          <a:ln w="31750">
            <a:noFill/>
          </a:ln>
        </p:spPr>
        <p:txBody>
          <a:bodyPr wrap="square" rtlCol="0">
            <a:spAutoFit/>
          </a:bodyPr>
          <a:lstStyle/>
          <a:p>
            <a:r>
              <a:rPr lang="en-AU" sz="1600" dirty="0" smtClean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Shared through stories, song, dance and art</a:t>
            </a:r>
            <a:endParaRPr lang="en-AU" sz="16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250631" y="2998444"/>
            <a:ext cx="2429395" cy="830997"/>
          </a:xfrm>
          <a:prstGeom prst="rect">
            <a:avLst/>
          </a:prstGeom>
          <a:solidFill>
            <a:srgbClr val="B7DEE8"/>
          </a:solidFill>
          <a:ln w="31750">
            <a:noFill/>
          </a:ln>
        </p:spPr>
        <p:txBody>
          <a:bodyPr wrap="square" rtlCol="0">
            <a:spAutoFit/>
          </a:bodyPr>
          <a:lstStyle/>
          <a:p>
            <a:r>
              <a:rPr lang="en-AU" sz="1600" dirty="0" smtClean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Explains behaviours, rights, roles and responsibilities</a:t>
            </a:r>
            <a:endParaRPr lang="en-AU" sz="16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250631" y="3857087"/>
            <a:ext cx="2429395" cy="1077218"/>
          </a:xfrm>
          <a:prstGeom prst="rect">
            <a:avLst/>
          </a:prstGeom>
          <a:solidFill>
            <a:srgbClr val="B7DEE8"/>
          </a:solidFill>
          <a:ln w="31750">
            <a:noFill/>
          </a:ln>
        </p:spPr>
        <p:txBody>
          <a:bodyPr wrap="square" rtlCol="0">
            <a:spAutoFit/>
          </a:bodyPr>
          <a:lstStyle/>
          <a:p>
            <a:r>
              <a:rPr lang="en-AU" sz="1600" dirty="0" smtClean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Decides ownership over goods and territories, including animals, plants, water and land</a:t>
            </a:r>
            <a:endParaRPr lang="en-AU" sz="16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250631" y="4961951"/>
            <a:ext cx="2429395" cy="584775"/>
          </a:xfrm>
          <a:prstGeom prst="rect">
            <a:avLst/>
          </a:prstGeom>
          <a:solidFill>
            <a:srgbClr val="B7DEE8"/>
          </a:solidFill>
          <a:ln w="31750">
            <a:noFill/>
          </a:ln>
        </p:spPr>
        <p:txBody>
          <a:bodyPr wrap="square" rtlCol="0">
            <a:spAutoFit/>
          </a:bodyPr>
          <a:lstStyle/>
          <a:p>
            <a:r>
              <a:rPr lang="en-AU" sz="1600" dirty="0" smtClean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Outlines punishments and consequences</a:t>
            </a:r>
            <a:endParaRPr lang="en-AU" sz="16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250631" y="5574372"/>
            <a:ext cx="2429395" cy="338554"/>
          </a:xfrm>
          <a:prstGeom prst="rect">
            <a:avLst/>
          </a:prstGeom>
          <a:solidFill>
            <a:srgbClr val="B7DEE8"/>
          </a:solidFill>
          <a:ln w="31750">
            <a:noFill/>
          </a:ln>
        </p:spPr>
        <p:txBody>
          <a:bodyPr wrap="square" rtlCol="0">
            <a:spAutoFit/>
          </a:bodyPr>
          <a:lstStyle/>
          <a:p>
            <a:r>
              <a:rPr lang="en-AU" sz="1600" smtClean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Enforced </a:t>
            </a:r>
            <a:r>
              <a:rPr lang="en-AU" sz="1600" dirty="0" smtClean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by Elders</a:t>
            </a:r>
            <a:endParaRPr lang="en-AU" sz="16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250631" y="5940569"/>
            <a:ext cx="2429395" cy="584775"/>
          </a:xfrm>
          <a:prstGeom prst="rect">
            <a:avLst/>
          </a:prstGeom>
          <a:solidFill>
            <a:srgbClr val="B7DEE8"/>
          </a:solidFill>
          <a:ln w="31750">
            <a:noFill/>
          </a:ln>
        </p:spPr>
        <p:txBody>
          <a:bodyPr wrap="square" rtlCol="0">
            <a:spAutoFit/>
          </a:bodyPr>
          <a:lstStyle/>
          <a:p>
            <a:r>
              <a:rPr lang="en-AU" sz="1600" dirty="0" smtClean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Some laws are sacred and cannot be shared</a:t>
            </a:r>
            <a:endParaRPr lang="en-AU" sz="16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28" name="Picture 2" descr="G:\8047_C2C\Civics Citizenship\Art\New Avatars\Civ_Y3-6_Avatars_Mali_head-2.png"/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95536" y="260648"/>
            <a:ext cx="1597546" cy="1224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Right Arrow 26"/>
          <p:cNvSpPr/>
          <p:nvPr/>
        </p:nvSpPr>
        <p:spPr>
          <a:xfrm>
            <a:off x="3707904" y="3501008"/>
            <a:ext cx="2429881" cy="853577"/>
          </a:xfrm>
          <a:prstGeom prst="rightArrow">
            <a:avLst/>
          </a:prstGeom>
          <a:solidFill>
            <a:srgbClr val="B7DE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dirty="0" smtClean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Customary law</a:t>
            </a:r>
            <a:endParaRPr lang="en-AU" sz="20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3783902" y="2492896"/>
            <a:ext cx="2156250" cy="3416320"/>
          </a:xfrm>
          <a:prstGeom prst="rect">
            <a:avLst/>
          </a:prstGeom>
          <a:solidFill>
            <a:srgbClr val="B7DEE8"/>
          </a:solidFill>
          <a:ln w="31750">
            <a:noFill/>
          </a:ln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The Dreaming and the Before Before Time is a time of creation when ancestral beings roamed the land and shaped the creation of human, plant and animal life and the physical features of the landscape.</a:t>
            </a:r>
            <a:endParaRPr lang="en-AU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1" name="Rounded Rectangular Callout 30"/>
          <p:cNvSpPr/>
          <p:nvPr/>
        </p:nvSpPr>
        <p:spPr>
          <a:xfrm flipH="1">
            <a:off x="2123728" y="332656"/>
            <a:ext cx="2103074" cy="971929"/>
          </a:xfrm>
          <a:prstGeom prst="wedgeRoundRectCallout">
            <a:avLst>
              <a:gd name="adj1" fmla="val 66277"/>
              <a:gd name="adj2" fmla="val 31192"/>
              <a:gd name="adj3" fmla="val 16667"/>
            </a:avLst>
          </a:prstGeom>
          <a:solidFill>
            <a:srgbClr val="DBEEF4"/>
          </a:solidFill>
          <a:ln w="317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 smtClean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Is there any other type of law in Australia? </a:t>
            </a:r>
            <a:endParaRPr lang="en-AU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28366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 animBg="1"/>
      <p:bldP spid="9" grpId="0" animBg="1"/>
      <p:bldP spid="10" grpId="0" animBg="1"/>
      <p:bldP spid="3" grpId="0" animBg="1"/>
      <p:bldP spid="15" grpId="0" animBg="1"/>
      <p:bldP spid="18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30" grpId="0" animBg="1"/>
      <p:bldP spid="30" grpId="1" animBg="1"/>
      <p:bldP spid="3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65110" y="404664"/>
            <a:ext cx="8424936" cy="707886"/>
          </a:xfrm>
          <a:prstGeom prst="rect">
            <a:avLst/>
          </a:prstGeom>
          <a:noFill/>
          <a:ln w="317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AU" sz="2000" dirty="0" smtClean="0">
                <a:solidFill>
                  <a:schemeClr val="accent5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How laws impact Aboriginal and Torres Strait Islander peoples: </a:t>
            </a:r>
            <a:br>
              <a:rPr lang="en-AU" sz="2000" dirty="0" smtClean="0">
                <a:solidFill>
                  <a:schemeClr val="accent5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</a:br>
            <a:r>
              <a:rPr lang="en-AU" sz="2000" dirty="0" smtClean="0">
                <a:solidFill>
                  <a:schemeClr val="accent5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Aboriginal hunting, fishing </a:t>
            </a:r>
            <a:r>
              <a:rPr lang="en-AU" sz="2000" dirty="0">
                <a:solidFill>
                  <a:schemeClr val="accent5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and </a:t>
            </a:r>
            <a:r>
              <a:rPr lang="en-AU" sz="2000" dirty="0" smtClean="0">
                <a:solidFill>
                  <a:schemeClr val="accent5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gathering rights laws</a:t>
            </a:r>
            <a:endParaRPr lang="en-AU" sz="2000" dirty="0">
              <a:solidFill>
                <a:schemeClr val="accent5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513940" y="1377637"/>
            <a:ext cx="4220576" cy="4139595"/>
          </a:xfrm>
          <a:prstGeom prst="rect">
            <a:avLst/>
          </a:prstGeom>
          <a:ln>
            <a:solidFill>
              <a:srgbClr val="31859C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AU" sz="1400" dirty="0">
                <a:solidFill>
                  <a:schemeClr val="accent5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Queensland Law: Changes to the Animal Care and Protection Act 2001 (the Act)</a:t>
            </a:r>
          </a:p>
          <a:p>
            <a:pPr>
              <a:spcAft>
                <a:spcPts val="600"/>
              </a:spcAft>
            </a:pPr>
            <a:r>
              <a:rPr lang="en-AU" sz="1300" dirty="0" smtClean="0">
                <a:latin typeface="Arial" pitchFamily="34" charset="0"/>
                <a:cs typeface="Arial" pitchFamily="34" charset="0"/>
              </a:rPr>
              <a:t>In </a:t>
            </a:r>
            <a:r>
              <a:rPr lang="en-AU" sz="1300" dirty="0">
                <a:latin typeface="Arial" pitchFamily="34" charset="0"/>
                <a:cs typeface="Arial" pitchFamily="34" charset="0"/>
              </a:rPr>
              <a:t>2012, the Queensland Government  made changes to the Act to protect animals, including turtles and dugongs, ‘</a:t>
            </a:r>
            <a:r>
              <a:rPr lang="en-AU" sz="1300" i="1" dirty="0">
                <a:latin typeface="Arial" pitchFamily="34" charset="0"/>
                <a:cs typeface="Arial" pitchFamily="34" charset="0"/>
              </a:rPr>
              <a:t>from unreasonable pain and suffering when hunted and killed</a:t>
            </a:r>
            <a:r>
              <a:rPr lang="en-AU" sz="1300" dirty="0">
                <a:latin typeface="Arial" pitchFamily="34" charset="0"/>
                <a:cs typeface="Arial" pitchFamily="34" charset="0"/>
              </a:rPr>
              <a:t>.’ The changes to </a:t>
            </a:r>
            <a:r>
              <a:rPr lang="en-AU" sz="1300" dirty="0" smtClean="0">
                <a:latin typeface="Arial" pitchFamily="34" charset="0"/>
                <a:cs typeface="Arial" pitchFamily="34" charset="0"/>
              </a:rPr>
              <a:t>the </a:t>
            </a:r>
            <a:r>
              <a:rPr lang="en-AU" sz="1300" dirty="0">
                <a:latin typeface="Arial" pitchFamily="34" charset="0"/>
                <a:cs typeface="Arial" pitchFamily="34" charset="0"/>
              </a:rPr>
              <a:t>Act:</a:t>
            </a: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lang="en-AU" sz="1300" dirty="0" smtClean="0">
                <a:latin typeface="Arial" pitchFamily="34" charset="0"/>
                <a:cs typeface="Arial" pitchFamily="34" charset="0"/>
              </a:rPr>
              <a:t>remove </a:t>
            </a:r>
            <a:r>
              <a:rPr lang="en-AU" sz="1300" dirty="0">
                <a:latin typeface="Arial" pitchFamily="34" charset="0"/>
                <a:cs typeface="Arial" pitchFamily="34" charset="0"/>
              </a:rPr>
              <a:t>the exemption from animal welfare obligations that used to apply to Aboriginal and Torres Strait Islander </a:t>
            </a:r>
            <a:r>
              <a:rPr lang="en-AU" sz="1300" dirty="0" smtClean="0">
                <a:latin typeface="Arial" pitchFamily="34" charset="0"/>
                <a:cs typeface="Arial" pitchFamily="34" charset="0"/>
              </a:rPr>
              <a:t>people</a:t>
            </a:r>
            <a:endParaRPr lang="en-AU" sz="1300" dirty="0">
              <a:latin typeface="Arial" pitchFamily="34" charset="0"/>
              <a:cs typeface="Arial" pitchFamily="34" charset="0"/>
            </a:endParaRP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lang="en-AU" sz="1300" dirty="0" smtClean="0">
                <a:latin typeface="Arial" pitchFamily="34" charset="0"/>
                <a:cs typeface="Arial" pitchFamily="34" charset="0"/>
              </a:rPr>
              <a:t>state </a:t>
            </a:r>
            <a:r>
              <a:rPr lang="en-AU" sz="1300" dirty="0">
                <a:latin typeface="Arial" pitchFamily="34" charset="0"/>
                <a:cs typeface="Arial" pitchFamily="34" charset="0"/>
              </a:rPr>
              <a:t>how hunting rights can be exercised to ensure that animals are killed in a way that causes as little pain as </a:t>
            </a:r>
            <a:r>
              <a:rPr lang="en-AU" sz="1300" dirty="0" smtClean="0">
                <a:latin typeface="Arial" pitchFamily="34" charset="0"/>
                <a:cs typeface="Arial" pitchFamily="34" charset="0"/>
              </a:rPr>
              <a:t>possible</a:t>
            </a:r>
            <a:endParaRPr lang="en-AU" sz="1300" dirty="0">
              <a:latin typeface="Arial" pitchFamily="34" charset="0"/>
              <a:cs typeface="Arial" pitchFamily="34" charset="0"/>
            </a:endParaRP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lang="en-AU" sz="1300" dirty="0" smtClean="0">
                <a:latin typeface="Arial" pitchFamily="34" charset="0"/>
                <a:cs typeface="Arial" pitchFamily="34" charset="0"/>
              </a:rPr>
              <a:t>include </a:t>
            </a:r>
            <a:r>
              <a:rPr lang="en-AU" sz="1300" dirty="0">
                <a:latin typeface="Arial" pitchFamily="34" charset="0"/>
                <a:cs typeface="Arial" pitchFamily="34" charset="0"/>
              </a:rPr>
              <a:t>that a person is guilty of cruelty if they have not used the best method that is reasonable, in their circumstance, </a:t>
            </a:r>
            <a:r>
              <a:rPr lang="en-AU" sz="1300" dirty="0" smtClean="0">
                <a:latin typeface="Arial" pitchFamily="34" charset="0"/>
                <a:cs typeface="Arial" pitchFamily="34" charset="0"/>
              </a:rPr>
              <a:t>to </a:t>
            </a:r>
            <a:r>
              <a:rPr lang="en-AU" sz="1300" dirty="0">
                <a:latin typeface="Arial" pitchFamily="34" charset="0"/>
                <a:cs typeface="Arial" pitchFamily="34" charset="0"/>
              </a:rPr>
              <a:t>kill an animal in a way that causes as little pain as is </a:t>
            </a:r>
            <a:r>
              <a:rPr lang="en-AU" sz="1300" dirty="0" smtClean="0">
                <a:latin typeface="Arial" pitchFamily="34" charset="0"/>
                <a:cs typeface="Arial" pitchFamily="34" charset="0"/>
              </a:rPr>
              <a:t>reasonable.</a:t>
            </a:r>
            <a:endParaRPr lang="en-AU" sz="1300" dirty="0">
              <a:latin typeface="Arial" pitchFamily="34" charset="0"/>
              <a:cs typeface="Arial" pitchFamily="34" charset="0"/>
            </a:endParaRPr>
          </a:p>
          <a:p>
            <a:r>
              <a:rPr lang="en-AU" sz="700" dirty="0">
                <a:latin typeface="Arial" pitchFamily="34" charset="0"/>
                <a:cs typeface="Arial" pitchFamily="34" charset="0"/>
              </a:rPr>
              <a:t>Based on </a:t>
            </a:r>
            <a:r>
              <a:rPr lang="en-AU" sz="700" i="1" dirty="0">
                <a:latin typeface="Arial" pitchFamily="34" charset="0"/>
                <a:cs typeface="Arial" pitchFamily="34" charset="0"/>
              </a:rPr>
              <a:t>Animal care and protection during traditional hunting </a:t>
            </a:r>
            <a:r>
              <a:rPr lang="en-AU" sz="700" dirty="0">
                <a:latin typeface="Arial" pitchFamily="34" charset="0"/>
                <a:cs typeface="Arial" pitchFamily="34" charset="0"/>
              </a:rPr>
              <a:t>(State of </a:t>
            </a:r>
            <a:r>
              <a:rPr lang="en-AU" sz="700" dirty="0" smtClean="0">
                <a:latin typeface="Arial" pitchFamily="34" charset="0"/>
                <a:cs typeface="Arial" pitchFamily="34" charset="0"/>
              </a:rPr>
              <a:t>Queensland</a:t>
            </a:r>
            <a:r>
              <a:rPr lang="en-AU" sz="700" dirty="0">
                <a:latin typeface="Arial" pitchFamily="34" charset="0"/>
                <a:cs typeface="Arial" pitchFamily="34" charset="0"/>
              </a:rPr>
              <a:t>: Department Agriculture, Fisheries and Forestry) https://www.daf.qld.gov.au/__</a:t>
            </a:r>
            <a:r>
              <a:rPr lang="en-AU" sz="700" dirty="0" smtClean="0">
                <a:latin typeface="Arial" pitchFamily="34" charset="0"/>
                <a:cs typeface="Arial" pitchFamily="34" charset="0"/>
              </a:rPr>
              <a:t>data/assets/pdf_file/0020/75530/animal-care-and-protection-during-traditional-hunting.pdf CC </a:t>
            </a:r>
            <a:r>
              <a:rPr lang="en-AU" sz="700" dirty="0">
                <a:latin typeface="Arial" pitchFamily="34" charset="0"/>
                <a:cs typeface="Arial" pitchFamily="34" charset="0"/>
              </a:rPr>
              <a:t>BY 3.0 http://creativecommons.org/licenses/by/3.0/au/deed.en</a:t>
            </a:r>
          </a:p>
        </p:txBody>
      </p:sp>
      <p:sp>
        <p:nvSpPr>
          <p:cNvPr id="4" name="Rectangle 3"/>
          <p:cNvSpPr/>
          <p:nvPr/>
        </p:nvSpPr>
        <p:spPr>
          <a:xfrm>
            <a:off x="611560" y="1381993"/>
            <a:ext cx="3672408" cy="3847207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AU" sz="1400" dirty="0">
                <a:solidFill>
                  <a:srgbClr val="31859C"/>
                </a:solidFill>
                <a:latin typeface="Arial" pitchFamily="34" charset="0"/>
                <a:cs typeface="Arial" pitchFamily="34" charset="0"/>
              </a:rPr>
              <a:t>Commonwealth Law: The National Parks and Wildlife Conservation Act 1975</a:t>
            </a:r>
          </a:p>
          <a:p>
            <a:pPr>
              <a:spcAft>
                <a:spcPts val="600"/>
              </a:spcAft>
            </a:pPr>
            <a:r>
              <a:rPr lang="en-AU" sz="1300" i="1" dirty="0" smtClean="0">
                <a:solidFill>
                  <a:srgbClr val="31859C"/>
                </a:solidFill>
                <a:latin typeface="Arial" pitchFamily="34" charset="0"/>
                <a:cs typeface="Arial" pitchFamily="34" charset="0"/>
              </a:rPr>
              <a:t>How </a:t>
            </a:r>
            <a:r>
              <a:rPr lang="en-AU" sz="1300" i="1" dirty="0">
                <a:solidFill>
                  <a:srgbClr val="31859C"/>
                </a:solidFill>
                <a:latin typeface="Arial" pitchFamily="34" charset="0"/>
                <a:cs typeface="Arial" pitchFamily="34" charset="0"/>
              </a:rPr>
              <a:t>the Act applies to all </a:t>
            </a:r>
            <a:r>
              <a:rPr lang="en-AU" sz="1300" i="1" dirty="0" smtClean="0">
                <a:solidFill>
                  <a:srgbClr val="31859C"/>
                </a:solidFill>
                <a:latin typeface="Arial" pitchFamily="34" charset="0"/>
                <a:cs typeface="Arial" pitchFamily="34" charset="0"/>
              </a:rPr>
              <a:t>Australians</a:t>
            </a:r>
            <a:endParaRPr lang="en-AU" sz="1300" i="1" dirty="0">
              <a:solidFill>
                <a:srgbClr val="31859C"/>
              </a:solidFill>
              <a:latin typeface="Arial" pitchFamily="34" charset="0"/>
              <a:cs typeface="Arial" pitchFamily="34" charset="0"/>
            </a:endParaRP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lang="en-AU" sz="1300" dirty="0" smtClean="0">
                <a:latin typeface="Arial" pitchFamily="34" charset="0"/>
                <a:cs typeface="Arial" pitchFamily="34" charset="0"/>
              </a:rPr>
              <a:t>ensures ‘the </a:t>
            </a:r>
            <a:r>
              <a:rPr lang="en-AU" sz="1300" dirty="0">
                <a:latin typeface="Arial" pitchFamily="34" charset="0"/>
                <a:cs typeface="Arial" pitchFamily="34" charset="0"/>
              </a:rPr>
              <a:t>protection and conservation of </a:t>
            </a:r>
            <a:r>
              <a:rPr lang="en-AU" sz="1300" dirty="0" smtClean="0">
                <a:latin typeface="Arial" pitchFamily="34" charset="0"/>
                <a:cs typeface="Arial" pitchFamily="34" charset="0"/>
              </a:rPr>
              <a:t>wildlife, </a:t>
            </a:r>
            <a:r>
              <a:rPr lang="en-AU" sz="1300" dirty="0">
                <a:latin typeface="Arial" pitchFamily="34" charset="0"/>
                <a:cs typeface="Arial" pitchFamily="34" charset="0"/>
              </a:rPr>
              <a:t>and the preservation of parks and </a:t>
            </a:r>
            <a:r>
              <a:rPr lang="en-AU" sz="1300" dirty="0" smtClean="0">
                <a:latin typeface="Arial" pitchFamily="34" charset="0"/>
                <a:cs typeface="Arial" pitchFamily="34" charset="0"/>
              </a:rPr>
              <a:t>reserves.’</a:t>
            </a:r>
            <a:endParaRPr lang="en-AU" sz="1300" dirty="0">
              <a:latin typeface="Arial" pitchFamily="34" charset="0"/>
              <a:cs typeface="Arial" pitchFamily="34" charset="0"/>
            </a:endParaRPr>
          </a:p>
          <a:p>
            <a:pPr>
              <a:spcAft>
                <a:spcPts val="600"/>
              </a:spcAft>
            </a:pPr>
            <a:r>
              <a:rPr lang="en-AU" sz="1300" i="1" dirty="0" smtClean="0">
                <a:solidFill>
                  <a:srgbClr val="31859C"/>
                </a:solidFill>
                <a:latin typeface="Arial" pitchFamily="34" charset="0"/>
                <a:cs typeface="Arial" pitchFamily="34" charset="0"/>
              </a:rPr>
              <a:t>How </a:t>
            </a:r>
            <a:r>
              <a:rPr lang="en-AU" sz="1300" i="1" dirty="0">
                <a:solidFill>
                  <a:srgbClr val="31859C"/>
                </a:solidFill>
                <a:latin typeface="Arial" pitchFamily="34" charset="0"/>
                <a:cs typeface="Arial" pitchFamily="34" charset="0"/>
              </a:rPr>
              <a:t>the Act applies to Aboriginal and Torres Strait Islander people</a:t>
            </a: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lang="en-AU" sz="1300" dirty="0" smtClean="0">
                <a:latin typeface="Arial" pitchFamily="34" charset="0"/>
                <a:cs typeface="Arial" pitchFamily="34" charset="0"/>
              </a:rPr>
              <a:t>permits </a:t>
            </a:r>
            <a:r>
              <a:rPr lang="en-AU" sz="1300" dirty="0">
                <a:latin typeface="Arial" pitchFamily="34" charset="0"/>
                <a:cs typeface="Arial" pitchFamily="34" charset="0"/>
              </a:rPr>
              <a:t>Aboriginal </a:t>
            </a:r>
            <a:r>
              <a:rPr lang="en-AU" sz="1300" dirty="0" smtClean="0">
                <a:latin typeface="Arial" pitchFamily="34" charset="0"/>
                <a:cs typeface="Arial" pitchFamily="34" charset="0"/>
              </a:rPr>
              <a:t>peoples to continue ‘in accordance with law, the traditional </a:t>
            </a:r>
            <a:r>
              <a:rPr lang="en-AU" sz="1300" dirty="0">
                <a:latin typeface="Arial" pitchFamily="34" charset="0"/>
                <a:cs typeface="Arial" pitchFamily="34" charset="0"/>
              </a:rPr>
              <a:t>use of </a:t>
            </a:r>
            <a:r>
              <a:rPr lang="en-AU" sz="1300" dirty="0" smtClean="0">
                <a:latin typeface="Arial" pitchFamily="34" charset="0"/>
                <a:cs typeface="Arial" pitchFamily="34" charset="0"/>
              </a:rPr>
              <a:t>any area of  </a:t>
            </a:r>
            <a:r>
              <a:rPr lang="en-AU" sz="1300" dirty="0">
                <a:latin typeface="Arial" pitchFamily="34" charset="0"/>
                <a:cs typeface="Arial" pitchFamily="34" charset="0"/>
              </a:rPr>
              <a:t>land and water </a:t>
            </a:r>
            <a:r>
              <a:rPr lang="en-AU" sz="1300" dirty="0" smtClean="0">
                <a:latin typeface="Arial" pitchFamily="34" charset="0"/>
                <a:cs typeface="Arial" pitchFamily="34" charset="0"/>
              </a:rPr>
              <a:t>for </a:t>
            </a:r>
            <a:r>
              <a:rPr lang="en-AU" sz="1300" dirty="0">
                <a:latin typeface="Arial" pitchFamily="34" charset="0"/>
                <a:cs typeface="Arial" pitchFamily="34" charset="0"/>
              </a:rPr>
              <a:t>hunting for </a:t>
            </a:r>
            <a:r>
              <a:rPr lang="en-AU" sz="1300" dirty="0" smtClean="0">
                <a:latin typeface="Arial" pitchFamily="34" charset="0"/>
                <a:cs typeface="Arial" pitchFamily="34" charset="0"/>
              </a:rPr>
              <a:t>food-gathering (otherwise than for purposes of sale) and for </a:t>
            </a:r>
            <a:r>
              <a:rPr lang="en-AU" sz="1300" dirty="0">
                <a:latin typeface="Arial" pitchFamily="34" charset="0"/>
                <a:cs typeface="Arial" pitchFamily="34" charset="0"/>
              </a:rPr>
              <a:t>ceremonial or religious </a:t>
            </a:r>
            <a:r>
              <a:rPr lang="en-AU" sz="1300" dirty="0" smtClean="0">
                <a:latin typeface="Arial" pitchFamily="34" charset="0"/>
                <a:cs typeface="Arial" pitchFamily="34" charset="0"/>
              </a:rPr>
              <a:t>purposes.’</a:t>
            </a:r>
          </a:p>
          <a:p>
            <a:endParaRPr lang="en-AU" sz="700" dirty="0" smtClean="0">
              <a:latin typeface="Arial" pitchFamily="34" charset="0"/>
              <a:cs typeface="Arial" pitchFamily="34" charset="0"/>
            </a:endParaRPr>
          </a:p>
          <a:p>
            <a:r>
              <a:rPr lang="en-AU" sz="700" dirty="0" smtClean="0">
                <a:latin typeface="Arial" pitchFamily="34" charset="0"/>
                <a:cs typeface="Arial" pitchFamily="34" charset="0"/>
              </a:rPr>
              <a:t>Quotes </a:t>
            </a:r>
            <a:r>
              <a:rPr lang="en-AU" sz="700" dirty="0">
                <a:latin typeface="Arial" pitchFamily="34" charset="0"/>
                <a:cs typeface="Arial" pitchFamily="34" charset="0"/>
              </a:rPr>
              <a:t>from </a:t>
            </a:r>
            <a:r>
              <a:rPr lang="en-AU" sz="700" i="1" dirty="0">
                <a:latin typeface="Arial" pitchFamily="34" charset="0"/>
                <a:cs typeface="Arial" pitchFamily="34" charset="0"/>
              </a:rPr>
              <a:t>Aboriginal Hunting, Fishing and Gathering Rights: Current Australian Legislation </a:t>
            </a:r>
            <a:r>
              <a:rPr lang="en-AU" sz="700" dirty="0">
                <a:latin typeface="Arial" pitchFamily="34" charset="0"/>
                <a:cs typeface="Arial" pitchFamily="34" charset="0"/>
              </a:rPr>
              <a:t>(Australian Law Reform Commission)  http://www.alrc.gov.au/publications/report-31 CC BY-NC-ND 3.0 http://creativecommons.org/licenses/by-nc-nd/3.0</a:t>
            </a:r>
            <a:r>
              <a:rPr lang="en-AU" sz="700" dirty="0" smtClean="0">
                <a:latin typeface="Arial" pitchFamily="34" charset="0"/>
                <a:cs typeface="Arial" pitchFamily="34" charset="0"/>
              </a:rPr>
              <a:t>/</a:t>
            </a:r>
            <a:endParaRPr lang="en-AU" sz="12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499992" y="5589240"/>
            <a:ext cx="4248472" cy="877163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1750">
            <a:noFill/>
          </a:ln>
        </p:spPr>
        <p:txBody>
          <a:bodyPr wrap="square" rtlCol="0">
            <a:spAutoFit/>
          </a:bodyPr>
          <a:lstStyle/>
          <a:p>
            <a:r>
              <a:rPr lang="en-AU" sz="1600" b="1" i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Discussion time</a:t>
            </a:r>
            <a:r>
              <a:rPr lang="en-AU" b="1" i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</a:t>
            </a:r>
          </a:p>
          <a:p>
            <a:r>
              <a:rPr lang="en-AU" sz="1100" dirty="0" smtClean="0">
                <a:latin typeface="Arial" pitchFamily="34" charset="0"/>
                <a:cs typeface="Arial" pitchFamily="34" charset="0"/>
              </a:rPr>
              <a:t>2. How is the dugong now protected under this law?  </a:t>
            </a:r>
          </a:p>
          <a:p>
            <a:r>
              <a:rPr lang="en-AU" sz="1100" dirty="0" smtClean="0">
                <a:latin typeface="Arial" pitchFamily="34" charset="0"/>
                <a:cs typeface="Arial" pitchFamily="34" charset="0"/>
              </a:rPr>
              <a:t>3. How are the lives of Aboriginal and Torres Strait Islander peoples affected by this law?</a:t>
            </a:r>
            <a:endParaRPr lang="en-AU" sz="11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11560" y="5445224"/>
            <a:ext cx="3672408" cy="507831"/>
          </a:xfrm>
          <a:prstGeom prst="rect">
            <a:avLst/>
          </a:prstGeom>
          <a:solidFill>
            <a:srgbClr val="B7DEE8"/>
          </a:solidFill>
          <a:ln w="31750">
            <a:noFill/>
          </a:ln>
        </p:spPr>
        <p:txBody>
          <a:bodyPr wrap="square" rtlCol="0">
            <a:spAutoFit/>
          </a:bodyPr>
          <a:lstStyle/>
          <a:p>
            <a:r>
              <a:rPr lang="en-AU" sz="1600" b="1" i="1" dirty="0" smtClean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Discussion time</a:t>
            </a:r>
            <a:endParaRPr lang="en-AU" b="1" i="1" dirty="0" smtClean="0">
              <a:solidFill>
                <a:srgbClr val="FFFFFF"/>
              </a:solidFill>
              <a:latin typeface="Arial" pitchFamily="34" charset="0"/>
              <a:cs typeface="Arial" pitchFamily="34" charset="0"/>
            </a:endParaRPr>
          </a:p>
          <a:p>
            <a:r>
              <a:rPr lang="en-AU" sz="1100" dirty="0" smtClean="0">
                <a:latin typeface="Arial" pitchFamily="34" charset="0"/>
                <a:cs typeface="Arial" pitchFamily="34" charset="0"/>
              </a:rPr>
              <a:t>1. How does customary law influence Australian law?</a:t>
            </a:r>
            <a:endParaRPr lang="en-AU" sz="11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3598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 animBg="1"/>
      <p:bldP spid="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39552" y="404664"/>
            <a:ext cx="698477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dirty="0" smtClean="0">
                <a:solidFill>
                  <a:srgbClr val="31859C"/>
                </a:solidFill>
                <a:latin typeface="Arial" pitchFamily="34" charset="0"/>
                <a:cs typeface="Arial" pitchFamily="34" charset="0"/>
              </a:rPr>
              <a:t>How laws affect our lives and the lives of citizens</a:t>
            </a:r>
            <a:endParaRPr lang="en-AU" sz="4000" dirty="0">
              <a:solidFill>
                <a:srgbClr val="31859C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9552" y="1844824"/>
            <a:ext cx="7776864" cy="1200329"/>
          </a:xfrm>
          <a:prstGeom prst="rect">
            <a:avLst/>
          </a:prstGeom>
          <a:noFill/>
          <a:ln w="31750">
            <a:noFill/>
          </a:ln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AU" sz="3600" dirty="0" smtClean="0">
                <a:latin typeface="Arial" pitchFamily="34" charset="0"/>
                <a:cs typeface="Arial" pitchFamily="34" charset="0"/>
              </a:rPr>
              <a:t>It is the </a:t>
            </a:r>
            <a:r>
              <a:rPr lang="en-AU" sz="3600" b="1" dirty="0" smtClean="0">
                <a:solidFill>
                  <a:srgbClr val="31859C"/>
                </a:solidFill>
                <a:latin typeface="Arial" pitchFamily="34" charset="0"/>
                <a:cs typeface="Arial" pitchFamily="34" charset="0"/>
              </a:rPr>
              <a:t>responsibility</a:t>
            </a:r>
            <a:r>
              <a:rPr lang="en-AU" sz="3600" dirty="0" smtClean="0">
                <a:latin typeface="Arial" pitchFamily="34" charset="0"/>
                <a:cs typeface="Arial" pitchFamily="34" charset="0"/>
              </a:rPr>
              <a:t> of citizens to abide by laws.  </a:t>
            </a:r>
            <a:endParaRPr lang="en-AU" sz="3600" dirty="0">
              <a:solidFill>
                <a:srgbClr val="FFFF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Rounded Rectangular Callout 5"/>
          <p:cNvSpPr/>
          <p:nvPr/>
        </p:nvSpPr>
        <p:spPr>
          <a:xfrm>
            <a:off x="2411760" y="3672915"/>
            <a:ext cx="2589653" cy="849599"/>
          </a:xfrm>
          <a:prstGeom prst="wedgeRoundRectCallout">
            <a:avLst>
              <a:gd name="adj1" fmla="val -42130"/>
              <a:gd name="adj2" fmla="val 173598"/>
              <a:gd name="adj3" fmla="val 16667"/>
            </a:avLst>
          </a:prstGeom>
          <a:solidFill>
            <a:schemeClr val="accent5">
              <a:lumMod val="20000"/>
              <a:lumOff val="80000"/>
            </a:schemeClr>
          </a:solidFill>
          <a:ln w="317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What are </a:t>
            </a:r>
            <a:r>
              <a:rPr lang="en-AU" sz="2000" b="1" dirty="0" smtClean="0">
                <a:solidFill>
                  <a:srgbClr val="31859C"/>
                </a:solidFill>
                <a:latin typeface="Arial" pitchFamily="34" charset="0"/>
                <a:cs typeface="Arial" pitchFamily="34" charset="0"/>
              </a:rPr>
              <a:t>responsibilities</a:t>
            </a:r>
            <a:r>
              <a:rPr lang="en-AU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?</a:t>
            </a:r>
            <a:endParaRPr lang="en-AU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8" name="Picture 2" descr="G:\8047_C2C\Civics Citizenship\Art\New Avatars\Civ_Y3-6_Avatars_Mali_head-2.png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flipH="1">
            <a:off x="395536" y="4536780"/>
            <a:ext cx="2241313" cy="17174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ounded Rectangle 1"/>
          <p:cNvSpPr/>
          <p:nvPr/>
        </p:nvSpPr>
        <p:spPr>
          <a:xfrm>
            <a:off x="5148064" y="3645024"/>
            <a:ext cx="3672408" cy="1656184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Responsibilities are a range of obligations </a:t>
            </a:r>
            <a:r>
              <a:rPr lang="en-AU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that people </a:t>
            </a:r>
            <a:r>
              <a:rPr lang="en-AU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display.</a:t>
            </a:r>
          </a:p>
        </p:txBody>
      </p:sp>
    </p:spTree>
    <p:extLst>
      <p:ext uri="{BB962C8B-B14F-4D97-AF65-F5344CB8AC3E}">
        <p14:creationId xmlns:p14="http://schemas.microsoft.com/office/powerpoint/2010/main" val="277423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39551" y="1052736"/>
            <a:ext cx="7887953" cy="1384995"/>
          </a:xfrm>
          <a:prstGeom prst="rect">
            <a:avLst/>
          </a:prstGeom>
          <a:noFill/>
          <a:ln w="31750">
            <a:noFill/>
          </a:ln>
        </p:spPr>
        <p:txBody>
          <a:bodyPr wrap="square" rtlCol="0">
            <a:spAutoFit/>
          </a:bodyPr>
          <a:lstStyle/>
          <a:p>
            <a:r>
              <a:rPr lang="en-AU" sz="2800" dirty="0" smtClean="0">
                <a:latin typeface="Arial" pitchFamily="34" charset="0"/>
                <a:cs typeface="Arial" pitchFamily="34" charset="0"/>
              </a:rPr>
              <a:t>Laws cannot discriminate against any person because of their race, gender or religious belief</a:t>
            </a:r>
            <a:r>
              <a:rPr lang="en-AU" sz="2800" dirty="0">
                <a:latin typeface="Arial" pitchFamily="34" charset="0"/>
                <a:cs typeface="Arial" pitchFamily="34" charset="0"/>
              </a:rPr>
              <a:t>. </a:t>
            </a:r>
            <a:r>
              <a:rPr lang="en-AU" sz="2800" dirty="0" smtClean="0">
                <a:latin typeface="Arial" pitchFamily="34" charset="0"/>
                <a:cs typeface="Arial" pitchFamily="34" charset="0"/>
              </a:rPr>
              <a:t>But all Australians</a:t>
            </a:r>
            <a:r>
              <a:rPr lang="en-AU" sz="2800" dirty="0" smtClean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AU" sz="2800" dirty="0" smtClean="0">
                <a:latin typeface="Arial" pitchFamily="34" charset="0"/>
                <a:cs typeface="Arial" pitchFamily="34" charset="0"/>
              </a:rPr>
              <a:t>must follow Australian laws. </a:t>
            </a:r>
            <a:endParaRPr lang="en-AU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Rounded Rectangular Callout 8"/>
          <p:cNvSpPr/>
          <p:nvPr/>
        </p:nvSpPr>
        <p:spPr>
          <a:xfrm>
            <a:off x="539551" y="3068960"/>
            <a:ext cx="2631369" cy="3096344"/>
          </a:xfrm>
          <a:prstGeom prst="wedgeRoundRectCallout">
            <a:avLst>
              <a:gd name="adj1" fmla="val 72552"/>
              <a:gd name="adj2" fmla="val 14163"/>
              <a:gd name="adj3" fmla="val 16667"/>
            </a:avLst>
          </a:prstGeom>
          <a:solidFill>
            <a:schemeClr val="accent5">
              <a:lumMod val="20000"/>
              <a:lumOff val="80000"/>
            </a:schemeClr>
          </a:solidFill>
          <a:ln w="317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endParaRPr lang="en-AU" dirty="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AU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For example, customs and border-protection laws make sure that goods and people are transported legally across national, as well as international, borders.</a:t>
            </a:r>
            <a:endParaRPr lang="en-AU" dirty="0" smtClean="0"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itchFamily="34" charset="0"/>
              <a:cs typeface="Arial" pitchFamily="34" charset="0"/>
            </a:endParaRPr>
          </a:p>
          <a:p>
            <a:pPr algn="ctr"/>
            <a:endParaRPr lang="en-AU" dirty="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Rounded Rectangular Callout 9"/>
          <p:cNvSpPr/>
          <p:nvPr/>
        </p:nvSpPr>
        <p:spPr>
          <a:xfrm>
            <a:off x="6372200" y="3068960"/>
            <a:ext cx="2458248" cy="3096343"/>
          </a:xfrm>
          <a:prstGeom prst="wedgeRoundRectCallout">
            <a:avLst>
              <a:gd name="adj1" fmla="val -92216"/>
              <a:gd name="adj2" fmla="val 12566"/>
              <a:gd name="adj3" fmla="val 16667"/>
            </a:avLst>
          </a:prstGeom>
          <a:solidFill>
            <a:schemeClr val="accent5">
              <a:lumMod val="20000"/>
              <a:lumOff val="80000"/>
            </a:schemeClr>
          </a:solidFill>
          <a:ln w="317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If anyone illegally imports goods, they can be sentenced to 10 years in prison.</a:t>
            </a:r>
            <a:endParaRPr lang="en-AU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39551" y="188640"/>
            <a:ext cx="78817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dirty="0">
                <a:solidFill>
                  <a:srgbClr val="31859C"/>
                </a:solidFill>
                <a:latin typeface="Arial" pitchFamily="34" charset="0"/>
                <a:cs typeface="Arial" pitchFamily="34" charset="0"/>
              </a:rPr>
              <a:t>Effect </a:t>
            </a:r>
            <a:r>
              <a:rPr lang="en-AU" sz="4000" dirty="0" smtClean="0">
                <a:solidFill>
                  <a:srgbClr val="31859C"/>
                </a:solidFill>
                <a:latin typeface="Arial" pitchFamily="34" charset="0"/>
                <a:cs typeface="Arial" pitchFamily="34" charset="0"/>
              </a:rPr>
              <a:t>of </a:t>
            </a:r>
            <a:r>
              <a:rPr lang="en-AU" sz="4000" dirty="0">
                <a:solidFill>
                  <a:srgbClr val="31859C"/>
                </a:solidFill>
                <a:latin typeface="Arial" pitchFamily="34" charset="0"/>
                <a:cs typeface="Arial" pitchFamily="34" charset="0"/>
              </a:rPr>
              <a:t>law on citizens </a:t>
            </a:r>
          </a:p>
        </p:txBody>
      </p:sp>
      <p:pic>
        <p:nvPicPr>
          <p:cNvPr id="11" name="Picture 2" descr="G:\8047_C2C\Civics Citizenship\Art\New Avatars\Civ_Y3-6_Avatars_Mali_head-2.png"/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flipH="1">
            <a:off x="3131840" y="3356992"/>
            <a:ext cx="2808312" cy="21518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98056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39552" y="220029"/>
            <a:ext cx="67687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dirty="0" smtClean="0">
                <a:solidFill>
                  <a:srgbClr val="31859C"/>
                </a:solidFill>
                <a:latin typeface="Arial" pitchFamily="34" charset="0"/>
                <a:cs typeface="Arial" pitchFamily="34" charset="0"/>
              </a:rPr>
              <a:t>Effect of law on citizens </a:t>
            </a:r>
            <a:endParaRPr lang="en-AU" sz="4000" dirty="0">
              <a:solidFill>
                <a:srgbClr val="31859C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64770" y="2590354"/>
            <a:ext cx="1872208" cy="369332"/>
          </a:xfrm>
          <a:prstGeom prst="rect">
            <a:avLst/>
          </a:prstGeom>
          <a:solidFill>
            <a:srgbClr val="DBEEF4"/>
          </a:solidFill>
          <a:ln w="317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AU" dirty="0" smtClean="0">
                <a:latin typeface="Arial" pitchFamily="34" charset="0"/>
                <a:cs typeface="Arial" pitchFamily="34" charset="0"/>
              </a:rPr>
              <a:t>imprisonment</a:t>
            </a:r>
            <a:endParaRPr lang="en-AU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64770" y="4365913"/>
            <a:ext cx="1872208" cy="646331"/>
          </a:xfrm>
          <a:prstGeom prst="rect">
            <a:avLst/>
          </a:prstGeom>
          <a:solidFill>
            <a:srgbClr val="DBEEF4"/>
          </a:solidFill>
          <a:ln w="317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latin typeface="Arial" pitchFamily="34" charset="0"/>
                <a:cs typeface="Arial" pitchFamily="34" charset="0"/>
              </a:rPr>
              <a:t>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uspended sentence</a:t>
            </a:r>
            <a:endParaRPr lang="en-AU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64770" y="5230941"/>
            <a:ext cx="1872208" cy="646331"/>
          </a:xfrm>
          <a:prstGeom prst="rect">
            <a:avLst/>
          </a:prstGeom>
          <a:solidFill>
            <a:srgbClr val="DBEEF4"/>
          </a:solidFill>
          <a:ln w="317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latin typeface="Arial" pitchFamily="34" charset="0"/>
                <a:cs typeface="Arial" pitchFamily="34" charset="0"/>
              </a:rPr>
              <a:t>c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ommunity services</a:t>
            </a:r>
            <a:endParaRPr lang="en-AU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64770" y="3519320"/>
            <a:ext cx="1872208" cy="369332"/>
          </a:xfrm>
          <a:prstGeom prst="rect">
            <a:avLst/>
          </a:prstGeom>
          <a:solidFill>
            <a:srgbClr val="DBEEF4"/>
          </a:solidFill>
          <a:ln w="317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AU" dirty="0" smtClean="0">
                <a:latin typeface="Arial" pitchFamily="34" charset="0"/>
                <a:cs typeface="Arial" pitchFamily="34" charset="0"/>
              </a:rPr>
              <a:t>fine</a:t>
            </a:r>
            <a:endParaRPr lang="en-AU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834329" y="5230941"/>
            <a:ext cx="3744416" cy="369332"/>
          </a:xfrm>
          <a:prstGeom prst="rect">
            <a:avLst/>
          </a:prstGeom>
          <a:solidFill>
            <a:srgbClr val="DBEEF4"/>
          </a:solidFill>
          <a:ln w="317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latin typeface="Arial" pitchFamily="34" charset="0"/>
                <a:cs typeface="Arial" pitchFamily="34" charset="0"/>
              </a:rPr>
              <a:t>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ending someone to jail</a:t>
            </a:r>
            <a:endParaRPr lang="en-AU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834329" y="4501663"/>
            <a:ext cx="3744416" cy="369332"/>
          </a:xfrm>
          <a:prstGeom prst="rect">
            <a:avLst/>
          </a:prstGeom>
          <a:solidFill>
            <a:srgbClr val="DBEEF4"/>
          </a:solidFill>
          <a:ln w="317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latin typeface="Arial" pitchFamily="34" charset="0"/>
                <a:cs typeface="Arial" pitchFamily="34" charset="0"/>
              </a:rPr>
              <a:t>a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n order to pay money </a:t>
            </a:r>
            <a:endParaRPr lang="en-AU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834329" y="3614610"/>
            <a:ext cx="3744416" cy="584775"/>
          </a:xfrm>
          <a:prstGeom prst="rect">
            <a:avLst/>
          </a:prstGeom>
          <a:solidFill>
            <a:srgbClr val="DBEEF4"/>
          </a:solidFill>
          <a:ln w="317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AU" sz="1600" dirty="0">
                <a:latin typeface="Arial" pitchFamily="34" charset="0"/>
                <a:cs typeface="Arial" pitchFamily="34" charset="0"/>
              </a:rPr>
              <a:t>t</a:t>
            </a:r>
            <a:r>
              <a:rPr lang="en-AU" sz="1600" dirty="0" smtClean="0">
                <a:latin typeface="Arial" pitchFamily="34" charset="0"/>
                <a:cs typeface="Arial" pitchFamily="34" charset="0"/>
              </a:rPr>
              <a:t>he promise of jail if another offence is committed in a given time period</a:t>
            </a:r>
            <a:endParaRPr lang="en-AU" sz="16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834329" y="2775020"/>
            <a:ext cx="3744416" cy="584775"/>
          </a:xfrm>
          <a:prstGeom prst="rect">
            <a:avLst/>
          </a:prstGeom>
          <a:solidFill>
            <a:srgbClr val="DBEEF4"/>
          </a:solidFill>
          <a:ln w="317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AU" sz="1600" dirty="0">
                <a:latin typeface="Arial" pitchFamily="34" charset="0"/>
                <a:cs typeface="Arial" pitchFamily="34" charset="0"/>
              </a:rPr>
              <a:t>s</a:t>
            </a:r>
            <a:r>
              <a:rPr lang="en-AU" sz="1600" dirty="0" smtClean="0">
                <a:latin typeface="Arial" pitchFamily="34" charset="0"/>
                <a:cs typeface="Arial" pitchFamily="34" charset="0"/>
              </a:rPr>
              <a:t>upervised work, such as </a:t>
            </a:r>
            <a:br>
              <a:rPr lang="en-AU" sz="1600" dirty="0" smtClean="0">
                <a:latin typeface="Arial" pitchFamily="34" charset="0"/>
                <a:cs typeface="Arial" pitchFamily="34" charset="0"/>
              </a:rPr>
            </a:br>
            <a:r>
              <a:rPr lang="en-AU" sz="1600" dirty="0" smtClean="0">
                <a:latin typeface="Arial" pitchFamily="34" charset="0"/>
                <a:cs typeface="Arial" pitchFamily="34" charset="0"/>
              </a:rPr>
              <a:t>cleaning graffiti and collecting rubbish</a:t>
            </a:r>
            <a:endParaRPr lang="en-AU" sz="1600" dirty="0"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16" name="Straight Connector 15"/>
          <p:cNvCxnSpPr>
            <a:stCxn id="5" idx="3"/>
            <a:endCxn id="11" idx="1"/>
          </p:cNvCxnSpPr>
          <p:nvPr/>
        </p:nvCxnSpPr>
        <p:spPr>
          <a:xfrm>
            <a:off x="2536978" y="2775020"/>
            <a:ext cx="2297351" cy="2640587"/>
          </a:xfrm>
          <a:prstGeom prst="line">
            <a:avLst/>
          </a:prstGeom>
          <a:ln w="19050">
            <a:solidFill>
              <a:srgbClr val="21596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8" idx="3"/>
            <a:endCxn id="12" idx="1"/>
          </p:cNvCxnSpPr>
          <p:nvPr/>
        </p:nvCxnSpPr>
        <p:spPr>
          <a:xfrm>
            <a:off x="2536978" y="3703986"/>
            <a:ext cx="2297351" cy="982343"/>
          </a:xfrm>
          <a:prstGeom prst="line">
            <a:avLst/>
          </a:prstGeom>
          <a:ln w="19050">
            <a:solidFill>
              <a:srgbClr val="21596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stCxn id="6" idx="3"/>
            <a:endCxn id="13" idx="1"/>
          </p:cNvCxnSpPr>
          <p:nvPr/>
        </p:nvCxnSpPr>
        <p:spPr>
          <a:xfrm flipV="1">
            <a:off x="2536978" y="3906998"/>
            <a:ext cx="2297351" cy="782081"/>
          </a:xfrm>
          <a:prstGeom prst="line">
            <a:avLst/>
          </a:prstGeom>
          <a:ln w="19050">
            <a:solidFill>
              <a:srgbClr val="21596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stCxn id="7" idx="3"/>
            <a:endCxn id="14" idx="1"/>
          </p:cNvCxnSpPr>
          <p:nvPr/>
        </p:nvCxnSpPr>
        <p:spPr>
          <a:xfrm flipV="1">
            <a:off x="2536978" y="3067408"/>
            <a:ext cx="2297351" cy="2486699"/>
          </a:xfrm>
          <a:prstGeom prst="line">
            <a:avLst/>
          </a:prstGeom>
          <a:ln w="19050">
            <a:solidFill>
              <a:srgbClr val="21596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39552" y="1051876"/>
            <a:ext cx="3498780" cy="707886"/>
          </a:xfrm>
          <a:prstGeom prst="rect">
            <a:avLst/>
          </a:prstGeom>
          <a:solidFill>
            <a:srgbClr val="FFFFFF"/>
          </a:solidFill>
          <a:ln w="31750">
            <a:noFill/>
          </a:ln>
        </p:spPr>
        <p:txBody>
          <a:bodyPr wrap="square" rtlCol="0">
            <a:spAutoFit/>
          </a:bodyPr>
          <a:lstStyle/>
          <a:p>
            <a:r>
              <a:rPr lang="en-AU" sz="2000" dirty="0" smtClean="0">
                <a:latin typeface="Arial" pitchFamily="34" charset="0"/>
                <a:cs typeface="Arial" pitchFamily="34" charset="0"/>
              </a:rPr>
              <a:t>Identify the meaning of each consequence</a:t>
            </a:r>
            <a:endParaRPr lang="en-AU" sz="2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9" name="Rounded Rectangular Callout 18"/>
          <p:cNvSpPr/>
          <p:nvPr/>
        </p:nvSpPr>
        <p:spPr>
          <a:xfrm>
            <a:off x="6118320" y="1639683"/>
            <a:ext cx="2460426" cy="776624"/>
          </a:xfrm>
          <a:prstGeom prst="wedgeRoundRectCallout">
            <a:avLst>
              <a:gd name="adj1" fmla="val -74339"/>
              <a:gd name="adj2" fmla="val -10559"/>
              <a:gd name="adj3" fmla="val 16667"/>
            </a:avLst>
          </a:prstGeom>
          <a:solidFill>
            <a:srgbClr val="DBEEF4"/>
          </a:solidFill>
          <a:ln w="317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What happens when we break the law?</a:t>
            </a:r>
            <a:endParaRPr lang="en-AU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24" name="Picture 2" descr="G:\8047_C2C\Civics Citizenship\Art\New Avatars\Civ_Y3-6_Avatars_Mali_head-2.png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067944" y="1173053"/>
            <a:ext cx="1547503" cy="1185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4254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487624" y="364014"/>
            <a:ext cx="51644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dirty="0" smtClean="0">
                <a:solidFill>
                  <a:srgbClr val="31859C"/>
                </a:solidFill>
                <a:latin typeface="Arial" pitchFamily="34" charset="0"/>
                <a:cs typeface="Arial" pitchFamily="34" charset="0"/>
              </a:rPr>
              <a:t>Type of laws</a:t>
            </a:r>
            <a:endParaRPr lang="en-AU" sz="3600" dirty="0">
              <a:solidFill>
                <a:srgbClr val="31859C"/>
              </a:solidFill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5409401"/>
              </p:ext>
            </p:extLst>
          </p:nvPr>
        </p:nvGraphicFramePr>
        <p:xfrm>
          <a:off x="487624" y="1038134"/>
          <a:ext cx="7704855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6304"/>
                <a:gridCol w="2160240"/>
                <a:gridCol w="2808311"/>
              </a:tblGrid>
              <a:tr h="370840">
                <a:tc>
                  <a:txBody>
                    <a:bodyPr/>
                    <a:lstStyle/>
                    <a:p>
                      <a:r>
                        <a:rPr lang="en-AU" sz="2000" b="1" dirty="0" smtClean="0">
                          <a:solidFill>
                            <a:srgbClr val="31859C"/>
                          </a:solidFill>
                          <a:latin typeface="Arial" pitchFamily="34" charset="0"/>
                          <a:cs typeface="Arial" pitchFamily="34" charset="0"/>
                        </a:rPr>
                        <a:t>Road laws</a:t>
                      </a:r>
                    </a:p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en-AU" sz="1800" b="0" dirty="0" smtClean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speeding</a:t>
                      </a:r>
                    </a:p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en-AU" sz="1800" b="0" dirty="0" smtClean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parking</a:t>
                      </a:r>
                    </a:p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en-AU" sz="1800" b="0" dirty="0" smtClean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seat belts</a:t>
                      </a:r>
                    </a:p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en-AU" sz="1800" b="0" dirty="0" smtClean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not wearing a helmet</a:t>
                      </a:r>
                    </a:p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en-AU" sz="1800" b="0" dirty="0" smtClean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driving without a licence</a:t>
                      </a:r>
                      <a:endParaRPr lang="en-AU" sz="1800" dirty="0" smtClean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2000" b="1" dirty="0" smtClean="0">
                          <a:solidFill>
                            <a:srgbClr val="31859C"/>
                          </a:solidFill>
                          <a:latin typeface="Arial" pitchFamily="34" charset="0"/>
                          <a:cs typeface="Arial" pitchFamily="34" charset="0"/>
                        </a:rPr>
                        <a:t>Health laws</a:t>
                      </a:r>
                    </a:p>
                    <a:p>
                      <a:pPr marL="342900" indent="-342900">
                        <a:buFont typeface="Arial" pitchFamily="34" charset="0"/>
                        <a:buChar char="•"/>
                      </a:pPr>
                      <a:r>
                        <a:rPr lang="en-AU" sz="1800" b="0" dirty="0" smtClean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food hygiene</a:t>
                      </a:r>
                    </a:p>
                    <a:p>
                      <a:pPr marL="342900" indent="-342900">
                        <a:buFont typeface="Arial" pitchFamily="34" charset="0"/>
                        <a:buChar char="•"/>
                      </a:pPr>
                      <a:r>
                        <a:rPr lang="en-AU" sz="1800" b="0" dirty="0" smtClean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waste</a:t>
                      </a:r>
                      <a:r>
                        <a:rPr lang="en-AU" sz="1800" b="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disposal</a:t>
                      </a:r>
                    </a:p>
                    <a:p>
                      <a:pPr marL="342900" indent="-342900">
                        <a:buFont typeface="Arial" pitchFamily="34" charset="0"/>
                        <a:buChar char="•"/>
                      </a:pPr>
                      <a:r>
                        <a:rPr lang="en-AU" sz="1800" b="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public water supply</a:t>
                      </a:r>
                    </a:p>
                    <a:p>
                      <a:pPr marL="342900" indent="-342900">
                        <a:buFont typeface="Arial" pitchFamily="34" charset="0"/>
                        <a:buChar char="•"/>
                      </a:pPr>
                      <a:endParaRPr lang="en-AU" sz="1600" b="0" baseline="0" dirty="0" smtClean="0">
                        <a:latin typeface="Arial" pitchFamily="34" charset="0"/>
                        <a:cs typeface="Arial" pitchFamily="34" charset="0"/>
                      </a:endParaRPr>
                    </a:p>
                    <a:p>
                      <a:pPr marL="342900" indent="-342900">
                        <a:buFont typeface="Arial" pitchFamily="34" charset="0"/>
                        <a:buChar char="•"/>
                      </a:pPr>
                      <a:endParaRPr lang="en-AU" sz="1600" dirty="0" smtClean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2000" b="1" dirty="0" smtClean="0">
                          <a:solidFill>
                            <a:srgbClr val="31859C"/>
                          </a:solidFill>
                          <a:latin typeface="Arial" pitchFamily="34" charset="0"/>
                          <a:cs typeface="Arial" pitchFamily="34" charset="0"/>
                        </a:rPr>
                        <a:t>Environment</a:t>
                      </a:r>
                      <a:r>
                        <a:rPr lang="en-AU" sz="2000" b="1" baseline="0" dirty="0" smtClean="0">
                          <a:solidFill>
                            <a:srgbClr val="31859C"/>
                          </a:solidFill>
                          <a:latin typeface="Arial" pitchFamily="34" charset="0"/>
                          <a:cs typeface="Arial" pitchFamily="34" charset="0"/>
                        </a:rPr>
                        <a:t> protection</a:t>
                      </a:r>
                      <a:r>
                        <a:rPr lang="en-AU" sz="2000" b="1" dirty="0" smtClean="0">
                          <a:solidFill>
                            <a:srgbClr val="31859C"/>
                          </a:solidFill>
                          <a:latin typeface="Arial" pitchFamily="34" charset="0"/>
                          <a:cs typeface="Arial" pitchFamily="34" charset="0"/>
                        </a:rPr>
                        <a:t> laws</a:t>
                      </a:r>
                    </a:p>
                    <a:p>
                      <a:pPr marL="342900" indent="-342900">
                        <a:buFont typeface="Arial" pitchFamily="34" charset="0"/>
                        <a:buChar char="•"/>
                      </a:pPr>
                      <a:r>
                        <a:rPr lang="en-AU" sz="1800" b="0" dirty="0" smtClean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radioactive waste disposal</a:t>
                      </a:r>
                    </a:p>
                    <a:p>
                      <a:pPr marL="342900" indent="-342900">
                        <a:buFont typeface="Arial" pitchFamily="34" charset="0"/>
                        <a:buChar char="•"/>
                      </a:pPr>
                      <a:r>
                        <a:rPr lang="en-AU" sz="1800" b="0" dirty="0" smtClean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wildlife</a:t>
                      </a:r>
                      <a:r>
                        <a:rPr lang="en-AU" sz="1800" b="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conservation</a:t>
                      </a:r>
                    </a:p>
                  </a:txBody>
                  <a:tcPr>
                    <a:solidFill>
                      <a:srgbClr val="DBEEF4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AU" sz="2000" b="1" baseline="0" dirty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Arial" pitchFamily="34" charset="0"/>
                          <a:cs typeface="Arial" pitchFamily="34" charset="0"/>
                        </a:rPr>
                        <a:t>Public order laws</a:t>
                      </a:r>
                    </a:p>
                    <a:p>
                      <a:pPr marL="342900" indent="-342900">
                        <a:buFont typeface="Arial" pitchFamily="34" charset="0"/>
                        <a:buChar char="•"/>
                      </a:pPr>
                      <a:r>
                        <a:rPr lang="en-AU" sz="1800" baseline="0" dirty="0" smtClean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carrying a weapon in public</a:t>
                      </a:r>
                    </a:p>
                    <a:p>
                      <a:pPr marL="342900" indent="-342900">
                        <a:buFont typeface="Arial" pitchFamily="34" charset="0"/>
                        <a:buChar char="•"/>
                      </a:pPr>
                      <a:endParaRPr lang="en-AU" sz="1600" baseline="0" dirty="0" smtClean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2000" b="1" dirty="0" smtClean="0">
                          <a:solidFill>
                            <a:srgbClr val="31859C"/>
                          </a:solidFill>
                          <a:latin typeface="Arial" pitchFamily="34" charset="0"/>
                          <a:cs typeface="Arial" pitchFamily="34" charset="0"/>
                        </a:rPr>
                        <a:t>Property</a:t>
                      </a:r>
                      <a:r>
                        <a:rPr lang="en-AU" sz="2000" b="1" baseline="0" dirty="0" smtClean="0">
                          <a:solidFill>
                            <a:srgbClr val="31859C"/>
                          </a:solidFill>
                          <a:latin typeface="Arial" pitchFamily="34" charset="0"/>
                          <a:cs typeface="Arial" pitchFamily="34" charset="0"/>
                        </a:rPr>
                        <a:t> laws</a:t>
                      </a:r>
                    </a:p>
                    <a:p>
                      <a:pPr marL="342900" indent="-342900">
                        <a:buFont typeface="Arial" pitchFamily="34" charset="0"/>
                        <a:buChar char="•"/>
                      </a:pPr>
                      <a:r>
                        <a:rPr lang="en-AU" sz="18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vandalism</a:t>
                      </a:r>
                    </a:p>
                    <a:p>
                      <a:pPr marL="342900" indent="-342900">
                        <a:buFont typeface="Arial" pitchFamily="34" charset="0"/>
                        <a:buChar char="•"/>
                      </a:pPr>
                      <a:r>
                        <a:rPr lang="en-AU" sz="18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theft</a:t>
                      </a:r>
                    </a:p>
                    <a:p>
                      <a:pPr marL="342900" indent="-342900">
                        <a:buFont typeface="Arial" pitchFamily="34" charset="0"/>
                        <a:buChar char="•"/>
                      </a:pPr>
                      <a:r>
                        <a:rPr lang="en-AU" sz="18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littering</a:t>
                      </a:r>
                    </a:p>
                    <a:p>
                      <a:pPr marL="342900" indent="-342900">
                        <a:buFont typeface="Arial" pitchFamily="34" charset="0"/>
                        <a:buChar char="•"/>
                      </a:pPr>
                      <a:r>
                        <a:rPr lang="en-AU" sz="18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trespassing</a:t>
                      </a:r>
                      <a:endParaRPr lang="en-AU" sz="1800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2000" b="1" dirty="0" smtClean="0">
                          <a:solidFill>
                            <a:srgbClr val="31859C"/>
                          </a:solidFill>
                          <a:latin typeface="Arial" pitchFamily="34" charset="0"/>
                          <a:cs typeface="Arial" pitchFamily="34" charset="0"/>
                        </a:rPr>
                        <a:t>Customs</a:t>
                      </a:r>
                      <a:r>
                        <a:rPr lang="en-AU" sz="2000" b="1" baseline="0" dirty="0" smtClean="0">
                          <a:solidFill>
                            <a:srgbClr val="31859C"/>
                          </a:solidFill>
                          <a:latin typeface="Arial" pitchFamily="34" charset="0"/>
                          <a:cs typeface="Arial" pitchFamily="34" charset="0"/>
                        </a:rPr>
                        <a:t> and </a:t>
                      </a:r>
                      <a:r>
                        <a:rPr lang="en-AU" sz="2000" b="1" dirty="0" smtClean="0">
                          <a:solidFill>
                            <a:srgbClr val="31859C"/>
                          </a:solidFill>
                          <a:latin typeface="Arial" pitchFamily="34" charset="0"/>
                          <a:cs typeface="Arial" pitchFamily="34" charset="0"/>
                        </a:rPr>
                        <a:t>border </a:t>
                      </a:r>
                      <a:r>
                        <a:rPr lang="en-AU" sz="2000" b="1" baseline="0" dirty="0" smtClean="0">
                          <a:solidFill>
                            <a:srgbClr val="31859C"/>
                          </a:solidFill>
                          <a:latin typeface="Arial" pitchFamily="34" charset="0"/>
                          <a:cs typeface="Arial" pitchFamily="34" charset="0"/>
                        </a:rPr>
                        <a:t>protection laws</a:t>
                      </a:r>
                    </a:p>
                    <a:p>
                      <a:pPr marL="342900" indent="-342900">
                        <a:buFont typeface="Arial" pitchFamily="34" charset="0"/>
                        <a:buChar char="•"/>
                      </a:pPr>
                      <a:r>
                        <a:rPr lang="en-AU" sz="18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importing goods </a:t>
                      </a:r>
                    </a:p>
                    <a:p>
                      <a:pPr marL="342900" indent="-342900">
                        <a:buFont typeface="Arial" pitchFamily="34" charset="0"/>
                        <a:buChar char="•"/>
                      </a:pPr>
                      <a:r>
                        <a:rPr lang="en-AU" sz="18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passports</a:t>
                      </a:r>
                    </a:p>
                    <a:p>
                      <a:pPr marL="342900" indent="-342900">
                        <a:buFont typeface="Arial" pitchFamily="34" charset="0"/>
                        <a:buChar char="•"/>
                      </a:pPr>
                      <a:r>
                        <a:rPr lang="en-AU" sz="18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importing fauna and flora</a:t>
                      </a:r>
                    </a:p>
                  </a:txBody>
                  <a:tcPr>
                    <a:solidFill>
                      <a:srgbClr val="DBEEF4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87624" y="4921039"/>
            <a:ext cx="7688766" cy="120032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1750">
            <a:noFill/>
          </a:ln>
        </p:spPr>
        <p:txBody>
          <a:bodyPr wrap="square" rtlCol="0">
            <a:spAutoFit/>
          </a:bodyPr>
          <a:lstStyle/>
          <a:p>
            <a:r>
              <a:rPr lang="en-AU" b="1" dirty="0" smtClean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Activity time</a:t>
            </a:r>
            <a:r>
              <a:rPr lang="en-AU" dirty="0" smtClean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 smtClean="0">
                <a:latin typeface="Arial" pitchFamily="34" charset="0"/>
                <a:cs typeface="Arial" pitchFamily="34" charset="0"/>
              </a:rPr>
              <a:t>Select one of the above issues.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 smtClean="0">
                <a:latin typeface="Arial" pitchFamily="34" charset="0"/>
                <a:cs typeface="Arial" pitchFamily="34" charset="0"/>
              </a:rPr>
              <a:t>How might breaking this law affect a person’s life?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 smtClean="0">
                <a:latin typeface="Arial" pitchFamily="34" charset="0"/>
                <a:cs typeface="Arial" pitchFamily="34" charset="0"/>
              </a:rPr>
              <a:t>How might it change another person’s life? </a:t>
            </a:r>
          </a:p>
        </p:txBody>
      </p:sp>
    </p:spTree>
    <p:extLst>
      <p:ext uri="{BB962C8B-B14F-4D97-AF65-F5344CB8AC3E}">
        <p14:creationId xmlns:p14="http://schemas.microsoft.com/office/powerpoint/2010/main" val="463643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/>
          <a:lstStyle/>
          <a:p>
            <a:pPr algn="l"/>
            <a:r>
              <a:rPr lang="en-AU" sz="3600" dirty="0" smtClean="0">
                <a:solidFill>
                  <a:schemeClr val="accent5">
                    <a:lumMod val="75000"/>
                  </a:schemeClr>
                </a:solidFill>
              </a:rPr>
              <a:t>Attributions</a:t>
            </a:r>
            <a:endParaRPr lang="en-AU" sz="36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67544" y="1196752"/>
            <a:ext cx="8075240" cy="4678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AU" sz="1000" dirty="0" smtClean="0">
                <a:latin typeface="Arial" pitchFamily="34" charset="0"/>
                <a:cs typeface="Arial" pitchFamily="34" charset="0"/>
              </a:rPr>
              <a:t>All images © DET</a:t>
            </a:r>
          </a:p>
          <a:p>
            <a:pPr marL="0" indent="0">
              <a:buNone/>
            </a:pPr>
            <a:endParaRPr lang="en-AU" sz="1200" dirty="0"/>
          </a:p>
        </p:txBody>
      </p:sp>
    </p:spTree>
    <p:extLst>
      <p:ext uri="{BB962C8B-B14F-4D97-AF65-F5344CB8AC3E}">
        <p14:creationId xmlns:p14="http://schemas.microsoft.com/office/powerpoint/2010/main" val="729466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lank powerPoint presentatio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blank powerPoint presentation</Template>
  <TotalTime>5052</TotalTime>
  <Words>1134</Words>
  <Application>Microsoft Office PowerPoint</Application>
  <PresentationFormat>On-screen Show (4:3)</PresentationFormat>
  <Paragraphs>166</Paragraphs>
  <Slides>14</Slides>
  <Notes>13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blank 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Attributions</vt:lpstr>
    </vt:vector>
  </TitlesOfParts>
  <Company>Queensland Government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SOMERVILLE, Elizabeth</dc:creator>
  <cp:lastModifiedBy>WRIGHT, Candace</cp:lastModifiedBy>
  <cp:revision>349</cp:revision>
  <cp:lastPrinted>2016-12-19T22:59:56Z</cp:lastPrinted>
  <dcterms:created xsi:type="dcterms:W3CDTF">2014-03-06T03:27:47Z</dcterms:created>
  <dcterms:modified xsi:type="dcterms:W3CDTF">2017-01-17T04:35:45Z</dcterms:modified>
</cp:coreProperties>
</file>