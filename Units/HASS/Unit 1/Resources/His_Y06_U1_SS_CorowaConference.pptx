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9" r:id="rId3"/>
    <p:sldId id="257" r:id="rId4"/>
    <p:sldId id="268" r:id="rId5"/>
    <p:sldId id="270" r:id="rId6"/>
    <p:sldId id="271" r:id="rId7"/>
    <p:sldId id="272" r:id="rId8"/>
    <p:sldId id="258" r:id="rId9"/>
    <p:sldId id="273" r:id="rId10"/>
    <p:sldId id="274" r:id="rId11"/>
    <p:sldId id="275" r:id="rId12"/>
    <p:sldId id="267" r:id="rId13"/>
  </p:sldIdLst>
  <p:sldSz cx="9144000" cy="6858000" type="screen4x3"/>
  <p:notesSz cx="6669088" cy="97536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6B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009" autoAdjust="0"/>
  </p:normalViewPr>
  <p:slideViewPr>
    <p:cSldViewPr>
      <p:cViewPr>
        <p:scale>
          <a:sx n="90" d="100"/>
          <a:sy n="90" d="100"/>
        </p:scale>
        <p:origin x="-2244" y="-270"/>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250" cy="487363"/>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AU"/>
          </a:p>
        </p:txBody>
      </p:sp>
      <p:sp>
        <p:nvSpPr>
          <p:cNvPr id="3" name="Date Placeholder 2"/>
          <p:cNvSpPr>
            <a:spLocks noGrp="1"/>
          </p:cNvSpPr>
          <p:nvPr>
            <p:ph type="dt" idx="1"/>
          </p:nvPr>
        </p:nvSpPr>
        <p:spPr>
          <a:xfrm>
            <a:off x="3778250" y="0"/>
            <a:ext cx="2889250" cy="487363"/>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71C9CAA1-2922-4AD9-B773-A7324E34B122}" type="datetimeFigureOut">
              <a:rPr lang="en-AU"/>
              <a:pPr>
                <a:defRPr/>
              </a:pPr>
              <a:t>21/07/2017</a:t>
            </a:fld>
            <a:endParaRPr lang="en-AU"/>
          </a:p>
        </p:txBody>
      </p:sp>
      <p:sp>
        <p:nvSpPr>
          <p:cNvPr id="4" name="Slide Image Placeholder 3"/>
          <p:cNvSpPr>
            <a:spLocks noGrp="1" noRot="1" noChangeAspect="1"/>
          </p:cNvSpPr>
          <p:nvPr>
            <p:ph type="sldImg" idx="2"/>
          </p:nvPr>
        </p:nvSpPr>
        <p:spPr>
          <a:xfrm>
            <a:off x="896938" y="731838"/>
            <a:ext cx="4875212" cy="3657600"/>
          </a:xfrm>
          <a:prstGeom prst="rect">
            <a:avLst/>
          </a:prstGeom>
          <a:noFill/>
          <a:ln w="12700">
            <a:solidFill>
              <a:prstClr val="black"/>
            </a:solidFill>
          </a:ln>
        </p:spPr>
        <p:txBody>
          <a:bodyPr vert="horz" lIns="91440" tIns="45720" rIns="91440" bIns="45720" rtlCol="0" anchor="ctr"/>
          <a:lstStyle/>
          <a:p>
            <a:pPr lvl="0"/>
            <a:endParaRPr lang="en-AU" noProof="0"/>
          </a:p>
        </p:txBody>
      </p:sp>
      <p:sp>
        <p:nvSpPr>
          <p:cNvPr id="5" name="Notes Placeholder 4"/>
          <p:cNvSpPr>
            <a:spLocks noGrp="1"/>
          </p:cNvSpPr>
          <p:nvPr>
            <p:ph type="body" sz="quarter" idx="3"/>
          </p:nvPr>
        </p:nvSpPr>
        <p:spPr>
          <a:xfrm>
            <a:off x="666750" y="4632325"/>
            <a:ext cx="5335588" cy="4389438"/>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AU" noProof="0"/>
          </a:p>
        </p:txBody>
      </p:sp>
      <p:sp>
        <p:nvSpPr>
          <p:cNvPr id="6" name="Footer Placeholder 5"/>
          <p:cNvSpPr>
            <a:spLocks noGrp="1"/>
          </p:cNvSpPr>
          <p:nvPr>
            <p:ph type="ftr" sz="quarter" idx="4"/>
          </p:nvPr>
        </p:nvSpPr>
        <p:spPr>
          <a:xfrm>
            <a:off x="0" y="9264650"/>
            <a:ext cx="2889250" cy="487363"/>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AU"/>
          </a:p>
        </p:txBody>
      </p:sp>
      <p:sp>
        <p:nvSpPr>
          <p:cNvPr id="7" name="Slide Number Placeholder 6"/>
          <p:cNvSpPr>
            <a:spLocks noGrp="1"/>
          </p:cNvSpPr>
          <p:nvPr>
            <p:ph type="sldNum" sz="quarter" idx="5"/>
          </p:nvPr>
        </p:nvSpPr>
        <p:spPr>
          <a:xfrm>
            <a:off x="3778250" y="9264650"/>
            <a:ext cx="2889250" cy="487363"/>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4C2B1899-DE81-4D37-ABCD-9ED115BF01DF}" type="slidenum">
              <a:rPr lang="en-AU"/>
              <a:pPr>
                <a:defRPr/>
              </a:pPr>
              <a:t>‹#›</a:t>
            </a:fld>
            <a:endParaRPr lang="en-AU"/>
          </a:p>
        </p:txBody>
      </p:sp>
    </p:spTree>
    <p:extLst>
      <p:ext uri="{BB962C8B-B14F-4D97-AF65-F5344CB8AC3E}">
        <p14:creationId xmlns:p14="http://schemas.microsoft.com/office/powerpoint/2010/main" val="1972567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On the 31st July and the 1st August, in 1893, a conference was held to promote Federation. It was held in Corowa, in New South Wales, and became known as ‘The Corowa Conference’. It was a key event leading to Federation. </a:t>
            </a:r>
          </a:p>
        </p:txBody>
      </p:sp>
      <p:sp>
        <p:nvSpPr>
          <p:cNvPr id="1638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46A963D7-E073-4B48-98EB-4B53C13FC0FF}" type="slidenum">
              <a:rPr lang="en-AU" smtClean="0"/>
              <a:pPr fontAlgn="base">
                <a:spcBef>
                  <a:spcPct val="0"/>
                </a:spcBef>
                <a:spcAft>
                  <a:spcPct val="0"/>
                </a:spcAft>
                <a:defRPr/>
              </a:pPr>
              <a:t>1</a:t>
            </a:fld>
            <a:endParaRPr lang="en-AU" dirty="0" smtClean="0"/>
          </a:p>
        </p:txBody>
      </p:sp>
    </p:spTree>
    <p:extLst>
      <p:ext uri="{BB962C8B-B14F-4D97-AF65-F5344CB8AC3E}">
        <p14:creationId xmlns:p14="http://schemas.microsoft.com/office/powerpoint/2010/main" val="2269013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AU" b="0" dirty="0" smtClean="0"/>
              <a:t>There had been other conferences in Sydney and Melbourne promoting Federation, so why was Corowa so important? Let’s have a look at where Corowa is located and this might help us to understand its importance.  </a:t>
            </a:r>
            <a:r>
              <a:rPr lang="en-AU" b="1" dirty="0" smtClean="0"/>
              <a:t>(Click)</a:t>
            </a:r>
            <a:r>
              <a:rPr lang="en-AU" b="1" baseline="0" dirty="0" smtClean="0"/>
              <a:t> </a:t>
            </a:r>
            <a:r>
              <a:rPr lang="en-AU" altLang="en-US" dirty="0" smtClean="0"/>
              <a:t>Corowa</a:t>
            </a:r>
            <a:r>
              <a:rPr lang="en-AU" altLang="en-US" baseline="0" dirty="0" smtClean="0"/>
              <a:t> is situated in New South Wales but right on the border with Victoria. </a:t>
            </a:r>
            <a:endParaRPr lang="en-AU" altLang="en-US" dirty="0" smtClean="0"/>
          </a:p>
        </p:txBody>
      </p:sp>
      <p:sp>
        <p:nvSpPr>
          <p:cNvPr id="1638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46A963D7-E073-4B48-98EB-4B53C13FC0FF}" type="slidenum">
              <a:rPr lang="en-AU" smtClean="0"/>
              <a:pPr fontAlgn="base">
                <a:spcBef>
                  <a:spcPct val="0"/>
                </a:spcBef>
                <a:spcAft>
                  <a:spcPct val="0"/>
                </a:spcAft>
                <a:defRPr/>
              </a:pPr>
              <a:t>2</a:t>
            </a:fld>
            <a:endParaRPr lang="en-AU" dirty="0" smtClean="0"/>
          </a:p>
        </p:txBody>
      </p:sp>
    </p:spTree>
    <p:extLst>
      <p:ext uri="{BB962C8B-B14F-4D97-AF65-F5344CB8AC3E}">
        <p14:creationId xmlns:p14="http://schemas.microsoft.com/office/powerpoint/2010/main" val="685164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AU" altLang="en-US" dirty="0" smtClean="0"/>
              <a:t>The Murray River forms the border between New South Wales and Victoria. In the 19th century, the river was actually a formal border crossing. Today,</a:t>
            </a:r>
            <a:r>
              <a:rPr lang="en-AU" altLang="en-US" baseline="0" dirty="0" smtClean="0"/>
              <a:t> people can move back and forth across the river with no problems, but in the 19th century, it was like crossing into another country. There were formal checks at the border, just as there are today when you go to another country. </a:t>
            </a:r>
            <a:endParaRPr lang="en-AU" altLang="en-US" dirty="0" smtClean="0"/>
          </a:p>
          <a:p>
            <a:pPr eaLnBrk="1" hangingPunct="1">
              <a:spcBef>
                <a:spcPct val="0"/>
              </a:spcBef>
            </a:pPr>
            <a:endParaRPr lang="en-AU" altLang="en-US" dirty="0" smtClean="0"/>
          </a:p>
        </p:txBody>
      </p:sp>
      <p:sp>
        <p:nvSpPr>
          <p:cNvPr id="1741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D3EA8E77-20C7-443E-865A-0890D1D5C2C4}" type="slidenum">
              <a:rPr lang="en-AU" smtClean="0"/>
              <a:pPr fontAlgn="base">
                <a:spcBef>
                  <a:spcPct val="0"/>
                </a:spcBef>
                <a:spcAft>
                  <a:spcPct val="0"/>
                </a:spcAft>
                <a:defRPr/>
              </a:pPr>
              <a:t>3</a:t>
            </a:fld>
            <a:endParaRPr lang="en-AU" dirty="0" smtClean="0"/>
          </a:p>
        </p:txBody>
      </p:sp>
    </p:spTree>
    <p:extLst>
      <p:ext uri="{BB962C8B-B14F-4D97-AF65-F5344CB8AC3E}">
        <p14:creationId xmlns:p14="http://schemas.microsoft.com/office/powerpoint/2010/main" val="2412247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AU" altLang="en-US" dirty="0" smtClean="0"/>
              <a:t>The people of Corowa conducted a lot of trade with people on the other side of the Murray River. New South Wales had free trade across their borders, which meant they had no tariffs (tax on goods traded). The Victorian Government, however, protected the goods produced in their colony by charging tariffs on any goods coming into the colony. This made life difficult for people on both sides of the river, so they were very interested in any move that</a:t>
            </a:r>
            <a:r>
              <a:rPr lang="en-AU" altLang="en-US" baseline="0" dirty="0" smtClean="0"/>
              <a:t> would put an end to the expense and the time-consuming checks at the border</a:t>
            </a:r>
            <a:r>
              <a:rPr lang="en-AU" altLang="en-US" dirty="0" smtClean="0"/>
              <a:t>. </a:t>
            </a:r>
          </a:p>
        </p:txBody>
      </p:sp>
      <p:sp>
        <p:nvSpPr>
          <p:cNvPr id="4" name="Slide Number Placeholder 3"/>
          <p:cNvSpPr>
            <a:spLocks noGrp="1"/>
          </p:cNvSpPr>
          <p:nvPr>
            <p:ph type="sldNum" sz="quarter" idx="5"/>
          </p:nvPr>
        </p:nvSpPr>
        <p:spPr/>
        <p:txBody>
          <a:bodyPr/>
          <a:lstStyle/>
          <a:p>
            <a:pPr>
              <a:defRPr/>
            </a:pPr>
            <a:fld id="{C22D4DB8-1F46-4773-9FD5-CB6A2DC52A0B}" type="slidenum">
              <a:rPr lang="en-AU" smtClean="0"/>
              <a:pPr>
                <a:defRPr/>
              </a:pPr>
              <a:t>4</a:t>
            </a:fld>
            <a:endParaRPr lang="en-AU" dirty="0"/>
          </a:p>
        </p:txBody>
      </p:sp>
    </p:spTree>
    <p:extLst>
      <p:ext uri="{BB962C8B-B14F-4D97-AF65-F5344CB8AC3E}">
        <p14:creationId xmlns:p14="http://schemas.microsoft.com/office/powerpoint/2010/main" val="1255410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dirty="0" smtClean="0"/>
              <a:t>Conferences had been held in Melbourne in 1890 and in Sydney in 1891 to draft a constitution and discuss the issues surrounding Federation. There was general agreement that some kind of union of the colonies would be beneficial for everyone. Edmund Barton, who was later to become Australia’s first Prime Minister, made the famous statement in Sydney </a:t>
            </a:r>
            <a:r>
              <a:rPr lang="en-AU" altLang="en-US" b="1" dirty="0" smtClean="0"/>
              <a:t>(Click) </a:t>
            </a:r>
            <a:r>
              <a:rPr lang="en-AU" altLang="en-US" dirty="0" smtClean="0"/>
              <a:t>that was to become a slogan for federation, ‘a nation for a continent and a continent for a nation’. However, the draft constitution did not get support from the colonial governments. So what</a:t>
            </a:r>
            <a:r>
              <a:rPr lang="en-AU" altLang="en-US" baseline="0" dirty="0" smtClean="0"/>
              <a:t> happened? Why did it take another two years to get things moving again?</a:t>
            </a:r>
            <a:endParaRPr lang="en-AU" altLang="en-US" dirty="0" smtClean="0"/>
          </a:p>
        </p:txBody>
      </p:sp>
      <p:sp>
        <p:nvSpPr>
          <p:cNvPr id="4" name="Slide Number Placeholder 3"/>
          <p:cNvSpPr>
            <a:spLocks noGrp="1"/>
          </p:cNvSpPr>
          <p:nvPr>
            <p:ph type="sldNum" sz="quarter" idx="5"/>
          </p:nvPr>
        </p:nvSpPr>
        <p:spPr/>
        <p:txBody>
          <a:bodyPr/>
          <a:lstStyle/>
          <a:p>
            <a:pPr>
              <a:defRPr/>
            </a:pPr>
            <a:fld id="{C22D4DB8-1F46-4773-9FD5-CB6A2DC52A0B}" type="slidenum">
              <a:rPr lang="en-AU" smtClean="0"/>
              <a:pPr>
                <a:defRPr/>
              </a:pPr>
              <a:t>5</a:t>
            </a:fld>
            <a:endParaRPr lang="en-AU" dirty="0"/>
          </a:p>
        </p:txBody>
      </p:sp>
    </p:spTree>
    <p:extLst>
      <p:ext uri="{BB962C8B-B14F-4D97-AF65-F5344CB8AC3E}">
        <p14:creationId xmlns:p14="http://schemas.microsoft.com/office/powerpoint/2010/main" val="41498754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dirty="0" smtClean="0"/>
              <a:t>Politicians</a:t>
            </a:r>
            <a:r>
              <a:rPr lang="en-AU" altLang="en-US" baseline="0" dirty="0" smtClean="0"/>
              <a:t> put p</a:t>
            </a:r>
            <a:r>
              <a:rPr lang="en-AU" altLang="en-US" dirty="0" smtClean="0"/>
              <a:t>lans for Federation on hold as the colonies experienced financial problems. There was a major economic depression in 1893 </a:t>
            </a:r>
            <a:r>
              <a:rPr lang="en-AU" altLang="en-US" b="1" dirty="0" smtClean="0"/>
              <a:t>(Click) </a:t>
            </a:r>
            <a:r>
              <a:rPr lang="en-AU" altLang="en-US" dirty="0" smtClean="0"/>
              <a:t>in New York and the value of company shares plummeted. Over 500 banks went out of business. Some</a:t>
            </a:r>
            <a:r>
              <a:rPr lang="en-AU" altLang="en-US" baseline="0" dirty="0" smtClean="0"/>
              <a:t> A</a:t>
            </a:r>
            <a:r>
              <a:rPr lang="en-AU" altLang="en-US" dirty="0" smtClean="0"/>
              <a:t>ustralian banks also went out of business. People lost their jobs and other businesses collapsed.</a:t>
            </a:r>
            <a:r>
              <a:rPr lang="en-AU" altLang="en-US" baseline="0" dirty="0" smtClean="0"/>
              <a:t> Colonies had borrowed money to build infrastructure like railways and roads and English banks were demanding the money be repaid. </a:t>
            </a:r>
            <a:endParaRPr lang="en-AU" altLang="en-US" dirty="0" smtClean="0"/>
          </a:p>
        </p:txBody>
      </p:sp>
      <p:sp>
        <p:nvSpPr>
          <p:cNvPr id="4" name="Slide Number Placeholder 3"/>
          <p:cNvSpPr>
            <a:spLocks noGrp="1"/>
          </p:cNvSpPr>
          <p:nvPr>
            <p:ph type="sldNum" sz="quarter" idx="5"/>
          </p:nvPr>
        </p:nvSpPr>
        <p:spPr/>
        <p:txBody>
          <a:bodyPr/>
          <a:lstStyle/>
          <a:p>
            <a:pPr>
              <a:defRPr/>
            </a:pPr>
            <a:fld id="{C22D4DB8-1F46-4773-9FD5-CB6A2DC52A0B}" type="slidenum">
              <a:rPr lang="en-AU" smtClean="0"/>
              <a:pPr>
                <a:defRPr/>
              </a:pPr>
              <a:t>6</a:t>
            </a:fld>
            <a:endParaRPr lang="en-AU" dirty="0"/>
          </a:p>
        </p:txBody>
      </p:sp>
    </p:spTree>
    <p:extLst>
      <p:ext uri="{BB962C8B-B14F-4D97-AF65-F5344CB8AC3E}">
        <p14:creationId xmlns:p14="http://schemas.microsoft.com/office/powerpoint/2010/main" val="3320737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dirty="0" smtClean="0"/>
              <a:t>Ordinary people</a:t>
            </a:r>
            <a:r>
              <a:rPr lang="en-AU" altLang="en-US" baseline="0" dirty="0" smtClean="0"/>
              <a:t>, however, decided that Federation was not going to fade away. Leagues of interested people along the Murray River were formed and almost every town on both sides of the Murray had representatives in these Federation leagues. They combined into one Australasian Federation League. </a:t>
            </a:r>
          </a:p>
          <a:p>
            <a:r>
              <a:rPr lang="en-AU" altLang="en-US" baseline="0" dirty="0" smtClean="0"/>
              <a:t>It was suggested that a conference of delegates from each of the branches of the Australasian Federation League be held at Corowa to discuss Federation. In July 1893, the Federation leagues held a Federation Conference at Corowa. The meeting was intended to be strictly non-political, so important people who were invited were not to be seen as representatives of political groups. This was not a meeting of people from all over Australia but from New South Wales and Victoria.</a:t>
            </a:r>
            <a:endParaRPr lang="en-AU" altLang="en-US" dirty="0" smtClean="0"/>
          </a:p>
        </p:txBody>
      </p:sp>
      <p:sp>
        <p:nvSpPr>
          <p:cNvPr id="4" name="Slide Number Placeholder 3"/>
          <p:cNvSpPr>
            <a:spLocks noGrp="1"/>
          </p:cNvSpPr>
          <p:nvPr>
            <p:ph type="sldNum" sz="quarter" idx="5"/>
          </p:nvPr>
        </p:nvSpPr>
        <p:spPr/>
        <p:txBody>
          <a:bodyPr/>
          <a:lstStyle/>
          <a:p>
            <a:pPr>
              <a:defRPr/>
            </a:pPr>
            <a:fld id="{C22D4DB8-1F46-4773-9FD5-CB6A2DC52A0B}" type="slidenum">
              <a:rPr lang="en-AU" smtClean="0"/>
              <a:pPr>
                <a:defRPr/>
              </a:pPr>
              <a:t>7</a:t>
            </a:fld>
            <a:endParaRPr lang="en-AU" dirty="0"/>
          </a:p>
        </p:txBody>
      </p:sp>
    </p:spTree>
    <p:extLst>
      <p:ext uri="{BB962C8B-B14F-4D97-AF65-F5344CB8AC3E}">
        <p14:creationId xmlns:p14="http://schemas.microsoft.com/office/powerpoint/2010/main" val="2759363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Consequently, the ‘big three’, the recognised leaders of the Federation movement,</a:t>
            </a:r>
            <a:r>
              <a:rPr lang="en-AU" altLang="en-US" baseline="0" dirty="0" smtClean="0"/>
              <a:t> </a:t>
            </a:r>
            <a:r>
              <a:rPr lang="en-AU" altLang="en-US" b="1" baseline="0" dirty="0" smtClean="0"/>
              <a:t>(Click) </a:t>
            </a:r>
            <a:r>
              <a:rPr lang="en-AU" altLang="en-US" baseline="0" dirty="0" smtClean="0"/>
              <a:t>Henry </a:t>
            </a:r>
            <a:r>
              <a:rPr lang="en-AU" altLang="en-US" baseline="0" dirty="0" err="1" smtClean="0"/>
              <a:t>Parkes</a:t>
            </a:r>
            <a:r>
              <a:rPr lang="en-AU" altLang="en-US" baseline="0" dirty="0" smtClean="0"/>
              <a:t>, </a:t>
            </a:r>
            <a:r>
              <a:rPr lang="en-AU" altLang="en-US" b="1" baseline="0" dirty="0" smtClean="0"/>
              <a:t>(Click) </a:t>
            </a:r>
            <a:r>
              <a:rPr lang="en-AU" altLang="en-US" baseline="0" dirty="0" smtClean="0"/>
              <a:t>Edmund Barton and </a:t>
            </a:r>
            <a:r>
              <a:rPr lang="en-AU" altLang="en-US" b="1" baseline="0" dirty="0" smtClean="0"/>
              <a:t>(Click) </a:t>
            </a:r>
            <a:r>
              <a:rPr lang="en-AU" altLang="en-US" baseline="0" dirty="0" smtClean="0"/>
              <a:t>Alfred Deakin, were not there, but  </a:t>
            </a:r>
            <a:r>
              <a:rPr lang="en-AU" altLang="en-US" b="1" baseline="0" dirty="0" smtClean="0"/>
              <a:t>(Click) </a:t>
            </a:r>
            <a:r>
              <a:rPr lang="en-AU" altLang="en-US" dirty="0" smtClean="0"/>
              <a:t>Dr John Quick, a leading supporter of Federation from Victoria,</a:t>
            </a:r>
            <a:r>
              <a:rPr lang="en-AU" altLang="en-US" baseline="0" dirty="0" smtClean="0"/>
              <a:t> was there. Decisions about moving forward with Federation were received with enthusiastic cheering by those who were there, especially the proposals of Dr Quick. He proved to be very important at this conference. </a:t>
            </a:r>
            <a:r>
              <a:rPr lang="en-AU" altLang="en-US" dirty="0" smtClean="0"/>
              <a:t> </a:t>
            </a:r>
          </a:p>
          <a:p>
            <a:pPr eaLnBrk="1" hangingPunct="1">
              <a:spcBef>
                <a:spcPct val="0"/>
              </a:spcBef>
            </a:pPr>
            <a:endParaRPr lang="en-AU" altLang="en-US" dirty="0"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B048B350-958A-46F4-BF9B-1F3D79241231}" type="slidenum">
              <a:rPr lang="en-AU" smtClean="0"/>
              <a:pPr fontAlgn="base">
                <a:spcBef>
                  <a:spcPct val="0"/>
                </a:spcBef>
                <a:spcAft>
                  <a:spcPct val="0"/>
                </a:spcAft>
                <a:defRPr/>
              </a:pPr>
              <a:t>8</a:t>
            </a:fld>
            <a:endParaRPr lang="en-AU" dirty="0" smtClean="0"/>
          </a:p>
        </p:txBody>
      </p:sp>
    </p:spTree>
    <p:extLst>
      <p:ext uri="{BB962C8B-B14F-4D97-AF65-F5344CB8AC3E}">
        <p14:creationId xmlns:p14="http://schemas.microsoft.com/office/powerpoint/2010/main" val="1307013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To end the resistance of the colonial parliaments, Dr Quick proposed that: </a:t>
            </a:r>
          </a:p>
          <a:p>
            <a:r>
              <a:rPr lang="en-AU" sz="1200" b="1" dirty="0" smtClean="0">
                <a:latin typeface="Constantia" panose="02030602050306030303" pitchFamily="18" charset="0"/>
              </a:rPr>
              <a:t>(Click)</a:t>
            </a:r>
            <a:r>
              <a:rPr lang="en-AU" sz="1200" b="1" baseline="0" dirty="0" smtClean="0">
                <a:latin typeface="Constantia" panose="02030602050306030303" pitchFamily="18" charset="0"/>
              </a:rPr>
              <a:t> </a:t>
            </a:r>
            <a:r>
              <a:rPr lang="en-AU" sz="1200" dirty="0" smtClean="0">
                <a:latin typeface="Constantia" panose="02030602050306030303" pitchFamily="18" charset="0"/>
              </a:rPr>
              <a:t>A new Federal Convention would be made up of delegates elected by the people of each colony.</a:t>
            </a:r>
          </a:p>
          <a:p>
            <a:r>
              <a:rPr lang="en-AU" sz="1200" b="1" dirty="0" smtClean="0">
                <a:latin typeface="Constantia" panose="02030602050306030303" pitchFamily="18" charset="0"/>
              </a:rPr>
              <a:t>(Click)</a:t>
            </a:r>
            <a:r>
              <a:rPr lang="en-AU" sz="1200" b="1" baseline="0" dirty="0" smtClean="0">
                <a:latin typeface="Constantia" panose="02030602050306030303" pitchFamily="18" charset="0"/>
              </a:rPr>
              <a:t> </a:t>
            </a:r>
            <a:r>
              <a:rPr lang="en-AU" sz="1200" dirty="0" smtClean="0">
                <a:solidFill>
                  <a:schemeClr val="dk1"/>
                </a:solidFill>
                <a:latin typeface="Constantia" panose="02030602050306030303" pitchFamily="18" charset="0"/>
                <a:cs typeface="+mn-cs"/>
              </a:rPr>
              <a:t>This Convention would draw up a new Constitution.</a:t>
            </a:r>
          </a:p>
          <a:p>
            <a:pPr marL="0" marR="0" indent="0" algn="l" defTabSz="914400" rtl="0" eaLnBrk="1" fontAlgn="base" latinLnBrk="0" hangingPunct="1">
              <a:lnSpc>
                <a:spcPct val="100000"/>
              </a:lnSpc>
              <a:spcBef>
                <a:spcPct val="0"/>
              </a:spcBef>
              <a:spcAft>
                <a:spcPct val="0"/>
              </a:spcAft>
              <a:buClrTx/>
              <a:buSzTx/>
              <a:buFontTx/>
              <a:buNone/>
              <a:tabLst/>
              <a:defRPr/>
            </a:pPr>
            <a:r>
              <a:rPr lang="en-AU" sz="1200" b="1" dirty="0" smtClean="0">
                <a:latin typeface="Constantia" panose="02030602050306030303" pitchFamily="18" charset="0"/>
              </a:rPr>
              <a:t>(Click)</a:t>
            </a:r>
            <a:r>
              <a:rPr lang="en-AU" sz="1200" b="1" baseline="0" dirty="0" smtClean="0">
                <a:latin typeface="Constantia" panose="02030602050306030303" pitchFamily="18" charset="0"/>
              </a:rPr>
              <a:t> </a:t>
            </a:r>
            <a:r>
              <a:rPr lang="en-AU" sz="1200" dirty="0" smtClean="0">
                <a:latin typeface="Constantia" panose="02030602050306030303" pitchFamily="18" charset="0"/>
              </a:rPr>
              <a:t>The adoption of the Constitution should be decided by a referendum of the people.</a:t>
            </a:r>
          </a:p>
          <a:p>
            <a:pPr eaLnBrk="1" hangingPunct="1">
              <a:spcBef>
                <a:spcPct val="0"/>
              </a:spcBef>
            </a:pPr>
            <a:endParaRPr lang="en-AU" altLang="en-US" dirty="0" smtClean="0"/>
          </a:p>
          <a:p>
            <a:pPr eaLnBrk="1" hangingPunct="1">
              <a:spcBef>
                <a:spcPct val="0"/>
              </a:spcBef>
            </a:pPr>
            <a:endParaRPr lang="en-AU" altLang="en-US" dirty="0" smtClean="0"/>
          </a:p>
          <a:p>
            <a:pPr eaLnBrk="1" hangingPunct="1">
              <a:spcBef>
                <a:spcPct val="0"/>
              </a:spcBef>
            </a:pPr>
            <a:endParaRPr lang="en-AU" altLang="en-US" dirty="0"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B048B350-958A-46F4-BF9B-1F3D79241231}" type="slidenum">
              <a:rPr lang="en-AU" smtClean="0"/>
              <a:pPr fontAlgn="base">
                <a:spcBef>
                  <a:spcPct val="0"/>
                </a:spcBef>
                <a:spcAft>
                  <a:spcPct val="0"/>
                </a:spcAft>
                <a:defRPr/>
              </a:pPr>
              <a:t>9</a:t>
            </a:fld>
            <a:endParaRPr lang="en-AU" dirty="0" smtClean="0"/>
          </a:p>
        </p:txBody>
      </p:sp>
    </p:spTree>
    <p:extLst>
      <p:ext uri="{BB962C8B-B14F-4D97-AF65-F5344CB8AC3E}">
        <p14:creationId xmlns:p14="http://schemas.microsoft.com/office/powerpoint/2010/main" val="4224861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sz="1200" b="1" dirty="0" smtClean="0">
                <a:latin typeface="Constantia" panose="02030602050306030303" pitchFamily="18" charset="0"/>
              </a:rPr>
              <a:t>(Click)</a:t>
            </a:r>
            <a:r>
              <a:rPr lang="en-AU" sz="1200" b="1" baseline="0" dirty="0" smtClean="0">
                <a:latin typeface="Constantia" panose="02030602050306030303" pitchFamily="18" charset="0"/>
              </a:rPr>
              <a:t> </a:t>
            </a:r>
            <a:r>
              <a:rPr lang="en-AU" altLang="en-US" baseline="0" dirty="0" smtClean="0"/>
              <a:t>After the Corowa Conference, </a:t>
            </a:r>
            <a:r>
              <a:rPr lang="en-AU" sz="1200" b="1" dirty="0" smtClean="0">
                <a:latin typeface="Constantia" panose="02030602050306030303" pitchFamily="18" charset="0"/>
              </a:rPr>
              <a:t>(Click)</a:t>
            </a:r>
            <a:r>
              <a:rPr lang="en-AU" sz="1200" b="1" baseline="0" dirty="0" smtClean="0">
                <a:latin typeface="Constantia" panose="02030602050306030303" pitchFamily="18" charset="0"/>
              </a:rPr>
              <a:t> </a:t>
            </a:r>
            <a:r>
              <a:rPr lang="en-AU" altLang="en-US" baseline="0" dirty="0" smtClean="0"/>
              <a:t>the Conference of Premiers in Hobart in 1895 accepted Dr Quick’s suggestions. Special Acts were passed in the colonial parliaments to allow for the election of delegates to the next Federation convention. </a:t>
            </a:r>
            <a:r>
              <a:rPr lang="en-AU" sz="1200" b="1" dirty="0" smtClean="0">
                <a:latin typeface="Constantia" panose="02030602050306030303" pitchFamily="18" charset="0"/>
              </a:rPr>
              <a:t>(Click)</a:t>
            </a:r>
            <a:r>
              <a:rPr lang="en-AU" sz="1200" b="1" baseline="0" dirty="0" smtClean="0">
                <a:latin typeface="Constantia" panose="02030602050306030303" pitchFamily="18" charset="0"/>
              </a:rPr>
              <a:t> </a:t>
            </a:r>
            <a:r>
              <a:rPr lang="en-AU" altLang="en-US" baseline="0" dirty="0" smtClean="0"/>
              <a:t>These convention meetings were held from 1897 to 1898 and a new Constitution was prepared. </a:t>
            </a:r>
            <a:r>
              <a:rPr lang="en-AU" sz="1200" b="1" dirty="0" smtClean="0">
                <a:latin typeface="Constantia" panose="02030602050306030303" pitchFamily="18" charset="0"/>
              </a:rPr>
              <a:t>(Click)</a:t>
            </a:r>
            <a:r>
              <a:rPr lang="en-AU" sz="1200" b="1" baseline="0" dirty="0" smtClean="0">
                <a:latin typeface="Constantia" panose="02030602050306030303" pitchFamily="18" charset="0"/>
              </a:rPr>
              <a:t> </a:t>
            </a:r>
            <a:r>
              <a:rPr lang="en-AU" altLang="en-US" baseline="0" dirty="0" smtClean="0"/>
              <a:t>This new Constitution was put to the people in a series of referendums. The people agreed to adopt the proposed Constitution and it was put to the British Parliament </a:t>
            </a:r>
            <a:r>
              <a:rPr lang="en-AU" sz="1200" b="1" dirty="0" smtClean="0">
                <a:latin typeface="Constantia" panose="02030602050306030303" pitchFamily="18" charset="0"/>
              </a:rPr>
              <a:t>(Click)</a:t>
            </a:r>
            <a:r>
              <a:rPr lang="en-AU" altLang="en-US" baseline="0" dirty="0" smtClean="0"/>
              <a:t>, which still had governing power over the Australian colonies, and given royal assent (that is, signed approval by Queen Victoria) in 1900. </a:t>
            </a:r>
            <a:endParaRPr lang="en-AU" altLang="en-US" dirty="0"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B048B350-958A-46F4-BF9B-1F3D79241231}" type="slidenum">
              <a:rPr lang="en-AU" smtClean="0"/>
              <a:pPr fontAlgn="base">
                <a:spcBef>
                  <a:spcPct val="0"/>
                </a:spcBef>
                <a:spcAft>
                  <a:spcPct val="0"/>
                </a:spcAft>
                <a:defRPr/>
              </a:pPr>
              <a:t>10</a:t>
            </a:fld>
            <a:endParaRPr lang="en-AU" dirty="0" smtClean="0"/>
          </a:p>
        </p:txBody>
      </p:sp>
    </p:spTree>
    <p:extLst>
      <p:ext uri="{BB962C8B-B14F-4D97-AF65-F5344CB8AC3E}">
        <p14:creationId xmlns:p14="http://schemas.microsoft.com/office/powerpoint/2010/main" val="3564240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AU" sz="1200" b="0" dirty="0" smtClean="0">
                <a:latin typeface="Constantia" panose="02030602050306030303" pitchFamily="18" charset="0"/>
              </a:rPr>
              <a:t>A ‘turning point’ is a significant moment</a:t>
            </a:r>
            <a:r>
              <a:rPr lang="en-AU" sz="1200" b="0" baseline="0" dirty="0" smtClean="0">
                <a:latin typeface="Constantia" panose="02030602050306030303" pitchFamily="18" charset="0"/>
              </a:rPr>
              <a:t> when a course of events begins to change. </a:t>
            </a:r>
            <a:r>
              <a:rPr lang="en-AU" sz="1200" b="0" dirty="0" smtClean="0">
                <a:latin typeface="Constantia" panose="02030602050306030303" pitchFamily="18" charset="0"/>
              </a:rPr>
              <a:t>As you have seen, Corowa was a very important step on the road to Federation. It might even be described as a turning point in the movement towards Federation. </a:t>
            </a:r>
            <a:endParaRPr lang="en-AU" altLang="en-US" dirty="0" smtClean="0"/>
          </a:p>
        </p:txBody>
      </p:sp>
      <p:sp>
        <p:nvSpPr>
          <p:cNvPr id="1843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B048B350-958A-46F4-BF9B-1F3D79241231}" type="slidenum">
              <a:rPr lang="en-AU" smtClean="0"/>
              <a:pPr fontAlgn="base">
                <a:spcBef>
                  <a:spcPct val="0"/>
                </a:spcBef>
                <a:spcAft>
                  <a:spcPct val="0"/>
                </a:spcAft>
                <a:defRPr/>
              </a:pPr>
              <a:t>11</a:t>
            </a:fld>
            <a:endParaRPr lang="en-AU" dirty="0" smtClean="0"/>
          </a:p>
        </p:txBody>
      </p:sp>
    </p:spTree>
    <p:extLst>
      <p:ext uri="{BB962C8B-B14F-4D97-AF65-F5344CB8AC3E}">
        <p14:creationId xmlns:p14="http://schemas.microsoft.com/office/powerpoint/2010/main" val="3821978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4C2B1899-DE81-4D37-ABCD-9ED115BF01DF}" type="slidenum">
              <a:rPr lang="en-AU" smtClean="0"/>
              <a:pPr>
                <a:defRPr/>
              </a:pPr>
              <a:t>12</a:t>
            </a:fld>
            <a:endParaRPr lang="en-AU"/>
          </a:p>
        </p:txBody>
      </p:sp>
    </p:spTree>
    <p:extLst>
      <p:ext uri="{BB962C8B-B14F-4D97-AF65-F5344CB8AC3E}">
        <p14:creationId xmlns:p14="http://schemas.microsoft.com/office/powerpoint/2010/main" val="3237039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B469A259-0FD7-4CB7-AC92-0CAB7EAED033}"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50959303-2BA9-4DA6-8ED6-1B9B2B31F752}" type="slidenum">
              <a:rPr lang="en-AU"/>
              <a:pPr>
                <a:defRPr/>
              </a:pPr>
              <a:t>‹#›</a:t>
            </a:fld>
            <a:endParaRPr lang="en-AU"/>
          </a:p>
        </p:txBody>
      </p:sp>
      <p:sp>
        <p:nvSpPr>
          <p:cNvPr id="7" name="Rectangle 6"/>
          <p:cNvSpPr/>
          <p:nvPr userDrawn="1"/>
        </p:nvSpPr>
        <p:spPr>
          <a:xfrm>
            <a:off x="8388424" y="6381328"/>
            <a:ext cx="432048" cy="190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54627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FFCD2B69-B7F2-496D-84FA-5C265D58BEF6}"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9FCC662F-7D39-435B-977B-3855B2FAC55E}" type="slidenum">
              <a:rPr lang="en-AU"/>
              <a:pPr>
                <a:defRPr/>
              </a:pPr>
              <a:t>‹#›</a:t>
            </a:fld>
            <a:endParaRPr lang="en-AU"/>
          </a:p>
        </p:txBody>
      </p:sp>
    </p:spTree>
    <p:extLst>
      <p:ext uri="{BB962C8B-B14F-4D97-AF65-F5344CB8AC3E}">
        <p14:creationId xmlns:p14="http://schemas.microsoft.com/office/powerpoint/2010/main" val="2638935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10E80936-43C6-4DC6-AA8A-A9E1B234D038}"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73238AD3-18AF-41FA-9CA7-D295EC46ECBE}" type="slidenum">
              <a:rPr lang="en-AU"/>
              <a:pPr>
                <a:defRPr/>
              </a:pPr>
              <a:t>‹#›</a:t>
            </a:fld>
            <a:endParaRPr lang="en-AU"/>
          </a:p>
        </p:txBody>
      </p:sp>
    </p:spTree>
    <p:extLst>
      <p:ext uri="{BB962C8B-B14F-4D97-AF65-F5344CB8AC3E}">
        <p14:creationId xmlns:p14="http://schemas.microsoft.com/office/powerpoint/2010/main" val="2696865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8C0DA381-15C7-426C-B021-5BF0407CC911}" type="datetimeFigureOut">
              <a:rPr lang="en-AU"/>
              <a:pPr>
                <a:defRPr/>
              </a:pPr>
              <a:t>21/07/2017</a:t>
            </a:fld>
            <a:endParaRPr lang="en-AU"/>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5F30B9AC-5987-458E-8E97-D920B313F4D9}" type="slidenum">
              <a:rPr lang="en-AU"/>
              <a:pPr>
                <a:defRPr/>
              </a:pPr>
              <a:t>‹#›</a:t>
            </a:fld>
            <a:endParaRPr lang="en-AU"/>
          </a:p>
        </p:txBody>
      </p:sp>
    </p:spTree>
    <p:extLst>
      <p:ext uri="{BB962C8B-B14F-4D97-AF65-F5344CB8AC3E}">
        <p14:creationId xmlns:p14="http://schemas.microsoft.com/office/powerpoint/2010/main" val="185464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34A85528-DB80-4C1C-94E3-CED6E47082EB}" type="datetimeFigureOut">
              <a:rPr lang="en-AU"/>
              <a:pPr>
                <a:defRPr/>
              </a:pPr>
              <a:t>21/07/2017</a:t>
            </a:fld>
            <a:endParaRPr lang="en-AU"/>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5236B9F8-3E1D-4C54-8653-08E6BF05FF9B}" type="slidenum">
              <a:rPr lang="en-AU"/>
              <a:pPr>
                <a:defRPr/>
              </a:pPr>
              <a:t>‹#›</a:t>
            </a:fld>
            <a:endParaRPr lang="en-AU"/>
          </a:p>
        </p:txBody>
      </p:sp>
    </p:spTree>
    <p:extLst>
      <p:ext uri="{BB962C8B-B14F-4D97-AF65-F5344CB8AC3E}">
        <p14:creationId xmlns:p14="http://schemas.microsoft.com/office/powerpoint/2010/main" val="2790586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0CE75C37-0685-4F4F-87A1-3B8AC08BE295}" type="datetimeFigureOut">
              <a:rPr lang="en-AU"/>
              <a:pPr>
                <a:defRPr/>
              </a:pPr>
              <a:t>21/07/2017</a:t>
            </a:fld>
            <a:endParaRPr lang="en-AU"/>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DFDE2D3B-3420-489C-AA1C-E1B354007695}" type="slidenum">
              <a:rPr lang="en-AU"/>
              <a:pPr>
                <a:defRPr/>
              </a:pPr>
              <a:t>‹#›</a:t>
            </a:fld>
            <a:endParaRPr lang="en-AU"/>
          </a:p>
        </p:txBody>
      </p:sp>
    </p:spTree>
    <p:extLst>
      <p:ext uri="{BB962C8B-B14F-4D97-AF65-F5344CB8AC3E}">
        <p14:creationId xmlns:p14="http://schemas.microsoft.com/office/powerpoint/2010/main" val="977732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99832404-D546-4C4A-B207-490581339367}" type="datetimeFigureOut">
              <a:rPr lang="en-AU"/>
              <a:pPr>
                <a:defRPr/>
              </a:pPr>
              <a:t>21/07/2017</a:t>
            </a:fld>
            <a:endParaRPr lang="en-AU"/>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E454EAF3-E744-4DC7-9569-C16D26D56E5B}" type="slidenum">
              <a:rPr lang="en-AU"/>
              <a:pPr>
                <a:defRPr/>
              </a:pPr>
              <a:t>‹#›</a:t>
            </a:fld>
            <a:endParaRPr lang="en-AU"/>
          </a:p>
        </p:txBody>
      </p:sp>
      <p:sp>
        <p:nvSpPr>
          <p:cNvPr id="5" name="Rectangle 4"/>
          <p:cNvSpPr/>
          <p:nvPr userDrawn="1"/>
        </p:nvSpPr>
        <p:spPr>
          <a:xfrm>
            <a:off x="8388424" y="6381328"/>
            <a:ext cx="432048" cy="190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02694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4768E491-196C-478C-BC81-5247E576B3CA}" type="datetimeFigureOut">
              <a:rPr lang="en-AU"/>
              <a:pPr>
                <a:defRPr/>
              </a:pPr>
              <a:t>21/07/2017</a:t>
            </a:fld>
            <a:endParaRPr lang="en-AU"/>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BD951308-7959-455F-87F9-712EB859A888}" type="slidenum">
              <a:rPr lang="en-AU"/>
              <a:pPr>
                <a:defRPr/>
              </a:pPr>
              <a:t>‹#›</a:t>
            </a:fld>
            <a:endParaRPr lang="en-AU"/>
          </a:p>
        </p:txBody>
      </p:sp>
      <p:sp>
        <p:nvSpPr>
          <p:cNvPr id="8" name="Rectangle 7"/>
          <p:cNvSpPr/>
          <p:nvPr userDrawn="1"/>
        </p:nvSpPr>
        <p:spPr>
          <a:xfrm>
            <a:off x="8388424" y="6381328"/>
            <a:ext cx="432048" cy="190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31949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AU"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D8D933E4-7DE2-4A0D-BFD2-7EEC67412BB0}" type="datetimeFigureOut">
              <a:rPr lang="en-AU"/>
              <a:pPr>
                <a:defRPr/>
              </a:pPr>
              <a:t>21/07/2017</a:t>
            </a:fld>
            <a:endParaRPr lang="en-AU"/>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10B48653-E6C0-493F-AD16-D67727D0DE25}" type="slidenum">
              <a:rPr lang="en-AU"/>
              <a:pPr>
                <a:defRPr/>
              </a:pPr>
              <a:t>‹#›</a:t>
            </a:fld>
            <a:endParaRPr lang="en-AU"/>
          </a:p>
        </p:txBody>
      </p:sp>
      <p:sp>
        <p:nvSpPr>
          <p:cNvPr id="8" name="Rectangle 7"/>
          <p:cNvSpPr/>
          <p:nvPr userDrawn="1"/>
        </p:nvSpPr>
        <p:spPr>
          <a:xfrm>
            <a:off x="8388424" y="6381328"/>
            <a:ext cx="432048" cy="190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00481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AC9EEEE2-28E0-4A6D-B0B4-DEE2C5E0E79A}"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EE92D420-4E45-4696-A56F-B94587C72835}" type="slidenum">
              <a:rPr lang="en-AU"/>
              <a:pPr>
                <a:defRPr/>
              </a:pPr>
              <a:t>‹#›</a:t>
            </a:fld>
            <a:endParaRPr lang="en-AU"/>
          </a:p>
        </p:txBody>
      </p:sp>
      <p:sp>
        <p:nvSpPr>
          <p:cNvPr id="7" name="Rectangle 6"/>
          <p:cNvSpPr/>
          <p:nvPr userDrawn="1"/>
        </p:nvSpPr>
        <p:spPr>
          <a:xfrm>
            <a:off x="8388424" y="6381328"/>
            <a:ext cx="432048" cy="190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789410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99832404-D546-4C4A-B207-490581339367}" type="datetimeFigureOut">
              <a:rPr lang="en-AU"/>
              <a:pPr>
                <a:defRPr/>
              </a:pPr>
              <a:t>21/07/2017</a:t>
            </a:fld>
            <a:endParaRPr lang="en-AU"/>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cs typeface="+mn-cs"/>
              </a:defRPr>
            </a:lvl1pPr>
          </a:lstStyle>
          <a:p>
            <a:pPr>
              <a:defRPr/>
            </a:pPr>
            <a:endParaRPr lang="en-AU"/>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cs typeface="+mn-cs"/>
              </a:defRPr>
            </a:lvl1pPr>
          </a:lstStyle>
          <a:p>
            <a:pPr>
              <a:defRPr/>
            </a:pPr>
            <a:fld id="{E454EAF3-E744-4DC7-9569-C16D26D56E5B}" type="slidenum">
              <a:rPr lang="en-AU"/>
              <a:pPr>
                <a:defRPr/>
              </a:pPr>
              <a:t>‹#›</a:t>
            </a:fld>
            <a:endParaRPr lang="en-AU"/>
          </a:p>
        </p:txBody>
      </p:sp>
    </p:spTree>
    <p:extLst>
      <p:ext uri="{BB962C8B-B14F-4D97-AF65-F5344CB8AC3E}">
        <p14:creationId xmlns:p14="http://schemas.microsoft.com/office/powerpoint/2010/main" val="1410497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alphaModFix amt="58000"/>
            <a:lum/>
          </a:blip>
          <a:srcRect/>
          <a:stretch>
            <a:fillRect l="-3000" r="-3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AU"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AU" altLang="en-US" smtClean="0"/>
          </a:p>
        </p:txBody>
      </p:sp>
      <p:sp>
        <p:nvSpPr>
          <p:cNvPr id="8" name="Rectangle 7"/>
          <p:cNvSpPr/>
          <p:nvPr userDrawn="1"/>
        </p:nvSpPr>
        <p:spPr>
          <a:xfrm>
            <a:off x="683568" y="6576398"/>
            <a:ext cx="1940280" cy="184666"/>
          </a:xfrm>
          <a:prstGeom prst="rect">
            <a:avLst/>
          </a:prstGeom>
        </p:spPr>
        <p:txBody>
          <a:bodyPr wrap="square">
            <a:spAutoFit/>
          </a:bodyPr>
          <a:lstStyle/>
          <a:p>
            <a:pPr algn="l" rtl="0">
              <a:spcAft>
                <a:spcPts val="200"/>
              </a:spcAft>
            </a:pPr>
            <a:r>
              <a:rPr lang="en-US" sz="600" b="0" i="0" u="none" strike="noStrike" kern="1200" baseline="0" dirty="0" smtClean="0">
                <a:solidFill>
                  <a:srgbClr val="000000"/>
                </a:solidFill>
                <a:latin typeface="Arial"/>
                <a:ea typeface="+mn-ea"/>
                <a:cs typeface="Arial"/>
              </a:rPr>
              <a:t>His_Y06_U1_SS_CoworaConference</a:t>
            </a:r>
          </a:p>
        </p:txBody>
      </p:sp>
      <p:pic>
        <p:nvPicPr>
          <p:cNvPr id="9" name="Picture 8"/>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17239" y="6503155"/>
            <a:ext cx="1356360" cy="236220"/>
          </a:xfrm>
          <a:prstGeom prst="rect">
            <a:avLst/>
          </a:prstGeom>
        </p:spPr>
      </p:pic>
      <p:pic>
        <p:nvPicPr>
          <p:cNvPr id="7" name="Picture 6" descr="C2CIcon.png"/>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107504" y="6563084"/>
            <a:ext cx="424150" cy="184018"/>
          </a:xfrm>
          <a:prstGeom prst="rect">
            <a:avLst/>
          </a:prstGeom>
        </p:spPr>
      </p:pic>
      <p:pic>
        <p:nvPicPr>
          <p:cNvPr id="11" name="Picture 10" descr="../../../../../../../../Volumes/Data/Coredata/DevArea/C2C/ePublishing/Templates/logos/20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3563888" y="6553012"/>
            <a:ext cx="1719220" cy="208052"/>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977" r:id="rId1"/>
    <p:sldLayoutId id="2147483978" r:id="rId2"/>
    <p:sldLayoutId id="2147483979" r:id="rId3"/>
    <p:sldLayoutId id="2147483980" r:id="rId4"/>
    <p:sldLayoutId id="2147483981" r:id="rId5"/>
    <p:sldLayoutId id="2147483982" r:id="rId6"/>
    <p:sldLayoutId id="2147483983" r:id="rId7"/>
    <p:sldLayoutId id="2147483984" r:id="rId8"/>
    <p:sldLayoutId id="2147483985" r:id="rId9"/>
    <p:sldLayoutId id="2147483986" r:id="rId10"/>
    <p:sldLayoutId id="2147483987" r:id="rId1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4.jpg"/><Relationship Id="rId4" Type="http://schemas.microsoft.com/office/2007/relationships/hdphoto" Target="../media/hdphoto2.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brightnessContrast bright="32000" contrast="-64000"/>
                    </a14:imgEffect>
                  </a14:imgLayer>
                </a14:imgProps>
              </a:ext>
              <a:ext uri="{28A0092B-C50C-407E-A947-70E740481C1C}">
                <a14:useLocalDpi xmlns:a14="http://schemas.microsoft.com/office/drawing/2010/main" val="0"/>
              </a:ext>
            </a:extLst>
          </a:blip>
          <a:stretch>
            <a:fillRect/>
          </a:stretch>
        </p:blipFill>
        <p:spPr>
          <a:xfrm>
            <a:off x="539552" y="2492896"/>
            <a:ext cx="8016552" cy="4008276"/>
          </a:xfrm>
          <a:prstGeom prst="rect">
            <a:avLst/>
          </a:prstGeom>
        </p:spPr>
      </p:pic>
      <p:sp>
        <p:nvSpPr>
          <p:cNvPr id="3" name="Rectangle 2"/>
          <p:cNvSpPr/>
          <p:nvPr/>
        </p:nvSpPr>
        <p:spPr>
          <a:xfrm>
            <a:off x="1187624" y="764704"/>
            <a:ext cx="6480720" cy="1754326"/>
          </a:xfrm>
          <a:prstGeom prst="rect">
            <a:avLst/>
          </a:prstGeom>
        </p:spPr>
        <p:txBody>
          <a:bodyPr wrap="square">
            <a:spAutoFit/>
          </a:bodyPr>
          <a:lstStyle/>
          <a:p>
            <a:pPr lvl="0" algn="ctr">
              <a:defRPr/>
            </a:pPr>
            <a:r>
              <a:rPr lang="en-AU" sz="5400" b="1" dirty="0">
                <a:solidFill>
                  <a:schemeClr val="tx1">
                    <a:lumMod val="75000"/>
                    <a:lumOff val="25000"/>
                  </a:schemeClr>
                </a:solidFill>
                <a:latin typeface="Cambria" panose="02040503050406030204" pitchFamily="18" charset="0"/>
                <a:ea typeface="Adobe Myungjo Std M" pitchFamily="18" charset="-128"/>
                <a:cs typeface="+mn-cs"/>
              </a:rPr>
              <a:t>COROWA CONFERENCE </a:t>
            </a:r>
          </a:p>
        </p:txBody>
      </p:sp>
      <p:sp>
        <p:nvSpPr>
          <p:cNvPr id="5" name="TextBox 4"/>
          <p:cNvSpPr txBox="1"/>
          <p:nvPr/>
        </p:nvSpPr>
        <p:spPr>
          <a:xfrm>
            <a:off x="0" y="5788400"/>
            <a:ext cx="1346479" cy="522433"/>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spAutoFit/>
          </a:bodyPr>
          <a:lstStyle/>
          <a:p>
            <a:pPr>
              <a:spcAft>
                <a:spcPts val="300"/>
              </a:spcAft>
            </a:pPr>
            <a:r>
              <a:rPr lang="en-AU" sz="1200" dirty="0">
                <a:solidFill>
                  <a:srgbClr val="FFFFCC"/>
                </a:solidFill>
                <a:latin typeface="Calibri" panose="020F0502020204030204" pitchFamily="34" charset="0"/>
                <a:cs typeface="Arial" panose="020B0604020202020204" pitchFamily="34" charset="0"/>
              </a:rPr>
              <a:t>Teacher Tip</a:t>
            </a:r>
          </a:p>
          <a:p>
            <a:pPr>
              <a:spcAft>
                <a:spcPts val="300"/>
              </a:spcAft>
            </a:pPr>
            <a:r>
              <a:rPr lang="en-AU" sz="1000" dirty="0" smtClean="0">
                <a:solidFill>
                  <a:srgbClr val="FFFFCC"/>
                </a:solidFill>
                <a:latin typeface="Calibri" panose="020F0502020204030204" pitchFamily="34" charset="0"/>
                <a:cs typeface="Arial" panose="020B0604020202020204" pitchFamily="34" charset="0"/>
              </a:rPr>
              <a:t>Use </a:t>
            </a:r>
            <a:r>
              <a:rPr lang="en-AU" sz="1000" dirty="0">
                <a:solidFill>
                  <a:srgbClr val="FFFFCC"/>
                </a:solidFill>
                <a:latin typeface="Calibri" panose="020F0502020204030204" pitchFamily="34" charset="0"/>
                <a:cs typeface="Arial" panose="020B0604020202020204" pitchFamily="34" charset="0"/>
              </a:rPr>
              <a:t>slideshow </a:t>
            </a:r>
            <a:r>
              <a:rPr lang="en-AU" sz="1000" dirty="0" smtClean="0">
                <a:solidFill>
                  <a:srgbClr val="FFFFCC"/>
                </a:solidFill>
                <a:latin typeface="Calibri" panose="020F0502020204030204" pitchFamily="34" charset="0"/>
                <a:cs typeface="Arial" panose="020B0604020202020204" pitchFamily="34" charset="0"/>
              </a:rPr>
              <a:t>mode.</a:t>
            </a:r>
            <a:endParaRPr lang="en-AU" sz="1000" dirty="0">
              <a:solidFill>
                <a:srgbClr val="FFFFCC"/>
              </a:solidFill>
              <a:latin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14202" y="1340769"/>
            <a:ext cx="5049886" cy="4742716"/>
          </a:xfrm>
          <a:prstGeom prst="rect">
            <a:avLst/>
          </a:prstGeom>
          <a:solidFill>
            <a:srgbClr val="FFFFFF">
              <a:shade val="85000"/>
            </a:srgbClr>
          </a:solidFill>
          <a:ln w="22225" cap="rnd">
            <a:solidFill>
              <a:schemeClr val="tx1"/>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p:spPr>
      </p:pic>
      <p:sp>
        <p:nvSpPr>
          <p:cNvPr id="12" name="Left Arrow 11"/>
          <p:cNvSpPr/>
          <p:nvPr/>
        </p:nvSpPr>
        <p:spPr>
          <a:xfrm>
            <a:off x="4189528" y="4818880"/>
            <a:ext cx="576064" cy="238603"/>
          </a:xfrm>
          <a:prstGeom prst="left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Rounded Rectangular Callout 2"/>
          <p:cNvSpPr/>
          <p:nvPr/>
        </p:nvSpPr>
        <p:spPr>
          <a:xfrm>
            <a:off x="5436096" y="2417902"/>
            <a:ext cx="3312368" cy="2304256"/>
          </a:xfrm>
          <a:prstGeom prst="wedgeRoundRectCallout">
            <a:avLst>
              <a:gd name="adj1" fmla="val 189"/>
              <a:gd name="adj2" fmla="val 50174"/>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a:solidFill>
                  <a:schemeClr val="tx1">
                    <a:lumMod val="75000"/>
                    <a:lumOff val="25000"/>
                  </a:schemeClr>
                </a:solidFill>
              </a:rPr>
              <a:t>T</a:t>
            </a:r>
            <a:r>
              <a:rPr lang="en-AU" sz="2400" b="1" dirty="0" smtClean="0">
                <a:solidFill>
                  <a:schemeClr val="tx1">
                    <a:lumMod val="75000"/>
                    <a:lumOff val="25000"/>
                  </a:schemeClr>
                </a:solidFill>
              </a:rPr>
              <a:t>here had been other conferences in Sydney and Melbourne promoting Federation, so why was Corowa so important? </a:t>
            </a:r>
            <a:endParaRPr lang="en-AU" sz="2400" b="1" dirty="0">
              <a:solidFill>
                <a:schemeClr val="tx1">
                  <a:lumMod val="75000"/>
                  <a:lumOff val="25000"/>
                </a:schemeClr>
              </a:solidFill>
            </a:endParaRPr>
          </a:p>
        </p:txBody>
      </p:sp>
      <p:sp>
        <p:nvSpPr>
          <p:cNvPr id="4" name="TextBox 3"/>
          <p:cNvSpPr txBox="1"/>
          <p:nvPr/>
        </p:nvSpPr>
        <p:spPr>
          <a:xfrm>
            <a:off x="271842" y="539969"/>
            <a:ext cx="4608512" cy="584775"/>
          </a:xfrm>
          <a:prstGeom prst="rect">
            <a:avLst/>
          </a:prstGeom>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AU" sz="3200" b="1" dirty="0" smtClean="0">
                <a:latin typeface="Cambria" panose="02040503050406030204" pitchFamily="18" charset="0"/>
              </a:rPr>
              <a:t>Why Corowa?</a:t>
            </a:r>
            <a:endParaRPr lang="en-AU" sz="3200" b="1" dirty="0">
              <a:latin typeface="Cambria" panose="02040503050406030204" pitchFamily="18" charset="0"/>
            </a:endParaRPr>
          </a:p>
        </p:txBody>
      </p:sp>
      <p:sp>
        <p:nvSpPr>
          <p:cNvPr id="6" name="Oval 5"/>
          <p:cNvSpPr/>
          <p:nvPr/>
        </p:nvSpPr>
        <p:spPr>
          <a:xfrm>
            <a:off x="3937500" y="4722158"/>
            <a:ext cx="504056"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extLst>
      <p:ext uri="{BB962C8B-B14F-4D97-AF65-F5344CB8AC3E}">
        <p14:creationId xmlns:p14="http://schemas.microsoft.com/office/powerpoint/2010/main" val="308663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10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35558" y="1736260"/>
            <a:ext cx="5685099" cy="364473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235558" y="5373216"/>
            <a:ext cx="5656922" cy="369332"/>
          </a:xfrm>
          <a:prstGeom prst="rect">
            <a:avLst/>
          </a:prstGeom>
          <a:noFill/>
        </p:spPr>
        <p:txBody>
          <a:bodyPr wrap="square" rtlCol="0">
            <a:spAutoFit/>
          </a:bodyPr>
          <a:lstStyle/>
          <a:p>
            <a:pPr algn="ctr"/>
            <a:r>
              <a:rPr lang="en-AU" dirty="0" smtClean="0"/>
              <a:t>Murray River</a:t>
            </a:r>
            <a:endParaRPr lang="en-AU" dirty="0"/>
          </a:p>
        </p:txBody>
      </p:sp>
      <p:sp>
        <p:nvSpPr>
          <p:cNvPr id="6" name="TextBox 5"/>
          <p:cNvSpPr txBox="1"/>
          <p:nvPr/>
        </p:nvSpPr>
        <p:spPr>
          <a:xfrm>
            <a:off x="4283968" y="548680"/>
            <a:ext cx="4608512" cy="584775"/>
          </a:xfrm>
          <a:prstGeom prst="rect">
            <a:avLst/>
          </a:prstGeom>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AU" sz="3200" b="1" dirty="0" smtClean="0">
                <a:latin typeface="Cambria" panose="02040503050406030204" pitchFamily="18" charset="0"/>
              </a:rPr>
              <a:t>Why Corowa?</a:t>
            </a:r>
            <a:endParaRPr lang="en-AU" sz="3200" b="1" dirty="0">
              <a:latin typeface="Cambria" panose="02040503050406030204" pitchFamily="18" charset="0"/>
            </a:endParaRPr>
          </a:p>
        </p:txBody>
      </p:sp>
      <p:sp>
        <p:nvSpPr>
          <p:cNvPr id="7" name="Rounded Rectangular Callout 6"/>
          <p:cNvSpPr/>
          <p:nvPr/>
        </p:nvSpPr>
        <p:spPr>
          <a:xfrm>
            <a:off x="395536" y="2348880"/>
            <a:ext cx="2664296" cy="2223537"/>
          </a:xfrm>
          <a:prstGeom prst="wedgeRoundRectCallout">
            <a:avLst>
              <a:gd name="adj1" fmla="val -877"/>
              <a:gd name="adj2" fmla="val 50683"/>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a:solidFill>
                  <a:schemeClr val="tx1">
                    <a:lumMod val="75000"/>
                    <a:lumOff val="25000"/>
                  </a:schemeClr>
                </a:solidFill>
                <a:latin typeface="Calibri" panose="020F0502020204030204" pitchFamily="34" charset="0"/>
              </a:rPr>
              <a:t>The Murray River forms the border between New South Wales and Victoria.</a:t>
            </a:r>
          </a:p>
        </p:txBody>
      </p:sp>
      <p:sp>
        <p:nvSpPr>
          <p:cNvPr id="8" name="Rectangle 7"/>
          <p:cNvSpPr/>
          <p:nvPr/>
        </p:nvSpPr>
        <p:spPr>
          <a:xfrm>
            <a:off x="8388424" y="6381328"/>
            <a:ext cx="432048" cy="190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520" y="548680"/>
            <a:ext cx="8640960" cy="707886"/>
          </a:xfrm>
          <a:prstGeom prst="rect">
            <a:avLst/>
          </a:prstGeom>
          <a:solidFill>
            <a:schemeClr val="accent4">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AU" sz="4000" b="1" dirty="0" smtClean="0">
                <a:latin typeface="Cambria" panose="02040503050406030204" pitchFamily="18" charset="0"/>
              </a:rPr>
              <a:t>Free trade versus tariffs</a:t>
            </a:r>
            <a:endParaRPr lang="en-AU" sz="4000" b="1" dirty="0">
              <a:latin typeface="Cambria" panose="02040503050406030204" pitchFamily="18" charset="0"/>
            </a:endParaRPr>
          </a:p>
        </p:txBody>
      </p:sp>
      <p:sp>
        <p:nvSpPr>
          <p:cNvPr id="6" name="Rounded Rectangular Callout 5"/>
          <p:cNvSpPr/>
          <p:nvPr/>
        </p:nvSpPr>
        <p:spPr>
          <a:xfrm>
            <a:off x="467544" y="2600356"/>
            <a:ext cx="3096344" cy="2089336"/>
          </a:xfrm>
          <a:prstGeom prst="wedgeRoundRectCallout">
            <a:avLst>
              <a:gd name="adj1" fmla="val -6952"/>
              <a:gd name="adj2" fmla="val 51014"/>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smtClean="0">
                <a:solidFill>
                  <a:schemeClr val="tx1">
                    <a:lumMod val="75000"/>
                    <a:lumOff val="25000"/>
                  </a:schemeClr>
                </a:solidFill>
                <a:latin typeface="Calibri" panose="020F0502020204030204" pitchFamily="34" charset="0"/>
              </a:rPr>
              <a:t>The people of Corowa conducted a lot of trade across the border with Victoria.</a:t>
            </a:r>
            <a:endParaRPr lang="en-AU" sz="2400" b="1" dirty="0">
              <a:solidFill>
                <a:schemeClr val="tx1">
                  <a:lumMod val="75000"/>
                  <a:lumOff val="25000"/>
                </a:schemeClr>
              </a:solidFill>
              <a:latin typeface="Calibri" panose="020F0502020204030204" pitchFamily="34" charset="0"/>
            </a:endParaRPr>
          </a:p>
        </p:txBody>
      </p:sp>
      <p:grpSp>
        <p:nvGrpSpPr>
          <p:cNvPr id="2" name="Group 1"/>
          <p:cNvGrpSpPr/>
          <p:nvPr/>
        </p:nvGrpSpPr>
        <p:grpSpPr>
          <a:xfrm>
            <a:off x="3779911" y="1688085"/>
            <a:ext cx="4985316" cy="4155227"/>
            <a:chOff x="3923927" y="1688085"/>
            <a:chExt cx="4985316" cy="4155227"/>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928" y="1688085"/>
              <a:ext cx="4985315" cy="369224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9" name="TextBox 8"/>
            <p:cNvSpPr txBox="1"/>
            <p:nvPr/>
          </p:nvSpPr>
          <p:spPr>
            <a:xfrm>
              <a:off x="3923927" y="5473980"/>
              <a:ext cx="4985315" cy="369332"/>
            </a:xfrm>
            <a:prstGeom prst="rect">
              <a:avLst/>
            </a:prstGeom>
            <a:noFill/>
          </p:spPr>
          <p:txBody>
            <a:bodyPr wrap="square" rtlCol="0">
              <a:spAutoFit/>
            </a:bodyPr>
            <a:lstStyle/>
            <a:p>
              <a:pPr algn="ctr"/>
              <a:r>
                <a:rPr lang="en-AU" dirty="0" smtClean="0"/>
                <a:t>Paddle steamer on the Murray River</a:t>
              </a:r>
              <a:endParaRPr lang="en-AU" dirty="0"/>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519" y="476672"/>
            <a:ext cx="8640961" cy="707886"/>
          </a:xfrm>
          <a:prstGeom prst="rect">
            <a:avLst/>
          </a:prstGeom>
          <a:solidFill>
            <a:schemeClr val="accent4">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AU" sz="4000" b="1" dirty="0" smtClean="0">
                <a:latin typeface="Cambria" panose="02040503050406030204" pitchFamily="18" charset="0"/>
              </a:rPr>
              <a:t>Working towards Federation</a:t>
            </a:r>
            <a:endParaRPr lang="en-AU" sz="4000" b="1" dirty="0">
              <a:latin typeface="Cambria" panose="02040503050406030204" pitchFamily="18" charset="0"/>
            </a:endParaRPr>
          </a:p>
        </p:txBody>
      </p:sp>
      <p:grpSp>
        <p:nvGrpSpPr>
          <p:cNvPr id="4" name="Group 3"/>
          <p:cNvGrpSpPr/>
          <p:nvPr/>
        </p:nvGrpSpPr>
        <p:grpSpPr>
          <a:xfrm>
            <a:off x="3572032" y="1556792"/>
            <a:ext cx="5320448" cy="4314213"/>
            <a:chOff x="4355976" y="1556792"/>
            <a:chExt cx="4536504" cy="3850747"/>
          </a:xfrm>
        </p:grpSpPr>
        <p:sp>
          <p:nvSpPr>
            <p:cNvPr id="7" name="TextBox 6"/>
            <p:cNvSpPr txBox="1"/>
            <p:nvPr/>
          </p:nvSpPr>
          <p:spPr>
            <a:xfrm>
              <a:off x="4355976" y="5105355"/>
              <a:ext cx="4536504" cy="302184"/>
            </a:xfrm>
            <a:prstGeom prst="rect">
              <a:avLst/>
            </a:prstGeom>
            <a:noFill/>
          </p:spPr>
          <p:txBody>
            <a:bodyPr wrap="square" rtlCol="0">
              <a:spAutoFit/>
            </a:bodyPr>
            <a:lstStyle/>
            <a:p>
              <a:pPr algn="ctr"/>
              <a:r>
                <a:rPr lang="en-AU" sz="1600" dirty="0" smtClean="0"/>
                <a:t>Participants in the 1891 Federation Convention in Sydney</a:t>
              </a:r>
              <a:endParaRPr lang="en-AU" sz="16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55976" y="1556792"/>
              <a:ext cx="4530080" cy="3548563"/>
            </a:xfrm>
            <a:prstGeom prst="rect">
              <a:avLst/>
            </a:prstGeom>
          </p:spPr>
        </p:pic>
      </p:grpSp>
      <p:grpSp>
        <p:nvGrpSpPr>
          <p:cNvPr id="8" name="Group 7"/>
          <p:cNvGrpSpPr/>
          <p:nvPr/>
        </p:nvGrpSpPr>
        <p:grpSpPr>
          <a:xfrm>
            <a:off x="377613" y="1556091"/>
            <a:ext cx="3042259" cy="4656417"/>
            <a:chOff x="449621" y="1556091"/>
            <a:chExt cx="3042259" cy="4656417"/>
          </a:xfrm>
        </p:grpSpPr>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a:off x="449621" y="3482629"/>
              <a:ext cx="1818121" cy="2729879"/>
            </a:xfrm>
            <a:prstGeom prst="ellipse">
              <a:avLst/>
            </a:prstGeom>
            <a:ln>
              <a:noFill/>
            </a:ln>
            <a:effectLst>
              <a:softEdge rad="112500"/>
            </a:effectLst>
          </p:spPr>
        </p:pic>
        <p:sp>
          <p:nvSpPr>
            <p:cNvPr id="6" name="Rounded Rectangular Callout 5"/>
            <p:cNvSpPr/>
            <p:nvPr/>
          </p:nvSpPr>
          <p:spPr>
            <a:xfrm>
              <a:off x="539552" y="1556091"/>
              <a:ext cx="2952328" cy="2088232"/>
            </a:xfrm>
            <a:prstGeom prst="wedgeRoundRectCallout">
              <a:avLst>
                <a:gd name="adj1" fmla="val 3106"/>
                <a:gd name="adj2" fmla="val 72302"/>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smtClean="0">
                  <a:solidFill>
                    <a:schemeClr val="tx1">
                      <a:lumMod val="75000"/>
                      <a:lumOff val="25000"/>
                    </a:schemeClr>
                  </a:solidFill>
                  <a:latin typeface="Calibri" panose="020F0502020204030204" pitchFamily="34" charset="0"/>
                </a:rPr>
                <a:t>‘ a nation for a continent and a continent for a nation’</a:t>
              </a:r>
            </a:p>
            <a:p>
              <a:pPr algn="ctr"/>
              <a:r>
                <a:rPr lang="en-AU" sz="1400" b="1" dirty="0" smtClean="0">
                  <a:solidFill>
                    <a:schemeClr val="tx1">
                      <a:lumMod val="75000"/>
                      <a:lumOff val="25000"/>
                    </a:schemeClr>
                  </a:solidFill>
                  <a:latin typeface="Calibri" panose="020F0502020204030204" pitchFamily="34" charset="0"/>
                </a:rPr>
                <a:t>Edmund Barton, 1891</a:t>
              </a:r>
              <a:endParaRPr lang="en-AU" sz="1400" b="1" dirty="0">
                <a:solidFill>
                  <a:schemeClr val="tx1">
                    <a:lumMod val="75000"/>
                    <a:lumOff val="25000"/>
                  </a:schemeClr>
                </a:solidFill>
                <a:latin typeface="Calibri" panose="020F0502020204030204" pitchFamily="34" charset="0"/>
              </a:endParaRPr>
            </a:p>
          </p:txBody>
        </p:sp>
      </p:grpSp>
    </p:spTree>
    <p:extLst>
      <p:ext uri="{BB962C8B-B14F-4D97-AF65-F5344CB8AC3E}">
        <p14:creationId xmlns:p14="http://schemas.microsoft.com/office/powerpoint/2010/main" val="366985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520" y="443015"/>
            <a:ext cx="8657906" cy="707886"/>
          </a:xfrm>
          <a:prstGeom prst="rect">
            <a:avLst/>
          </a:prstGeom>
          <a:solidFill>
            <a:schemeClr val="accent4">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AU" sz="4000" b="1" dirty="0" smtClean="0">
                <a:latin typeface="Cambria" panose="02040503050406030204" pitchFamily="18" charset="0"/>
              </a:rPr>
              <a:t>Money problems!</a:t>
            </a:r>
            <a:endParaRPr lang="en-AU" sz="4000" b="1" dirty="0">
              <a:latin typeface="Cambria" panose="02040503050406030204" pitchFamily="18" charset="0"/>
            </a:endParaRPr>
          </a:p>
        </p:txBody>
      </p:sp>
      <p:sp>
        <p:nvSpPr>
          <p:cNvPr id="6" name="Rounded Rectangular Callout 5"/>
          <p:cNvSpPr/>
          <p:nvPr/>
        </p:nvSpPr>
        <p:spPr>
          <a:xfrm>
            <a:off x="1115616" y="2852936"/>
            <a:ext cx="3024336" cy="1440160"/>
          </a:xfrm>
          <a:prstGeom prst="wedgeRoundRectCallout">
            <a:avLst>
              <a:gd name="adj1" fmla="val -17315"/>
              <a:gd name="adj2" fmla="val 48644"/>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smtClean="0">
                <a:solidFill>
                  <a:schemeClr val="tx1">
                    <a:lumMod val="75000"/>
                    <a:lumOff val="25000"/>
                  </a:schemeClr>
                </a:solidFill>
                <a:latin typeface="Calibri" panose="020F0502020204030204" pitchFamily="34" charset="0"/>
              </a:rPr>
              <a:t>The colonies were experiencing financial stress.</a:t>
            </a:r>
            <a:endParaRPr lang="en-AU" sz="1200" b="1" dirty="0">
              <a:solidFill>
                <a:schemeClr val="tx1">
                  <a:lumMod val="75000"/>
                  <a:lumOff val="25000"/>
                </a:schemeClr>
              </a:solidFill>
              <a:latin typeface="Calibri" panose="020F0502020204030204" pitchFamily="34" charset="0"/>
            </a:endParaRPr>
          </a:p>
        </p:txBody>
      </p:sp>
      <p:grpSp>
        <p:nvGrpSpPr>
          <p:cNvPr id="2" name="Group 1"/>
          <p:cNvGrpSpPr/>
          <p:nvPr/>
        </p:nvGrpSpPr>
        <p:grpSpPr>
          <a:xfrm>
            <a:off x="4918874" y="1191014"/>
            <a:ext cx="3257718" cy="5131912"/>
            <a:chOff x="4918874" y="1191014"/>
            <a:chExt cx="3257718" cy="5236363"/>
          </a:xfrm>
        </p:grpSpPr>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1191014"/>
              <a:ext cx="3244552" cy="4996108"/>
            </a:xfrm>
            <a:prstGeom prst="rect">
              <a:avLst/>
            </a:prstGeom>
          </p:spPr>
        </p:pic>
        <p:sp>
          <p:nvSpPr>
            <p:cNvPr id="11" name="TextBox 10"/>
            <p:cNvSpPr txBox="1"/>
            <p:nvPr/>
          </p:nvSpPr>
          <p:spPr>
            <a:xfrm>
              <a:off x="4918874" y="6119600"/>
              <a:ext cx="3257718" cy="307777"/>
            </a:xfrm>
            <a:prstGeom prst="rect">
              <a:avLst/>
            </a:prstGeom>
            <a:noFill/>
          </p:spPr>
          <p:txBody>
            <a:bodyPr wrap="square" rtlCol="0">
              <a:spAutoFit/>
            </a:bodyPr>
            <a:lstStyle/>
            <a:p>
              <a:pPr algn="ctr"/>
              <a:r>
                <a:rPr lang="en-AU" sz="1400" dirty="0" smtClean="0"/>
                <a:t>Panic on the New </a:t>
              </a:r>
              <a:r>
                <a:rPr lang="en-AU" sz="1400" dirty="0"/>
                <a:t>Y</a:t>
              </a:r>
              <a:r>
                <a:rPr lang="en-AU" sz="1400" dirty="0" smtClean="0"/>
                <a:t>ork Stock Exchange</a:t>
              </a:r>
              <a:endParaRPr lang="en-AU" sz="1400" dirty="0"/>
            </a:p>
          </p:txBody>
        </p:sp>
      </p:grpSp>
    </p:spTree>
    <p:extLst>
      <p:ext uri="{BB962C8B-B14F-4D97-AF65-F5344CB8AC3E}">
        <p14:creationId xmlns:p14="http://schemas.microsoft.com/office/powerpoint/2010/main" val="367258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520" y="404664"/>
            <a:ext cx="8640960" cy="707886"/>
          </a:xfrm>
          <a:prstGeom prst="rect">
            <a:avLst/>
          </a:prstGeom>
          <a:solidFill>
            <a:schemeClr val="accent4">
              <a:lumMod val="20000"/>
              <a:lumOff val="80000"/>
            </a:schemeClr>
          </a:solid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AU" sz="4000" b="1" dirty="0" smtClean="0">
                <a:latin typeface="Cambria" panose="02040503050406030204" pitchFamily="18" charset="0"/>
              </a:rPr>
              <a:t>People power!</a:t>
            </a:r>
            <a:endParaRPr lang="en-AU" sz="4000" b="1" dirty="0">
              <a:latin typeface="Cambria" panose="02040503050406030204" pitchFamily="18" charset="0"/>
            </a:endParaRPr>
          </a:p>
        </p:txBody>
      </p:sp>
      <p:sp>
        <p:nvSpPr>
          <p:cNvPr id="6" name="Rounded Rectangular Callout 5"/>
          <p:cNvSpPr/>
          <p:nvPr/>
        </p:nvSpPr>
        <p:spPr>
          <a:xfrm>
            <a:off x="683568" y="1385190"/>
            <a:ext cx="2592288" cy="1755778"/>
          </a:xfrm>
          <a:prstGeom prst="wedgeRoundRectCallout">
            <a:avLst>
              <a:gd name="adj1" fmla="val -20169"/>
              <a:gd name="adj2" fmla="val 49057"/>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smtClean="0">
                <a:solidFill>
                  <a:schemeClr val="tx1">
                    <a:lumMod val="75000"/>
                    <a:lumOff val="25000"/>
                  </a:schemeClr>
                </a:solidFill>
                <a:latin typeface="Calibri" panose="020F0502020204030204" pitchFamily="34" charset="0"/>
              </a:rPr>
              <a:t>Federation was too good an idea to abandon.</a:t>
            </a:r>
            <a:endParaRPr lang="en-AU" sz="1200" b="1" dirty="0">
              <a:solidFill>
                <a:schemeClr val="tx1">
                  <a:lumMod val="75000"/>
                  <a:lumOff val="25000"/>
                </a:schemeClr>
              </a:solidFill>
              <a:latin typeface="Calibri" panose="020F0502020204030204" pitchFamily="34" charset="0"/>
            </a:endParaRPr>
          </a:p>
        </p:txBody>
      </p:sp>
      <p:pic>
        <p:nvPicPr>
          <p:cNvPr id="2" name="Picture 1"/>
          <p:cNvPicPr>
            <a:picLocks noChangeAspect="1"/>
          </p:cNvPicPr>
          <p:nvPr/>
        </p:nvPicPr>
        <p:blipFill>
          <a:blip r:embed="rId3">
            <a:extLst>
              <a:ext uri="{BEBA8EAE-BF5A-486C-A8C5-ECC9F3942E4B}">
                <a14:imgProps xmlns:a14="http://schemas.microsoft.com/office/drawing/2010/main">
                  <a14:imgLayer r:embed="rId4">
                    <a14:imgEffect>
                      <a14:sharpenSoften amount="-2000"/>
                    </a14:imgEffect>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2725621" y="3140968"/>
            <a:ext cx="6096000" cy="3048000"/>
          </a:xfrm>
          <a:prstGeom prst="rect">
            <a:avLst/>
          </a:prstGeom>
        </p:spPr>
      </p:pic>
    </p:spTree>
    <p:extLst>
      <p:ext uri="{BB962C8B-B14F-4D97-AF65-F5344CB8AC3E}">
        <p14:creationId xmlns:p14="http://schemas.microsoft.com/office/powerpoint/2010/main" val="1269285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5508807" y="1037988"/>
            <a:ext cx="3435949" cy="5040627"/>
            <a:chOff x="5672554" y="908721"/>
            <a:chExt cx="3435949" cy="5040627"/>
          </a:xfrm>
        </p:grpSpPr>
        <p:pic>
          <p:nvPicPr>
            <p:cNvPr id="16389" name="Picture 6" descr="File:John Quick.jpg"/>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99145" l="946" r="98109"/>
                      </a14:imgEffect>
                    </a14:imgLayer>
                  </a14:imgProps>
                </a:ext>
                <a:ext uri="{28A0092B-C50C-407E-A947-70E740481C1C}">
                  <a14:useLocalDpi xmlns:a14="http://schemas.microsoft.com/office/drawing/2010/main" val="0"/>
                </a:ext>
              </a:extLst>
            </a:blip>
            <a:srcRect/>
            <a:stretch>
              <a:fillRect/>
            </a:stretch>
          </p:blipFill>
          <p:spPr bwMode="auto">
            <a:xfrm>
              <a:off x="5672554" y="908721"/>
              <a:ext cx="3435949"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0" name="TextBox 1"/>
            <p:cNvSpPr txBox="1">
              <a:spLocks noChangeArrowheads="1"/>
            </p:cNvSpPr>
            <p:nvPr/>
          </p:nvSpPr>
          <p:spPr bwMode="auto">
            <a:xfrm>
              <a:off x="6746797" y="5641571"/>
              <a:ext cx="12874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3200">
                  <a:solidFill>
                    <a:schemeClr val="tx1"/>
                  </a:solidFill>
                  <a:latin typeface="Calibri" pitchFamily="34" charset="0"/>
                </a:defRPr>
              </a:lvl1pPr>
              <a:lvl2pPr marL="742950" indent="-285750" eaLnBrk="0" hangingPunct="0">
                <a:spcBef>
                  <a:spcPct val="20000"/>
                </a:spcBef>
                <a:buFont typeface="Arial" charset="0"/>
                <a:buChar char="–"/>
                <a:defRPr sz="2800">
                  <a:solidFill>
                    <a:schemeClr val="tx1"/>
                  </a:solidFill>
                  <a:latin typeface="Calibri" pitchFamily="34" charset="0"/>
                </a:defRPr>
              </a:lvl2pPr>
              <a:lvl3pPr marL="1143000" indent="-228600" eaLnBrk="0" hangingPunct="0">
                <a:spcBef>
                  <a:spcPct val="20000"/>
                </a:spcBef>
                <a:buFont typeface="Arial" charset="0"/>
                <a:buChar char="•"/>
                <a:defRPr sz="2400">
                  <a:solidFill>
                    <a:schemeClr val="tx1"/>
                  </a:solidFill>
                  <a:latin typeface="Calibri" pitchFamily="34" charset="0"/>
                </a:defRPr>
              </a:lvl3pPr>
              <a:lvl4pPr marL="1600200" indent="-228600" eaLnBrk="0" hangingPunct="0">
                <a:spcBef>
                  <a:spcPct val="20000"/>
                </a:spcBef>
                <a:buFont typeface="Arial" charset="0"/>
                <a:buChar char="–"/>
                <a:defRPr sz="2000">
                  <a:solidFill>
                    <a:schemeClr val="tx1"/>
                  </a:solidFill>
                  <a:latin typeface="Calibri" pitchFamily="34" charset="0"/>
                </a:defRPr>
              </a:lvl4pPr>
              <a:lvl5pPr marL="2057400" indent="-228600" eaLnBrk="0" hangingPunct="0">
                <a:spcBef>
                  <a:spcPct val="20000"/>
                </a:spcBef>
                <a:buFont typeface="Arial" charset="0"/>
                <a:buChar char="»"/>
                <a:defRPr sz="2000">
                  <a:solidFill>
                    <a:schemeClr val="tx1"/>
                  </a:solidFill>
                  <a:latin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defRPr>
              </a:lvl9pPr>
            </a:lstStyle>
            <a:p>
              <a:pPr eaLnBrk="1" hangingPunct="1">
                <a:spcBef>
                  <a:spcPct val="0"/>
                </a:spcBef>
                <a:buFontTx/>
                <a:buNone/>
              </a:pPr>
              <a:r>
                <a:rPr lang="en-AU" altLang="en-US" sz="1400" dirty="0">
                  <a:latin typeface="+mn-lt"/>
                </a:rPr>
                <a:t>Dr John Quick</a:t>
              </a:r>
            </a:p>
          </p:txBody>
        </p:sp>
      </p:grpSp>
      <p:sp>
        <p:nvSpPr>
          <p:cNvPr id="8" name="Rounded Rectangular Callout 7"/>
          <p:cNvSpPr/>
          <p:nvPr/>
        </p:nvSpPr>
        <p:spPr>
          <a:xfrm>
            <a:off x="1683268" y="4072049"/>
            <a:ext cx="2567296" cy="1264086"/>
          </a:xfrm>
          <a:prstGeom prst="wedgeRoundRectCallout">
            <a:avLst>
              <a:gd name="adj1" fmla="val -49809"/>
              <a:gd name="adj2" fmla="val -11573"/>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smtClean="0">
                <a:solidFill>
                  <a:schemeClr val="tx1">
                    <a:lumMod val="75000"/>
                    <a:lumOff val="25000"/>
                  </a:schemeClr>
                </a:solidFill>
                <a:latin typeface="Calibri" panose="020F0502020204030204" pitchFamily="34" charset="0"/>
              </a:rPr>
              <a:t>The ‘big three’ weren’t there!</a:t>
            </a:r>
            <a:endParaRPr lang="en-AU" sz="1200" b="1" dirty="0">
              <a:solidFill>
                <a:schemeClr val="tx1">
                  <a:lumMod val="75000"/>
                  <a:lumOff val="25000"/>
                </a:schemeClr>
              </a:solidFill>
              <a:latin typeface="Calibri" panose="020F0502020204030204" pitchFamily="34" charset="0"/>
            </a:endParaRPr>
          </a:p>
        </p:txBody>
      </p:sp>
      <p:sp>
        <p:nvSpPr>
          <p:cNvPr id="3" name="TextBox 2"/>
          <p:cNvSpPr txBox="1"/>
          <p:nvPr/>
        </p:nvSpPr>
        <p:spPr>
          <a:xfrm>
            <a:off x="251520" y="188640"/>
            <a:ext cx="8640960" cy="646331"/>
          </a:xfrm>
          <a:prstGeom prst="rect">
            <a:avLst/>
          </a:prstGeom>
          <a:solidFill>
            <a:schemeClr val="accent4">
              <a:lumMod val="20000"/>
              <a:lumOff val="80000"/>
            </a:schemeClr>
          </a:solid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AU" sz="3600" b="1" dirty="0" smtClean="0">
                <a:latin typeface="Cambria" panose="02040503050406030204" pitchFamily="18" charset="0"/>
              </a:rPr>
              <a:t>Corowa advances process</a:t>
            </a:r>
            <a:endParaRPr lang="en-AU" sz="3600" b="1" dirty="0">
              <a:latin typeface="Cambria" panose="02040503050406030204" pitchFamily="18" charset="0"/>
            </a:endParaRPr>
          </a:p>
        </p:txBody>
      </p:sp>
      <p:grpSp>
        <p:nvGrpSpPr>
          <p:cNvPr id="13" name="Group 12"/>
          <p:cNvGrpSpPr/>
          <p:nvPr/>
        </p:nvGrpSpPr>
        <p:grpSpPr>
          <a:xfrm>
            <a:off x="323527" y="971049"/>
            <a:ext cx="1778178" cy="2601967"/>
            <a:chOff x="323527" y="876764"/>
            <a:chExt cx="1778178" cy="2601967"/>
          </a:xfrm>
        </p:grpSpPr>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3527" y="876764"/>
              <a:ext cx="1778178" cy="2330696"/>
            </a:xfrm>
            <a:prstGeom prst="ellipse">
              <a:avLst/>
            </a:prstGeom>
            <a:ln>
              <a:noFill/>
            </a:ln>
            <a:effectLst>
              <a:softEdge rad="112500"/>
            </a:effectLst>
          </p:spPr>
        </p:pic>
        <p:sp>
          <p:nvSpPr>
            <p:cNvPr id="7" name="TextBox 6"/>
            <p:cNvSpPr txBox="1"/>
            <p:nvPr/>
          </p:nvSpPr>
          <p:spPr>
            <a:xfrm>
              <a:off x="323529" y="3170954"/>
              <a:ext cx="1778176" cy="307777"/>
            </a:xfrm>
            <a:prstGeom prst="rect">
              <a:avLst/>
            </a:prstGeom>
            <a:noFill/>
          </p:spPr>
          <p:txBody>
            <a:bodyPr wrap="square" rtlCol="0">
              <a:spAutoFit/>
            </a:bodyPr>
            <a:lstStyle/>
            <a:p>
              <a:pPr algn="ctr"/>
              <a:r>
                <a:rPr lang="en-AU" sz="1400" dirty="0" smtClean="0">
                  <a:latin typeface="+mn-lt"/>
                </a:rPr>
                <a:t>Henry Parkes</a:t>
              </a:r>
              <a:endParaRPr lang="en-AU" sz="1400" dirty="0">
                <a:latin typeface="+mn-lt"/>
              </a:endParaRPr>
            </a:p>
          </p:txBody>
        </p:sp>
      </p:grpSp>
      <p:grpSp>
        <p:nvGrpSpPr>
          <p:cNvPr id="14" name="Group 13"/>
          <p:cNvGrpSpPr/>
          <p:nvPr/>
        </p:nvGrpSpPr>
        <p:grpSpPr>
          <a:xfrm>
            <a:off x="2250578" y="940869"/>
            <a:ext cx="1715862" cy="2622073"/>
            <a:chOff x="2411760" y="953445"/>
            <a:chExt cx="1715862" cy="2622073"/>
          </a:xfrm>
        </p:grpSpPr>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11760" y="953445"/>
              <a:ext cx="1715862" cy="2416123"/>
            </a:xfrm>
            <a:prstGeom prst="ellipse">
              <a:avLst/>
            </a:prstGeom>
            <a:ln>
              <a:noFill/>
            </a:ln>
            <a:effectLst>
              <a:softEdge rad="112500"/>
            </a:effectLst>
          </p:spPr>
        </p:pic>
        <p:sp>
          <p:nvSpPr>
            <p:cNvPr id="9" name="TextBox 8"/>
            <p:cNvSpPr txBox="1"/>
            <p:nvPr/>
          </p:nvSpPr>
          <p:spPr>
            <a:xfrm>
              <a:off x="2411760" y="3267741"/>
              <a:ext cx="1715862" cy="307777"/>
            </a:xfrm>
            <a:prstGeom prst="rect">
              <a:avLst/>
            </a:prstGeom>
            <a:noFill/>
          </p:spPr>
          <p:txBody>
            <a:bodyPr wrap="square" rtlCol="0">
              <a:spAutoFit/>
            </a:bodyPr>
            <a:lstStyle/>
            <a:p>
              <a:pPr algn="ctr"/>
              <a:r>
                <a:rPr lang="en-AU" sz="1400" dirty="0">
                  <a:latin typeface="+mn-lt"/>
                </a:rPr>
                <a:t>Edmund Barton</a:t>
              </a:r>
            </a:p>
          </p:txBody>
        </p:sp>
      </p:grpSp>
      <p:grpSp>
        <p:nvGrpSpPr>
          <p:cNvPr id="15" name="Group 14"/>
          <p:cNvGrpSpPr/>
          <p:nvPr/>
        </p:nvGrpSpPr>
        <p:grpSpPr>
          <a:xfrm>
            <a:off x="3972415" y="911050"/>
            <a:ext cx="1752709" cy="2647252"/>
            <a:chOff x="3972415" y="911050"/>
            <a:chExt cx="1752709" cy="2647252"/>
          </a:xfrm>
        </p:grpSpPr>
        <p:pic>
          <p:nvPicPr>
            <p:cNvPr id="6" name="Picture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72415" y="911050"/>
              <a:ext cx="1752709" cy="2390695"/>
            </a:xfrm>
            <a:prstGeom prst="ellipse">
              <a:avLst/>
            </a:prstGeom>
            <a:ln>
              <a:noFill/>
            </a:ln>
            <a:effectLst>
              <a:softEdge rad="112500"/>
            </a:effectLst>
          </p:spPr>
        </p:pic>
        <p:sp>
          <p:nvSpPr>
            <p:cNvPr id="10" name="TextBox 9"/>
            <p:cNvSpPr txBox="1"/>
            <p:nvPr/>
          </p:nvSpPr>
          <p:spPr>
            <a:xfrm>
              <a:off x="3972415" y="3250525"/>
              <a:ext cx="1752709" cy="307777"/>
            </a:xfrm>
            <a:prstGeom prst="rect">
              <a:avLst/>
            </a:prstGeom>
            <a:noFill/>
          </p:spPr>
          <p:txBody>
            <a:bodyPr wrap="square" rtlCol="0">
              <a:spAutoFit/>
            </a:bodyPr>
            <a:lstStyle/>
            <a:p>
              <a:pPr algn="ctr"/>
              <a:r>
                <a:rPr lang="en-AU" sz="1400" dirty="0">
                  <a:latin typeface="+mj-lt"/>
                </a:rPr>
                <a:t>Alfred Deakin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xit" presetSubtype="0" fill="hold" nodeType="withEffect">
                                  <p:stCondLst>
                                    <p:cond delay="500"/>
                                  </p:stCondLst>
                                  <p:childTnLst>
                                    <p:animEffect transition="out" filter="fade">
                                      <p:cBhvr>
                                        <p:cTn id="24" dur="500"/>
                                        <p:tgtEl>
                                          <p:spTgt spid="13"/>
                                        </p:tgtEl>
                                      </p:cBhvr>
                                    </p:animEffect>
                                    <p:set>
                                      <p:cBhvr>
                                        <p:cTn id="25" dur="1" fill="hold">
                                          <p:stCondLst>
                                            <p:cond delay="499"/>
                                          </p:stCondLst>
                                        </p:cTn>
                                        <p:tgtEl>
                                          <p:spTgt spid="13"/>
                                        </p:tgtEl>
                                        <p:attrNameLst>
                                          <p:attrName>style.visibility</p:attrName>
                                        </p:attrNameLst>
                                      </p:cBhvr>
                                      <p:to>
                                        <p:strVal val="hidden"/>
                                      </p:to>
                                    </p:set>
                                  </p:childTnLst>
                                </p:cTn>
                              </p:par>
                              <p:par>
                                <p:cTn id="26" presetID="10" presetClass="exit" presetSubtype="0" fill="hold" nodeType="withEffect">
                                  <p:stCondLst>
                                    <p:cond delay="500"/>
                                  </p:stCondLst>
                                  <p:childTnLst>
                                    <p:animEffect transition="out" filter="fade">
                                      <p:cBhvr>
                                        <p:cTn id="27" dur="500"/>
                                        <p:tgtEl>
                                          <p:spTgt spid="14"/>
                                        </p:tgtEl>
                                      </p:cBhvr>
                                    </p:animEffect>
                                    <p:set>
                                      <p:cBhvr>
                                        <p:cTn id="28" dur="1" fill="hold">
                                          <p:stCondLst>
                                            <p:cond delay="499"/>
                                          </p:stCondLst>
                                        </p:cTn>
                                        <p:tgtEl>
                                          <p:spTgt spid="14"/>
                                        </p:tgtEl>
                                        <p:attrNameLst>
                                          <p:attrName>style.visibility</p:attrName>
                                        </p:attrNameLst>
                                      </p:cBhvr>
                                      <p:to>
                                        <p:strVal val="hidden"/>
                                      </p:to>
                                    </p:set>
                                  </p:childTnLst>
                                </p:cTn>
                              </p:par>
                              <p:par>
                                <p:cTn id="29" presetID="10" presetClass="exit" presetSubtype="0" fill="hold" nodeType="withEffect">
                                  <p:stCondLst>
                                    <p:cond delay="500"/>
                                  </p:stCondLst>
                                  <p:childTnLst>
                                    <p:animEffect transition="out" filter="fade">
                                      <p:cBhvr>
                                        <p:cTn id="30" dur="500"/>
                                        <p:tgtEl>
                                          <p:spTgt spid="15"/>
                                        </p:tgtEl>
                                      </p:cBhvr>
                                    </p:animEffect>
                                    <p:set>
                                      <p:cBhvr>
                                        <p:cTn id="31"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ounded Rectangular Callout 9"/>
          <p:cNvSpPr/>
          <p:nvPr/>
        </p:nvSpPr>
        <p:spPr>
          <a:xfrm>
            <a:off x="5580112" y="2636912"/>
            <a:ext cx="2808312" cy="1782906"/>
          </a:xfrm>
          <a:prstGeom prst="wedgeRoundRectCallout">
            <a:avLst>
              <a:gd name="adj1" fmla="val 4468"/>
              <a:gd name="adj2" fmla="val 47357"/>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400" b="1" dirty="0" smtClean="0">
                <a:solidFill>
                  <a:schemeClr val="tx1">
                    <a:lumMod val="75000"/>
                    <a:lumOff val="25000"/>
                  </a:schemeClr>
                </a:solidFill>
                <a:latin typeface="Calibri" panose="020F0502020204030204" pitchFamily="34" charset="0"/>
              </a:rPr>
              <a:t>The Corowa Conference decided on a new approach.</a:t>
            </a:r>
            <a:endParaRPr lang="en-AU" sz="1200" b="1" dirty="0">
              <a:solidFill>
                <a:schemeClr val="tx1">
                  <a:lumMod val="75000"/>
                  <a:lumOff val="25000"/>
                </a:schemeClr>
              </a:solidFill>
              <a:latin typeface="Calibri" panose="020F0502020204030204" pitchFamily="34" charset="0"/>
            </a:endParaRPr>
          </a:p>
        </p:txBody>
      </p:sp>
      <p:sp>
        <p:nvSpPr>
          <p:cNvPr id="5" name="TextBox 4"/>
          <p:cNvSpPr txBox="1"/>
          <p:nvPr/>
        </p:nvSpPr>
        <p:spPr>
          <a:xfrm>
            <a:off x="251520" y="404663"/>
            <a:ext cx="8640960" cy="646331"/>
          </a:xfrm>
          <a:prstGeom prst="rect">
            <a:avLst/>
          </a:prstGeom>
          <a:solidFill>
            <a:schemeClr val="accent4">
              <a:lumMod val="20000"/>
              <a:lumOff val="80000"/>
            </a:schemeClr>
          </a:solid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AU" sz="3600" b="1" dirty="0" smtClean="0">
                <a:latin typeface="Cambria" panose="02040503050406030204" pitchFamily="18" charset="0"/>
              </a:rPr>
              <a:t>People not politicians!</a:t>
            </a:r>
            <a:endParaRPr lang="en-AU" sz="3600" b="1" dirty="0">
              <a:latin typeface="Cambria" panose="02040503050406030204" pitchFamily="18" charset="0"/>
            </a:endParaRPr>
          </a:p>
        </p:txBody>
      </p:sp>
      <p:sp>
        <p:nvSpPr>
          <p:cNvPr id="6" name="TextBox 5"/>
          <p:cNvSpPr txBox="1"/>
          <p:nvPr/>
        </p:nvSpPr>
        <p:spPr>
          <a:xfrm>
            <a:off x="572310" y="1427292"/>
            <a:ext cx="4215714" cy="156966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AU" sz="2400" dirty="0" smtClean="0">
                <a:latin typeface="Calibri" panose="020F0502020204030204" pitchFamily="34" charset="0"/>
              </a:rPr>
              <a:t>A new Federal convention would be made up of delegates elected by the people of each colony.</a:t>
            </a:r>
            <a:endParaRPr lang="en-AU" sz="2400" dirty="0">
              <a:latin typeface="Calibri" panose="020F0502020204030204" pitchFamily="34" charset="0"/>
            </a:endParaRPr>
          </a:p>
        </p:txBody>
      </p:sp>
      <p:sp>
        <p:nvSpPr>
          <p:cNvPr id="7" name="TextBox 6"/>
          <p:cNvSpPr txBox="1"/>
          <p:nvPr/>
        </p:nvSpPr>
        <p:spPr>
          <a:xfrm>
            <a:off x="572310" y="4419818"/>
            <a:ext cx="4215714"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AU" sz="2400" dirty="0" smtClean="0">
                <a:latin typeface="Calibri" panose="020F0502020204030204" pitchFamily="34" charset="0"/>
              </a:rPr>
              <a:t>The adoption of the Constitution should be decided by a referendum of the people.</a:t>
            </a:r>
            <a:endParaRPr lang="en-AU" sz="2400" dirty="0">
              <a:latin typeface="Calibri" panose="020F0502020204030204" pitchFamily="34" charset="0"/>
            </a:endParaRPr>
          </a:p>
        </p:txBody>
      </p:sp>
      <p:sp>
        <p:nvSpPr>
          <p:cNvPr id="8" name="TextBox 7"/>
          <p:cNvSpPr txBox="1"/>
          <p:nvPr/>
        </p:nvSpPr>
        <p:spPr>
          <a:xfrm>
            <a:off x="572310" y="3284984"/>
            <a:ext cx="4215714"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AU" sz="2400" dirty="0">
                <a:solidFill>
                  <a:schemeClr val="dk1"/>
                </a:solidFill>
                <a:latin typeface="Calibri" panose="020F0502020204030204" pitchFamily="34" charset="0"/>
              </a:rPr>
              <a:t>This </a:t>
            </a:r>
            <a:r>
              <a:rPr lang="en-AU" sz="2400" dirty="0" smtClean="0">
                <a:solidFill>
                  <a:schemeClr val="dk1"/>
                </a:solidFill>
                <a:latin typeface="Calibri" panose="020F0502020204030204" pitchFamily="34" charset="0"/>
              </a:rPr>
              <a:t>convention </a:t>
            </a:r>
            <a:r>
              <a:rPr lang="en-AU" sz="2400" dirty="0">
                <a:solidFill>
                  <a:schemeClr val="dk1"/>
                </a:solidFill>
                <a:latin typeface="Calibri" panose="020F0502020204030204" pitchFamily="34" charset="0"/>
              </a:rPr>
              <a:t>would draw up a new </a:t>
            </a:r>
            <a:r>
              <a:rPr lang="en-AU" sz="2400" dirty="0" smtClean="0">
                <a:solidFill>
                  <a:schemeClr val="dk1"/>
                </a:solidFill>
                <a:latin typeface="Calibri" panose="020F0502020204030204" pitchFamily="34" charset="0"/>
              </a:rPr>
              <a:t>Constitution.</a:t>
            </a:r>
            <a:endParaRPr lang="en-AU" sz="2400" dirty="0">
              <a:solidFill>
                <a:schemeClr val="dk1"/>
              </a:solidFill>
              <a:latin typeface="Calibri" panose="020F0502020204030204" pitchFamily="34" charset="0"/>
            </a:endParaRPr>
          </a:p>
        </p:txBody>
      </p:sp>
    </p:spTree>
    <p:extLst>
      <p:ext uri="{BB962C8B-B14F-4D97-AF65-F5344CB8AC3E}">
        <p14:creationId xmlns:p14="http://schemas.microsoft.com/office/powerpoint/2010/main" val="322538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3987" y="332656"/>
            <a:ext cx="8658582" cy="769441"/>
          </a:xfrm>
          <a:prstGeom prst="rect">
            <a:avLst/>
          </a:prstGeom>
          <a:solidFill>
            <a:schemeClr val="accent4">
              <a:lumMod val="20000"/>
              <a:lumOff val="80000"/>
            </a:schemeClr>
          </a:solid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AU" sz="4400" b="1" dirty="0" smtClean="0">
                <a:latin typeface="Cambria" panose="02040503050406030204" pitchFamily="18" charset="0"/>
              </a:rPr>
              <a:t>Success!</a:t>
            </a:r>
            <a:endParaRPr lang="en-AU" sz="4400" b="1" dirty="0">
              <a:latin typeface="Cambria" panose="02040503050406030204" pitchFamily="18" charset="0"/>
            </a:endParaRPr>
          </a:p>
        </p:txBody>
      </p:sp>
      <p:sp>
        <p:nvSpPr>
          <p:cNvPr id="4" name="Oval 3"/>
          <p:cNvSpPr/>
          <p:nvPr/>
        </p:nvSpPr>
        <p:spPr>
          <a:xfrm>
            <a:off x="539552" y="1359438"/>
            <a:ext cx="2098396" cy="1395941"/>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AU" dirty="0"/>
              <a:t>1893</a:t>
            </a:r>
          </a:p>
          <a:p>
            <a:pPr algn="ctr"/>
            <a:r>
              <a:rPr lang="en-AU" dirty="0" smtClean="0"/>
              <a:t>Corowa Conference</a:t>
            </a:r>
          </a:p>
        </p:txBody>
      </p:sp>
      <p:sp>
        <p:nvSpPr>
          <p:cNvPr id="11" name="Oval 10"/>
          <p:cNvSpPr/>
          <p:nvPr/>
        </p:nvSpPr>
        <p:spPr>
          <a:xfrm>
            <a:off x="3131840" y="1874642"/>
            <a:ext cx="2376264" cy="1656183"/>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AU" dirty="0"/>
              <a:t>1895 Conference </a:t>
            </a:r>
            <a:r>
              <a:rPr lang="en-AU" dirty="0" smtClean="0"/>
              <a:t>of Premiers accepts proposals from Corowa</a:t>
            </a:r>
            <a:endParaRPr lang="en-AU" dirty="0"/>
          </a:p>
        </p:txBody>
      </p:sp>
      <p:sp>
        <p:nvSpPr>
          <p:cNvPr id="13" name="Oval 12"/>
          <p:cNvSpPr/>
          <p:nvPr/>
        </p:nvSpPr>
        <p:spPr>
          <a:xfrm>
            <a:off x="5937739" y="2611188"/>
            <a:ext cx="2376264" cy="170866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AU" dirty="0" smtClean="0"/>
              <a:t>1897–98</a:t>
            </a:r>
            <a:endParaRPr lang="en-AU" dirty="0"/>
          </a:p>
          <a:p>
            <a:pPr algn="ctr"/>
            <a:r>
              <a:rPr lang="en-AU" dirty="0" smtClean="0"/>
              <a:t>Federation conventions prepare Constitution</a:t>
            </a:r>
            <a:endParaRPr lang="en-AU" dirty="0"/>
          </a:p>
        </p:txBody>
      </p:sp>
      <p:sp>
        <p:nvSpPr>
          <p:cNvPr id="15" name="Oval 14"/>
          <p:cNvSpPr/>
          <p:nvPr/>
        </p:nvSpPr>
        <p:spPr>
          <a:xfrm>
            <a:off x="4743259" y="4585515"/>
            <a:ext cx="2376264" cy="151216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AU" dirty="0" smtClean="0"/>
              <a:t>Referendums agree to Federation</a:t>
            </a:r>
            <a:endParaRPr lang="en-AU" dirty="0"/>
          </a:p>
        </p:txBody>
      </p:sp>
      <p:sp>
        <p:nvSpPr>
          <p:cNvPr id="16" name="Oval 15"/>
          <p:cNvSpPr/>
          <p:nvPr/>
        </p:nvSpPr>
        <p:spPr>
          <a:xfrm>
            <a:off x="1869743" y="4514137"/>
            <a:ext cx="2376264" cy="151216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AU" dirty="0" smtClean="0"/>
              <a:t>July </a:t>
            </a:r>
            <a:r>
              <a:rPr lang="en-AU" dirty="0"/>
              <a:t>1900</a:t>
            </a:r>
          </a:p>
          <a:p>
            <a:pPr algn="ctr"/>
            <a:r>
              <a:rPr lang="en-AU" dirty="0" smtClean="0"/>
              <a:t>New Constitution given Royal Assent</a:t>
            </a:r>
            <a:endParaRPr lang="en-AU" dirty="0"/>
          </a:p>
        </p:txBody>
      </p:sp>
      <p:sp>
        <p:nvSpPr>
          <p:cNvPr id="17" name="Right Arrow 16"/>
          <p:cNvSpPr/>
          <p:nvPr/>
        </p:nvSpPr>
        <p:spPr>
          <a:xfrm rot="10800000">
            <a:off x="4116430" y="5168037"/>
            <a:ext cx="720080" cy="347123"/>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AU"/>
          </a:p>
        </p:txBody>
      </p:sp>
      <p:sp>
        <p:nvSpPr>
          <p:cNvPr id="5" name="Right Arrow 4"/>
          <p:cNvSpPr/>
          <p:nvPr/>
        </p:nvSpPr>
        <p:spPr>
          <a:xfrm rot="1145577">
            <a:off x="2591568" y="2217875"/>
            <a:ext cx="720080" cy="347123"/>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AU"/>
          </a:p>
        </p:txBody>
      </p:sp>
      <p:sp>
        <p:nvSpPr>
          <p:cNvPr id="12" name="Right Arrow 11"/>
          <p:cNvSpPr/>
          <p:nvPr/>
        </p:nvSpPr>
        <p:spPr>
          <a:xfrm rot="917361">
            <a:off x="5324839" y="3074923"/>
            <a:ext cx="720080" cy="347123"/>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AU"/>
          </a:p>
        </p:txBody>
      </p:sp>
      <p:sp>
        <p:nvSpPr>
          <p:cNvPr id="14" name="Right Arrow 13"/>
          <p:cNvSpPr/>
          <p:nvPr/>
        </p:nvSpPr>
        <p:spPr>
          <a:xfrm rot="7434404">
            <a:off x="6069020" y="4362360"/>
            <a:ext cx="720080" cy="347123"/>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368558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5" grpId="0" animBg="1"/>
      <p:bldP spid="16" grpId="0" animBg="1"/>
      <p:bldP spid="17" grpId="0" animBg="1"/>
      <p:bldP spid="5" grpId="0" animBg="1"/>
      <p:bldP spid="12"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396984"/>
            <a:ext cx="8640960" cy="769441"/>
          </a:xfrm>
          <a:prstGeom prst="rect">
            <a:avLst/>
          </a:prstGeom>
          <a:solidFill>
            <a:schemeClr val="accent4">
              <a:lumMod val="20000"/>
              <a:lumOff val="80000"/>
            </a:schemeClr>
          </a:solidFill>
          <a:ln>
            <a:noFill/>
          </a:ln>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AU" sz="4400" b="1" dirty="0" smtClean="0">
                <a:latin typeface="Cambria" panose="02040503050406030204" pitchFamily="18" charset="0"/>
              </a:rPr>
              <a:t>Significance of Corowa</a:t>
            </a:r>
            <a:endParaRPr lang="en-AU" sz="4400" b="1" dirty="0">
              <a:latin typeface="Cambria" panose="02040503050406030204" pitchFamily="18" charset="0"/>
            </a:endParaRPr>
          </a:p>
        </p:txBody>
      </p:sp>
      <p:sp>
        <p:nvSpPr>
          <p:cNvPr id="8" name="Rounded Rectangular Callout 7"/>
          <p:cNvSpPr/>
          <p:nvPr/>
        </p:nvSpPr>
        <p:spPr>
          <a:xfrm>
            <a:off x="2303748" y="2204864"/>
            <a:ext cx="4536504" cy="2520280"/>
          </a:xfrm>
          <a:prstGeom prst="wedgeRoundRectCallout">
            <a:avLst>
              <a:gd name="adj1" fmla="val -49015"/>
              <a:gd name="adj2" fmla="val 3045"/>
              <a:gd name="adj3" fmla="val 16667"/>
            </a:avLst>
          </a:prstGeom>
          <a:solidFill>
            <a:schemeClr val="bg2">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AU" sz="2800" b="1" dirty="0" smtClean="0">
                <a:solidFill>
                  <a:schemeClr val="tx1">
                    <a:lumMod val="75000"/>
                    <a:lumOff val="25000"/>
                  </a:schemeClr>
                </a:solidFill>
                <a:latin typeface="Calibri" panose="020F0502020204030204" pitchFamily="34" charset="0"/>
              </a:rPr>
              <a:t>Corowa was a very important step on the road to Federation — a ‘turning point’ in the Federation movement. </a:t>
            </a:r>
            <a:endParaRPr lang="en-AU" sz="2800" b="1" dirty="0">
              <a:solidFill>
                <a:schemeClr val="tx1">
                  <a:lumMod val="75000"/>
                  <a:lumOff val="25000"/>
                </a:schemeClr>
              </a:solidFill>
              <a:latin typeface="Calibri" panose="020F0502020204030204" pitchFamily="34" charset="0"/>
            </a:endParaRPr>
          </a:p>
        </p:txBody>
      </p:sp>
    </p:spTree>
    <p:extLst>
      <p:ext uri="{BB962C8B-B14F-4D97-AF65-F5344CB8AC3E}">
        <p14:creationId xmlns:p14="http://schemas.microsoft.com/office/powerpoint/2010/main" val="38129991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1"/>
          <p:cNvSpPr txBox="1">
            <a:spLocks noChangeArrowheads="1"/>
          </p:cNvSpPr>
          <p:nvPr/>
        </p:nvSpPr>
        <p:spPr bwMode="auto">
          <a:xfrm>
            <a:off x="251520" y="235692"/>
            <a:ext cx="8640960" cy="5186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r>
              <a:rPr lang="en-AU" altLang="en-US" sz="1600" b="1" dirty="0" smtClean="0">
                <a:latin typeface="Arial" panose="020B0604020202020204" pitchFamily="34" charset="0"/>
                <a:cs typeface="Arial" panose="020B0604020202020204" pitchFamily="34" charset="0"/>
              </a:rPr>
              <a:t>Attributions</a:t>
            </a:r>
          </a:p>
          <a:p>
            <a:pPr>
              <a:spcBef>
                <a:spcPts val="600"/>
              </a:spcBef>
              <a:spcAft>
                <a:spcPts val="0"/>
              </a:spcAft>
            </a:pPr>
            <a:r>
              <a:rPr lang="en-AU" sz="1100" b="1" dirty="0" smtClean="0">
                <a:latin typeface="Arial" panose="020B0604020202020204" pitchFamily="34" charset="0"/>
                <a:cs typeface="Arial" panose="020B0604020202020204" pitchFamily="34" charset="0"/>
              </a:rPr>
              <a:t>Slide 1: </a:t>
            </a:r>
          </a:p>
          <a:p>
            <a:r>
              <a:rPr lang="en-AU" sz="1100" i="1" dirty="0" smtClean="0">
                <a:latin typeface="Arial" panose="020B0604020202020204" pitchFamily="34" charset="0"/>
                <a:cs typeface="Arial" panose="020B0604020202020204" pitchFamily="34" charset="0"/>
              </a:rPr>
              <a:t>Team</a:t>
            </a:r>
            <a:r>
              <a:rPr lang="en-AU" sz="1100" dirty="0" smtClean="0">
                <a:latin typeface="Arial" panose="020B0604020202020204" pitchFamily="34" charset="0"/>
                <a:cs typeface="Arial" panose="020B0604020202020204" pitchFamily="34" charset="0"/>
              </a:rPr>
              <a:t> </a:t>
            </a:r>
            <a:r>
              <a:rPr lang="en-AU" sz="1100" dirty="0">
                <a:latin typeface="Arial" panose="020B0604020202020204" pitchFamily="34" charset="0"/>
                <a:cs typeface="Arial" panose="020B0604020202020204" pitchFamily="34" charset="0"/>
              </a:rPr>
              <a:t>Adapted from </a:t>
            </a:r>
            <a:r>
              <a:rPr lang="en-AU" sz="1100" dirty="0">
                <a:solidFill>
                  <a:schemeClr val="bg1">
                    <a:lumMod val="65000"/>
                  </a:schemeClr>
                </a:solidFill>
                <a:latin typeface="Arial" panose="020B0604020202020204" pitchFamily="34" charset="0"/>
                <a:cs typeface="Arial" panose="020B0604020202020204" pitchFamily="34" charset="0"/>
              </a:rPr>
              <a:t>http://pixabay.com/en/people-group-crowd-team-isolated-309099/</a:t>
            </a:r>
          </a:p>
          <a:p>
            <a:pPr>
              <a:spcBef>
                <a:spcPts val="600"/>
              </a:spcBef>
              <a:spcAft>
                <a:spcPts val="0"/>
              </a:spcAft>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2: </a:t>
            </a:r>
          </a:p>
          <a:p>
            <a:r>
              <a:rPr lang="en-AU" sz="1100" i="1" dirty="0" smtClean="0">
                <a:latin typeface="Arial" panose="020B0604020202020204" pitchFamily="34" charset="0"/>
                <a:cs typeface="Arial" panose="020B0604020202020204" pitchFamily="34" charset="0"/>
              </a:rPr>
              <a:t>Map </a:t>
            </a:r>
            <a:r>
              <a:rPr lang="en-AU" sz="1100" i="1" dirty="0">
                <a:latin typeface="Arial" panose="020B0604020202020204" pitchFamily="34" charset="0"/>
                <a:cs typeface="Arial" panose="020B0604020202020204" pitchFamily="34" charset="0"/>
              </a:rPr>
              <a:t>of Australia </a:t>
            </a:r>
            <a:r>
              <a:rPr lang="en-AU" sz="1100" dirty="0">
                <a:latin typeface="Arial" panose="020B0604020202020204" pitchFamily="34" charset="0"/>
                <a:cs typeface="Arial" panose="020B0604020202020204" pitchFamily="34" charset="0"/>
              </a:rPr>
              <a:t>© DET</a:t>
            </a:r>
          </a:p>
          <a:p>
            <a:pPr>
              <a:spcBef>
                <a:spcPts val="600"/>
              </a:spcBef>
              <a:spcAft>
                <a:spcPts val="0"/>
              </a:spcAft>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3: </a:t>
            </a:r>
          </a:p>
          <a:p>
            <a:r>
              <a:rPr lang="en-AU" sz="1100" dirty="0" err="1" smtClean="0">
                <a:latin typeface="Arial" panose="020B0604020202020204" pitchFamily="34" charset="0"/>
                <a:cs typeface="Arial" panose="020B0604020202020204" pitchFamily="34" charset="0"/>
              </a:rPr>
              <a:t>Mattinbgn</a:t>
            </a:r>
            <a:r>
              <a:rPr lang="en-AU" sz="1100" dirty="0" smtClean="0">
                <a:latin typeface="Arial" panose="020B0604020202020204" pitchFamily="34" charset="0"/>
                <a:cs typeface="Arial" panose="020B0604020202020204" pitchFamily="34" charset="0"/>
              </a:rPr>
              <a:t>, </a:t>
            </a:r>
            <a:r>
              <a:rPr lang="en-AU" sz="1100" i="1" dirty="0" smtClean="0">
                <a:latin typeface="Arial" panose="020B0604020202020204" pitchFamily="34" charset="0"/>
                <a:cs typeface="Arial" panose="020B0604020202020204" pitchFamily="34" charset="0"/>
              </a:rPr>
              <a:t>Murray </a:t>
            </a:r>
            <a:r>
              <a:rPr lang="en-AU" sz="1100" i="1" dirty="0">
                <a:latin typeface="Arial" panose="020B0604020202020204" pitchFamily="34" charset="0"/>
                <a:cs typeface="Arial" panose="020B0604020202020204" pitchFamily="34" charset="0"/>
              </a:rPr>
              <a:t>River </a:t>
            </a:r>
            <a:r>
              <a:rPr lang="en-AU" sz="1100" dirty="0" smtClean="0">
                <a:solidFill>
                  <a:schemeClr val="bg1">
                    <a:lumMod val="65000"/>
                  </a:schemeClr>
                </a:solidFill>
                <a:latin typeface="Arial" panose="020B0604020202020204" pitchFamily="34" charset="0"/>
                <a:cs typeface="Arial" panose="020B0604020202020204" pitchFamily="34" charset="0"/>
              </a:rPr>
              <a:t>http</a:t>
            </a:r>
            <a:r>
              <a:rPr lang="en-AU" sz="1100" dirty="0">
                <a:solidFill>
                  <a:schemeClr val="bg1">
                    <a:lumMod val="65000"/>
                  </a:schemeClr>
                </a:solidFill>
                <a:latin typeface="Arial" panose="020B0604020202020204" pitchFamily="34" charset="0"/>
                <a:cs typeface="Arial" panose="020B0604020202020204" pitchFamily="34" charset="0"/>
              </a:rPr>
              <a:t>://</a:t>
            </a:r>
            <a:r>
              <a:rPr lang="en-AU" sz="1100" dirty="0" smtClean="0">
                <a:solidFill>
                  <a:schemeClr val="bg1">
                    <a:lumMod val="65000"/>
                  </a:schemeClr>
                </a:solidFill>
                <a:latin typeface="Arial" panose="020B0604020202020204" pitchFamily="34" charset="0"/>
                <a:cs typeface="Arial" panose="020B0604020202020204" pitchFamily="34" charset="0"/>
              </a:rPr>
              <a:t>commons.wikimedia.org/wiki/File:MurrayBridgeMurrayRiver.JPG</a:t>
            </a:r>
            <a:r>
              <a:rPr lang="en-AU" sz="1100" dirty="0" smtClean="0">
                <a:latin typeface="Arial" panose="020B0604020202020204" pitchFamily="34" charset="0"/>
                <a:cs typeface="Arial" panose="020B0604020202020204" pitchFamily="34" charset="0"/>
              </a:rPr>
              <a:t>  </a:t>
            </a:r>
            <a:r>
              <a:rPr lang="en-AU" sz="1100" dirty="0">
                <a:latin typeface="Arial" panose="020B0604020202020204" pitchFamily="34" charset="0"/>
                <a:cs typeface="Arial" panose="020B0604020202020204" pitchFamily="34" charset="0"/>
              </a:rPr>
              <a:t>CC-BY-SA 3.0 </a:t>
            </a:r>
            <a:r>
              <a:rPr lang="en-AU" sz="1100" dirty="0" smtClean="0">
                <a:solidFill>
                  <a:schemeClr val="bg1">
                    <a:lumMod val="65000"/>
                  </a:schemeClr>
                </a:solidFill>
                <a:latin typeface="Arial" panose="020B0604020202020204" pitchFamily="34" charset="0"/>
                <a:cs typeface="Arial" panose="020B0604020202020204" pitchFamily="34" charset="0"/>
              </a:rPr>
              <a:t>creativecommons.org/licenses/by-</a:t>
            </a:r>
            <a:r>
              <a:rPr lang="en-AU" sz="1100" dirty="0" err="1" smtClean="0">
                <a:solidFill>
                  <a:schemeClr val="bg1">
                    <a:lumMod val="65000"/>
                  </a:schemeClr>
                </a:solidFill>
                <a:latin typeface="Arial" panose="020B0604020202020204" pitchFamily="34" charset="0"/>
                <a:cs typeface="Arial" panose="020B0604020202020204" pitchFamily="34" charset="0"/>
              </a:rPr>
              <a:t>sa</a:t>
            </a:r>
            <a:r>
              <a:rPr lang="en-AU" sz="1100" dirty="0" smtClean="0">
                <a:solidFill>
                  <a:schemeClr val="bg1">
                    <a:lumMod val="65000"/>
                  </a:schemeClr>
                </a:solidFill>
                <a:latin typeface="Arial" panose="020B0604020202020204" pitchFamily="34" charset="0"/>
                <a:cs typeface="Arial" panose="020B0604020202020204" pitchFamily="34" charset="0"/>
              </a:rPr>
              <a:t>/3.0/</a:t>
            </a:r>
            <a:endParaRPr lang="en-AU" sz="1100" dirty="0">
              <a:solidFill>
                <a:schemeClr val="bg1">
                  <a:lumMod val="65000"/>
                </a:schemeClr>
              </a:solidFill>
              <a:latin typeface="Arial" panose="020B0604020202020204" pitchFamily="34" charset="0"/>
              <a:cs typeface="Arial" panose="020B0604020202020204" pitchFamily="34" charset="0"/>
            </a:endParaRPr>
          </a:p>
          <a:p>
            <a:pPr>
              <a:spcBef>
                <a:spcPts val="600"/>
              </a:spcBef>
              <a:spcAft>
                <a:spcPts val="0"/>
              </a:spcAft>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4: </a:t>
            </a:r>
          </a:p>
          <a:p>
            <a:r>
              <a:rPr lang="en-AU" sz="1100" i="1" dirty="0" smtClean="0">
                <a:latin typeface="Arial" panose="020B0604020202020204" pitchFamily="34" charset="0"/>
                <a:cs typeface="Arial" panose="020B0604020202020204" pitchFamily="34" charset="0"/>
              </a:rPr>
              <a:t>Paddle </a:t>
            </a:r>
            <a:r>
              <a:rPr lang="en-AU" sz="1100" i="1" dirty="0">
                <a:latin typeface="Arial" panose="020B0604020202020204" pitchFamily="34" charset="0"/>
                <a:cs typeface="Arial" panose="020B0604020202020204" pitchFamily="34" charset="0"/>
              </a:rPr>
              <a:t>steamer </a:t>
            </a:r>
            <a:r>
              <a:rPr lang="en-AU" sz="1100" dirty="0" smtClean="0">
                <a:solidFill>
                  <a:schemeClr val="bg1">
                    <a:lumMod val="65000"/>
                  </a:schemeClr>
                </a:solidFill>
                <a:latin typeface="Arial" panose="020B0604020202020204" pitchFamily="34" charset="0"/>
                <a:cs typeface="Arial" panose="020B0604020202020204" pitchFamily="34" charset="0"/>
              </a:rPr>
              <a:t>http</a:t>
            </a:r>
            <a:r>
              <a:rPr lang="en-AU" sz="1100" dirty="0">
                <a:solidFill>
                  <a:schemeClr val="bg1">
                    <a:lumMod val="65000"/>
                  </a:schemeClr>
                </a:solidFill>
                <a:latin typeface="Arial" panose="020B0604020202020204" pitchFamily="34" charset="0"/>
                <a:cs typeface="Arial" panose="020B0604020202020204" pitchFamily="34" charset="0"/>
              </a:rPr>
              <a:t>://pixabay.com/en/paddle-steamer-paddle-boat-riverboat-497309</a:t>
            </a:r>
          </a:p>
          <a:p>
            <a:pPr>
              <a:spcBef>
                <a:spcPts val="600"/>
              </a:spcBef>
              <a:spcAft>
                <a:spcPts val="0"/>
              </a:spcAft>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5: </a:t>
            </a:r>
          </a:p>
          <a:p>
            <a:r>
              <a:rPr lang="en-AU" sz="1100" i="1" dirty="0" smtClean="0">
                <a:latin typeface="Arial" panose="020B0604020202020204" pitchFamily="34" charset="0"/>
                <a:cs typeface="Arial" panose="020B0604020202020204" pitchFamily="34" charset="0"/>
              </a:rPr>
              <a:t>National </a:t>
            </a:r>
            <a:r>
              <a:rPr lang="en-AU" sz="1100" i="1" dirty="0">
                <a:latin typeface="Arial" panose="020B0604020202020204" pitchFamily="34" charset="0"/>
                <a:cs typeface="Arial" panose="020B0604020202020204" pitchFamily="34" charset="0"/>
              </a:rPr>
              <a:t>Australasian Convention, Sydney, 1891, </a:t>
            </a:r>
            <a:r>
              <a:rPr lang="en-AU" sz="1100" dirty="0">
                <a:latin typeface="Arial" panose="020B0604020202020204" pitchFamily="34" charset="0"/>
                <a:cs typeface="Arial" panose="020B0604020202020204" pitchFamily="34" charset="0"/>
              </a:rPr>
              <a:t>National Library of Australia, ID=26932 </a:t>
            </a:r>
            <a:r>
              <a:rPr lang="en-AU" sz="1100" dirty="0">
                <a:solidFill>
                  <a:schemeClr val="bg1">
                    <a:lumMod val="65000"/>
                  </a:schemeClr>
                </a:solidFill>
                <a:latin typeface="Arial" panose="020B0604020202020204" pitchFamily="34" charset="0"/>
                <a:cs typeface="Arial" panose="020B0604020202020204" pitchFamily="34" charset="0"/>
              </a:rPr>
              <a:t>http://nla.gov.au/nla.obj-136434835/view</a:t>
            </a:r>
          </a:p>
          <a:p>
            <a:r>
              <a:rPr lang="en-AU" sz="1100" dirty="0">
                <a:latin typeface="Arial" panose="020B0604020202020204" pitchFamily="34" charset="0"/>
                <a:cs typeface="Arial" panose="020B0604020202020204" pitchFamily="34" charset="0"/>
              </a:rPr>
              <a:t>Cropped and flipped from </a:t>
            </a:r>
            <a:r>
              <a:rPr lang="en-AU" sz="1100" i="1" dirty="0" smtClean="0">
                <a:latin typeface="Arial" panose="020B0604020202020204" pitchFamily="34" charset="0"/>
                <a:cs typeface="Arial" panose="020B0604020202020204" pitchFamily="34" charset="0"/>
              </a:rPr>
              <a:t>Portrait of Edmund </a:t>
            </a:r>
            <a:r>
              <a:rPr lang="en-AU" sz="1100" i="1" dirty="0">
                <a:latin typeface="Arial" panose="020B0604020202020204" pitchFamily="34" charset="0"/>
                <a:cs typeface="Arial" panose="020B0604020202020204" pitchFamily="34" charset="0"/>
              </a:rPr>
              <a:t>Barton </a:t>
            </a:r>
            <a:r>
              <a:rPr lang="en-AU" sz="1100" dirty="0">
                <a:latin typeface="Arial" panose="020B0604020202020204" pitchFamily="34" charset="0"/>
                <a:cs typeface="Arial" panose="020B0604020202020204" pitchFamily="34" charset="0"/>
              </a:rPr>
              <a:t> National </a:t>
            </a:r>
            <a:r>
              <a:rPr lang="en-AU" sz="1100" dirty="0" smtClean="0">
                <a:latin typeface="Arial" panose="020B0604020202020204" pitchFamily="34" charset="0"/>
                <a:cs typeface="Arial" panose="020B0604020202020204" pitchFamily="34" charset="0"/>
              </a:rPr>
              <a:t>Library of Australia ID nla.obj-136296278 </a:t>
            </a:r>
            <a:r>
              <a:rPr lang="en-AU" sz="1100" dirty="0" smtClean="0">
                <a:solidFill>
                  <a:schemeClr val="bg1">
                    <a:lumMod val="65000"/>
                  </a:schemeClr>
                </a:solidFill>
                <a:latin typeface="Arial" panose="020B0604020202020204" pitchFamily="34" charset="0"/>
                <a:cs typeface="Arial" panose="020B0604020202020204" pitchFamily="34" charset="0"/>
              </a:rPr>
              <a:t>http</a:t>
            </a:r>
            <a:r>
              <a:rPr lang="en-AU" sz="1100" dirty="0">
                <a:solidFill>
                  <a:schemeClr val="bg1">
                    <a:lumMod val="65000"/>
                  </a:schemeClr>
                </a:solidFill>
                <a:latin typeface="Arial" panose="020B0604020202020204" pitchFamily="34" charset="0"/>
                <a:cs typeface="Arial" panose="020B0604020202020204" pitchFamily="34" charset="0"/>
              </a:rPr>
              <a:t>://nla.gov.au/nla.obj-136296278/view</a:t>
            </a:r>
          </a:p>
          <a:p>
            <a:pPr>
              <a:spcBef>
                <a:spcPts val="600"/>
              </a:spcBef>
              <a:spcAft>
                <a:spcPts val="0"/>
              </a:spcAft>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6: </a:t>
            </a:r>
          </a:p>
          <a:p>
            <a:r>
              <a:rPr lang="en-AU" sz="1100" dirty="0" smtClean="0">
                <a:latin typeface="Arial" panose="020B0604020202020204" pitchFamily="34" charset="0"/>
                <a:cs typeface="Arial" panose="020B0604020202020204" pitchFamily="34" charset="0"/>
              </a:rPr>
              <a:t>Broughton</a:t>
            </a:r>
            <a:r>
              <a:rPr lang="en-AU" sz="1100" dirty="0">
                <a:latin typeface="Arial" panose="020B0604020202020204" pitchFamily="34" charset="0"/>
                <a:cs typeface="Arial" panose="020B0604020202020204" pitchFamily="34" charset="0"/>
              </a:rPr>
              <a:t>, Charles, </a:t>
            </a:r>
            <a:r>
              <a:rPr lang="en-AU" sz="1100" i="1" dirty="0">
                <a:latin typeface="Arial" panose="020B0604020202020204" pitchFamily="34" charset="0"/>
                <a:cs typeface="Arial" panose="020B0604020202020204" pitchFamily="34" charset="0"/>
              </a:rPr>
              <a:t>The recent panic - scene in the New York Stock Exchange on the morning of Friday, May 5th</a:t>
            </a:r>
            <a:r>
              <a:rPr lang="en-AU" sz="1100" dirty="0">
                <a:latin typeface="Arial" panose="020B0604020202020204" pitchFamily="34" charset="0"/>
                <a:cs typeface="Arial" panose="020B0604020202020204" pitchFamily="34" charset="0"/>
              </a:rPr>
              <a:t>, 1893, Prints &amp; Photographs Division, Library of Congress, LC-USZ62-66364 (</a:t>
            </a:r>
            <a:r>
              <a:rPr lang="en-AU" sz="1100" dirty="0" err="1">
                <a:latin typeface="Arial" panose="020B0604020202020204" pitchFamily="34" charset="0"/>
                <a:cs typeface="Arial" panose="020B0604020202020204" pitchFamily="34" charset="0"/>
              </a:rPr>
              <a:t>b&amp;w</a:t>
            </a:r>
            <a:r>
              <a:rPr lang="en-AU" sz="1100" dirty="0">
                <a:latin typeface="Arial" panose="020B0604020202020204" pitchFamily="34" charset="0"/>
                <a:cs typeface="Arial" panose="020B0604020202020204" pitchFamily="34" charset="0"/>
              </a:rPr>
              <a:t> film copy neg.) </a:t>
            </a:r>
            <a:r>
              <a:rPr lang="en-AU" sz="1100" dirty="0">
                <a:solidFill>
                  <a:schemeClr val="bg1">
                    <a:lumMod val="65000"/>
                  </a:schemeClr>
                </a:solidFill>
                <a:latin typeface="Arial" panose="020B0604020202020204" pitchFamily="34" charset="0"/>
                <a:cs typeface="Arial" panose="020B0604020202020204" pitchFamily="34" charset="0"/>
              </a:rPr>
              <a:t>http://loc.gov/pictures/resource/cph.3b13869/</a:t>
            </a:r>
          </a:p>
          <a:p>
            <a:pPr>
              <a:spcBef>
                <a:spcPts val="600"/>
              </a:spcBef>
              <a:spcAft>
                <a:spcPts val="0"/>
              </a:spcAft>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7: </a:t>
            </a:r>
          </a:p>
          <a:p>
            <a:r>
              <a:rPr lang="en-AU" sz="1100" i="1" dirty="0" smtClean="0">
                <a:latin typeface="Arial" panose="020B0604020202020204" pitchFamily="34" charset="0"/>
                <a:cs typeface="Arial" panose="020B0604020202020204" pitchFamily="34" charset="0"/>
              </a:rPr>
              <a:t>Team</a:t>
            </a:r>
            <a:r>
              <a:rPr lang="en-AU" sz="1100" dirty="0" smtClean="0">
                <a:latin typeface="Arial" panose="020B0604020202020204" pitchFamily="34" charset="0"/>
                <a:cs typeface="Arial" panose="020B0604020202020204" pitchFamily="34" charset="0"/>
              </a:rPr>
              <a:t> </a:t>
            </a:r>
            <a:r>
              <a:rPr lang="en-AU" sz="1100" dirty="0">
                <a:solidFill>
                  <a:schemeClr val="bg1">
                    <a:lumMod val="65000"/>
                  </a:schemeClr>
                </a:solidFill>
                <a:latin typeface="Arial" panose="020B0604020202020204" pitchFamily="34" charset="0"/>
                <a:cs typeface="Arial" panose="020B0604020202020204" pitchFamily="34" charset="0"/>
              </a:rPr>
              <a:t>http://pixabay.com/en/people-group-crowd-team-isolated-309099/</a:t>
            </a:r>
          </a:p>
          <a:p>
            <a:pPr>
              <a:spcBef>
                <a:spcPts val="600"/>
              </a:spcBef>
              <a:spcAft>
                <a:spcPts val="0"/>
              </a:spcAft>
            </a:pPr>
            <a:r>
              <a:rPr lang="en-AU" sz="1100" b="1" dirty="0">
                <a:latin typeface="Arial" panose="020B0604020202020204" pitchFamily="34" charset="0"/>
                <a:cs typeface="Arial" panose="020B0604020202020204" pitchFamily="34" charset="0"/>
              </a:rPr>
              <a:t>Slide </a:t>
            </a:r>
            <a:r>
              <a:rPr lang="en-AU" sz="1100" b="1" dirty="0" smtClean="0">
                <a:latin typeface="Arial" panose="020B0604020202020204" pitchFamily="34" charset="0"/>
                <a:cs typeface="Arial" panose="020B0604020202020204" pitchFamily="34" charset="0"/>
              </a:rPr>
              <a:t>8: </a:t>
            </a:r>
          </a:p>
          <a:p>
            <a:r>
              <a:rPr lang="en-AU" sz="1100" i="1" dirty="0" smtClean="0">
                <a:latin typeface="Arial" panose="020B0604020202020204" pitchFamily="34" charset="0"/>
                <a:cs typeface="Arial" panose="020B0604020202020204" pitchFamily="34" charset="0"/>
              </a:rPr>
              <a:t>Sir </a:t>
            </a:r>
            <a:r>
              <a:rPr lang="en-AU" sz="1100" i="1" dirty="0">
                <a:latin typeface="Arial" panose="020B0604020202020204" pitchFamily="34" charset="0"/>
                <a:cs typeface="Arial" panose="020B0604020202020204" pitchFamily="34" charset="0"/>
              </a:rPr>
              <a:t>Henry Parkes, Mitchell Library, State Library of New South Wales – PX*D 624/33</a:t>
            </a:r>
            <a:endParaRPr lang="en-AU" sz="1100" dirty="0">
              <a:latin typeface="Arial" panose="020B0604020202020204" pitchFamily="34" charset="0"/>
              <a:cs typeface="Arial" panose="020B0604020202020204" pitchFamily="34" charset="0"/>
            </a:endParaRPr>
          </a:p>
          <a:p>
            <a:r>
              <a:rPr lang="en-AU" sz="1100" dirty="0">
                <a:latin typeface="Arial" panose="020B0604020202020204" pitchFamily="34" charset="0"/>
                <a:cs typeface="Arial" panose="020B0604020202020204" pitchFamily="34" charset="0"/>
              </a:rPr>
              <a:t>Cropped from </a:t>
            </a:r>
            <a:r>
              <a:rPr lang="en-AU" sz="1100" i="1" dirty="0">
                <a:latin typeface="Arial" panose="020B0604020202020204" pitchFamily="34" charset="0"/>
                <a:cs typeface="Arial" panose="020B0604020202020204" pitchFamily="34" charset="0"/>
              </a:rPr>
              <a:t>Portrait of Edmund Barton  </a:t>
            </a:r>
            <a:r>
              <a:rPr lang="en-AU" sz="1100" dirty="0">
                <a:latin typeface="Arial" panose="020B0604020202020204" pitchFamily="34" charset="0"/>
                <a:cs typeface="Arial" panose="020B0604020202020204" pitchFamily="34" charset="0"/>
              </a:rPr>
              <a:t>National Library of Australia ID nla.obj-136296278 </a:t>
            </a:r>
            <a:r>
              <a:rPr lang="en-AU" sz="1100" dirty="0">
                <a:solidFill>
                  <a:schemeClr val="bg1">
                    <a:lumMod val="65000"/>
                  </a:schemeClr>
                </a:solidFill>
                <a:latin typeface="Arial" panose="020B0604020202020204" pitchFamily="34" charset="0"/>
                <a:cs typeface="Arial" panose="020B0604020202020204" pitchFamily="34" charset="0"/>
              </a:rPr>
              <a:t>http://nla.gov.au/nla.obj-136296278/view</a:t>
            </a:r>
          </a:p>
          <a:p>
            <a:r>
              <a:rPr lang="en-AU" sz="1100" dirty="0">
                <a:latin typeface="Arial" panose="020B0604020202020204" pitchFamily="34" charset="0"/>
                <a:cs typeface="Arial" panose="020B0604020202020204" pitchFamily="34" charset="0"/>
              </a:rPr>
              <a:t>Cropped from </a:t>
            </a:r>
            <a:r>
              <a:rPr lang="en-AU" sz="1100" i="1" dirty="0">
                <a:latin typeface="Arial" panose="020B0604020202020204" pitchFamily="34" charset="0"/>
                <a:cs typeface="Arial" panose="020B0604020202020204" pitchFamily="34" charset="0"/>
              </a:rPr>
              <a:t>Alfred Deakin, </a:t>
            </a:r>
            <a:r>
              <a:rPr lang="en-AU" sz="1100" dirty="0">
                <a:solidFill>
                  <a:schemeClr val="bg1">
                    <a:lumMod val="65000"/>
                  </a:schemeClr>
                </a:solidFill>
                <a:latin typeface="Arial" panose="020B0604020202020204" pitchFamily="34" charset="0"/>
                <a:cs typeface="Arial" panose="020B0604020202020204" pitchFamily="34" charset="0"/>
              </a:rPr>
              <a:t>http://commons.wikimedia.org/wiki/File:AlfredDeakin.jpeg</a:t>
            </a:r>
          </a:p>
          <a:p>
            <a:r>
              <a:rPr lang="en-AU" sz="1100" i="1" dirty="0">
                <a:latin typeface="Arial" panose="020B0604020202020204" pitchFamily="34" charset="0"/>
                <a:cs typeface="Arial" panose="020B0604020202020204" pitchFamily="34" charset="0"/>
              </a:rPr>
              <a:t>Portrait of Sir John Quick</a:t>
            </a:r>
            <a:r>
              <a:rPr lang="en-AU" sz="1100" dirty="0">
                <a:latin typeface="Arial" panose="020B0604020202020204" pitchFamily="34" charset="0"/>
                <a:cs typeface="Arial" panose="020B0604020202020204" pitchFamily="34" charset="0"/>
              </a:rPr>
              <a:t>, National Library of Australia, </a:t>
            </a:r>
            <a:r>
              <a:rPr lang="en-AU" sz="1100" dirty="0">
                <a:solidFill>
                  <a:schemeClr val="bg1">
                    <a:lumMod val="65000"/>
                  </a:schemeClr>
                </a:solidFill>
                <a:latin typeface="Arial" panose="020B0604020202020204" pitchFamily="34" charset="0"/>
                <a:cs typeface="Arial" panose="020B0604020202020204" pitchFamily="34" charset="0"/>
              </a:rPr>
              <a:t>http://www.nla.gov.au/apps/cdview/?pi=nla.pic-an23488021</a:t>
            </a:r>
          </a:p>
          <a:p>
            <a:endParaRPr lang="en-AU" sz="1100" dirty="0" smtClean="0">
              <a:latin typeface="Arial" panose="020B0604020202020204" pitchFamily="34" charset="0"/>
              <a:cs typeface="Arial" panose="020B0604020202020204" pitchFamily="34" charset="0"/>
            </a:endParaRPr>
          </a:p>
          <a:p>
            <a:r>
              <a:rPr lang="en-AU" sz="1100" dirty="0" smtClean="0">
                <a:latin typeface="Arial" panose="020B0604020202020204" pitchFamily="34" charset="0"/>
                <a:cs typeface="Arial" panose="020B0604020202020204" pitchFamily="34" charset="0"/>
              </a:rPr>
              <a:t>All </a:t>
            </a:r>
            <a:r>
              <a:rPr lang="en-AU" sz="1100" dirty="0">
                <a:latin typeface="Arial" panose="020B0604020202020204" pitchFamily="34" charset="0"/>
                <a:cs typeface="Arial" panose="020B0604020202020204" pitchFamily="34" charset="0"/>
              </a:rPr>
              <a:t>other </a:t>
            </a:r>
            <a:r>
              <a:rPr lang="en-AU" sz="1100" dirty="0" smtClean="0">
                <a:latin typeface="Arial" panose="020B0604020202020204" pitchFamily="34" charset="0"/>
                <a:cs typeface="Arial" panose="020B0604020202020204" pitchFamily="34" charset="0"/>
              </a:rPr>
              <a:t>images ©DET </a:t>
            </a:r>
            <a:endParaRPr lang="en-AU" sz="1100" dirty="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ank powerPoint presentation">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 powerPoint presentation</Template>
  <TotalTime>1803</TotalTime>
  <Words>1307</Words>
  <Application>Microsoft Office PowerPoint</Application>
  <PresentationFormat>On-screen Show (4:3)</PresentationFormat>
  <Paragraphs>93</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blank 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O'CALLAGHAN, Kristin</dc:creator>
  <cp:lastModifiedBy>SEEARY, Adam</cp:lastModifiedBy>
  <cp:revision>136</cp:revision>
  <cp:lastPrinted>2013-09-18T02:47:23Z</cp:lastPrinted>
  <dcterms:created xsi:type="dcterms:W3CDTF">2013-09-18T02:32:27Z</dcterms:created>
  <dcterms:modified xsi:type="dcterms:W3CDTF">2017-07-21T01:25:09Z</dcterms:modified>
</cp:coreProperties>
</file>