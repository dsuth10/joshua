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9"/>
  </p:notesMasterIdLst>
  <p:sldIdLst>
    <p:sldId id="256" r:id="rId2"/>
    <p:sldId id="258" r:id="rId3"/>
    <p:sldId id="259" r:id="rId4"/>
    <p:sldId id="260" r:id="rId5"/>
    <p:sldId id="261" r:id="rId6"/>
    <p:sldId id="262" r:id="rId7"/>
    <p:sldId id="257"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97D"/>
    <a:srgbClr val="4D4D4D"/>
    <a:srgbClr val="23CBAF"/>
    <a:srgbClr val="2FC5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100" autoAdjust="0"/>
  </p:normalViewPr>
  <p:slideViewPr>
    <p:cSldViewPr>
      <p:cViewPr varScale="1">
        <p:scale>
          <a:sx n="95" d="100"/>
          <a:sy n="95" d="100"/>
        </p:scale>
        <p:origin x="-209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069E3E-58B6-40A6-A1A6-8DD13B93137A}" type="datetimeFigureOut">
              <a:rPr lang="en-AU" smtClean="0"/>
              <a:t>21/07/2017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70AEE5-14EB-4126-9F40-5534D720BCCE}" type="slidenum">
              <a:rPr lang="en-AU" smtClean="0"/>
              <a:t>‹#›</a:t>
            </a:fld>
            <a:endParaRPr lang="en-AU"/>
          </a:p>
        </p:txBody>
      </p:sp>
    </p:spTree>
    <p:extLst>
      <p:ext uri="{BB962C8B-B14F-4D97-AF65-F5344CB8AC3E}">
        <p14:creationId xmlns:p14="http://schemas.microsoft.com/office/powerpoint/2010/main" val="358524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Who</a:t>
            </a:r>
            <a:r>
              <a:rPr lang="en-AU" baseline="0" dirty="0" smtClean="0"/>
              <a:t> was Henry Parkes? This slideshow will provide us with an overview of the life of Henry Parkes and his role as a significant individual in leading Australia to Federation. </a:t>
            </a:r>
          </a:p>
          <a:p>
            <a:endParaRPr lang="en-AU" dirty="0"/>
          </a:p>
        </p:txBody>
      </p:sp>
      <p:sp>
        <p:nvSpPr>
          <p:cNvPr id="4" name="Slide Number Placeholder 3"/>
          <p:cNvSpPr>
            <a:spLocks noGrp="1"/>
          </p:cNvSpPr>
          <p:nvPr>
            <p:ph type="sldNum" sz="quarter" idx="10"/>
          </p:nvPr>
        </p:nvSpPr>
        <p:spPr/>
        <p:txBody>
          <a:bodyPr/>
          <a:lstStyle/>
          <a:p>
            <a:fld id="{F970AEE5-14EB-4126-9F40-5534D720BCCE}" type="slidenum">
              <a:rPr lang="en-AU" smtClean="0"/>
              <a:t>1</a:t>
            </a:fld>
            <a:endParaRPr lang="en-AU" dirty="0"/>
          </a:p>
        </p:txBody>
      </p:sp>
    </p:spTree>
    <p:extLst>
      <p:ext uri="{BB962C8B-B14F-4D97-AF65-F5344CB8AC3E}">
        <p14:creationId xmlns:p14="http://schemas.microsoft.com/office/powerpoint/2010/main" val="2370443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baseline="0" dirty="0" smtClean="0"/>
              <a:t>(Click) </a:t>
            </a:r>
            <a:r>
              <a:rPr lang="en-AU" dirty="0" smtClean="0"/>
              <a:t>Sir Henry</a:t>
            </a:r>
            <a:r>
              <a:rPr lang="en-AU" baseline="0" dirty="0" smtClean="0"/>
              <a:t> Parkes was born on 27 May, 1815, in Canley, Warwickshire, in England. Brought up in a lower-class family with a father who was a </a:t>
            </a:r>
            <a:r>
              <a:rPr lang="en-AU" b="0" baseline="0" dirty="0" smtClean="0"/>
              <a:t>farmer, </a:t>
            </a:r>
            <a:r>
              <a:rPr lang="en-AU" baseline="0" dirty="0" smtClean="0"/>
              <a:t>he was the youngest of seven children and had very little formal education after the age of eight. </a:t>
            </a:r>
            <a:r>
              <a:rPr lang="en-AU" b="1" baseline="0" dirty="0" smtClean="0"/>
              <a:t>(Click) </a:t>
            </a:r>
            <a:r>
              <a:rPr lang="en-AU" baseline="0" dirty="0" smtClean="0"/>
              <a:t>At 24 years of age, Parkes migrated to Sydney in Australia from England with his wife, Clarinda, and child in 1839. While in Australia, </a:t>
            </a:r>
            <a:r>
              <a:rPr lang="en-AU" b="1" baseline="0" dirty="0" smtClean="0"/>
              <a:t>(Click) </a:t>
            </a:r>
            <a:r>
              <a:rPr lang="en-AU" baseline="0" dirty="0" smtClean="0"/>
              <a:t>he had many different jobs, such as </a:t>
            </a:r>
            <a:r>
              <a:rPr lang="en-AU" b="0" baseline="0" dirty="0" smtClean="0"/>
              <a:t>working in a factory manufacturing iron goods, and as a farm labo</a:t>
            </a:r>
            <a:r>
              <a:rPr lang="en-AU" baseline="0" dirty="0" smtClean="0"/>
              <a:t>urer, but the low wages did not appeal to him. </a:t>
            </a:r>
            <a:r>
              <a:rPr lang="en-AU" b="1" baseline="0" dirty="0" smtClean="0"/>
              <a:t>(Click) </a:t>
            </a:r>
            <a:r>
              <a:rPr lang="en-AU" baseline="0" dirty="0" smtClean="0"/>
              <a:t>He also had many businesses but went bankrupt several times. Despite the limited education he received, Henry Parkes was a very clever man, and was determined to be successful. </a:t>
            </a:r>
            <a:endParaRPr lang="en-AU" dirty="0"/>
          </a:p>
        </p:txBody>
      </p:sp>
      <p:sp>
        <p:nvSpPr>
          <p:cNvPr id="4" name="Slide Number Placeholder 3"/>
          <p:cNvSpPr>
            <a:spLocks noGrp="1"/>
          </p:cNvSpPr>
          <p:nvPr>
            <p:ph type="sldNum" sz="quarter" idx="10"/>
          </p:nvPr>
        </p:nvSpPr>
        <p:spPr/>
        <p:txBody>
          <a:bodyPr/>
          <a:lstStyle/>
          <a:p>
            <a:fld id="{F970AEE5-14EB-4126-9F40-5534D720BCCE}" type="slidenum">
              <a:rPr lang="en-AU" smtClean="0"/>
              <a:t>2</a:t>
            </a:fld>
            <a:endParaRPr lang="en-AU"/>
          </a:p>
        </p:txBody>
      </p:sp>
    </p:spTree>
    <p:extLst>
      <p:ext uri="{BB962C8B-B14F-4D97-AF65-F5344CB8AC3E}">
        <p14:creationId xmlns:p14="http://schemas.microsoft.com/office/powerpoint/2010/main" val="1614316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smtClean="0"/>
              <a:t>(Click) </a:t>
            </a:r>
            <a:r>
              <a:rPr lang="en-AU" dirty="0" smtClean="0"/>
              <a:t>He</a:t>
            </a:r>
            <a:r>
              <a:rPr lang="en-AU" baseline="0" dirty="0" smtClean="0"/>
              <a:t> decided to become a writer and a poet, and was very interested in politics. </a:t>
            </a:r>
            <a:r>
              <a:rPr lang="en-AU" b="1" baseline="0" dirty="0" smtClean="0"/>
              <a:t>(Click) </a:t>
            </a:r>
            <a:r>
              <a:rPr lang="en-AU" baseline="0" dirty="0" smtClean="0"/>
              <a:t>By 1850, he was running a newspaper, </a:t>
            </a:r>
            <a:r>
              <a:rPr lang="en-AU" i="1" baseline="0" dirty="0" smtClean="0"/>
              <a:t>The Empire</a:t>
            </a:r>
            <a:r>
              <a:rPr lang="en-AU" baseline="0" dirty="0" smtClean="0"/>
              <a:t>, which called for more rights for the people. He was soon elected to parliament because of his support for democracy. </a:t>
            </a:r>
            <a:r>
              <a:rPr lang="en-AU" b="1" baseline="0" dirty="0" smtClean="0"/>
              <a:t>(Click) </a:t>
            </a:r>
            <a:r>
              <a:rPr lang="en-AU" baseline="0" dirty="0" smtClean="0"/>
              <a:t>In 1872,  Parkes became the Premier of the colony of New South Wales, </a:t>
            </a:r>
            <a:r>
              <a:rPr lang="en-AU" b="1" baseline="0" dirty="0" smtClean="0"/>
              <a:t>(Click) </a:t>
            </a:r>
            <a:r>
              <a:rPr lang="en-AU" baseline="0" dirty="0" smtClean="0"/>
              <a:t>and went on to serve five terms.</a:t>
            </a:r>
            <a:endParaRPr lang="en-AU" dirty="0"/>
          </a:p>
        </p:txBody>
      </p:sp>
      <p:sp>
        <p:nvSpPr>
          <p:cNvPr id="4" name="Slide Number Placeholder 3"/>
          <p:cNvSpPr>
            <a:spLocks noGrp="1"/>
          </p:cNvSpPr>
          <p:nvPr>
            <p:ph type="sldNum" sz="quarter" idx="10"/>
          </p:nvPr>
        </p:nvSpPr>
        <p:spPr/>
        <p:txBody>
          <a:bodyPr/>
          <a:lstStyle/>
          <a:p>
            <a:fld id="{F970AEE5-14EB-4126-9F40-5534D720BCCE}" type="slidenum">
              <a:rPr lang="en-AU" smtClean="0"/>
              <a:t>3</a:t>
            </a:fld>
            <a:endParaRPr lang="en-AU"/>
          </a:p>
        </p:txBody>
      </p:sp>
    </p:spTree>
    <p:extLst>
      <p:ext uri="{BB962C8B-B14F-4D97-AF65-F5344CB8AC3E}">
        <p14:creationId xmlns:p14="http://schemas.microsoft.com/office/powerpoint/2010/main" val="77345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In 1877, Henry Parkes was awarded a knighthood by Queen Victoria. From this point forward, he was to</a:t>
            </a:r>
            <a:r>
              <a:rPr lang="en-AU" sz="1200" kern="1200" baseline="0" dirty="0" smtClean="0">
                <a:solidFill>
                  <a:schemeClr val="tx1"/>
                </a:solidFill>
                <a:effectLst/>
                <a:latin typeface="+mn-lt"/>
                <a:ea typeface="+mn-ea"/>
                <a:cs typeface="+mn-cs"/>
              </a:rPr>
              <a:t> be officially</a:t>
            </a:r>
            <a:r>
              <a:rPr lang="en-AU" sz="1200" kern="1200" dirty="0" smtClean="0">
                <a:solidFill>
                  <a:schemeClr val="tx1"/>
                </a:solidFill>
                <a:effectLst/>
                <a:latin typeface="+mn-lt"/>
                <a:ea typeface="+mn-ea"/>
                <a:cs typeface="+mn-cs"/>
              </a:rPr>
              <a:t> acknowledged as </a:t>
            </a:r>
            <a:r>
              <a:rPr lang="en-AU" sz="1200" i="1" kern="1200" dirty="0" smtClean="0">
                <a:solidFill>
                  <a:schemeClr val="tx1"/>
                </a:solidFill>
                <a:effectLst/>
                <a:latin typeface="+mn-lt"/>
                <a:ea typeface="+mn-ea"/>
                <a:cs typeface="+mn-cs"/>
              </a:rPr>
              <a:t>Sir</a:t>
            </a:r>
            <a:r>
              <a:rPr lang="en-AU" sz="1200" kern="1200" dirty="0" smtClean="0">
                <a:solidFill>
                  <a:schemeClr val="tx1"/>
                </a:solidFill>
                <a:effectLst/>
                <a:latin typeface="+mn-lt"/>
                <a:ea typeface="+mn-ea"/>
                <a:cs typeface="+mn-cs"/>
              </a:rPr>
              <a:t> Henry Parkes. During his time as Premier,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he became frustrated with life in the colonies and the way things such as different tariffs, rail, transport, land laws and Chinese immigration in the colonies affected politics and business. Convinced the colonies would be stronger if they united,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he delivered a speech in Tenterfield, New South Wales in 1889 that came to be known as th</a:t>
            </a:r>
            <a:r>
              <a:rPr lang="en-AU" sz="1200" kern="1200" baseline="0" dirty="0" smtClean="0">
                <a:solidFill>
                  <a:schemeClr val="tx1"/>
                </a:solidFill>
                <a:effectLst/>
                <a:latin typeface="+mn-lt"/>
                <a:ea typeface="+mn-ea"/>
                <a:cs typeface="+mn-cs"/>
              </a:rPr>
              <a:t>e </a:t>
            </a:r>
            <a:r>
              <a:rPr lang="en-AU" sz="1200" kern="1200" dirty="0" smtClean="0">
                <a:solidFill>
                  <a:schemeClr val="tx1"/>
                </a:solidFill>
                <a:effectLst/>
                <a:latin typeface="+mn-lt"/>
                <a:ea typeface="+mn-ea"/>
                <a:cs typeface="+mn-cs"/>
              </a:rPr>
              <a:t>‘Tenterfield Oration’.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In the speech, he called for a Federal Convention to discuss the idea of a national government for Australia. Sir Henry Parkes’s ‘Tenterfield Oration’ created enthusiasm in the colonies for the benefits that a federated Australia would bring.  </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970AEE5-14EB-4126-9F40-5534D720BCCE}" type="slidenum">
              <a:rPr lang="en-AU" smtClean="0"/>
              <a:t>4</a:t>
            </a:fld>
            <a:endParaRPr lang="en-AU"/>
          </a:p>
        </p:txBody>
      </p:sp>
    </p:spTree>
    <p:extLst>
      <p:ext uri="{BB962C8B-B14F-4D97-AF65-F5344CB8AC3E}">
        <p14:creationId xmlns:p14="http://schemas.microsoft.com/office/powerpoint/2010/main" val="2155906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A meeting, which</a:t>
            </a:r>
            <a:r>
              <a:rPr lang="en-AU" sz="1200" kern="1200" baseline="0" dirty="0" smtClean="0">
                <a:solidFill>
                  <a:schemeClr val="tx1"/>
                </a:solidFill>
                <a:effectLst/>
                <a:latin typeface="+mn-lt"/>
                <a:ea typeface="+mn-ea"/>
                <a:cs typeface="+mn-cs"/>
              </a:rPr>
              <a:t> was called t</a:t>
            </a:r>
            <a:r>
              <a:rPr lang="en-AU" sz="1200" kern="1200" dirty="0" smtClean="0">
                <a:solidFill>
                  <a:schemeClr val="tx1"/>
                </a:solidFill>
                <a:effectLst/>
                <a:latin typeface="+mn-lt"/>
                <a:ea typeface="+mn-ea"/>
                <a:cs typeface="+mn-cs"/>
              </a:rPr>
              <a:t>he </a:t>
            </a:r>
            <a:r>
              <a:rPr lang="en-AU" sz="1200" b="0" kern="1200" dirty="0" smtClean="0">
                <a:solidFill>
                  <a:schemeClr val="tx1"/>
                </a:solidFill>
                <a:effectLst/>
                <a:latin typeface="+mn-lt"/>
                <a:ea typeface="+mn-ea"/>
                <a:cs typeface="+mn-cs"/>
              </a:rPr>
              <a:t>Australasian Federation Conference, </a:t>
            </a:r>
            <a:r>
              <a:rPr lang="en-AU" sz="1200" kern="1200" dirty="0" smtClean="0">
                <a:solidFill>
                  <a:schemeClr val="tx1"/>
                </a:solidFill>
                <a:effectLst/>
                <a:latin typeface="+mn-lt"/>
                <a:ea typeface="+mn-ea"/>
                <a:cs typeface="+mn-cs"/>
              </a:rPr>
              <a:t>was held</a:t>
            </a:r>
            <a:r>
              <a:rPr lang="en-AU" sz="1200" kern="1200" baseline="0" dirty="0" smtClean="0">
                <a:solidFill>
                  <a:schemeClr val="tx1"/>
                </a:solidFill>
                <a:effectLst/>
                <a:latin typeface="+mn-lt"/>
                <a:ea typeface="+mn-ea"/>
                <a:cs typeface="+mn-cs"/>
              </a:rPr>
              <a:t> in Melbourne in 1890. This was a very important event, as it was the first time that </a:t>
            </a:r>
            <a:r>
              <a:rPr lang="en-AU" sz="1200" kern="1200" dirty="0" smtClean="0">
                <a:solidFill>
                  <a:schemeClr val="tx1"/>
                </a:solidFill>
                <a:effectLst/>
                <a:latin typeface="+mn-lt"/>
                <a:ea typeface="+mn-ea"/>
                <a:cs typeface="+mn-cs"/>
              </a:rPr>
              <a:t>premiers from each colony met to discuss </a:t>
            </a:r>
            <a:r>
              <a:rPr lang="en-AU" sz="1200" b="0" i="0" kern="1200" dirty="0" smtClean="0">
                <a:solidFill>
                  <a:schemeClr val="tx1"/>
                </a:solidFill>
                <a:effectLst/>
                <a:latin typeface="+mn-lt"/>
                <a:ea typeface="+mn-ea"/>
                <a:cs typeface="+mn-cs"/>
              </a:rPr>
              <a:t>whether</a:t>
            </a:r>
            <a:r>
              <a:rPr lang="en-AU" sz="1200" kern="1200" baseline="0" dirty="0" smtClean="0">
                <a:solidFill>
                  <a:schemeClr val="tx1"/>
                </a:solidFill>
                <a:effectLst/>
                <a:latin typeface="+mn-lt"/>
                <a:ea typeface="+mn-ea"/>
                <a:cs typeface="+mn-cs"/>
              </a:rPr>
              <a:t> they </a:t>
            </a:r>
            <a:r>
              <a:rPr lang="en-AU" sz="1200" b="0" i="1" kern="1200" baseline="0" dirty="0" smtClean="0">
                <a:solidFill>
                  <a:schemeClr val="tx1"/>
                </a:solidFill>
                <a:effectLst/>
                <a:latin typeface="+mn-lt"/>
                <a:ea typeface="+mn-ea"/>
                <a:cs typeface="+mn-cs"/>
              </a:rPr>
              <a:t>should </a:t>
            </a:r>
            <a:r>
              <a:rPr lang="en-AU" sz="1200" kern="1200" baseline="0" dirty="0" smtClean="0">
                <a:solidFill>
                  <a:schemeClr val="tx1"/>
                </a:solidFill>
                <a:effectLst/>
                <a:latin typeface="+mn-lt"/>
                <a:ea typeface="+mn-ea"/>
                <a:cs typeface="+mn-cs"/>
              </a:rPr>
              <a:t>federate. Having agreed that Federation was a good idea, another meeting was held in Sydney the following year, </a:t>
            </a:r>
            <a:r>
              <a:rPr lang="en-AU" sz="1200" b="1" kern="1200" baseline="0" dirty="0" smtClean="0">
                <a:solidFill>
                  <a:schemeClr val="tx1"/>
                </a:solidFill>
                <a:effectLst/>
                <a:latin typeface="+mn-lt"/>
                <a:ea typeface="+mn-ea"/>
                <a:cs typeface="+mn-cs"/>
              </a:rPr>
              <a:t>(Click) </a:t>
            </a:r>
            <a:r>
              <a:rPr lang="en-AU" sz="1200" kern="1200" baseline="0" dirty="0" smtClean="0">
                <a:solidFill>
                  <a:schemeClr val="tx1"/>
                </a:solidFill>
                <a:effectLst/>
                <a:latin typeface="+mn-lt"/>
                <a:ea typeface="+mn-ea"/>
                <a:cs typeface="+mn-cs"/>
              </a:rPr>
              <a:t>which was called the </a:t>
            </a:r>
            <a:r>
              <a:rPr lang="en-AU" sz="1200" b="0" kern="1200" dirty="0" smtClean="0">
                <a:solidFill>
                  <a:schemeClr val="tx1"/>
                </a:solidFill>
                <a:effectLst/>
                <a:latin typeface="+mn-lt"/>
                <a:ea typeface="+mn-ea"/>
                <a:cs typeface="+mn-cs"/>
              </a:rPr>
              <a:t>National Australasian Federation Convention</a:t>
            </a:r>
            <a:r>
              <a:rPr lang="en-AU" sz="1200" b="0" kern="1200" baseline="0" dirty="0" smtClean="0">
                <a:solidFill>
                  <a:schemeClr val="tx1"/>
                </a:solidFill>
                <a:effectLst/>
                <a:latin typeface="+mn-lt"/>
                <a:ea typeface="+mn-ea"/>
                <a:cs typeface="+mn-cs"/>
              </a:rPr>
              <a:t>. </a:t>
            </a:r>
            <a:r>
              <a:rPr lang="en-AU" sz="1200" b="0" kern="1200" dirty="0" smtClean="0">
                <a:solidFill>
                  <a:schemeClr val="tx1"/>
                </a:solidFill>
                <a:effectLst/>
                <a:latin typeface="+mn-lt"/>
                <a:ea typeface="+mn-ea"/>
                <a:cs typeface="+mn-cs"/>
              </a:rPr>
              <a:t>Representatives </a:t>
            </a:r>
            <a:r>
              <a:rPr lang="en-AU" sz="1200" kern="1200" dirty="0" smtClean="0">
                <a:solidFill>
                  <a:schemeClr val="tx1"/>
                </a:solidFill>
                <a:effectLst/>
                <a:latin typeface="+mn-lt"/>
                <a:ea typeface="+mn-ea"/>
                <a:cs typeface="+mn-cs"/>
              </a:rPr>
              <a:t>from the six Australian colonies and New Zealand</a:t>
            </a:r>
            <a:r>
              <a:rPr lang="en-AU" sz="1200" kern="1200" baseline="0" dirty="0" smtClean="0">
                <a:solidFill>
                  <a:schemeClr val="tx1"/>
                </a:solidFill>
                <a:effectLst/>
                <a:latin typeface="+mn-lt"/>
                <a:ea typeface="+mn-ea"/>
                <a:cs typeface="+mn-cs"/>
              </a:rPr>
              <a:t> met to </a:t>
            </a:r>
            <a:r>
              <a:rPr lang="en-AU" sz="1200" kern="1200" dirty="0" smtClean="0">
                <a:solidFill>
                  <a:schemeClr val="tx1"/>
                </a:solidFill>
                <a:effectLst/>
                <a:latin typeface="+mn-lt"/>
                <a:ea typeface="+mn-ea"/>
                <a:cs typeface="+mn-cs"/>
              </a:rPr>
              <a:t>draft the Australian Constitution, which</a:t>
            </a:r>
            <a:r>
              <a:rPr lang="en-AU" sz="1200" kern="1200" baseline="0" dirty="0" smtClean="0">
                <a:solidFill>
                  <a:schemeClr val="tx1"/>
                </a:solidFill>
                <a:effectLst/>
                <a:latin typeface="+mn-lt"/>
                <a:ea typeface="+mn-ea"/>
                <a:cs typeface="+mn-cs"/>
              </a:rPr>
              <a:t> would outline </a:t>
            </a:r>
            <a:r>
              <a:rPr lang="en-AU" sz="1200" b="0" i="1" kern="1200" baseline="0" dirty="0" smtClean="0">
                <a:solidFill>
                  <a:schemeClr val="tx1"/>
                </a:solidFill>
                <a:effectLst/>
                <a:latin typeface="+mn-lt"/>
                <a:ea typeface="+mn-ea"/>
                <a:cs typeface="+mn-cs"/>
              </a:rPr>
              <a:t>how</a:t>
            </a:r>
            <a:r>
              <a:rPr lang="en-AU" sz="1200" b="1" i="1" kern="1200" baseline="0" dirty="0" smtClean="0">
                <a:solidFill>
                  <a:schemeClr val="tx1"/>
                </a:solidFill>
                <a:effectLst/>
                <a:latin typeface="+mn-lt"/>
                <a:ea typeface="+mn-ea"/>
                <a:cs typeface="+mn-cs"/>
              </a:rPr>
              <a:t> </a:t>
            </a:r>
            <a:r>
              <a:rPr lang="en-AU" sz="1200" b="0" i="0" kern="1200" baseline="0" dirty="0" smtClean="0">
                <a:solidFill>
                  <a:schemeClr val="tx1"/>
                </a:solidFill>
                <a:effectLst/>
                <a:latin typeface="+mn-lt"/>
                <a:ea typeface="+mn-ea"/>
                <a:cs typeface="+mn-cs"/>
              </a:rPr>
              <a:t>Australia would federate. It’s important to note that </a:t>
            </a:r>
            <a:r>
              <a:rPr lang="en-AU" sz="1200" kern="1200" dirty="0" smtClean="0">
                <a:solidFill>
                  <a:schemeClr val="tx1"/>
                </a:solidFill>
                <a:effectLst/>
                <a:latin typeface="+mn-lt"/>
                <a:ea typeface="+mn-ea"/>
                <a:cs typeface="+mn-cs"/>
              </a:rPr>
              <a:t>New Zealand eventually opted out of the Federation process, stating too many differences</a:t>
            </a:r>
            <a:r>
              <a:rPr lang="en-AU" sz="1200" kern="1200" baseline="0" dirty="0" smtClean="0">
                <a:solidFill>
                  <a:schemeClr val="tx1"/>
                </a:solidFill>
                <a:effectLst/>
                <a:latin typeface="+mn-lt"/>
                <a:ea typeface="+mn-ea"/>
                <a:cs typeface="+mn-cs"/>
              </a:rPr>
              <a:t> with the Australian colonies. </a:t>
            </a:r>
            <a:r>
              <a:rPr lang="en-AU" sz="1200" kern="1200" dirty="0" smtClean="0">
                <a:solidFill>
                  <a:schemeClr val="tx1"/>
                </a:solidFill>
                <a:effectLst/>
                <a:latin typeface="+mn-lt"/>
                <a:ea typeface="+mn-ea"/>
                <a:cs typeface="+mn-cs"/>
              </a:rPr>
              <a:t>Sir Henry Parkes spoke of ‘one people, one destiny’, and of fostering a national Australian identity. A</a:t>
            </a:r>
            <a:r>
              <a:rPr lang="en-AU" sz="1200" kern="1200" baseline="0" dirty="0" smtClean="0">
                <a:solidFill>
                  <a:schemeClr val="tx1"/>
                </a:solidFill>
                <a:effectLst/>
                <a:latin typeface="+mn-lt"/>
                <a:ea typeface="+mn-ea"/>
                <a:cs typeface="+mn-cs"/>
              </a:rPr>
              <a:t> series of meetings and conferences to discuss the prospect of Australia federating followed after this. The Corowa Conference held in NSW in 1893 was one of the most significant events during this time. We will explore this in further detail in the next lesson. </a:t>
            </a:r>
            <a:r>
              <a:rPr lang="en-AU" sz="1200" b="1" kern="1200" baseline="0" dirty="0" smtClean="0">
                <a:solidFill>
                  <a:schemeClr val="tx1"/>
                </a:solidFill>
                <a:effectLst/>
                <a:latin typeface="+mn-lt"/>
                <a:ea typeface="+mn-ea"/>
                <a:cs typeface="+mn-cs"/>
              </a:rPr>
              <a:t>(Click) </a:t>
            </a:r>
            <a:r>
              <a:rPr lang="en-AU" sz="1200" kern="1200" baseline="0" dirty="0" smtClean="0">
                <a:solidFill>
                  <a:schemeClr val="tx1"/>
                </a:solidFill>
                <a:effectLst/>
                <a:latin typeface="+mn-lt"/>
                <a:ea typeface="+mn-ea"/>
                <a:cs typeface="+mn-cs"/>
              </a:rPr>
              <a:t>Unfortunately, Parkes was too ill to attend. </a:t>
            </a:r>
            <a:endParaRPr lang="en-AU" sz="1200" b="1" kern="1200" dirty="0" smtClean="0">
              <a:solidFill>
                <a:schemeClr val="tx1"/>
              </a:solidFill>
              <a:effectLst/>
              <a:latin typeface="+mn-lt"/>
              <a:ea typeface="+mn-ea"/>
              <a:cs typeface="+mn-cs"/>
            </a:endParaRPr>
          </a:p>
          <a:p>
            <a:pPr algn="r"/>
            <a:endParaRPr lang="en-AU" dirty="0"/>
          </a:p>
        </p:txBody>
      </p:sp>
      <p:sp>
        <p:nvSpPr>
          <p:cNvPr id="4" name="Slide Number Placeholder 3"/>
          <p:cNvSpPr>
            <a:spLocks noGrp="1"/>
          </p:cNvSpPr>
          <p:nvPr>
            <p:ph type="sldNum" sz="quarter" idx="10"/>
          </p:nvPr>
        </p:nvSpPr>
        <p:spPr/>
        <p:txBody>
          <a:bodyPr/>
          <a:lstStyle/>
          <a:p>
            <a:fld id="{F970AEE5-14EB-4126-9F40-5534D720BCCE}" type="slidenum">
              <a:rPr lang="en-AU" smtClean="0"/>
              <a:t>5</a:t>
            </a:fld>
            <a:endParaRPr lang="en-AU"/>
          </a:p>
        </p:txBody>
      </p:sp>
    </p:spTree>
    <p:extLst>
      <p:ext uri="{BB962C8B-B14F-4D97-AF65-F5344CB8AC3E}">
        <p14:creationId xmlns:p14="http://schemas.microsoft.com/office/powerpoint/2010/main" val="1315271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Sir Henry Parkes did not live to see his dream of a federated Australia  realised. He was 81 years old when he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died on 27 April</a:t>
            </a:r>
            <a:r>
              <a:rPr lang="en-AU" sz="1200" kern="1200" baseline="0" dirty="0" smtClean="0">
                <a:solidFill>
                  <a:schemeClr val="tx1"/>
                </a:solidFill>
                <a:effectLst/>
                <a:latin typeface="+mn-lt"/>
                <a:ea typeface="+mn-ea"/>
                <a:cs typeface="+mn-cs"/>
              </a:rPr>
              <a:t> 1896, four years before Federation in 1901. </a:t>
            </a:r>
            <a:r>
              <a:rPr lang="en-AU" sz="1200" b="1" kern="1200" dirty="0" smtClean="0">
                <a:solidFill>
                  <a:schemeClr val="tx1"/>
                </a:solidFill>
                <a:effectLst/>
                <a:latin typeface="+mn-lt"/>
                <a:ea typeface="+mn-ea"/>
                <a:cs typeface="+mn-cs"/>
              </a:rPr>
              <a:t>(Click)</a:t>
            </a:r>
            <a:r>
              <a:rPr lang="en-AU" sz="1200" b="1"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Many believe that Parkes’ speech at Tenterfield provided the momentum that led to Australia becoming a nation. He made a significant contribution to the shaping of our nation, and was one of the most influential advocates of Federation for Australia. </a:t>
            </a:r>
            <a:r>
              <a:rPr lang="en-AU" sz="1200" b="1" kern="1200" dirty="0" smtClean="0">
                <a:solidFill>
                  <a:schemeClr val="tx1"/>
                </a:solidFill>
                <a:effectLst/>
                <a:latin typeface="+mn-lt"/>
                <a:ea typeface="+mn-ea"/>
                <a:cs typeface="+mn-cs"/>
              </a:rPr>
              <a:t>(Click) </a:t>
            </a:r>
            <a:r>
              <a:rPr lang="en-US" sz="1200" kern="1200" dirty="0" smtClean="0">
                <a:solidFill>
                  <a:schemeClr val="tx1"/>
                </a:solidFill>
                <a:effectLst/>
                <a:latin typeface="+mn-lt"/>
                <a:ea typeface="+mn-ea"/>
                <a:cs typeface="+mn-cs"/>
              </a:rPr>
              <a:t>For this reason, he was known, and is still known today, as the ‘Father of Federation’</a:t>
            </a:r>
            <a:r>
              <a:rPr lang="en-US" sz="1200" kern="1200" baseline="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(Click) </a:t>
            </a:r>
            <a:r>
              <a:rPr lang="en-US" sz="1200" kern="1200" dirty="0" smtClean="0">
                <a:solidFill>
                  <a:schemeClr val="tx1"/>
                </a:solidFill>
                <a:effectLst/>
                <a:latin typeface="+mn-lt"/>
                <a:ea typeface="+mn-ea"/>
                <a:cs typeface="+mn-cs"/>
              </a:rPr>
              <a:t>and has been commemorated  with his image appearing on items such as stamps and Australian</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currency</a:t>
            </a:r>
            <a:r>
              <a:rPr lang="en-AU" sz="1200" kern="1200" dirty="0" smtClean="0">
                <a:solidFill>
                  <a:schemeClr val="tx1"/>
                </a:solidFill>
                <a:effectLst/>
                <a:latin typeface="+mn-lt"/>
                <a:ea typeface="+mn-ea"/>
                <a:cs typeface="+mn-cs"/>
              </a:rPr>
              <a:t>. </a:t>
            </a:r>
          </a:p>
          <a:p>
            <a:endParaRPr lang="en-AU" dirty="0"/>
          </a:p>
        </p:txBody>
      </p:sp>
      <p:sp>
        <p:nvSpPr>
          <p:cNvPr id="4" name="Slide Number Placeholder 3"/>
          <p:cNvSpPr>
            <a:spLocks noGrp="1"/>
          </p:cNvSpPr>
          <p:nvPr>
            <p:ph type="sldNum" sz="quarter" idx="10"/>
          </p:nvPr>
        </p:nvSpPr>
        <p:spPr/>
        <p:txBody>
          <a:bodyPr/>
          <a:lstStyle/>
          <a:p>
            <a:fld id="{F970AEE5-14EB-4126-9F40-5534D720BCCE}" type="slidenum">
              <a:rPr lang="en-AU" smtClean="0"/>
              <a:t>6</a:t>
            </a:fld>
            <a:endParaRPr lang="en-AU"/>
          </a:p>
        </p:txBody>
      </p:sp>
    </p:spTree>
    <p:extLst>
      <p:ext uri="{BB962C8B-B14F-4D97-AF65-F5344CB8AC3E}">
        <p14:creationId xmlns:p14="http://schemas.microsoft.com/office/powerpoint/2010/main" val="3260221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F970AEE5-14EB-4126-9F40-5534D720BCCE}" type="slidenum">
              <a:rPr lang="en-AU" smtClean="0"/>
              <a:t>7</a:t>
            </a:fld>
            <a:endParaRPr lang="en-AU"/>
          </a:p>
        </p:txBody>
      </p:sp>
    </p:spTree>
    <p:extLst>
      <p:ext uri="{BB962C8B-B14F-4D97-AF65-F5344CB8AC3E}">
        <p14:creationId xmlns:p14="http://schemas.microsoft.com/office/powerpoint/2010/main" val="1578745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Tree>
    <p:extLst>
      <p:ext uri="{BB962C8B-B14F-4D97-AF65-F5344CB8AC3E}">
        <p14:creationId xmlns:p14="http://schemas.microsoft.com/office/powerpoint/2010/main" val="155306541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AU"/>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extLst>
      <p:ext uri="{BB962C8B-B14F-4D97-AF65-F5344CB8AC3E}">
        <p14:creationId xmlns:p14="http://schemas.microsoft.com/office/powerpoint/2010/main" val="272221670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611507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423280379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73168330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AU"/>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196949241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366854672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406323092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332510578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22815761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75D48070-6A81-47D0-9810-1540B9FEFF61}" type="datetime1">
              <a:rPr lang="en-US" smtClean="0"/>
              <a:pPr/>
              <a:t>7/21/2017</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BFEBEB0A-9E3D-4B14-9782-E2AE3DA60D96}" type="slidenum">
              <a:rPr lang="en-US" smtClean="0"/>
              <a:pPr/>
              <a:t>‹#›</a:t>
            </a:fld>
            <a:endParaRPr lang="en-US" dirty="0"/>
          </a:p>
        </p:txBody>
      </p:sp>
    </p:spTree>
    <p:extLst>
      <p:ext uri="{BB962C8B-B14F-4D97-AF65-F5344CB8AC3E}">
        <p14:creationId xmlns:p14="http://schemas.microsoft.com/office/powerpoint/2010/main" val="2369516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24000">
              <a:schemeClr val="accent1">
                <a:tint val="44500"/>
                <a:satMod val="160000"/>
              </a:schemeClr>
            </a:gs>
            <a:gs pos="49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11" name="Rectangle 10"/>
          <p:cNvSpPr/>
          <p:nvPr userDrawn="1"/>
        </p:nvSpPr>
        <p:spPr>
          <a:xfrm>
            <a:off x="611560" y="6605999"/>
            <a:ext cx="1261239" cy="184666"/>
          </a:xfrm>
          <a:prstGeom prst="rect">
            <a:avLst/>
          </a:prstGeom>
        </p:spPr>
        <p:txBody>
          <a:bodyPr wrap="square">
            <a:spAutoFit/>
          </a:bodyPr>
          <a:lstStyle/>
          <a:p>
            <a:pPr algn="l" rtl="0">
              <a:spcAft>
                <a:spcPts val="200"/>
              </a:spcAft>
            </a:pPr>
            <a:r>
              <a:rPr lang="en-US" sz="600" b="0" i="0" u="none" strike="noStrike" kern="1200" baseline="0" dirty="0" smtClean="0">
                <a:solidFill>
                  <a:srgbClr val="000000"/>
                </a:solidFill>
                <a:latin typeface="Arial"/>
                <a:ea typeface="+mn-ea"/>
                <a:cs typeface="Arial"/>
              </a:rPr>
              <a:t>His_Y06_U1_SS_HenryParkes</a:t>
            </a:r>
          </a:p>
        </p:txBody>
      </p:sp>
      <p:pic>
        <p:nvPicPr>
          <p:cNvPr id="12" name="Picture 1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17239" y="6503155"/>
            <a:ext cx="1356360" cy="236220"/>
          </a:xfrm>
          <a:prstGeom prst="rect">
            <a:avLst/>
          </a:prstGeom>
        </p:spPr>
      </p:pic>
      <p:pic>
        <p:nvPicPr>
          <p:cNvPr id="6" name="Picture 5" descr="C2CIcon.png"/>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107504" y="6563084"/>
            <a:ext cx="424150" cy="184018"/>
          </a:xfrm>
          <a:prstGeom prst="rect">
            <a:avLst/>
          </a:prstGeom>
        </p:spPr>
      </p:pic>
      <p:pic>
        <p:nvPicPr>
          <p:cNvPr id="7" name="Picture 6" descr="../../../../../../../../Volumes/Data/Coredata/DevArea/C2C/ePublishing/Templates/logos/20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3563888" y="6605324"/>
            <a:ext cx="1719220" cy="208052"/>
          </a:xfrm>
          <a:prstGeom prst="rect">
            <a:avLst/>
          </a:prstGeom>
          <a:noFill/>
          <a:ln>
            <a:noFill/>
          </a:ln>
        </p:spPr>
      </p:pic>
    </p:spTree>
    <p:extLst>
      <p:ext uri="{BB962C8B-B14F-4D97-AF65-F5344CB8AC3E}">
        <p14:creationId xmlns:p14="http://schemas.microsoft.com/office/powerpoint/2010/main" val="46430257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260648"/>
            <a:ext cx="9144000" cy="923330"/>
          </a:xfrm>
          <a:prstGeom prst="rect">
            <a:avLst/>
          </a:prstGeom>
          <a:solidFill>
            <a:schemeClr val="tx2">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AU" sz="5400" dirty="0" smtClean="0">
                <a:effectLst>
                  <a:outerShdw blurRad="38100" dist="38100" dir="2700000" algn="tl">
                    <a:srgbClr val="000000">
                      <a:alpha val="43137"/>
                    </a:srgbClr>
                  </a:outerShdw>
                </a:effectLst>
              </a:rPr>
              <a:t>HENRY PARKES </a:t>
            </a:r>
            <a:endParaRPr lang="en-AU" sz="5400" dirty="0">
              <a:effectLst>
                <a:outerShdw blurRad="38100" dist="38100" dir="2700000" algn="tl">
                  <a:srgbClr val="000000">
                    <a:alpha val="43137"/>
                  </a:srgbClr>
                </a:outerShdw>
              </a:effectLs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5796" y="1700808"/>
            <a:ext cx="3461846" cy="424847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6" name="TextBox 5"/>
          <p:cNvSpPr txBox="1"/>
          <p:nvPr/>
        </p:nvSpPr>
        <p:spPr>
          <a:xfrm>
            <a:off x="0" y="5788400"/>
            <a:ext cx="1346479" cy="522433"/>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spAutoFit/>
          </a:bodyPr>
          <a:lstStyle/>
          <a:p>
            <a:pPr>
              <a:spcAft>
                <a:spcPts val="300"/>
              </a:spcAft>
            </a:pPr>
            <a:r>
              <a:rPr lang="en-AU" sz="1200" dirty="0">
                <a:solidFill>
                  <a:srgbClr val="FFFFCC"/>
                </a:solidFill>
                <a:latin typeface="Calibri" panose="020F0502020204030204" pitchFamily="34" charset="0"/>
                <a:cs typeface="Arial" panose="020B0604020202020204" pitchFamily="34" charset="0"/>
              </a:rPr>
              <a:t>Teacher Tip</a:t>
            </a:r>
          </a:p>
          <a:p>
            <a:pPr>
              <a:spcAft>
                <a:spcPts val="300"/>
              </a:spcAft>
            </a:pPr>
            <a:r>
              <a:rPr lang="en-AU" sz="1000" dirty="0" smtClean="0">
                <a:solidFill>
                  <a:srgbClr val="FFFFCC"/>
                </a:solidFill>
                <a:latin typeface="Calibri" panose="020F0502020204030204" pitchFamily="34" charset="0"/>
                <a:cs typeface="Arial" panose="020B0604020202020204" pitchFamily="34" charset="0"/>
              </a:rPr>
              <a:t>Use </a:t>
            </a:r>
            <a:r>
              <a:rPr lang="en-AU" sz="1000" dirty="0">
                <a:solidFill>
                  <a:srgbClr val="FFFFCC"/>
                </a:solidFill>
                <a:latin typeface="Calibri" panose="020F0502020204030204" pitchFamily="34" charset="0"/>
                <a:cs typeface="Arial" panose="020B0604020202020204" pitchFamily="34" charset="0"/>
              </a:rPr>
              <a:t>slideshow </a:t>
            </a:r>
            <a:r>
              <a:rPr lang="en-AU" sz="1000" dirty="0" smtClean="0">
                <a:solidFill>
                  <a:srgbClr val="FFFFCC"/>
                </a:solidFill>
                <a:latin typeface="Calibri" panose="020F0502020204030204" pitchFamily="34" charset="0"/>
                <a:cs typeface="Arial" panose="020B0604020202020204" pitchFamily="34" charset="0"/>
              </a:rPr>
              <a:t>mode.</a:t>
            </a:r>
            <a:endParaRPr lang="en-AU" sz="1000" dirty="0">
              <a:solidFill>
                <a:srgbClr val="FFFFCC"/>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95399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0"/>
            <a:ext cx="9144000" cy="126876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0" y="260648"/>
            <a:ext cx="9144000" cy="763528"/>
          </a:xfrm>
          <a:noFill/>
          <a:ln>
            <a:noFill/>
          </a:ln>
        </p:spPr>
        <p:style>
          <a:lnRef idx="1">
            <a:schemeClr val="accent5"/>
          </a:lnRef>
          <a:fillRef idx="2">
            <a:schemeClr val="accent5"/>
          </a:fillRef>
          <a:effectRef idx="1">
            <a:schemeClr val="accent5"/>
          </a:effectRef>
          <a:fontRef idx="minor">
            <a:schemeClr val="dk1"/>
          </a:fontRef>
        </p:style>
        <p:txBody>
          <a:bodyPr/>
          <a:lstStyle/>
          <a:p>
            <a:r>
              <a:rPr lang="en-AU" dirty="0">
                <a:solidFill>
                  <a:schemeClr val="bg1"/>
                </a:solidFill>
              </a:rPr>
              <a:t>Early life</a:t>
            </a:r>
          </a:p>
        </p:txBody>
      </p:sp>
      <p:grpSp>
        <p:nvGrpSpPr>
          <p:cNvPr id="5" name="Group 4"/>
          <p:cNvGrpSpPr/>
          <p:nvPr/>
        </p:nvGrpSpPr>
        <p:grpSpPr>
          <a:xfrm>
            <a:off x="4860032" y="2015685"/>
            <a:ext cx="3138060" cy="3566173"/>
            <a:chOff x="4860032" y="2015685"/>
            <a:chExt cx="3138060" cy="3566173"/>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3" y="2015685"/>
              <a:ext cx="3138059" cy="3258396"/>
            </a:xfrm>
            <a:prstGeom prst="rect">
              <a:avLst/>
            </a:prstGeom>
            <a:ln>
              <a:noFill/>
            </a:ln>
            <a:effectLst>
              <a:outerShdw blurRad="292100" dist="139700" dir="2700000" algn="tl" rotWithShape="0">
                <a:srgbClr val="333333">
                  <a:alpha val="65000"/>
                </a:srgbClr>
              </a:outerShdw>
            </a:effectLst>
          </p:spPr>
        </p:pic>
        <p:sp>
          <p:nvSpPr>
            <p:cNvPr id="10" name="TextBox 9"/>
            <p:cNvSpPr txBox="1"/>
            <p:nvPr/>
          </p:nvSpPr>
          <p:spPr>
            <a:xfrm>
              <a:off x="4860032" y="5274081"/>
              <a:ext cx="3138059" cy="307777"/>
            </a:xfrm>
            <a:prstGeom prst="rect">
              <a:avLst/>
            </a:prstGeom>
            <a:solidFill>
              <a:schemeClr val="bg1"/>
            </a:solidFill>
          </p:spPr>
          <p:txBody>
            <a:bodyPr wrap="square" rtlCol="0">
              <a:spAutoFit/>
            </a:bodyPr>
            <a:lstStyle/>
            <a:p>
              <a:pPr algn="ctr"/>
              <a:r>
                <a:rPr lang="en-AU" sz="1400" dirty="0">
                  <a:latin typeface="Calibri" panose="020F0502020204030204" pitchFamily="34" charset="0"/>
                  <a:cs typeface="Calibri" panose="020F0502020204030204" pitchFamily="34" charset="0"/>
                </a:rPr>
                <a:t>Birthplace in </a:t>
              </a:r>
              <a:r>
                <a:rPr lang="en-AU" sz="1400" dirty="0" smtClean="0">
                  <a:latin typeface="Calibri" panose="020F0502020204030204" pitchFamily="34" charset="0"/>
                  <a:cs typeface="Calibri" panose="020F0502020204030204" pitchFamily="34" charset="0"/>
                </a:rPr>
                <a:t>Canley, </a:t>
              </a:r>
              <a:r>
                <a:rPr lang="en-AU" sz="1400" dirty="0">
                  <a:latin typeface="Calibri" panose="020F0502020204030204" pitchFamily="34" charset="0"/>
                  <a:cs typeface="Calibri" panose="020F0502020204030204" pitchFamily="34" charset="0"/>
                </a:rPr>
                <a:t>England</a:t>
              </a:r>
            </a:p>
          </p:txBody>
        </p:sp>
      </p:grpSp>
      <p:sp>
        <p:nvSpPr>
          <p:cNvPr id="11" name="Rounded Rectangle 10"/>
          <p:cNvSpPr/>
          <p:nvPr/>
        </p:nvSpPr>
        <p:spPr>
          <a:xfrm>
            <a:off x="2051720" y="1484784"/>
            <a:ext cx="3456384" cy="4608512"/>
          </a:xfrm>
          <a:prstGeom prst="roundRect">
            <a:avLst/>
          </a:prstGeom>
          <a:noFill/>
          <a:ln>
            <a:noFill/>
          </a:ln>
          <a:effectLst>
            <a:softEdge rad="317500"/>
          </a:effectLst>
        </p:spPr>
        <p:style>
          <a:lnRef idx="2">
            <a:schemeClr val="dk1"/>
          </a:lnRef>
          <a:fillRef idx="1">
            <a:schemeClr val="lt1"/>
          </a:fillRef>
          <a:effectRef idx="0">
            <a:schemeClr val="dk1"/>
          </a:effectRef>
          <a:fontRef idx="minor">
            <a:schemeClr val="dk1"/>
          </a:fontRef>
        </p:style>
        <p:txBody>
          <a:bodyPr rtlCol="0" anchor="ctr"/>
          <a:lstStyle/>
          <a:p>
            <a:pPr marL="285750" indent="-285750" algn="ctr">
              <a:buFont typeface="Arial" panose="020B0604020202020204" pitchFamily="34" charset="0"/>
              <a:buChar char="•"/>
            </a:pPr>
            <a:endParaRPr lang="en-AU" dirty="0"/>
          </a:p>
        </p:txBody>
      </p:sp>
      <p:sp>
        <p:nvSpPr>
          <p:cNvPr id="3" name="TextBox 2"/>
          <p:cNvSpPr txBox="1"/>
          <p:nvPr/>
        </p:nvSpPr>
        <p:spPr>
          <a:xfrm>
            <a:off x="611561" y="1884239"/>
            <a:ext cx="3312368" cy="707886"/>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Born 27 May 1815 in England</a:t>
            </a:r>
            <a:endParaRPr lang="en-AU" sz="2000" dirty="0"/>
          </a:p>
        </p:txBody>
      </p:sp>
      <p:sp>
        <p:nvSpPr>
          <p:cNvPr id="8" name="TextBox 7"/>
          <p:cNvSpPr txBox="1"/>
          <p:nvPr/>
        </p:nvSpPr>
        <p:spPr>
          <a:xfrm>
            <a:off x="611561" y="2697803"/>
            <a:ext cx="3312367" cy="1015663"/>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1839 — migrated to Australia with his wife and child </a:t>
            </a:r>
          </a:p>
        </p:txBody>
      </p:sp>
      <p:sp>
        <p:nvSpPr>
          <p:cNvPr id="9" name="TextBox 8"/>
          <p:cNvSpPr txBox="1"/>
          <p:nvPr/>
        </p:nvSpPr>
        <p:spPr>
          <a:xfrm>
            <a:off x="611561" y="3644883"/>
            <a:ext cx="3312367" cy="1015663"/>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Worked in many different jobs, but low wages did not appeal  </a:t>
            </a:r>
          </a:p>
        </p:txBody>
      </p:sp>
      <p:sp>
        <p:nvSpPr>
          <p:cNvPr id="12" name="TextBox 11"/>
          <p:cNvSpPr txBox="1"/>
          <p:nvPr/>
        </p:nvSpPr>
        <p:spPr>
          <a:xfrm>
            <a:off x="611561" y="4627588"/>
            <a:ext cx="3312367" cy="1015663"/>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Owned many businesses but went bankrupt several times</a:t>
            </a:r>
            <a:endParaRPr lang="en-AU" sz="2000" dirty="0"/>
          </a:p>
        </p:txBody>
      </p:sp>
    </p:spTree>
    <p:extLst>
      <p:ext uri="{BB962C8B-B14F-4D97-AF65-F5344CB8AC3E}">
        <p14:creationId xmlns:p14="http://schemas.microsoft.com/office/powerpoint/2010/main" val="2823763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9144000" cy="126876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Flowchart: Alternate Process 6"/>
          <p:cNvSpPr/>
          <p:nvPr/>
        </p:nvSpPr>
        <p:spPr>
          <a:xfrm>
            <a:off x="4572000" y="1340768"/>
            <a:ext cx="4104456" cy="4636801"/>
          </a:xfrm>
          <a:prstGeom prst="flowChartAlternateProcess">
            <a:avLst/>
          </a:prstGeom>
          <a:noFill/>
          <a:ln>
            <a:noFill/>
          </a:ln>
        </p:spPr>
        <p:style>
          <a:lnRef idx="1">
            <a:schemeClr val="dk1"/>
          </a:lnRef>
          <a:fillRef idx="2">
            <a:schemeClr val="dk1"/>
          </a:fillRef>
          <a:effectRef idx="1">
            <a:schemeClr val="dk1"/>
          </a:effectRef>
          <a:fontRef idx="minor">
            <a:schemeClr val="dk1"/>
          </a:fontRef>
        </p:style>
        <p:txBody>
          <a:bodyPr rtlCol="0" anchor="ctr"/>
          <a:lstStyle/>
          <a:p>
            <a:pPr marL="285750" indent="-285750" algn="ctr">
              <a:buFont typeface="Arial" panose="020B0604020202020204" pitchFamily="34" charset="0"/>
              <a:buChar char="•"/>
            </a:pPr>
            <a:endParaRPr lang="en-AU">
              <a:solidFill>
                <a:schemeClr val="dk1"/>
              </a:solidFill>
            </a:endParaRPr>
          </a:p>
        </p:txBody>
      </p:sp>
      <p:sp>
        <p:nvSpPr>
          <p:cNvPr id="6" name="Title 1"/>
          <p:cNvSpPr>
            <a:spLocks noGrp="1"/>
          </p:cNvSpPr>
          <p:nvPr>
            <p:ph type="title"/>
          </p:nvPr>
        </p:nvSpPr>
        <p:spPr>
          <a:xfrm>
            <a:off x="2483768" y="260648"/>
            <a:ext cx="4176464" cy="763528"/>
          </a:xfrm>
          <a:noFill/>
          <a:ln>
            <a:noFill/>
          </a:ln>
        </p:spPr>
        <p:style>
          <a:lnRef idx="1">
            <a:schemeClr val="accent5"/>
          </a:lnRef>
          <a:fillRef idx="2">
            <a:schemeClr val="accent5"/>
          </a:fillRef>
          <a:effectRef idx="1">
            <a:schemeClr val="accent5"/>
          </a:effectRef>
          <a:fontRef idx="minor">
            <a:schemeClr val="dk1"/>
          </a:fontRef>
        </p:style>
        <p:txBody>
          <a:bodyPr/>
          <a:lstStyle/>
          <a:p>
            <a:r>
              <a:rPr lang="en-AU" dirty="0">
                <a:solidFill>
                  <a:schemeClr val="bg1"/>
                </a:solidFill>
              </a:rPr>
              <a:t>Career</a:t>
            </a:r>
          </a:p>
        </p:txBody>
      </p:sp>
      <p:sp>
        <p:nvSpPr>
          <p:cNvPr id="10" name="TextBox 9"/>
          <p:cNvSpPr txBox="1"/>
          <p:nvPr/>
        </p:nvSpPr>
        <p:spPr>
          <a:xfrm>
            <a:off x="4713148" y="1628800"/>
            <a:ext cx="4104456" cy="1015663"/>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Parkes became a writer and a poet, and was interested in political topics.</a:t>
            </a:r>
          </a:p>
        </p:txBody>
      </p:sp>
      <p:sp>
        <p:nvSpPr>
          <p:cNvPr id="12" name="TextBox 11"/>
          <p:cNvSpPr txBox="1"/>
          <p:nvPr/>
        </p:nvSpPr>
        <p:spPr>
          <a:xfrm>
            <a:off x="4713148" y="2724200"/>
            <a:ext cx="4211086" cy="707886"/>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1850 — founded </a:t>
            </a:r>
            <a:r>
              <a:rPr lang="en-AU" sz="2000" i="1" dirty="0" smtClean="0"/>
              <a:t>The Empire </a:t>
            </a:r>
            <a:r>
              <a:rPr lang="en-AU" sz="2000" dirty="0" smtClean="0"/>
              <a:t>newspaper</a:t>
            </a:r>
            <a:endParaRPr lang="en-AU" sz="2000" dirty="0"/>
          </a:p>
        </p:txBody>
      </p:sp>
      <p:sp>
        <p:nvSpPr>
          <p:cNvPr id="2" name="TextBox 1"/>
          <p:cNvSpPr txBox="1"/>
          <p:nvPr/>
        </p:nvSpPr>
        <p:spPr>
          <a:xfrm>
            <a:off x="4713148" y="3542601"/>
            <a:ext cx="3772573" cy="707886"/>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1872 </a:t>
            </a:r>
            <a:r>
              <a:rPr lang="en-AU" sz="2000" dirty="0"/>
              <a:t>— </a:t>
            </a:r>
            <a:r>
              <a:rPr lang="en-AU" sz="2000" dirty="0" smtClean="0"/>
              <a:t>Henry Parkes became Premier of New South Wales.</a:t>
            </a:r>
            <a:endParaRPr lang="en-AU" sz="2000" dirty="0"/>
          </a:p>
        </p:txBody>
      </p:sp>
      <p:sp>
        <p:nvSpPr>
          <p:cNvPr id="3" name="TextBox 2"/>
          <p:cNvSpPr txBox="1"/>
          <p:nvPr/>
        </p:nvSpPr>
        <p:spPr>
          <a:xfrm>
            <a:off x="4713148" y="4365104"/>
            <a:ext cx="3456384" cy="707886"/>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He served five terms as Premier in his career. </a:t>
            </a:r>
            <a:endParaRPr lang="en-AU" sz="2000" dirty="0"/>
          </a:p>
        </p:txBody>
      </p:sp>
      <p:grpSp>
        <p:nvGrpSpPr>
          <p:cNvPr id="5" name="Group 4"/>
          <p:cNvGrpSpPr/>
          <p:nvPr/>
        </p:nvGrpSpPr>
        <p:grpSpPr>
          <a:xfrm>
            <a:off x="334963" y="1644611"/>
            <a:ext cx="3989259" cy="3854428"/>
            <a:chOff x="384848" y="2078145"/>
            <a:chExt cx="3989259" cy="3854428"/>
          </a:xfrm>
        </p:grpSpPr>
        <p:pic>
          <p:nvPicPr>
            <p:cNvPr id="1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t="1980" r="4469" b="4211"/>
            <a:stretch/>
          </p:blipFill>
          <p:spPr>
            <a:xfrm>
              <a:off x="384848" y="2078145"/>
              <a:ext cx="3989259" cy="3546651"/>
            </a:xfrm>
            <a:prstGeom prst="rect">
              <a:avLst/>
            </a:prstGeom>
            <a:ln>
              <a:noFill/>
            </a:ln>
            <a:effectLst>
              <a:outerShdw blurRad="292100" dist="139700" dir="2700000" algn="tl" rotWithShape="0">
                <a:srgbClr val="333333">
                  <a:alpha val="65000"/>
                </a:srgbClr>
              </a:outerShdw>
            </a:effectLst>
          </p:spPr>
        </p:pic>
        <p:sp>
          <p:nvSpPr>
            <p:cNvPr id="9" name="TextBox 8"/>
            <p:cNvSpPr txBox="1"/>
            <p:nvPr/>
          </p:nvSpPr>
          <p:spPr>
            <a:xfrm>
              <a:off x="384848" y="5624796"/>
              <a:ext cx="3989259" cy="307777"/>
            </a:xfrm>
            <a:prstGeom prst="rect">
              <a:avLst/>
            </a:prstGeom>
            <a:solidFill>
              <a:schemeClr val="bg1"/>
            </a:solidFill>
          </p:spPr>
          <p:txBody>
            <a:bodyPr wrap="square" rtlCol="0">
              <a:spAutoFit/>
            </a:bodyPr>
            <a:lstStyle/>
            <a:p>
              <a:pPr algn="ctr"/>
              <a:r>
                <a:rPr lang="en-AU" sz="1400" dirty="0" smtClean="0">
                  <a:latin typeface="Calibri" panose="020F0502020204030204" pitchFamily="34" charset="0"/>
                  <a:cs typeface="Calibri" panose="020F0502020204030204" pitchFamily="34" charset="0"/>
                </a:rPr>
                <a:t>Henry Parkes</a:t>
              </a:r>
              <a:r>
                <a:rPr lang="en-AU" sz="1400" dirty="0">
                  <a:latin typeface="Calibri" panose="020F0502020204030204" pitchFamily="34" charset="0"/>
                  <a:cs typeface="Calibri" panose="020F0502020204030204" pitchFamily="34" charset="0"/>
                </a:rPr>
                <a:t> </a:t>
              </a:r>
              <a:r>
                <a:rPr lang="en-AU" sz="1400" dirty="0" smtClean="0">
                  <a:latin typeface="Calibri" panose="020F0502020204030204" pitchFamily="34" charset="0"/>
                  <a:cs typeface="Calibri" panose="020F0502020204030204" pitchFamily="34" charset="0"/>
                </a:rPr>
                <a:t>at his desk while Premier </a:t>
              </a:r>
              <a:endParaRPr lang="en-AU" sz="14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6694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9144000" cy="126876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ounded Rectangle 3"/>
          <p:cNvSpPr/>
          <p:nvPr/>
        </p:nvSpPr>
        <p:spPr>
          <a:xfrm>
            <a:off x="2187111" y="1700808"/>
            <a:ext cx="2960954" cy="4248472"/>
          </a:xfrm>
          <a:prstGeom prst="roundRect">
            <a:avLst/>
          </a:prstGeom>
          <a:no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10" name="TextBox 9"/>
          <p:cNvSpPr txBox="1"/>
          <p:nvPr/>
        </p:nvSpPr>
        <p:spPr>
          <a:xfrm>
            <a:off x="971600" y="1601416"/>
            <a:ext cx="7200800" cy="400110"/>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1877 </a:t>
            </a:r>
            <a:r>
              <a:rPr lang="en-AU" sz="2000" dirty="0"/>
              <a:t>— </a:t>
            </a:r>
            <a:r>
              <a:rPr lang="en-AU" sz="2000" dirty="0" smtClean="0"/>
              <a:t>awarded knighthood by Queen Victoria</a:t>
            </a:r>
          </a:p>
        </p:txBody>
      </p:sp>
      <p:sp>
        <p:nvSpPr>
          <p:cNvPr id="7" name="TextBox 6"/>
          <p:cNvSpPr txBox="1"/>
          <p:nvPr/>
        </p:nvSpPr>
        <p:spPr>
          <a:xfrm>
            <a:off x="971600" y="2420888"/>
            <a:ext cx="7200800" cy="707886"/>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1889 </a:t>
            </a:r>
            <a:r>
              <a:rPr lang="en-AU" sz="2000" dirty="0"/>
              <a:t>— </a:t>
            </a:r>
            <a:r>
              <a:rPr lang="en-AU" sz="2000" dirty="0" smtClean="0"/>
              <a:t>delivered the ‘Tenterfield Oration’ calling for ‘a great national government for all Australians</a:t>
            </a:r>
            <a:endParaRPr lang="en-AU" sz="2000" dirty="0"/>
          </a:p>
        </p:txBody>
      </p:sp>
      <p:sp>
        <p:nvSpPr>
          <p:cNvPr id="9" name="TextBox 8"/>
          <p:cNvSpPr txBox="1"/>
          <p:nvPr/>
        </p:nvSpPr>
        <p:spPr>
          <a:xfrm>
            <a:off x="971600" y="1988840"/>
            <a:ext cx="7200800" cy="400110"/>
          </a:xfrm>
          <a:prstGeom prst="rect">
            <a:avLst/>
          </a:prstGeom>
          <a:noFill/>
        </p:spPr>
        <p:txBody>
          <a:bodyPr wrap="square" rtlCol="0">
            <a:spAutoFit/>
          </a:bodyPr>
          <a:lstStyle/>
          <a:p>
            <a:pPr marL="285750" indent="-285750">
              <a:buFont typeface="Wingdings" panose="05000000000000000000" pitchFamily="2" charset="2"/>
              <a:buChar char="§"/>
            </a:pPr>
            <a:r>
              <a:rPr lang="en-US" sz="2000" dirty="0" smtClean="0"/>
              <a:t>Issues of colonial life were becoming more apparent.  </a:t>
            </a:r>
            <a:endParaRPr lang="en-AU" sz="2000" dirty="0"/>
          </a:p>
        </p:txBody>
      </p:sp>
      <p:grpSp>
        <p:nvGrpSpPr>
          <p:cNvPr id="2" name="Group 1"/>
          <p:cNvGrpSpPr/>
          <p:nvPr/>
        </p:nvGrpSpPr>
        <p:grpSpPr>
          <a:xfrm>
            <a:off x="2867876" y="3210838"/>
            <a:ext cx="3408247" cy="3187516"/>
            <a:chOff x="5369606" y="3210838"/>
            <a:chExt cx="3408247" cy="3187516"/>
          </a:xfrm>
        </p:grpSpPr>
        <p:sp>
          <p:nvSpPr>
            <p:cNvPr id="6" name="TextBox 5"/>
            <p:cNvSpPr txBox="1"/>
            <p:nvPr/>
          </p:nvSpPr>
          <p:spPr>
            <a:xfrm>
              <a:off x="5369606" y="5875134"/>
              <a:ext cx="3408247" cy="523220"/>
            </a:xfrm>
            <a:prstGeom prst="rect">
              <a:avLst/>
            </a:prstGeom>
            <a:solidFill>
              <a:schemeClr val="bg1"/>
            </a:solidFill>
          </p:spPr>
          <p:txBody>
            <a:bodyPr wrap="square" rtlCol="0">
              <a:spAutoFit/>
            </a:bodyPr>
            <a:lstStyle/>
            <a:p>
              <a:pPr algn="ctr"/>
              <a:r>
                <a:rPr lang="en-AU" sz="1400" dirty="0" smtClean="0">
                  <a:latin typeface="Calibri" panose="020F0502020204030204" pitchFamily="34" charset="0"/>
                  <a:cs typeface="Calibri" panose="020F0502020204030204" pitchFamily="34" charset="0"/>
                </a:rPr>
                <a:t>The text on a plaque commemorating the Tenterfield Speech </a:t>
              </a:r>
              <a:endParaRPr lang="en-AU" sz="1400" dirty="0">
                <a:latin typeface="Calibri" panose="020F0502020204030204" pitchFamily="34" charset="0"/>
                <a:cs typeface="Calibri" panose="020F0502020204030204" pitchFamily="34" charset="0"/>
              </a:endParaRPr>
            </a:p>
          </p:txBody>
        </p:sp>
        <p:sp>
          <p:nvSpPr>
            <p:cNvPr id="13" name="Text Box 2"/>
            <p:cNvSpPr txBox="1">
              <a:spLocks noChangeArrowheads="1"/>
            </p:cNvSpPr>
            <p:nvPr/>
          </p:nvSpPr>
          <p:spPr bwMode="auto">
            <a:xfrm>
              <a:off x="5369607" y="3210838"/>
              <a:ext cx="3408246" cy="2664296"/>
            </a:xfrm>
            <a:prstGeom prst="rect">
              <a:avLst/>
            </a:prstGeom>
            <a:solidFill>
              <a:srgbClr val="FFFFFF"/>
            </a:solidFill>
            <a:ln w="38100">
              <a:solidFill>
                <a:srgbClr val="1F497D"/>
              </a:solidFill>
              <a:miter lim="800000"/>
              <a:headEnd/>
              <a:tailEnd/>
            </a:ln>
          </p:spPr>
          <p:txBody>
            <a:bodyPr rot="0" vert="horz" wrap="square" lIns="91440" tIns="45720" rIns="91440" bIns="45720" anchor="t" anchorCtr="0">
              <a:noAutofit/>
            </a:bodyPr>
            <a:lstStyle/>
            <a:p>
              <a:pPr algn="ctr">
                <a:lnSpc>
                  <a:spcPts val="1300"/>
                </a:lnSpc>
                <a:spcAft>
                  <a:spcPts val="200"/>
                </a:spcAft>
              </a:pPr>
              <a:r>
                <a:rPr lang="en-AU" sz="900" dirty="0">
                  <a:effectLst/>
                  <a:latin typeface="Garamond" panose="02020404030301010803" pitchFamily="18" charset="0"/>
                  <a:ea typeface="SimSun"/>
                  <a:cs typeface="Times New Roman"/>
                </a:rPr>
                <a:t>THIS TABLET WAS UNVEILED </a:t>
              </a:r>
              <a:r>
                <a:rPr lang="en-AU" sz="900" dirty="0" smtClean="0">
                  <a:effectLst/>
                  <a:latin typeface="Garamond" panose="02020404030301010803" pitchFamily="18" charset="0"/>
                  <a:ea typeface="SimSun"/>
                  <a:cs typeface="Times New Roman"/>
                </a:rPr>
                <a:t>BY</a:t>
              </a:r>
            </a:p>
            <a:p>
              <a:pPr algn="ctr">
                <a:lnSpc>
                  <a:spcPts val="1400"/>
                </a:lnSpc>
              </a:pPr>
              <a:r>
                <a:rPr lang="en-AU" sz="1400" dirty="0" smtClean="0">
                  <a:effectLst/>
                  <a:latin typeface="Gloucester MT Extra Condensed" panose="02030808020601010101" pitchFamily="18" charset="0"/>
                  <a:ea typeface="SimSun"/>
                  <a:cs typeface="Times New Roman"/>
                </a:rPr>
                <a:t>HIS </a:t>
              </a:r>
              <a:r>
                <a:rPr lang="en-AU" sz="1400" dirty="0">
                  <a:effectLst/>
                  <a:latin typeface="Gloucester MT Extra Condensed" panose="02030808020601010101" pitchFamily="18" charset="0"/>
                  <a:ea typeface="SimSun"/>
                  <a:cs typeface="Times New Roman"/>
                </a:rPr>
                <a:t>ROYAL HIGHNESS THE DUKE OF </a:t>
              </a:r>
              <a:r>
                <a:rPr lang="en-AU" sz="1400" dirty="0" smtClean="0">
                  <a:effectLst/>
                  <a:latin typeface="Gloucester MT Extra Condensed" panose="02030808020601010101" pitchFamily="18" charset="0"/>
                  <a:ea typeface="SimSun"/>
                  <a:cs typeface="Times New Roman"/>
                </a:rPr>
                <a:t>GLOUCESTER</a:t>
              </a:r>
            </a:p>
            <a:p>
              <a:pPr algn="ctr">
                <a:lnSpc>
                  <a:spcPts val="1300"/>
                </a:lnSpc>
              </a:pPr>
              <a:r>
                <a:rPr lang="en-AU" sz="800" dirty="0" smtClean="0">
                  <a:effectLst/>
                  <a:latin typeface="Garamond" panose="02020404030301010803" pitchFamily="18" charset="0"/>
                  <a:ea typeface="SimSun"/>
                  <a:cs typeface="Times New Roman"/>
                </a:rPr>
                <a:t>K.G.,   K.T.,   K.P.</a:t>
              </a:r>
              <a:endParaRPr lang="en-AU" sz="800" dirty="0">
                <a:effectLst/>
                <a:latin typeface="Garamond" panose="02020404030301010803" pitchFamily="18" charset="0"/>
                <a:ea typeface="SimSun"/>
                <a:cs typeface="Times New Roman"/>
              </a:endParaRPr>
            </a:p>
            <a:p>
              <a:pPr algn="ctr">
                <a:lnSpc>
                  <a:spcPts val="1300"/>
                </a:lnSpc>
              </a:pPr>
              <a:r>
                <a:rPr lang="en-AU" sz="1000" dirty="0">
                  <a:effectLst/>
                  <a:latin typeface="Garamond" panose="02020404030301010803" pitchFamily="18" charset="0"/>
                  <a:ea typeface="SimSun"/>
                  <a:cs typeface="Times New Roman"/>
                </a:rPr>
                <a:t>GOVERNOR-GENERAL AND </a:t>
              </a:r>
              <a:r>
                <a:rPr lang="en-AU" sz="1000" dirty="0" smtClean="0">
                  <a:effectLst/>
                  <a:latin typeface="Garamond" panose="02020404030301010803" pitchFamily="18" charset="0"/>
                  <a:ea typeface="SimSun"/>
                  <a:cs typeface="Times New Roman"/>
                </a:rPr>
                <a:t>COMMANDER-IN-CHIEF</a:t>
              </a:r>
              <a:br>
                <a:rPr lang="en-AU" sz="1000" dirty="0" smtClean="0">
                  <a:effectLst/>
                  <a:latin typeface="Garamond" panose="02020404030301010803" pitchFamily="18" charset="0"/>
                  <a:ea typeface="SimSun"/>
                  <a:cs typeface="Times New Roman"/>
                </a:rPr>
              </a:br>
              <a:r>
                <a:rPr lang="en-AU" sz="1000" dirty="0" smtClean="0">
                  <a:effectLst/>
                  <a:latin typeface="Garamond" panose="02020404030301010803" pitchFamily="18" charset="0"/>
                  <a:ea typeface="SimSun"/>
                  <a:cs typeface="Times New Roman"/>
                </a:rPr>
                <a:t>OF </a:t>
              </a:r>
              <a:r>
                <a:rPr lang="en-AU" sz="1000" dirty="0">
                  <a:effectLst/>
                  <a:latin typeface="Garamond" panose="02020404030301010803" pitchFamily="18" charset="0"/>
                  <a:ea typeface="SimSun"/>
                  <a:cs typeface="Times New Roman"/>
                </a:rPr>
                <a:t>THE COMMONWEALTH OF AUSTRALIA</a:t>
              </a:r>
            </a:p>
            <a:p>
              <a:pPr algn="ctr">
                <a:lnSpc>
                  <a:spcPts val="1300"/>
                </a:lnSpc>
              </a:pPr>
              <a:r>
                <a:rPr lang="en-AU" sz="1000" dirty="0">
                  <a:effectLst/>
                  <a:latin typeface="Garamond" panose="02020404030301010803" pitchFamily="18" charset="0"/>
                  <a:ea typeface="SimSun"/>
                  <a:cs typeface="Times New Roman"/>
                </a:rPr>
                <a:t>ON THE 17</a:t>
              </a:r>
              <a:r>
                <a:rPr lang="en-AU" sz="1000" baseline="30000" dirty="0">
                  <a:effectLst/>
                  <a:latin typeface="Garamond" panose="02020404030301010803" pitchFamily="18" charset="0"/>
                  <a:ea typeface="SimSun"/>
                  <a:cs typeface="Times New Roman"/>
                </a:rPr>
                <a:t>TH</a:t>
              </a:r>
              <a:r>
                <a:rPr lang="en-AU" sz="1000" dirty="0">
                  <a:effectLst/>
                  <a:latin typeface="Garamond" panose="02020404030301010803" pitchFamily="18" charset="0"/>
                  <a:ea typeface="SimSun"/>
                  <a:cs typeface="Times New Roman"/>
                </a:rPr>
                <a:t> OCTOBER, </a:t>
              </a:r>
              <a:r>
                <a:rPr lang="en-AU" sz="1000" dirty="0" smtClean="0">
                  <a:effectLst/>
                  <a:latin typeface="Garamond" panose="02020404030301010803" pitchFamily="18" charset="0"/>
                  <a:ea typeface="SimSun"/>
                  <a:cs typeface="Times New Roman"/>
                </a:rPr>
                <a:t>1946</a:t>
              </a:r>
            </a:p>
            <a:p>
              <a:pPr algn="ctr">
                <a:lnSpc>
                  <a:spcPts val="1300"/>
                </a:lnSpc>
              </a:pPr>
              <a:r>
                <a:rPr lang="en-AU" sz="1000" dirty="0" smtClean="0">
                  <a:effectLst/>
                  <a:latin typeface="Garamond" panose="02020404030301010803" pitchFamily="18" charset="0"/>
                  <a:ea typeface="SimSun"/>
                  <a:cs typeface="Times New Roman"/>
                </a:rPr>
                <a:t>TO </a:t>
              </a:r>
              <a:r>
                <a:rPr lang="en-AU" sz="1000" dirty="0">
                  <a:effectLst/>
                  <a:latin typeface="Garamond" panose="02020404030301010803" pitchFamily="18" charset="0"/>
                  <a:ea typeface="SimSun"/>
                  <a:cs typeface="Times New Roman"/>
                </a:rPr>
                <a:t>COMMEMORATE THAT ON 24</a:t>
              </a:r>
              <a:r>
                <a:rPr lang="en-AU" sz="1000" baseline="30000" dirty="0">
                  <a:effectLst/>
                  <a:latin typeface="Garamond" panose="02020404030301010803" pitchFamily="18" charset="0"/>
                  <a:ea typeface="SimSun"/>
                  <a:cs typeface="Times New Roman"/>
                </a:rPr>
                <a:t>TH</a:t>
              </a:r>
              <a:r>
                <a:rPr lang="en-AU" sz="1000" dirty="0">
                  <a:effectLst/>
                  <a:latin typeface="Garamond" panose="02020404030301010803" pitchFamily="18" charset="0"/>
                  <a:ea typeface="SimSun"/>
                  <a:cs typeface="Times New Roman"/>
                </a:rPr>
                <a:t> OCTOBER, 1889</a:t>
              </a:r>
            </a:p>
            <a:p>
              <a:pPr algn="ctr">
                <a:lnSpc>
                  <a:spcPts val="1800"/>
                </a:lnSpc>
              </a:pPr>
              <a:r>
                <a:rPr lang="en-AU" sz="1400" dirty="0">
                  <a:effectLst/>
                  <a:latin typeface="Gloucester MT Extra Condensed" panose="02030808020601010101" pitchFamily="18" charset="0"/>
                  <a:ea typeface="SimSun"/>
                  <a:cs typeface="Times New Roman"/>
                </a:rPr>
                <a:t>SIR HENRY </a:t>
              </a:r>
              <a:r>
                <a:rPr lang="en-AU" sz="1400" dirty="0" smtClean="0">
                  <a:effectLst/>
                  <a:latin typeface="Gloucester MT Extra Condensed" panose="02030808020601010101" pitchFamily="18" charset="0"/>
                  <a:ea typeface="SimSun"/>
                  <a:cs typeface="Times New Roman"/>
                </a:rPr>
                <a:t>PARKES</a:t>
              </a:r>
            </a:p>
            <a:p>
              <a:pPr algn="ctr">
                <a:lnSpc>
                  <a:spcPts val="1300"/>
                </a:lnSpc>
              </a:pPr>
              <a:r>
                <a:rPr lang="en-AU" sz="1000" dirty="0" smtClean="0">
                  <a:effectLst/>
                  <a:latin typeface="Garamond" panose="02020404030301010803" pitchFamily="18" charset="0"/>
                  <a:ea typeface="SimSun"/>
                  <a:cs typeface="Times New Roman"/>
                </a:rPr>
                <a:t>IN </a:t>
              </a:r>
              <a:r>
                <a:rPr lang="en-AU" sz="1000" dirty="0">
                  <a:effectLst/>
                  <a:latin typeface="Garamond" panose="02020404030301010803" pitchFamily="18" charset="0"/>
                  <a:ea typeface="SimSun"/>
                  <a:cs typeface="Times New Roman"/>
                </a:rPr>
                <a:t>THIS HALL DELIVERED </a:t>
              </a:r>
              <a:r>
                <a:rPr lang="en-AU" sz="1000" dirty="0" smtClean="0">
                  <a:latin typeface="Garamond" panose="02020404030301010803" pitchFamily="18" charset="0"/>
                  <a:ea typeface="SimSun"/>
                  <a:cs typeface="Times New Roman"/>
                </a:rPr>
                <a:t>HIS</a:t>
              </a:r>
            </a:p>
            <a:p>
              <a:pPr algn="ctr">
                <a:lnSpc>
                  <a:spcPts val="1800"/>
                </a:lnSpc>
              </a:pPr>
              <a:r>
                <a:rPr lang="en-AU" sz="1400" dirty="0" smtClean="0">
                  <a:effectLst/>
                  <a:latin typeface="Gloucester MT Extra Condensed" panose="02030808020601010101" pitchFamily="18" charset="0"/>
                  <a:ea typeface="SimSun"/>
                  <a:cs typeface="Times New Roman"/>
                </a:rPr>
                <a:t>FAMOUS </a:t>
              </a:r>
              <a:r>
                <a:rPr lang="en-AU" sz="1400" dirty="0">
                  <a:effectLst/>
                  <a:latin typeface="Gloucester MT Extra Condensed" panose="02030808020601010101" pitchFamily="18" charset="0"/>
                  <a:ea typeface="SimSun"/>
                  <a:cs typeface="Times New Roman"/>
                </a:rPr>
                <a:t>TENTERFIELD </a:t>
              </a:r>
              <a:r>
                <a:rPr lang="en-AU" sz="1400" dirty="0" smtClean="0">
                  <a:effectLst/>
                  <a:latin typeface="Gloucester MT Extra Condensed" panose="02030808020601010101" pitchFamily="18" charset="0"/>
                  <a:ea typeface="SimSun"/>
                  <a:cs typeface="Times New Roman"/>
                </a:rPr>
                <a:t>SPEECH</a:t>
              </a:r>
            </a:p>
            <a:p>
              <a:pPr algn="ctr">
                <a:lnSpc>
                  <a:spcPts val="1300"/>
                </a:lnSpc>
              </a:pPr>
              <a:r>
                <a:rPr lang="en-AU" sz="1000" dirty="0" smtClean="0">
                  <a:effectLst/>
                  <a:latin typeface="Garamond" panose="02020404030301010803" pitchFamily="18" charset="0"/>
                  <a:ea typeface="SimSun"/>
                  <a:cs typeface="Times New Roman"/>
                </a:rPr>
                <a:t>WHICH </a:t>
              </a:r>
              <a:r>
                <a:rPr lang="en-AU" sz="1000" dirty="0">
                  <a:effectLst/>
                  <a:latin typeface="Garamond" panose="02020404030301010803" pitchFamily="18" charset="0"/>
                  <a:ea typeface="SimSun"/>
                  <a:cs typeface="Times New Roman"/>
                </a:rPr>
                <a:t>SET IN MOTION THE POPULAR </a:t>
              </a:r>
              <a:endParaRPr lang="en-AU" sz="1000" dirty="0" smtClean="0">
                <a:effectLst/>
                <a:latin typeface="Garamond" panose="02020404030301010803" pitchFamily="18" charset="0"/>
                <a:ea typeface="SimSun"/>
                <a:cs typeface="Times New Roman"/>
              </a:endParaRPr>
            </a:p>
            <a:p>
              <a:pPr algn="ctr">
                <a:lnSpc>
                  <a:spcPts val="1300"/>
                </a:lnSpc>
              </a:pPr>
              <a:r>
                <a:rPr lang="en-AU" sz="1000" dirty="0" smtClean="0">
                  <a:effectLst/>
                  <a:latin typeface="Garamond" panose="02020404030301010803" pitchFamily="18" charset="0"/>
                  <a:ea typeface="SimSun"/>
                  <a:cs typeface="Times New Roman"/>
                </a:rPr>
                <a:t>MOVEMENT </a:t>
              </a:r>
              <a:r>
                <a:rPr lang="en-AU" sz="1000" dirty="0">
                  <a:effectLst/>
                  <a:latin typeface="Garamond" panose="02020404030301010803" pitchFamily="18" charset="0"/>
                  <a:ea typeface="SimSun"/>
                  <a:cs typeface="Times New Roman"/>
                </a:rPr>
                <a:t>RESULTING IN </a:t>
              </a:r>
              <a:endParaRPr lang="en-AU" sz="1000" dirty="0" smtClean="0">
                <a:effectLst/>
                <a:latin typeface="Garamond" panose="02020404030301010803" pitchFamily="18" charset="0"/>
                <a:ea typeface="SimSun"/>
                <a:cs typeface="Times New Roman"/>
              </a:endParaRPr>
            </a:p>
            <a:p>
              <a:pPr algn="ctr">
                <a:lnSpc>
                  <a:spcPts val="1800"/>
                </a:lnSpc>
              </a:pPr>
              <a:r>
                <a:rPr lang="en-AU" sz="1400" dirty="0" smtClean="0">
                  <a:latin typeface="Gloucester MT Extra Condensed" panose="02030808020601010101" pitchFamily="18" charset="0"/>
                  <a:ea typeface="SimSun"/>
                  <a:cs typeface="Times New Roman"/>
                </a:rPr>
                <a:t>AUSTRALIAN FEDERATION</a:t>
              </a:r>
            </a:p>
            <a:p>
              <a:pPr algn="ctr">
                <a:lnSpc>
                  <a:spcPts val="1300"/>
                </a:lnSpc>
              </a:pPr>
              <a:r>
                <a:rPr lang="en-AU" sz="1000" dirty="0" smtClean="0">
                  <a:effectLst/>
                  <a:latin typeface="Garamond" panose="02020404030301010803" pitchFamily="18" charset="0"/>
                  <a:ea typeface="SimSun"/>
                  <a:cs typeface="Times New Roman"/>
                </a:rPr>
                <a:t>1</a:t>
              </a:r>
              <a:r>
                <a:rPr lang="en-AU" sz="1000" baseline="30000" dirty="0" smtClean="0">
                  <a:effectLst/>
                  <a:latin typeface="Garamond" panose="02020404030301010803" pitchFamily="18" charset="0"/>
                  <a:ea typeface="SimSun"/>
                  <a:cs typeface="Times New Roman"/>
                </a:rPr>
                <a:t>ST</a:t>
              </a:r>
              <a:r>
                <a:rPr lang="en-AU" sz="1000" dirty="0" smtClean="0">
                  <a:effectLst/>
                  <a:latin typeface="Garamond" panose="02020404030301010803" pitchFamily="18" charset="0"/>
                  <a:ea typeface="SimSun"/>
                  <a:cs typeface="Times New Roman"/>
                </a:rPr>
                <a:t> </a:t>
              </a:r>
              <a:r>
                <a:rPr lang="en-AU" sz="1000" dirty="0">
                  <a:effectLst/>
                  <a:latin typeface="Garamond" panose="02020404030301010803" pitchFamily="18" charset="0"/>
                  <a:ea typeface="SimSun"/>
                  <a:cs typeface="Times New Roman"/>
                </a:rPr>
                <a:t>JANUARY 1901</a:t>
              </a:r>
            </a:p>
            <a:p>
              <a:pPr>
                <a:lnSpc>
                  <a:spcPct val="115000"/>
                </a:lnSpc>
                <a:spcAft>
                  <a:spcPts val="1000"/>
                </a:spcAft>
              </a:pPr>
              <a:r>
                <a:rPr lang="en-AU" sz="1100" dirty="0">
                  <a:effectLst/>
                  <a:latin typeface="Charlemagne Std" panose="04020705060702020204" pitchFamily="82" charset="0"/>
                  <a:ea typeface="SimSun"/>
                  <a:cs typeface="Times New Roman"/>
                </a:rPr>
                <a:t>  </a:t>
              </a:r>
            </a:p>
            <a:p>
              <a:pPr>
                <a:lnSpc>
                  <a:spcPct val="115000"/>
                </a:lnSpc>
                <a:spcAft>
                  <a:spcPts val="1000"/>
                </a:spcAft>
              </a:pPr>
              <a:r>
                <a:rPr lang="en-AU" sz="1100" dirty="0">
                  <a:effectLst/>
                  <a:latin typeface="Calibri"/>
                  <a:ea typeface="SimSun"/>
                  <a:cs typeface="Times New Roman"/>
                </a:rPr>
                <a:t> </a:t>
              </a:r>
            </a:p>
          </p:txBody>
        </p:sp>
      </p:grpSp>
      <p:sp>
        <p:nvSpPr>
          <p:cNvPr id="16" name="Title 1"/>
          <p:cNvSpPr txBox="1">
            <a:spLocks/>
          </p:cNvSpPr>
          <p:nvPr/>
        </p:nvSpPr>
        <p:spPr>
          <a:xfrm>
            <a:off x="-108520" y="332656"/>
            <a:ext cx="9252520" cy="763528"/>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a:lstStyle>
            <a:lvl1pPr algn="ctr">
              <a:spcBef>
                <a:spcPct val="0"/>
              </a:spcBef>
              <a:buNone/>
              <a:defRPr sz="4400">
                <a:solidFill>
                  <a:schemeClr val="bg1"/>
                </a:solidFill>
              </a:defRPr>
            </a:lvl1pPr>
          </a:lstStyle>
          <a:p>
            <a:r>
              <a:rPr lang="en-AU" dirty="0"/>
              <a:t>Career highlights</a:t>
            </a:r>
          </a:p>
        </p:txBody>
      </p:sp>
    </p:spTree>
    <p:extLst>
      <p:ext uri="{BB962C8B-B14F-4D97-AF65-F5344CB8AC3E}">
        <p14:creationId xmlns:p14="http://schemas.microsoft.com/office/powerpoint/2010/main" val="395311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anim calcmode="lin" valueType="num">
                                      <p:cBhvr>
                                        <p:cTn id="26" dur="1000" fill="hold"/>
                                        <p:tgtEl>
                                          <p:spTgt spid="2"/>
                                        </p:tgtEl>
                                        <p:attrNameLst>
                                          <p:attrName>ppt_x</p:attrName>
                                        </p:attrNameLst>
                                      </p:cBhvr>
                                      <p:tavLst>
                                        <p:tav tm="0">
                                          <p:val>
                                            <p:strVal val="#ppt_x"/>
                                          </p:val>
                                        </p:tav>
                                        <p:tav tm="100000">
                                          <p:val>
                                            <p:strVal val="#ppt_x"/>
                                          </p:val>
                                        </p:tav>
                                      </p:tavLst>
                                    </p:anim>
                                    <p:anim calcmode="lin" valueType="num">
                                      <p:cBhvr>
                                        <p:cTn id="2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9144000" cy="126876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p:cNvSpPr txBox="1"/>
          <p:nvPr/>
        </p:nvSpPr>
        <p:spPr>
          <a:xfrm>
            <a:off x="484703" y="5693369"/>
            <a:ext cx="4916580" cy="523220"/>
          </a:xfrm>
          <a:prstGeom prst="rect">
            <a:avLst/>
          </a:prstGeom>
          <a:solidFill>
            <a:schemeClr val="bg1"/>
          </a:solidFill>
        </p:spPr>
        <p:txBody>
          <a:bodyPr wrap="square" rtlCol="0">
            <a:spAutoFit/>
          </a:bodyPr>
          <a:lstStyle/>
          <a:p>
            <a:pPr algn="ctr"/>
            <a:r>
              <a:rPr lang="en-AU" sz="1400" dirty="0" smtClean="0">
                <a:latin typeface="Calibri" panose="020F0502020204030204" pitchFamily="34" charset="0"/>
                <a:cs typeface="Calibri" panose="020F0502020204030204" pitchFamily="34" charset="0"/>
              </a:rPr>
              <a:t>Henry Parkes with the Members of the Australasian Federation Conference, 1890 </a:t>
            </a:r>
            <a:endParaRPr lang="en-AU" sz="1400" dirty="0">
              <a:latin typeface="Calibri" panose="020F0502020204030204" pitchFamily="34" charset="0"/>
              <a:cs typeface="Calibri" panose="020F0502020204030204" pitchFamily="34" charset="0"/>
            </a:endParaRPr>
          </a:p>
        </p:txBody>
      </p:sp>
      <p:sp>
        <p:nvSpPr>
          <p:cNvPr id="7" name="Title 1"/>
          <p:cNvSpPr txBox="1">
            <a:spLocks/>
          </p:cNvSpPr>
          <p:nvPr/>
        </p:nvSpPr>
        <p:spPr>
          <a:xfrm>
            <a:off x="-108520" y="332656"/>
            <a:ext cx="9252520" cy="763528"/>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a:lstStyle>
            <a:lvl1pPr algn="ctr">
              <a:spcBef>
                <a:spcPct val="0"/>
              </a:spcBef>
              <a:buNone/>
              <a:defRPr sz="4400">
                <a:solidFill>
                  <a:schemeClr val="bg1"/>
                </a:solidFill>
              </a:defRPr>
            </a:lvl1pPr>
          </a:lstStyle>
          <a:p>
            <a:r>
              <a:rPr lang="en-AU" dirty="0"/>
              <a:t>Career highlights</a:t>
            </a:r>
          </a:p>
        </p:txBody>
      </p:sp>
      <p:sp>
        <p:nvSpPr>
          <p:cNvPr id="9" name="TextBox 8"/>
          <p:cNvSpPr txBox="1"/>
          <p:nvPr/>
        </p:nvSpPr>
        <p:spPr>
          <a:xfrm>
            <a:off x="5401283" y="1844824"/>
            <a:ext cx="3563205" cy="707886"/>
          </a:xfrm>
          <a:prstGeom prst="rect">
            <a:avLst/>
          </a:prstGeom>
          <a:noFill/>
        </p:spPr>
        <p:txBody>
          <a:bodyPr wrap="square" rtlCol="0">
            <a:spAutoFit/>
          </a:bodyPr>
          <a:lstStyle/>
          <a:p>
            <a:pPr defTabSz="612000"/>
            <a:r>
              <a:rPr lang="en-US" sz="2000" dirty="0" smtClean="0"/>
              <a:t>1890 </a:t>
            </a:r>
            <a:r>
              <a:rPr lang="en-AU" sz="2000" dirty="0" smtClean="0"/>
              <a:t>— </a:t>
            </a:r>
            <a:r>
              <a:rPr lang="en-US" sz="2000" dirty="0" smtClean="0"/>
              <a:t>Australasian Federation</a:t>
            </a:r>
            <a:br>
              <a:rPr lang="en-US" sz="2000" dirty="0" smtClean="0"/>
            </a:br>
            <a:r>
              <a:rPr lang="en-US" sz="2000" dirty="0" smtClean="0"/>
              <a:t>Conference held in Melbourne</a:t>
            </a:r>
            <a:endParaRPr lang="en-AU" sz="2000" dirty="0"/>
          </a:p>
        </p:txBody>
      </p:sp>
      <p:sp>
        <p:nvSpPr>
          <p:cNvPr id="10" name="TextBox 9"/>
          <p:cNvSpPr txBox="1"/>
          <p:nvPr/>
        </p:nvSpPr>
        <p:spPr>
          <a:xfrm>
            <a:off x="5401283" y="3080389"/>
            <a:ext cx="3563205" cy="1015663"/>
          </a:xfrm>
          <a:prstGeom prst="rect">
            <a:avLst/>
          </a:prstGeom>
          <a:noFill/>
        </p:spPr>
        <p:txBody>
          <a:bodyPr wrap="square" rtlCol="0">
            <a:spAutoFit/>
          </a:bodyPr>
          <a:lstStyle/>
          <a:p>
            <a:pPr defTabSz="612000"/>
            <a:r>
              <a:rPr lang="en-US" sz="2000" dirty="0" smtClean="0"/>
              <a:t>1891</a:t>
            </a:r>
            <a:r>
              <a:rPr lang="en-AU" sz="2000" dirty="0"/>
              <a:t> </a:t>
            </a:r>
            <a:r>
              <a:rPr lang="en-AU" sz="2000" dirty="0" smtClean="0"/>
              <a:t>— </a:t>
            </a:r>
            <a:r>
              <a:rPr lang="en-US" sz="2000" dirty="0" smtClean="0"/>
              <a:t>draft constitution written at the Australasian Federation Convention, Sydney</a:t>
            </a:r>
            <a:endParaRPr lang="en-AU" sz="2000" dirty="0"/>
          </a:p>
        </p:txBody>
      </p:sp>
      <p:sp>
        <p:nvSpPr>
          <p:cNvPr id="11" name="TextBox 10"/>
          <p:cNvSpPr txBox="1"/>
          <p:nvPr/>
        </p:nvSpPr>
        <p:spPr>
          <a:xfrm>
            <a:off x="5401283" y="4516307"/>
            <a:ext cx="3563205" cy="1015663"/>
          </a:xfrm>
          <a:prstGeom prst="rect">
            <a:avLst/>
          </a:prstGeom>
          <a:noFill/>
        </p:spPr>
        <p:txBody>
          <a:bodyPr wrap="square" rtlCol="0">
            <a:spAutoFit/>
          </a:bodyPr>
          <a:lstStyle/>
          <a:p>
            <a:pPr defTabSz="612000"/>
            <a:r>
              <a:rPr lang="en-US" sz="2000" dirty="0" smtClean="0"/>
              <a:t>1893 </a:t>
            </a:r>
            <a:r>
              <a:rPr lang="en-AU" sz="2000" dirty="0" smtClean="0"/>
              <a:t>— </a:t>
            </a:r>
            <a:r>
              <a:rPr lang="en-US" sz="2000" dirty="0" smtClean="0"/>
              <a:t>Sir Henry Parkes unable to attend Corowa Conference due to illness</a:t>
            </a:r>
            <a:endParaRPr lang="en-AU" sz="2000"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r="367" b="14468"/>
          <a:stretch/>
        </p:blipFill>
        <p:spPr>
          <a:xfrm>
            <a:off x="484703" y="1697731"/>
            <a:ext cx="4916580" cy="3995638"/>
          </a:xfrm>
          <a:prstGeom prst="rect">
            <a:avLst/>
          </a:prstGeom>
        </p:spPr>
      </p:pic>
    </p:spTree>
    <p:extLst>
      <p:ext uri="{BB962C8B-B14F-4D97-AF65-F5344CB8AC3E}">
        <p14:creationId xmlns:p14="http://schemas.microsoft.com/office/powerpoint/2010/main" val="263575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9144000" cy="126876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itle 1"/>
          <p:cNvSpPr txBox="1">
            <a:spLocks/>
          </p:cNvSpPr>
          <p:nvPr/>
        </p:nvSpPr>
        <p:spPr>
          <a:xfrm>
            <a:off x="0" y="332656"/>
            <a:ext cx="9144000" cy="763528"/>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a:lstStyle>
            <a:lvl1pPr algn="ctr">
              <a:spcBef>
                <a:spcPct val="0"/>
              </a:spcBef>
              <a:buNone/>
              <a:defRPr sz="4400">
                <a:solidFill>
                  <a:schemeClr val="bg1"/>
                </a:solidFill>
              </a:defRPr>
            </a:lvl1pPr>
          </a:lstStyle>
          <a:p>
            <a:r>
              <a:rPr lang="en-AU" dirty="0"/>
              <a:t>‘Father of Federation’ </a:t>
            </a:r>
          </a:p>
        </p:txBody>
      </p:sp>
      <p:grpSp>
        <p:nvGrpSpPr>
          <p:cNvPr id="2" name="Group 1"/>
          <p:cNvGrpSpPr/>
          <p:nvPr/>
        </p:nvGrpSpPr>
        <p:grpSpPr>
          <a:xfrm>
            <a:off x="4427984" y="1594832"/>
            <a:ext cx="3744416" cy="2759239"/>
            <a:chOff x="3967082" y="1700808"/>
            <a:chExt cx="4585825" cy="3525208"/>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7082" y="1700808"/>
              <a:ext cx="4585825" cy="31683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p:cNvSpPr txBox="1"/>
            <p:nvPr/>
          </p:nvSpPr>
          <p:spPr>
            <a:xfrm>
              <a:off x="3967082" y="4872122"/>
              <a:ext cx="4585825" cy="353894"/>
            </a:xfrm>
            <a:prstGeom prst="rect">
              <a:avLst/>
            </a:prstGeom>
            <a:solidFill>
              <a:schemeClr val="bg1"/>
            </a:solidFill>
          </p:spPr>
          <p:txBody>
            <a:bodyPr wrap="square" rtlCol="0">
              <a:spAutoFit/>
            </a:bodyPr>
            <a:lstStyle/>
            <a:p>
              <a:pPr algn="ctr"/>
              <a:r>
                <a:rPr lang="en-AU" sz="1200" dirty="0" smtClean="0">
                  <a:latin typeface="Calibri" panose="020F0502020204030204" pitchFamily="34" charset="0"/>
                  <a:cs typeface="Calibri" panose="020F0502020204030204" pitchFamily="34" charset="0"/>
                </a:rPr>
                <a:t>Sir Henry Parkes’s funeral</a:t>
              </a:r>
              <a:endParaRPr lang="en-AU" sz="1200" dirty="0">
                <a:latin typeface="Calibri" panose="020F0502020204030204" pitchFamily="34" charset="0"/>
                <a:cs typeface="Calibri" panose="020F0502020204030204" pitchFamily="34" charset="0"/>
              </a:endParaRPr>
            </a:p>
          </p:txBody>
        </p:sp>
      </p:grpSp>
      <p:sp>
        <p:nvSpPr>
          <p:cNvPr id="10" name="TextBox 9"/>
          <p:cNvSpPr txBox="1"/>
          <p:nvPr/>
        </p:nvSpPr>
        <p:spPr>
          <a:xfrm>
            <a:off x="611560" y="1567339"/>
            <a:ext cx="3600400" cy="400110"/>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Died 27 April, 1896</a:t>
            </a:r>
            <a:endParaRPr lang="en-AU" sz="2000" dirty="0"/>
          </a:p>
        </p:txBody>
      </p:sp>
      <p:sp>
        <p:nvSpPr>
          <p:cNvPr id="11" name="TextBox 10"/>
          <p:cNvSpPr txBox="1"/>
          <p:nvPr/>
        </p:nvSpPr>
        <p:spPr>
          <a:xfrm>
            <a:off x="611560" y="2348880"/>
            <a:ext cx="3600400" cy="707886"/>
          </a:xfrm>
          <a:prstGeom prst="rect">
            <a:avLst/>
          </a:prstGeom>
          <a:noFill/>
        </p:spPr>
        <p:txBody>
          <a:bodyPr wrap="square" rtlCol="0">
            <a:spAutoFit/>
          </a:bodyPr>
          <a:lstStyle/>
          <a:p>
            <a:pPr marL="285750" indent="-285750">
              <a:buFont typeface="Wingdings" panose="05000000000000000000" pitchFamily="2" charset="2"/>
              <a:buChar char="§"/>
            </a:pPr>
            <a:r>
              <a:rPr lang="en-AU" sz="2000" dirty="0" smtClean="0"/>
              <a:t>Federation achieved four years after his death</a:t>
            </a:r>
            <a:endParaRPr lang="en-AU" sz="2000" dirty="0"/>
          </a:p>
        </p:txBody>
      </p:sp>
      <p:sp>
        <p:nvSpPr>
          <p:cNvPr id="12" name="TextBox 11"/>
          <p:cNvSpPr txBox="1"/>
          <p:nvPr/>
        </p:nvSpPr>
        <p:spPr>
          <a:xfrm>
            <a:off x="611562" y="3356992"/>
            <a:ext cx="3600399" cy="1323439"/>
          </a:xfrm>
          <a:prstGeom prst="rect">
            <a:avLst/>
          </a:prstGeom>
          <a:noFill/>
        </p:spPr>
        <p:txBody>
          <a:bodyPr wrap="square" rtlCol="0">
            <a:spAutoFit/>
          </a:bodyPr>
          <a:lstStyle/>
          <a:p>
            <a:pPr marL="285750" indent="-285750">
              <a:buFont typeface="Wingdings" panose="05000000000000000000" pitchFamily="2" charset="2"/>
              <a:buChar char="§"/>
            </a:pPr>
            <a:r>
              <a:rPr lang="en-US" sz="2000" dirty="0" smtClean="0"/>
              <a:t>Termed the ‘Father of Federation’ for his significant contribution in leading Australia towards Federation</a:t>
            </a:r>
            <a:endParaRPr lang="en-AU" sz="2000" dirty="0"/>
          </a:p>
        </p:txBody>
      </p:sp>
      <p:sp>
        <p:nvSpPr>
          <p:cNvPr id="13" name="TextBox 12"/>
          <p:cNvSpPr txBox="1"/>
          <p:nvPr/>
        </p:nvSpPr>
        <p:spPr>
          <a:xfrm>
            <a:off x="611561" y="5013176"/>
            <a:ext cx="3600400" cy="707886"/>
          </a:xfrm>
          <a:prstGeom prst="rect">
            <a:avLst/>
          </a:prstGeom>
          <a:noFill/>
        </p:spPr>
        <p:txBody>
          <a:bodyPr wrap="square" rtlCol="0">
            <a:spAutoFit/>
          </a:bodyPr>
          <a:lstStyle/>
          <a:p>
            <a:pPr marL="285750" indent="-285750">
              <a:buFont typeface="Wingdings" panose="05000000000000000000" pitchFamily="2" charset="2"/>
              <a:buChar char="§"/>
            </a:pPr>
            <a:r>
              <a:rPr lang="en-US" sz="2000" dirty="0" smtClean="0"/>
              <a:t>Commemorated on stamps and currency </a:t>
            </a:r>
            <a:endParaRPr lang="en-AU" sz="20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3451" y="4533282"/>
            <a:ext cx="3221245" cy="1776038"/>
          </a:xfrm>
          <a:prstGeom prst="rect">
            <a:avLst/>
          </a:prstGeom>
        </p:spPr>
      </p:pic>
    </p:spTree>
    <p:extLst>
      <p:ext uri="{BB962C8B-B14F-4D97-AF65-F5344CB8AC3E}">
        <p14:creationId xmlns:p14="http://schemas.microsoft.com/office/powerpoint/2010/main" val="216264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TextBox 3"/>
          <p:cNvSpPr txBox="1"/>
          <p:nvPr/>
        </p:nvSpPr>
        <p:spPr>
          <a:xfrm>
            <a:off x="611560" y="911811"/>
            <a:ext cx="7920880" cy="4331955"/>
          </a:xfrm>
          <a:prstGeom prst="rect">
            <a:avLst/>
          </a:prstGeom>
          <a:noFill/>
        </p:spPr>
        <p:txBody>
          <a:bodyPr wrap="square" rtlCol="0">
            <a:spAutoFit/>
          </a:bodyPr>
          <a:lstStyle/>
          <a:p>
            <a:pPr defTabSz="898525">
              <a:spcBef>
                <a:spcPts val="1200"/>
              </a:spcBef>
            </a:pPr>
            <a:r>
              <a:rPr lang="en-US" sz="1100" b="1" dirty="0">
                <a:latin typeface="Arial" panose="020B0604020202020204" pitchFamily="34" charset="0"/>
                <a:cs typeface="Arial" panose="020B0604020202020204" pitchFamily="34" charset="0"/>
              </a:rPr>
              <a:t>Slide </a:t>
            </a:r>
            <a:r>
              <a:rPr lang="en-US" sz="1100" b="1" dirty="0" smtClean="0">
                <a:latin typeface="Arial" panose="020B0604020202020204" pitchFamily="34" charset="0"/>
                <a:cs typeface="Arial" panose="020B0604020202020204" pitchFamily="34" charset="0"/>
              </a:rPr>
              <a:t>1:  	</a:t>
            </a:r>
          </a:p>
          <a:p>
            <a:pPr defTabSz="898525"/>
            <a:r>
              <a:rPr lang="en-US" sz="1100" i="1" dirty="0" smtClean="0">
                <a:latin typeface="Arial" panose="020B0604020202020204" pitchFamily="34" charset="0"/>
                <a:cs typeface="Arial" panose="020B0604020202020204" pitchFamily="34" charset="0"/>
              </a:rPr>
              <a:t>Sir</a:t>
            </a:r>
            <a:r>
              <a:rPr lang="en-US" sz="1100" b="1" dirty="0" smtClean="0">
                <a:latin typeface="Arial" panose="020B0604020202020204" pitchFamily="34" charset="0"/>
                <a:cs typeface="Arial" panose="020B0604020202020204" pitchFamily="34" charset="0"/>
              </a:rPr>
              <a:t> </a:t>
            </a:r>
            <a:r>
              <a:rPr lang="en-US" sz="1100" i="1" dirty="0" smtClean="0">
                <a:latin typeface="Arial" panose="020B0604020202020204" pitchFamily="34" charset="0"/>
                <a:cs typeface="Arial" panose="020B0604020202020204" pitchFamily="34" charset="0"/>
              </a:rPr>
              <a:t>Henry </a:t>
            </a:r>
            <a:r>
              <a:rPr lang="en-US" sz="1100" i="1" dirty="0">
                <a:latin typeface="Arial" panose="020B0604020202020204" pitchFamily="34" charset="0"/>
                <a:cs typeface="Arial" panose="020B0604020202020204" pitchFamily="34" charset="0"/>
              </a:rPr>
              <a:t>Parkes, </a:t>
            </a:r>
            <a:r>
              <a:rPr lang="en-AU" sz="1100" dirty="0">
                <a:latin typeface="Arial" panose="020B0604020202020204" pitchFamily="34" charset="0"/>
                <a:cs typeface="Arial" panose="020B0604020202020204" pitchFamily="34" charset="0"/>
              </a:rPr>
              <a:t>Mitchell Library, State Library of New South Wales – PX*D 624/33</a:t>
            </a:r>
          </a:p>
          <a:p>
            <a:pPr>
              <a:spcBef>
                <a:spcPts val="1200"/>
              </a:spcBef>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2: 	</a:t>
            </a:r>
          </a:p>
          <a:p>
            <a:r>
              <a:rPr lang="en-AU" sz="1100" dirty="0" smtClean="0">
                <a:latin typeface="Arial" panose="020B0604020202020204" pitchFamily="34" charset="0"/>
                <a:cs typeface="Arial" panose="020B0604020202020204" pitchFamily="34" charset="0"/>
              </a:rPr>
              <a:t>Slater</a:t>
            </a:r>
            <a:r>
              <a:rPr lang="en-AU" sz="1100" dirty="0">
                <a:latin typeface="Arial" panose="020B0604020202020204" pitchFamily="34" charset="0"/>
                <a:cs typeface="Arial" panose="020B0604020202020204" pitchFamily="34" charset="0"/>
              </a:rPr>
              <a:t>, A., </a:t>
            </a:r>
            <a:r>
              <a:rPr lang="en-AU" sz="1100" i="1" dirty="0">
                <a:latin typeface="Arial" panose="020B0604020202020204" pitchFamily="34" charset="0"/>
                <a:cs typeface="Arial" panose="020B0604020202020204" pitchFamily="34" charset="0"/>
              </a:rPr>
              <a:t>Henry Parkes’ home</a:t>
            </a:r>
            <a:r>
              <a:rPr lang="en-AU" sz="1100" dirty="0">
                <a:latin typeface="Arial" panose="020B0604020202020204" pitchFamily="34" charset="0"/>
                <a:cs typeface="Arial" panose="020B0604020202020204" pitchFamily="34" charset="0"/>
              </a:rPr>
              <a:t>, 2008, </a:t>
            </a:r>
            <a:r>
              <a:rPr lang="en-AU" sz="1100" dirty="0">
                <a:solidFill>
                  <a:schemeClr val="bg1">
                    <a:lumMod val="65000"/>
                  </a:schemeClr>
                </a:solidFill>
                <a:latin typeface="Arial" panose="020B0604020202020204" pitchFamily="34" charset="0"/>
                <a:cs typeface="Arial" panose="020B0604020202020204" pitchFamily="34" charset="0"/>
              </a:rPr>
              <a:t>https://commons.wikimedia.org/wiki/File:Henry_Parkes_home.jpg CC-BY-SA 3.0 creativecommons.org/licenses/by/3.0/</a:t>
            </a:r>
          </a:p>
          <a:p>
            <a:pPr>
              <a:spcBef>
                <a:spcPts val="1200"/>
              </a:spcBef>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3: 	</a:t>
            </a:r>
          </a:p>
          <a:p>
            <a:r>
              <a:rPr lang="en-AU" sz="1100" i="1" dirty="0" smtClean="0">
                <a:latin typeface="Arial" panose="020B0604020202020204" pitchFamily="34" charset="0"/>
                <a:cs typeface="Arial" panose="020B0604020202020204" pitchFamily="34" charset="0"/>
              </a:rPr>
              <a:t>Sir </a:t>
            </a:r>
            <a:r>
              <a:rPr lang="en-AU" sz="1100" i="1" dirty="0">
                <a:latin typeface="Arial" panose="020B0604020202020204" pitchFamily="34" charset="0"/>
                <a:cs typeface="Arial" panose="020B0604020202020204" pitchFamily="34" charset="0"/>
              </a:rPr>
              <a:t>Henry Parkes at his desk in the Office of the Colonial Secretary, Sydney 1891</a:t>
            </a:r>
            <a:r>
              <a:rPr lang="en-AU" sz="1100" dirty="0">
                <a:latin typeface="Arial" panose="020B0604020202020204" pitchFamily="34" charset="0"/>
                <a:cs typeface="Arial" panose="020B0604020202020204" pitchFamily="34" charset="0"/>
              </a:rPr>
              <a:t>, </a:t>
            </a:r>
            <a:r>
              <a:rPr lang="en-AU" sz="1100" dirty="0" smtClean="0">
                <a:latin typeface="Arial" panose="020B0604020202020204" pitchFamily="34" charset="0"/>
                <a:cs typeface="Arial" panose="020B0604020202020204" pitchFamily="34" charset="0"/>
              </a:rPr>
              <a:t>National Library of Australia</a:t>
            </a:r>
            <a:r>
              <a:rPr lang="en-AU" sz="1100" dirty="0">
                <a:latin typeface="Arial" panose="020B0604020202020204" pitchFamily="34" charset="0"/>
                <a:cs typeface="Arial" panose="020B0604020202020204" pitchFamily="34" charset="0"/>
              </a:rPr>
              <a:t>, </a:t>
            </a:r>
            <a:r>
              <a:rPr lang="en-AU" sz="1100" dirty="0">
                <a:solidFill>
                  <a:schemeClr val="bg1">
                    <a:lumMod val="65000"/>
                  </a:schemeClr>
                </a:solidFill>
                <a:latin typeface="Arial" panose="020B0604020202020204" pitchFamily="34" charset="0"/>
                <a:cs typeface="Arial" panose="020B0604020202020204" pitchFamily="34" charset="0"/>
              </a:rPr>
              <a:t>http://nla.gov.au/nla.pic-an23351411</a:t>
            </a:r>
          </a:p>
          <a:p>
            <a:pPr>
              <a:spcBef>
                <a:spcPts val="1200"/>
              </a:spcBef>
            </a:pPr>
            <a:r>
              <a:rPr lang="en-US" sz="1100" b="1" dirty="0">
                <a:latin typeface="Arial" panose="020B0604020202020204" pitchFamily="34" charset="0"/>
                <a:cs typeface="Arial" panose="020B0604020202020204" pitchFamily="34" charset="0"/>
              </a:rPr>
              <a:t>Slide </a:t>
            </a:r>
            <a:r>
              <a:rPr lang="en-US" sz="1100" b="1" dirty="0" smtClean="0">
                <a:latin typeface="Arial" panose="020B0604020202020204" pitchFamily="34" charset="0"/>
                <a:cs typeface="Arial" panose="020B0604020202020204" pitchFamily="34" charset="0"/>
              </a:rPr>
              <a:t>4: </a:t>
            </a:r>
          </a:p>
          <a:p>
            <a:r>
              <a:rPr lang="en-US" sz="1100" dirty="0" smtClean="0">
                <a:latin typeface="Arial" panose="020B0604020202020204" pitchFamily="34" charset="0"/>
                <a:cs typeface="Arial" panose="020B0604020202020204" pitchFamily="34" charset="0"/>
              </a:rPr>
              <a:t>Plaque </a:t>
            </a:r>
            <a:r>
              <a:rPr lang="en-US" sz="1100" dirty="0">
                <a:latin typeface="Arial" panose="020B0604020202020204" pitchFamily="34" charset="0"/>
                <a:cs typeface="Arial" panose="020B0604020202020204" pitchFamily="34" charset="0"/>
              </a:rPr>
              <a:t>text from photograph on </a:t>
            </a:r>
            <a:r>
              <a:rPr lang="en-AU" sz="1100" i="1" dirty="0">
                <a:latin typeface="Arial" panose="020B0604020202020204" pitchFamily="34" charset="0"/>
                <a:cs typeface="Arial" panose="020B0604020202020204" pitchFamily="34" charset="0"/>
              </a:rPr>
              <a:t>Tenterfield Speech</a:t>
            </a:r>
            <a:r>
              <a:rPr lang="en-AU" sz="1100" dirty="0">
                <a:latin typeface="Arial" panose="020B0604020202020204" pitchFamily="34" charset="0"/>
                <a:cs typeface="Arial" panose="020B0604020202020204" pitchFamily="34" charset="0"/>
              </a:rPr>
              <a:t> (Monument Australia</a:t>
            </a:r>
            <a:r>
              <a:rPr lang="en-AU" sz="1100" dirty="0" smtClean="0">
                <a:latin typeface="Arial" panose="020B0604020202020204" pitchFamily="34" charset="0"/>
                <a:cs typeface="Arial" panose="020B0604020202020204" pitchFamily="34" charset="0"/>
              </a:rPr>
              <a:t>) </a:t>
            </a:r>
            <a:r>
              <a:rPr lang="en-AU" sz="1100" dirty="0" smtClean="0">
                <a:solidFill>
                  <a:schemeClr val="bg1">
                    <a:lumMod val="65000"/>
                  </a:schemeClr>
                </a:solidFill>
                <a:latin typeface="Arial" panose="020B0604020202020204" pitchFamily="34" charset="0"/>
                <a:cs typeface="Arial" panose="020B0604020202020204" pitchFamily="34" charset="0"/>
              </a:rPr>
              <a:t>http</a:t>
            </a:r>
            <a:r>
              <a:rPr lang="en-AU" sz="1100" dirty="0">
                <a:solidFill>
                  <a:schemeClr val="bg1">
                    <a:lumMod val="65000"/>
                  </a:schemeClr>
                </a:solidFill>
                <a:latin typeface="Arial" panose="020B0604020202020204" pitchFamily="34" charset="0"/>
                <a:cs typeface="Arial" panose="020B0604020202020204" pitchFamily="34" charset="0"/>
              </a:rPr>
              <a:t>://</a:t>
            </a:r>
            <a:r>
              <a:rPr lang="en-AU" sz="1100" dirty="0" smtClean="0">
                <a:solidFill>
                  <a:schemeClr val="bg1">
                    <a:lumMod val="65000"/>
                  </a:schemeClr>
                </a:solidFill>
                <a:latin typeface="Arial" panose="020B0604020202020204" pitchFamily="34" charset="0"/>
                <a:cs typeface="Arial" panose="020B0604020202020204" pitchFamily="34" charset="0"/>
              </a:rPr>
              <a:t>monumentaustralia.org.au/australian_monument/display/23427</a:t>
            </a:r>
            <a:r>
              <a:rPr lang="en-AU" sz="1100" dirty="0" smtClean="0">
                <a:latin typeface="Arial" panose="020B0604020202020204" pitchFamily="34" charset="0"/>
                <a:cs typeface="Arial" panose="020B0604020202020204" pitchFamily="34" charset="0"/>
              </a:rPr>
              <a:t> </a:t>
            </a:r>
            <a:endParaRPr lang="en-AU" sz="1100" dirty="0">
              <a:latin typeface="Arial" panose="020B0604020202020204" pitchFamily="34" charset="0"/>
              <a:cs typeface="Arial" panose="020B0604020202020204" pitchFamily="34" charset="0"/>
            </a:endParaRPr>
          </a:p>
          <a:p>
            <a:pPr>
              <a:spcBef>
                <a:spcPts val="1200"/>
              </a:spcBef>
            </a:pPr>
            <a:r>
              <a:rPr lang="en-US" sz="1100" b="1" dirty="0">
                <a:latin typeface="Arial" panose="020B0604020202020204" pitchFamily="34" charset="0"/>
                <a:cs typeface="Arial" panose="020B0604020202020204" pitchFamily="34" charset="0"/>
              </a:rPr>
              <a:t>Slide </a:t>
            </a:r>
            <a:r>
              <a:rPr lang="en-US" sz="1100" b="1" dirty="0" smtClean="0">
                <a:latin typeface="Arial" panose="020B0604020202020204" pitchFamily="34" charset="0"/>
                <a:cs typeface="Arial" panose="020B0604020202020204" pitchFamily="34" charset="0"/>
              </a:rPr>
              <a:t>5: </a:t>
            </a:r>
          </a:p>
          <a:p>
            <a:r>
              <a:rPr lang="en-US" sz="1100" i="1" dirty="0" smtClean="0">
                <a:latin typeface="Arial" panose="020B0604020202020204" pitchFamily="34" charset="0"/>
                <a:cs typeface="Arial" panose="020B0604020202020204" pitchFamily="34" charset="0"/>
              </a:rPr>
              <a:t>The </a:t>
            </a:r>
            <a:r>
              <a:rPr lang="en-US" sz="1100" i="1" dirty="0">
                <a:latin typeface="Arial" panose="020B0604020202020204" pitchFamily="34" charset="0"/>
                <a:cs typeface="Arial" panose="020B0604020202020204" pitchFamily="34" charset="0"/>
              </a:rPr>
              <a:t>Australasian Federation Conference, Melbourne, 1890, </a:t>
            </a:r>
            <a:r>
              <a:rPr lang="en-US" sz="1100" dirty="0">
                <a:latin typeface="Arial" panose="020B0604020202020204" pitchFamily="34" charset="0"/>
                <a:cs typeface="Arial" panose="020B0604020202020204" pitchFamily="34" charset="0"/>
              </a:rPr>
              <a:t>National Library of Australia </a:t>
            </a:r>
            <a:r>
              <a:rPr lang="en-AU" sz="1100" dirty="0" smtClean="0">
                <a:solidFill>
                  <a:schemeClr val="bg1">
                    <a:lumMod val="65000"/>
                  </a:schemeClr>
                </a:solidFill>
                <a:latin typeface="Arial" panose="020B0604020202020204" pitchFamily="34" charset="0"/>
                <a:cs typeface="Arial" panose="020B0604020202020204" pitchFamily="34" charset="0"/>
              </a:rPr>
              <a:t>http</a:t>
            </a:r>
            <a:r>
              <a:rPr lang="en-AU" sz="1100" dirty="0">
                <a:solidFill>
                  <a:schemeClr val="bg1">
                    <a:lumMod val="65000"/>
                  </a:schemeClr>
                </a:solidFill>
                <a:latin typeface="Arial" panose="020B0604020202020204" pitchFamily="34" charset="0"/>
                <a:cs typeface="Arial" panose="020B0604020202020204" pitchFamily="34" charset="0"/>
              </a:rPr>
              <a:t>://</a:t>
            </a:r>
            <a:r>
              <a:rPr lang="en-AU" sz="1100" dirty="0">
                <a:solidFill>
                  <a:schemeClr val="bg1">
                    <a:lumMod val="50000"/>
                  </a:schemeClr>
                </a:solidFill>
                <a:latin typeface="Arial" panose="020B0604020202020204" pitchFamily="34" charset="0"/>
                <a:cs typeface="Arial" panose="020B0604020202020204" pitchFamily="34" charset="0"/>
              </a:rPr>
              <a:t>nla.gov.au/nla.pic-an14292110</a:t>
            </a:r>
          </a:p>
          <a:p>
            <a:pPr>
              <a:spcBef>
                <a:spcPts val="1200"/>
              </a:spcBef>
            </a:pPr>
            <a:r>
              <a:rPr lang="en-US" sz="1100" b="1" dirty="0">
                <a:latin typeface="Arial" panose="020B0604020202020204" pitchFamily="34" charset="0"/>
                <a:cs typeface="Arial" panose="020B0604020202020204" pitchFamily="34" charset="0"/>
              </a:rPr>
              <a:t>Slide </a:t>
            </a:r>
            <a:r>
              <a:rPr lang="en-US" sz="1100" b="1" dirty="0" smtClean="0">
                <a:latin typeface="Arial" panose="020B0604020202020204" pitchFamily="34" charset="0"/>
                <a:cs typeface="Arial" panose="020B0604020202020204" pitchFamily="34" charset="0"/>
              </a:rPr>
              <a:t>6: </a:t>
            </a:r>
          </a:p>
          <a:p>
            <a:r>
              <a:rPr lang="en-AU" sz="1100" i="1" dirty="0" smtClean="0">
                <a:latin typeface="Arial" panose="020B0604020202020204" pitchFamily="34" charset="0"/>
                <a:cs typeface="Arial" panose="020B0604020202020204" pitchFamily="34" charset="0"/>
              </a:rPr>
              <a:t>Sir </a:t>
            </a:r>
            <a:r>
              <a:rPr lang="en-AU" sz="1100" i="1" dirty="0">
                <a:latin typeface="Arial" panose="020B0604020202020204" pitchFamily="34" charset="0"/>
                <a:cs typeface="Arial" panose="020B0604020202020204" pitchFamily="34" charset="0"/>
              </a:rPr>
              <a:t>Henry Parkes - Funeral Cortege</a:t>
            </a:r>
            <a:r>
              <a:rPr lang="en-AU" sz="1100" dirty="0">
                <a:latin typeface="Arial" panose="020B0604020202020204" pitchFamily="34" charset="0"/>
                <a:cs typeface="Arial" panose="020B0604020202020204" pitchFamily="34" charset="0"/>
              </a:rPr>
              <a:t>, 1896, Blue Mountains Library </a:t>
            </a:r>
            <a:r>
              <a:rPr lang="en-AU" sz="1100" dirty="0" smtClean="0">
                <a:latin typeface="Arial" panose="020B0604020202020204" pitchFamily="34" charset="0"/>
                <a:cs typeface="Arial" panose="020B0604020202020204" pitchFamily="34" charset="0"/>
              </a:rPr>
              <a:t>ID HS0\HS0452 </a:t>
            </a:r>
            <a:r>
              <a:rPr lang="en-AU" sz="1100" dirty="0" smtClean="0">
                <a:solidFill>
                  <a:schemeClr val="bg1">
                    <a:lumMod val="65000"/>
                  </a:schemeClr>
                </a:solidFill>
                <a:latin typeface="Arial" panose="020B0604020202020204" pitchFamily="34" charset="0"/>
                <a:cs typeface="Arial" panose="020B0604020202020204" pitchFamily="34" charset="0"/>
              </a:rPr>
              <a:t>http</a:t>
            </a:r>
            <a:r>
              <a:rPr lang="en-AU" sz="1100" dirty="0">
                <a:solidFill>
                  <a:schemeClr val="bg1">
                    <a:lumMod val="65000"/>
                  </a:schemeClr>
                </a:solidFill>
                <a:latin typeface="Arial" panose="020B0604020202020204" pitchFamily="34" charset="0"/>
                <a:cs typeface="Arial" panose="020B0604020202020204" pitchFamily="34" charset="0"/>
              </a:rPr>
              <a:t>://www.photosau.com.au/BlueMountains/scripts/ExtSearch.asp?SearchTerm=HS0452</a:t>
            </a:r>
            <a:r>
              <a:rPr lang="en-AU" sz="1100" dirty="0">
                <a:latin typeface="Arial" panose="020B0604020202020204" pitchFamily="34" charset="0"/>
                <a:cs typeface="Arial" panose="020B0604020202020204" pitchFamily="34" charset="0"/>
              </a:rPr>
              <a:t> </a:t>
            </a:r>
          </a:p>
          <a:p>
            <a:r>
              <a:rPr lang="en-US" sz="1100" i="1" dirty="0" smtClean="0">
                <a:latin typeface="Arial" panose="020B0604020202020204" pitchFamily="34" charset="0"/>
                <a:cs typeface="Arial" panose="020B0604020202020204" pitchFamily="34" charset="0"/>
              </a:rPr>
              <a:t>Australian </a:t>
            </a:r>
            <a:r>
              <a:rPr lang="en-US" sz="1100" i="1" dirty="0">
                <a:latin typeface="Arial" panose="020B0604020202020204" pitchFamily="34" charset="0"/>
                <a:cs typeface="Arial" panose="020B0604020202020204" pitchFamily="34" charset="0"/>
              </a:rPr>
              <a:t>5 dollar </a:t>
            </a:r>
            <a:r>
              <a:rPr lang="en-US" sz="1100" i="1" dirty="0" smtClean="0">
                <a:latin typeface="Arial" panose="020B0604020202020204" pitchFamily="34" charset="0"/>
                <a:cs typeface="Arial" panose="020B0604020202020204" pitchFamily="34" charset="0"/>
              </a:rPr>
              <a:t>note </a:t>
            </a:r>
            <a:r>
              <a:rPr lang="en-US" sz="1100" dirty="0" smtClean="0">
                <a:solidFill>
                  <a:schemeClr val="bg1">
                    <a:lumMod val="65000"/>
                  </a:schemeClr>
                </a:solidFill>
                <a:latin typeface="Arial" panose="020B0604020202020204" pitchFamily="34" charset="0"/>
                <a:cs typeface="Arial" panose="020B0604020202020204" pitchFamily="34" charset="0"/>
              </a:rPr>
              <a:t>http</a:t>
            </a:r>
            <a:r>
              <a:rPr lang="en-US" sz="1100" dirty="0">
                <a:solidFill>
                  <a:schemeClr val="bg1">
                    <a:lumMod val="65000"/>
                  </a:schemeClr>
                </a:solidFill>
                <a:latin typeface="Arial" panose="020B0604020202020204" pitchFamily="34" charset="0"/>
                <a:cs typeface="Arial" panose="020B0604020202020204" pitchFamily="34" charset="0"/>
              </a:rPr>
              <a:t>://en.wikipedia.org/wiki/File:Australian_5note_front_(new).</a:t>
            </a:r>
            <a:r>
              <a:rPr lang="en-US" sz="1100" dirty="0" smtClean="0">
                <a:solidFill>
                  <a:schemeClr val="bg1">
                    <a:lumMod val="65000"/>
                  </a:schemeClr>
                </a:solidFill>
                <a:latin typeface="Arial" panose="020B0604020202020204" pitchFamily="34" charset="0"/>
                <a:cs typeface="Arial" panose="020B0604020202020204" pitchFamily="34" charset="0"/>
              </a:rPr>
              <a:t>jpg</a:t>
            </a:r>
            <a:endParaRPr lang="en-US" sz="1100" u="sng" dirty="0" smtClean="0">
              <a:solidFill>
                <a:schemeClr val="bg1">
                  <a:lumMod val="65000"/>
                </a:schemeClr>
              </a:solidFill>
              <a:latin typeface="Arial" panose="020B0604020202020204" pitchFamily="34" charset="0"/>
              <a:cs typeface="Arial" panose="020B0604020202020204" pitchFamily="34" charset="0"/>
            </a:endParaRPr>
          </a:p>
          <a:p>
            <a:endParaRPr lang="en-AU"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All other images © </a:t>
            </a:r>
            <a:r>
              <a:rPr lang="en-US" sz="1100" dirty="0" smtClean="0">
                <a:latin typeface="Arial" panose="020B0604020202020204" pitchFamily="34" charset="0"/>
                <a:cs typeface="Arial" panose="020B0604020202020204" pitchFamily="34" charset="0"/>
              </a:rPr>
              <a:t>DET</a:t>
            </a:r>
            <a:endParaRPr lang="en-AU" sz="1100" dirty="0" smtClean="0">
              <a:latin typeface="Arial" panose="020B0604020202020204" pitchFamily="34" charset="0"/>
              <a:cs typeface="Arial" panose="020B0604020202020204" pitchFamily="34" charset="0"/>
            </a:endParaRPr>
          </a:p>
          <a:p>
            <a:pPr>
              <a:lnSpc>
                <a:spcPct val="150000"/>
              </a:lnSpc>
            </a:pPr>
            <a:endParaRPr lang="en-AU" sz="1100" dirty="0">
              <a:latin typeface="Arial" panose="020B0604020202020204" pitchFamily="34" charset="0"/>
              <a:cs typeface="Arial" panose="020B0604020202020204" pitchFamily="34" charset="0"/>
            </a:endParaRPr>
          </a:p>
        </p:txBody>
      </p:sp>
      <p:sp>
        <p:nvSpPr>
          <p:cNvPr id="7" name="Title 1"/>
          <p:cNvSpPr txBox="1">
            <a:spLocks/>
          </p:cNvSpPr>
          <p:nvPr/>
        </p:nvSpPr>
        <p:spPr>
          <a:xfrm>
            <a:off x="683568" y="524382"/>
            <a:ext cx="4176464" cy="38176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a:lstStyle>
            <a:lvl1pPr algn="ctr">
              <a:spcBef>
                <a:spcPct val="0"/>
              </a:spcBef>
              <a:buNone/>
              <a:defRPr sz="4400">
                <a:solidFill>
                  <a:schemeClr val="bg1"/>
                </a:solidFill>
              </a:defRPr>
            </a:lvl1pPr>
          </a:lstStyle>
          <a:p>
            <a:pPr algn="l"/>
            <a:r>
              <a:rPr lang="en-AU" sz="1600" b="1" dirty="0">
                <a:solidFill>
                  <a:schemeClr val="tx1"/>
                </a:solidFill>
              </a:rPr>
              <a:t>Attributions</a:t>
            </a:r>
            <a:r>
              <a:rPr lang="en-AU" sz="1600" dirty="0"/>
              <a:t> </a:t>
            </a:r>
          </a:p>
        </p:txBody>
      </p:sp>
    </p:spTree>
    <p:extLst>
      <p:ext uri="{BB962C8B-B14F-4D97-AF65-F5344CB8AC3E}">
        <p14:creationId xmlns:p14="http://schemas.microsoft.com/office/powerpoint/2010/main" val="6507927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2360</TotalTime>
  <Words>1032</Words>
  <Application>Microsoft Office PowerPoint</Application>
  <PresentationFormat>On-screen Show (4:3)</PresentationFormat>
  <Paragraphs>75</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Early life</vt:lpstr>
      <vt:lpstr>Career</vt:lpstr>
      <vt:lpstr>PowerPoint Presentation</vt:lpstr>
      <vt:lpstr>PowerPoint Presentation</vt:lpstr>
      <vt:lpstr>PowerPoint Presentation</vt:lpstr>
      <vt:lpstr>PowerPoint Presentation</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SETU, Annette</dc:creator>
  <cp:lastModifiedBy>SEEARY, Adam</cp:lastModifiedBy>
  <cp:revision>126</cp:revision>
  <dcterms:created xsi:type="dcterms:W3CDTF">2015-05-08T03:35:32Z</dcterms:created>
  <dcterms:modified xsi:type="dcterms:W3CDTF">2017-07-21T01:35:48Z</dcterms:modified>
</cp:coreProperties>
</file>