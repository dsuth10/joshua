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2" r:id="rId1"/>
  </p:sldMasterIdLst>
  <p:notesMasterIdLst>
    <p:notesMasterId r:id="rId13"/>
  </p:notesMasterIdLst>
  <p:sldIdLst>
    <p:sldId id="256" r:id="rId2"/>
    <p:sldId id="277" r:id="rId3"/>
    <p:sldId id="258" r:id="rId4"/>
    <p:sldId id="259" r:id="rId5"/>
    <p:sldId id="272" r:id="rId6"/>
    <p:sldId id="261" r:id="rId7"/>
    <p:sldId id="273" r:id="rId8"/>
    <p:sldId id="274" r:id="rId9"/>
    <p:sldId id="275" r:id="rId10"/>
    <p:sldId id="276" r:id="rId11"/>
    <p:sldId id="269"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8595E62-E98A-44B8-A288-BAA5A8370CCB}">
          <p14:sldIdLst>
            <p14:sldId id="256"/>
            <p14:sldId id="277"/>
            <p14:sldId id="258"/>
            <p14:sldId id="259"/>
            <p14:sldId id="272"/>
            <p14:sldId id="261"/>
            <p14:sldId id="273"/>
            <p14:sldId id="274"/>
            <p14:sldId id="275"/>
            <p14:sldId id="276"/>
            <p14:sldId id="269"/>
          </p14:sldIdLst>
        </p14:section>
        <p14:section name="Untitled Section" id="{0E01DC7C-F398-47A4-9812-DCB24D15458A}">
          <p14:sldIdLst/>
        </p14:section>
      </p14:sectionLst>
    </p:ext>
    <p:ext uri="{EFAFB233-063F-42B5-8137-9DF3F51BA10A}">
      <p15:sldGuideLst xmlns:p15="http://schemas.microsoft.com/office/powerpoint/2012/main" xmlns="">
        <p15:guide id="1" orient="horz" pos="2160">
          <p15:clr>
            <a:srgbClr val="A4A3A4"/>
          </p15:clr>
        </p15:guide>
        <p15:guide id="2" pos="560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54" autoAdjust="0"/>
    <p:restoredTop sz="80538" autoAdjust="0"/>
  </p:normalViewPr>
  <p:slideViewPr>
    <p:cSldViewPr snapToObjects="1">
      <p:cViewPr>
        <p:scale>
          <a:sx n="80" d="100"/>
          <a:sy n="80" d="100"/>
        </p:scale>
        <p:origin x="-123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90012" cy="90012"/>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FC4F18-453B-4063-B4A1-AAF4CC187DC9}" type="datetimeFigureOut">
              <a:rPr lang="en-AU" smtClean="0"/>
              <a:t>27/06/2017</a:t>
            </a:fld>
            <a:endParaRPr lang="en-AU"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D8EFDA-7918-4BD0-8E91-CD91CFDEB8D1}" type="slidenum">
              <a:rPr lang="en-AU" smtClean="0"/>
              <a:t>‹#›</a:t>
            </a:fld>
            <a:endParaRPr lang="en-AU" dirty="0"/>
          </a:p>
        </p:txBody>
      </p:sp>
    </p:spTree>
    <p:extLst>
      <p:ext uri="{BB962C8B-B14F-4D97-AF65-F5344CB8AC3E}">
        <p14:creationId xmlns:p14="http://schemas.microsoft.com/office/powerpoint/2010/main" val="2814159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This slideshow </a:t>
            </a:r>
            <a:r>
              <a:rPr lang="en-AU" baseline="0" dirty="0" smtClean="0"/>
              <a:t>explains how to construct a History timeline. The images here are obviously not History timelines but they do have something in common with them. Can you identify what this might be? </a:t>
            </a:r>
          </a:p>
          <a:p>
            <a:r>
              <a:rPr lang="en-AU" baseline="0" dirty="0" smtClean="0"/>
              <a:t>These are all images of </a:t>
            </a:r>
            <a:r>
              <a:rPr lang="en-AU" b="1" baseline="0" dirty="0" smtClean="0"/>
              <a:t>(Click) </a:t>
            </a:r>
            <a:r>
              <a:rPr lang="en-AU" baseline="0" dirty="0" smtClean="0"/>
              <a:t>lines </a:t>
            </a:r>
            <a:r>
              <a:rPr lang="en-AU" b="1" baseline="0" dirty="0" smtClean="0"/>
              <a:t>(Click)</a:t>
            </a:r>
            <a:r>
              <a:rPr lang="en-AU" baseline="0" dirty="0" smtClean="0"/>
              <a:t>. We have a line of planes, </a:t>
            </a:r>
            <a:r>
              <a:rPr lang="en-AU" b="1" baseline="0" dirty="0" smtClean="0"/>
              <a:t>(Click) </a:t>
            </a:r>
            <a:r>
              <a:rPr lang="en-AU" baseline="0" dirty="0" smtClean="0"/>
              <a:t>a railway line, </a:t>
            </a:r>
            <a:r>
              <a:rPr lang="en-AU" b="1" baseline="0" dirty="0" smtClean="0"/>
              <a:t>(Click) </a:t>
            </a:r>
            <a:r>
              <a:rPr lang="en-AU" baseline="0" dirty="0" smtClean="0"/>
              <a:t>a clothes line </a:t>
            </a:r>
            <a:r>
              <a:rPr lang="en-AU" b="1" baseline="0" dirty="0" smtClean="0"/>
              <a:t>(Click) </a:t>
            </a:r>
            <a:r>
              <a:rPr lang="en-AU" baseline="0" dirty="0" smtClean="0"/>
              <a:t>and electricity lines </a:t>
            </a:r>
            <a:r>
              <a:rPr lang="en-AU" b="1" baseline="0" dirty="0" smtClean="0"/>
              <a:t>(Click). </a:t>
            </a:r>
            <a:r>
              <a:rPr lang="en-AU" baseline="0" dirty="0" smtClean="0"/>
              <a:t>What else do they have in common? (Pause 2 seconds) </a:t>
            </a:r>
            <a:r>
              <a:rPr lang="en-AU" b="1" baseline="0" dirty="0" smtClean="0"/>
              <a:t>(Click) </a:t>
            </a:r>
            <a:r>
              <a:rPr lang="en-AU" baseline="0" dirty="0" smtClean="0"/>
              <a:t>There is a pattern of regular intervals in each line. </a:t>
            </a:r>
            <a:r>
              <a:rPr lang="en-AU" b="1" baseline="0" dirty="0" smtClean="0"/>
              <a:t>(Click). (Click) </a:t>
            </a:r>
            <a:r>
              <a:rPr lang="en-AU" baseline="0" dirty="0" smtClean="0"/>
              <a:t>The planes are lined up with even spacing between each plane. </a:t>
            </a:r>
            <a:r>
              <a:rPr lang="en-AU" b="1" baseline="0" dirty="0" smtClean="0"/>
              <a:t>(Click) </a:t>
            </a:r>
            <a:r>
              <a:rPr lang="en-AU" baseline="0" dirty="0" smtClean="0"/>
              <a:t>The railway line has sleepers at precise intervals along the tracks. </a:t>
            </a:r>
            <a:r>
              <a:rPr lang="en-AU" b="1" baseline="0" dirty="0" smtClean="0"/>
              <a:t>(Click) </a:t>
            </a:r>
            <a:r>
              <a:rPr lang="en-AU" baseline="0" dirty="0" smtClean="0"/>
              <a:t>The clothes line has the pegs distributed evenly along the line (well, almost evenly) and </a:t>
            </a:r>
            <a:r>
              <a:rPr lang="en-AU" b="1" baseline="0" dirty="0" smtClean="0"/>
              <a:t>(Click) </a:t>
            </a:r>
            <a:r>
              <a:rPr lang="en-AU" baseline="0" dirty="0" smtClean="0"/>
              <a:t>the electricity lines have towers at regular intervals along the line. </a:t>
            </a:r>
            <a:endParaRPr lang="en-AU" dirty="0"/>
          </a:p>
        </p:txBody>
      </p:sp>
      <p:sp>
        <p:nvSpPr>
          <p:cNvPr id="4" name="Slide Number Placeholder 3"/>
          <p:cNvSpPr>
            <a:spLocks noGrp="1"/>
          </p:cNvSpPr>
          <p:nvPr>
            <p:ph type="sldNum" sz="quarter" idx="10"/>
          </p:nvPr>
        </p:nvSpPr>
        <p:spPr/>
        <p:txBody>
          <a:bodyPr/>
          <a:lstStyle/>
          <a:p>
            <a:fld id="{BDD8EFDA-7918-4BD0-8E91-CD91CFDEB8D1}" type="slidenum">
              <a:rPr lang="en-AU" smtClean="0"/>
              <a:t>1</a:t>
            </a:fld>
            <a:endParaRPr lang="en-AU" dirty="0"/>
          </a:p>
        </p:txBody>
      </p:sp>
    </p:spTree>
    <p:extLst>
      <p:ext uri="{BB962C8B-B14F-4D97-AF65-F5344CB8AC3E}">
        <p14:creationId xmlns:p14="http://schemas.microsoft.com/office/powerpoint/2010/main" val="3487939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A History timeline is also a line </a:t>
            </a:r>
            <a:r>
              <a:rPr lang="en-AU" b="1" baseline="0" dirty="0" smtClean="0"/>
              <a:t>(Click) </a:t>
            </a:r>
            <a:r>
              <a:rPr lang="en-AU" dirty="0" smtClean="0"/>
              <a:t>divided into precise intervals </a:t>
            </a:r>
            <a:r>
              <a:rPr lang="en-AU" b="1" baseline="0" dirty="0" smtClean="0"/>
              <a:t>(Click)</a:t>
            </a:r>
            <a:r>
              <a:rPr lang="en-AU" b="0" baseline="0" dirty="0" smtClean="0"/>
              <a:t>.</a:t>
            </a:r>
            <a:r>
              <a:rPr lang="en-AU" b="1" baseline="0" dirty="0" smtClean="0"/>
              <a:t> </a:t>
            </a:r>
            <a:r>
              <a:rPr lang="en-AU" dirty="0" smtClean="0"/>
              <a:t>In this case, the intervals </a:t>
            </a:r>
            <a:r>
              <a:rPr lang="en-AU" baseline="0" dirty="0" smtClean="0"/>
              <a:t>are </a:t>
            </a:r>
            <a:r>
              <a:rPr lang="en-AU" dirty="0" smtClean="0"/>
              <a:t>not represented </a:t>
            </a:r>
            <a:r>
              <a:rPr lang="en-AU" baseline="0" dirty="0" smtClean="0"/>
              <a:t>by </a:t>
            </a:r>
            <a:r>
              <a:rPr lang="en-AU" dirty="0" smtClean="0"/>
              <a:t>pegs</a:t>
            </a:r>
            <a:r>
              <a:rPr lang="en-AU" baseline="0" dirty="0" smtClean="0"/>
              <a:t> or railway sleepers but by </a:t>
            </a:r>
            <a:r>
              <a:rPr lang="en-AU" b="1" baseline="0" dirty="0" smtClean="0"/>
              <a:t>(Click) </a:t>
            </a:r>
            <a:r>
              <a:rPr lang="en-AU" dirty="0" smtClean="0"/>
              <a:t>dates. </a:t>
            </a:r>
          </a:p>
          <a:p>
            <a:r>
              <a:rPr lang="en-AU" baseline="0" dirty="0" smtClean="0"/>
              <a:t>History timelines are designed to show historical events and developments </a:t>
            </a:r>
            <a:r>
              <a:rPr lang="en-AU" b="1" baseline="0" dirty="0" smtClean="0"/>
              <a:t>(Click and pause)</a:t>
            </a:r>
            <a:r>
              <a:rPr lang="en-AU" b="0" baseline="0" dirty="0" smtClean="0"/>
              <a:t>.</a:t>
            </a:r>
            <a:r>
              <a:rPr lang="en-AU" b="1" baseline="0" dirty="0" smtClean="0"/>
              <a:t> </a:t>
            </a:r>
            <a:r>
              <a:rPr lang="en-AU" baseline="0" dirty="0" smtClean="0"/>
              <a:t>These events and developments have to be arranged in chronological order along this line. Chronological order means the order in which the events occurred. </a:t>
            </a:r>
            <a:endParaRPr lang="en-AU" dirty="0"/>
          </a:p>
        </p:txBody>
      </p:sp>
      <p:sp>
        <p:nvSpPr>
          <p:cNvPr id="4" name="Slide Number Placeholder 3"/>
          <p:cNvSpPr>
            <a:spLocks noGrp="1"/>
          </p:cNvSpPr>
          <p:nvPr>
            <p:ph type="sldNum" sz="quarter" idx="10"/>
          </p:nvPr>
        </p:nvSpPr>
        <p:spPr/>
        <p:txBody>
          <a:bodyPr/>
          <a:lstStyle/>
          <a:p>
            <a:fld id="{BDD8EFDA-7918-4BD0-8E91-CD91CFDEB8D1}" type="slidenum">
              <a:rPr lang="en-AU" smtClean="0"/>
              <a:t>2</a:t>
            </a:fld>
            <a:endParaRPr lang="en-AU" dirty="0"/>
          </a:p>
        </p:txBody>
      </p:sp>
    </p:spTree>
    <p:extLst>
      <p:ext uri="{BB962C8B-B14F-4D97-AF65-F5344CB8AC3E}">
        <p14:creationId xmlns:p14="http://schemas.microsoft.com/office/powerpoint/2010/main" val="1994068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Here</a:t>
            </a:r>
            <a:r>
              <a:rPr lang="en-AU" baseline="0" dirty="0" smtClean="0"/>
              <a:t> is a completed timeline showing the life of an imaginary person called Mary Irvine. Mary was born in 1930 and died in 2014. This means Mary was 84 when she died. You will note that the events of Mary’s life are located along this line </a:t>
            </a:r>
            <a:r>
              <a:rPr lang="en-AU" b="1" baseline="0" dirty="0" smtClean="0"/>
              <a:t>(Click)</a:t>
            </a:r>
            <a:r>
              <a:rPr lang="en-AU" baseline="0" dirty="0" smtClean="0"/>
              <a:t>. This line is horizontal but it could also be a vertical line. You will also notice that the line is divided into equal parts </a:t>
            </a:r>
            <a:r>
              <a:rPr lang="en-AU" b="1" baseline="0" dirty="0" smtClean="0"/>
              <a:t>(Click)</a:t>
            </a:r>
            <a:r>
              <a:rPr lang="en-AU" b="0" baseline="0" dirty="0" smtClean="0"/>
              <a:t>.</a:t>
            </a:r>
          </a:p>
          <a:p>
            <a:r>
              <a:rPr lang="en-AU" baseline="0" dirty="0" smtClean="0"/>
              <a:t>The events of Mary’s life are placed above and below the line because there is not enough room to put them all on one side of the line or beside each other along the line. Notice that each event has a date recorded so the exact date of each event is evident. You will also note that the timeline has a title. </a:t>
            </a:r>
          </a:p>
          <a:p>
            <a:r>
              <a:rPr lang="en-AU" baseline="0" dirty="0" smtClean="0"/>
              <a:t>The reason we arrange historical events along a line like this is because a timeline does more than show the order of events; it allows us to see patterns in the events. We notice on this timeline that Mary has nothing of note recorded after 1999, </a:t>
            </a:r>
            <a:r>
              <a:rPr lang="en-AU" b="1" baseline="0" dirty="0" smtClean="0"/>
              <a:t>(Click) </a:t>
            </a:r>
            <a:r>
              <a:rPr lang="en-AU" baseline="0" dirty="0" smtClean="0"/>
              <a:t>when she retired. The timeline does not tell us why but it might lead us to further investigation to determine why. </a:t>
            </a:r>
            <a:endParaRPr lang="en-AU" dirty="0"/>
          </a:p>
        </p:txBody>
      </p:sp>
      <p:sp>
        <p:nvSpPr>
          <p:cNvPr id="4" name="Slide Number Placeholder 3"/>
          <p:cNvSpPr>
            <a:spLocks noGrp="1"/>
          </p:cNvSpPr>
          <p:nvPr>
            <p:ph type="sldNum" sz="quarter" idx="10"/>
          </p:nvPr>
        </p:nvSpPr>
        <p:spPr/>
        <p:txBody>
          <a:bodyPr/>
          <a:lstStyle/>
          <a:p>
            <a:fld id="{BDD8EFDA-7918-4BD0-8E91-CD91CFDEB8D1}" type="slidenum">
              <a:rPr lang="en-AU" smtClean="0"/>
              <a:t>3</a:t>
            </a:fld>
            <a:endParaRPr lang="en-AU" dirty="0"/>
          </a:p>
        </p:txBody>
      </p:sp>
    </p:spTree>
    <p:extLst>
      <p:ext uri="{BB962C8B-B14F-4D97-AF65-F5344CB8AC3E}">
        <p14:creationId xmlns:p14="http://schemas.microsoft.com/office/powerpoint/2010/main" val="3487939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Let’s now explore this procedure step by step. </a:t>
            </a:r>
            <a:r>
              <a:rPr lang="en-AU" b="1" baseline="0" dirty="0" smtClean="0"/>
              <a:t>(Click) </a:t>
            </a:r>
            <a:r>
              <a:rPr lang="en-AU" dirty="0" smtClean="0"/>
              <a:t>First, we need to</a:t>
            </a:r>
            <a:r>
              <a:rPr lang="en-AU" baseline="0" dirty="0" smtClean="0"/>
              <a:t> determine the minimum length the timeline needs to be. To do this, we need to calculate what period of time we have to represent. We do this by looking at the </a:t>
            </a:r>
            <a:r>
              <a:rPr lang="en-AU" b="1" baseline="0" dirty="0" smtClean="0"/>
              <a:t>(Click) </a:t>
            </a:r>
            <a:r>
              <a:rPr lang="en-AU" baseline="0" dirty="0" smtClean="0"/>
              <a:t>first date and the </a:t>
            </a:r>
            <a:r>
              <a:rPr lang="en-AU" b="1" baseline="0" dirty="0" smtClean="0"/>
              <a:t>(Click) </a:t>
            </a:r>
            <a:r>
              <a:rPr lang="en-AU" baseline="0" dirty="0" smtClean="0"/>
              <a:t>last date.  Here is the list of some of the events in Mary’s life. The full list is not provided but just a sample, including the year of her birth and the year of her death. So how many years does our line need to represent? </a:t>
            </a:r>
            <a:r>
              <a:rPr lang="en-AU" b="1" baseline="0" dirty="0" smtClean="0"/>
              <a:t>(Click) </a:t>
            </a:r>
            <a:r>
              <a:rPr lang="en-AU" baseline="0" dirty="0" smtClean="0"/>
              <a:t>Subtract the year of her birth from the year of her death and you will see the figure is </a:t>
            </a:r>
            <a:r>
              <a:rPr lang="en-AU" b="1" baseline="0" dirty="0" smtClean="0"/>
              <a:t>(Click)</a:t>
            </a:r>
            <a:r>
              <a:rPr lang="en-AU" baseline="0" dirty="0" smtClean="0"/>
              <a:t> 84. We need to represent at least 84 years of time on the timeline. </a:t>
            </a:r>
          </a:p>
        </p:txBody>
      </p:sp>
      <p:sp>
        <p:nvSpPr>
          <p:cNvPr id="4" name="Slide Number Placeholder 3"/>
          <p:cNvSpPr>
            <a:spLocks noGrp="1"/>
          </p:cNvSpPr>
          <p:nvPr>
            <p:ph type="sldNum" sz="quarter" idx="10"/>
          </p:nvPr>
        </p:nvSpPr>
        <p:spPr/>
        <p:txBody>
          <a:bodyPr/>
          <a:lstStyle/>
          <a:p>
            <a:fld id="{BDD8EFDA-7918-4BD0-8E91-CD91CFDEB8D1}" type="slidenum">
              <a:rPr lang="en-AU" smtClean="0"/>
              <a:t>4</a:t>
            </a:fld>
            <a:endParaRPr lang="en-AU" dirty="0"/>
          </a:p>
        </p:txBody>
      </p:sp>
    </p:spTree>
    <p:extLst>
      <p:ext uri="{BB962C8B-B14F-4D97-AF65-F5344CB8AC3E}">
        <p14:creationId xmlns:p14="http://schemas.microsoft.com/office/powerpoint/2010/main" val="3487939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baseline="0" dirty="0" smtClean="0"/>
              <a:t>(Click) </a:t>
            </a:r>
            <a:r>
              <a:rPr lang="en-AU" baseline="0" dirty="0" smtClean="0"/>
              <a:t>We now have to draw a line so that all these years can be represented, which brings us to Step 2.</a:t>
            </a:r>
            <a:r>
              <a:rPr lang="en-AU" dirty="0" smtClean="0"/>
              <a:t> How long should this line be? </a:t>
            </a:r>
            <a:r>
              <a:rPr lang="en-AU" b="1" baseline="0" dirty="0" smtClean="0"/>
              <a:t>(Click) </a:t>
            </a:r>
            <a:r>
              <a:rPr lang="en-AU" dirty="0" smtClean="0"/>
              <a:t>Your line can be whatever</a:t>
            </a:r>
            <a:r>
              <a:rPr lang="en-AU" baseline="0" dirty="0" smtClean="0"/>
              <a:t> length you choose, but it needs to be long enough to allow you to include all the events you want to record, set out so that they are clearly identified. There is no point in having a short line if you are not going to be able to fit everything on it. A good rule of thumb is to fill up whatever space you have. For example, if you are using a piece of paper, then it might be a good idea to either turn the paper on </a:t>
            </a:r>
            <a:r>
              <a:rPr lang="en-AU" baseline="0" smtClean="0"/>
              <a:t>its </a:t>
            </a:r>
            <a:r>
              <a:rPr lang="en-AU" baseline="0" smtClean="0"/>
              <a:t>side</a:t>
            </a:r>
            <a:r>
              <a:rPr lang="en-AU" b="1" baseline="0" smtClean="0"/>
              <a:t> </a:t>
            </a:r>
            <a:r>
              <a:rPr lang="en-AU" baseline="0" dirty="0" smtClean="0"/>
              <a:t>and use the whole length horizontally or leave it as is </a:t>
            </a:r>
            <a:r>
              <a:rPr lang="en-AU" b="1" baseline="0" dirty="0" smtClean="0"/>
              <a:t>(Click) </a:t>
            </a:r>
            <a:r>
              <a:rPr lang="en-AU" baseline="0" dirty="0" smtClean="0"/>
              <a:t>and draw a vertical line.</a:t>
            </a:r>
          </a:p>
        </p:txBody>
      </p:sp>
      <p:sp>
        <p:nvSpPr>
          <p:cNvPr id="4" name="Slide Number Placeholder 3"/>
          <p:cNvSpPr>
            <a:spLocks noGrp="1"/>
          </p:cNvSpPr>
          <p:nvPr>
            <p:ph type="sldNum" sz="quarter" idx="10"/>
          </p:nvPr>
        </p:nvSpPr>
        <p:spPr/>
        <p:txBody>
          <a:bodyPr/>
          <a:lstStyle/>
          <a:p>
            <a:fld id="{BDD8EFDA-7918-4BD0-8E91-CD91CFDEB8D1}" type="slidenum">
              <a:rPr lang="en-AU" smtClean="0"/>
              <a:t>5</a:t>
            </a:fld>
            <a:endParaRPr lang="en-AU" dirty="0"/>
          </a:p>
        </p:txBody>
      </p:sp>
    </p:spTree>
    <p:extLst>
      <p:ext uri="{BB962C8B-B14F-4D97-AF65-F5344CB8AC3E}">
        <p14:creationId xmlns:p14="http://schemas.microsoft.com/office/powerpoint/2010/main" val="3487939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Now that you</a:t>
            </a:r>
            <a:r>
              <a:rPr lang="en-AU" baseline="0" dirty="0" smtClean="0"/>
              <a:t> have drawn your line, </a:t>
            </a:r>
            <a:r>
              <a:rPr lang="en-AU" b="1" baseline="0" dirty="0" smtClean="0"/>
              <a:t>(Click) </a:t>
            </a:r>
            <a:r>
              <a:rPr lang="en-AU" baseline="0" dirty="0" smtClean="0"/>
              <a:t>you need to divide it into equal intervals of time. You have already determined that you have to represent at least 84 years, but a line on a page is not long enough for you to divide it into 84 portions. We are used to calculating in lots of 5 or 10, so in this case, the line has been divided into 9 equal portions representing 10 years each. In this way, </a:t>
            </a:r>
            <a:r>
              <a:rPr lang="en-AU" b="1" baseline="0" dirty="0" smtClean="0"/>
              <a:t>(Click) </a:t>
            </a:r>
            <a:r>
              <a:rPr lang="en-AU" baseline="0" dirty="0" smtClean="0"/>
              <a:t>90 years of time is shown on the line. When you’re calculating your interval spacing on paper, it is helpful to use the centimetre intervals on your ruler. In this example, 10 years is represented by intervals of approximately 2.5 cm. Let’s use some other examples to help you do this yourself.</a:t>
            </a:r>
            <a:endParaRPr lang="en-AU" dirty="0"/>
          </a:p>
        </p:txBody>
      </p:sp>
      <p:sp>
        <p:nvSpPr>
          <p:cNvPr id="4" name="Slide Number Placeholder 3"/>
          <p:cNvSpPr>
            <a:spLocks noGrp="1"/>
          </p:cNvSpPr>
          <p:nvPr>
            <p:ph type="sldNum" sz="quarter" idx="10"/>
          </p:nvPr>
        </p:nvSpPr>
        <p:spPr/>
        <p:txBody>
          <a:bodyPr/>
          <a:lstStyle/>
          <a:p>
            <a:fld id="{BDD8EFDA-7918-4BD0-8E91-CD91CFDEB8D1}" type="slidenum">
              <a:rPr lang="en-AU" smtClean="0"/>
              <a:t>6</a:t>
            </a:fld>
            <a:endParaRPr lang="en-AU" dirty="0"/>
          </a:p>
        </p:txBody>
      </p:sp>
    </p:spTree>
    <p:extLst>
      <p:ext uri="{BB962C8B-B14F-4D97-AF65-F5344CB8AC3E}">
        <p14:creationId xmlns:p14="http://schemas.microsoft.com/office/powerpoint/2010/main" val="3487939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aseline="0" dirty="0" smtClean="0"/>
              <a:t>Once the length of the line has been determined, and the timeline divided into equal intervals of time, </a:t>
            </a:r>
            <a:r>
              <a:rPr lang="en-AU" b="1" baseline="0" dirty="0" smtClean="0"/>
              <a:t>(Click) </a:t>
            </a:r>
            <a:r>
              <a:rPr lang="en-AU" baseline="0" dirty="0" smtClean="0"/>
              <a:t>it is now time to record the appropriate dates on the intervals. As we determined earlier, each interval represents 10 years. Starting with the first date, which is 1930, </a:t>
            </a:r>
            <a:r>
              <a:rPr lang="en-AU" b="1" baseline="0" dirty="0" smtClean="0"/>
              <a:t>(Click) </a:t>
            </a:r>
            <a:r>
              <a:rPr lang="en-AU" baseline="0" dirty="0" smtClean="0"/>
              <a:t>you can begin recording the dates on the timeline in ascending order from left to right, </a:t>
            </a:r>
            <a:r>
              <a:rPr lang="en-AU" b="1" baseline="0" dirty="0" smtClean="0"/>
              <a:t>(Click) </a:t>
            </a:r>
            <a:r>
              <a:rPr lang="en-AU" baseline="0" dirty="0" smtClean="0"/>
              <a:t>1940, 1950, 1960, and so on through to 2020. </a:t>
            </a:r>
          </a:p>
        </p:txBody>
      </p:sp>
      <p:sp>
        <p:nvSpPr>
          <p:cNvPr id="4" name="Slide Number Placeholder 3"/>
          <p:cNvSpPr>
            <a:spLocks noGrp="1"/>
          </p:cNvSpPr>
          <p:nvPr>
            <p:ph type="sldNum" sz="quarter" idx="10"/>
          </p:nvPr>
        </p:nvSpPr>
        <p:spPr/>
        <p:txBody>
          <a:bodyPr/>
          <a:lstStyle/>
          <a:p>
            <a:fld id="{BDD8EFDA-7918-4BD0-8E91-CD91CFDEB8D1}" type="slidenum">
              <a:rPr lang="en-AU" smtClean="0"/>
              <a:t>7</a:t>
            </a:fld>
            <a:endParaRPr lang="en-AU" dirty="0"/>
          </a:p>
        </p:txBody>
      </p:sp>
    </p:spTree>
    <p:extLst>
      <p:ext uri="{BB962C8B-B14F-4D97-AF65-F5344CB8AC3E}">
        <p14:creationId xmlns:p14="http://schemas.microsoft.com/office/powerpoint/2010/main" val="1741956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Now that you</a:t>
            </a:r>
            <a:r>
              <a:rPr lang="en-AU" baseline="0" dirty="0" smtClean="0"/>
              <a:t> have recorded the dates on the timeline, the next step is to </a:t>
            </a:r>
            <a:r>
              <a:rPr lang="en-AU" b="1" baseline="0" dirty="0" smtClean="0"/>
              <a:t>(Click) </a:t>
            </a:r>
            <a:r>
              <a:rPr lang="en-AU" baseline="0" dirty="0" smtClean="0"/>
              <a:t>plot the events in the correct place on the timeline. Remember, earlier it was mentioned we would be looking at only a few key events during Mary Irvine’s life. </a:t>
            </a:r>
            <a:r>
              <a:rPr lang="en-AU" b="1" baseline="0" dirty="0" smtClean="0"/>
              <a:t>(Click) </a:t>
            </a:r>
            <a:r>
              <a:rPr lang="en-AU" baseline="0" dirty="0" smtClean="0"/>
              <a:t>Here they are again to remind you. </a:t>
            </a:r>
          </a:p>
          <a:p>
            <a:endParaRPr lang="en-AU" baseline="0" dirty="0" smtClean="0"/>
          </a:p>
          <a:p>
            <a:r>
              <a:rPr lang="en-AU" baseline="0" dirty="0" smtClean="0"/>
              <a:t>You will notice that some of the dates where you need to record events are indicated on the timeline, but this may not always be the case. For example, </a:t>
            </a:r>
            <a:r>
              <a:rPr lang="en-AU" b="1" baseline="0" dirty="0" smtClean="0"/>
              <a:t>(Click) </a:t>
            </a:r>
            <a:r>
              <a:rPr lang="en-AU" baseline="0" dirty="0" smtClean="0"/>
              <a:t>The years 1930, 1960, and 1990 have been recorded as intervals on the timeline. </a:t>
            </a:r>
            <a:r>
              <a:rPr lang="en-AU" b="1" baseline="0" dirty="0" smtClean="0"/>
              <a:t>(Click) </a:t>
            </a:r>
            <a:r>
              <a:rPr lang="en-AU" baseline="0" dirty="0" smtClean="0"/>
              <a:t>This makes it very easy to record the events accurately on the timeline. </a:t>
            </a:r>
            <a:r>
              <a:rPr lang="en-AU" b="1" baseline="0" dirty="0" smtClean="0"/>
              <a:t>(Click) </a:t>
            </a:r>
            <a:r>
              <a:rPr lang="en-AU" baseline="0" dirty="0" smtClean="0"/>
              <a:t>1944, 1981, 1999 and 2014 are not marked on the timeline. In this case, it is very important that you use the dates on the intervals as a guide to help you plot the events correctly. </a:t>
            </a:r>
          </a:p>
          <a:p>
            <a:endParaRPr lang="en-AU" baseline="0" dirty="0" smtClean="0"/>
          </a:p>
          <a:p>
            <a:r>
              <a:rPr lang="en-AU" baseline="0" dirty="0" smtClean="0"/>
              <a:t>Let’s have a look at how to plot the event of 1944 on the timeline as an example. </a:t>
            </a:r>
            <a:r>
              <a:rPr lang="en-AU" b="1" baseline="0" dirty="0" smtClean="0"/>
              <a:t>(Click) </a:t>
            </a:r>
            <a:r>
              <a:rPr lang="en-AU" baseline="0" dirty="0" smtClean="0"/>
              <a:t>1944 falls between the 1940 and 1950 intervals so this event has been plotted on the timeline in the middle of the two dates but slightly closer to the 1940 interval. Remember each interval represents 10 years so this position indicates that the event happened </a:t>
            </a:r>
            <a:r>
              <a:rPr lang="en-AU" b="1" baseline="0" dirty="0" smtClean="0"/>
              <a:t>(Click) </a:t>
            </a:r>
            <a:r>
              <a:rPr lang="en-AU" baseline="0" dirty="0" smtClean="0"/>
              <a:t>four years after 1940 but six years before 1950 </a:t>
            </a:r>
            <a:r>
              <a:rPr lang="en-AU" b="1" baseline="0" dirty="0" smtClean="0"/>
              <a:t>(Click)</a:t>
            </a:r>
            <a:r>
              <a:rPr lang="en-AU" b="0" baseline="0" dirty="0" smtClean="0"/>
              <a:t>.</a:t>
            </a:r>
            <a:r>
              <a:rPr lang="en-AU" b="1" baseline="0" dirty="0" smtClean="0"/>
              <a:t> </a:t>
            </a:r>
            <a:r>
              <a:rPr lang="en-AU" baseline="0" dirty="0" smtClean="0"/>
              <a:t>Now, let’s place the rest of the events from the table on the timeline. </a:t>
            </a:r>
            <a:r>
              <a:rPr lang="en-AU" b="1" baseline="0" dirty="0" smtClean="0"/>
              <a:t>(Click) (PAUSE 3 seconds) </a:t>
            </a:r>
            <a:endParaRPr lang="en-AU" b="1" dirty="0"/>
          </a:p>
        </p:txBody>
      </p:sp>
      <p:sp>
        <p:nvSpPr>
          <p:cNvPr id="4" name="Slide Number Placeholder 3"/>
          <p:cNvSpPr>
            <a:spLocks noGrp="1"/>
          </p:cNvSpPr>
          <p:nvPr>
            <p:ph type="sldNum" sz="quarter" idx="10"/>
          </p:nvPr>
        </p:nvSpPr>
        <p:spPr/>
        <p:txBody>
          <a:bodyPr/>
          <a:lstStyle/>
          <a:p>
            <a:fld id="{BDD8EFDA-7918-4BD0-8E91-CD91CFDEB8D1}" type="slidenum">
              <a:rPr lang="en-AU" smtClean="0"/>
              <a:t>8</a:t>
            </a:fld>
            <a:endParaRPr lang="en-AU" dirty="0"/>
          </a:p>
        </p:txBody>
      </p:sp>
    </p:spTree>
    <p:extLst>
      <p:ext uri="{BB962C8B-B14F-4D97-AF65-F5344CB8AC3E}">
        <p14:creationId xmlns:p14="http://schemas.microsoft.com/office/powerpoint/2010/main" val="4246662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Your timeline</a:t>
            </a:r>
            <a:r>
              <a:rPr lang="en-AU" baseline="0" dirty="0" smtClean="0"/>
              <a:t> is almost complete. </a:t>
            </a:r>
            <a:r>
              <a:rPr lang="en-AU" b="1" baseline="0" dirty="0" smtClean="0"/>
              <a:t>(Click) </a:t>
            </a:r>
            <a:r>
              <a:rPr lang="en-AU" baseline="0" dirty="0" smtClean="0"/>
              <a:t>The last thing left to do is to give your timeline a title. The title for your timeline needs to reflect what the information on the timeline is about. As the events we listed were about important events that happened throughout Mary’s life, the title for this timeline can be as simple and straightforward as </a:t>
            </a:r>
            <a:r>
              <a:rPr lang="en-AU" b="1" baseline="0" dirty="0" smtClean="0"/>
              <a:t>(Click) </a:t>
            </a:r>
            <a:r>
              <a:rPr lang="en-AU" i="1" baseline="0" dirty="0" smtClean="0"/>
              <a:t>Timeline of Mary Irvine’s life</a:t>
            </a:r>
            <a:r>
              <a:rPr lang="en-AU" baseline="0" dirty="0" smtClean="0"/>
              <a:t>. So here you have it, a completed historical timeline. </a:t>
            </a:r>
            <a:endParaRPr lang="en-AU" dirty="0"/>
          </a:p>
        </p:txBody>
      </p:sp>
      <p:sp>
        <p:nvSpPr>
          <p:cNvPr id="4" name="Slide Number Placeholder 3"/>
          <p:cNvSpPr>
            <a:spLocks noGrp="1"/>
          </p:cNvSpPr>
          <p:nvPr>
            <p:ph type="sldNum" sz="quarter" idx="10"/>
          </p:nvPr>
        </p:nvSpPr>
        <p:spPr/>
        <p:txBody>
          <a:bodyPr/>
          <a:lstStyle/>
          <a:p>
            <a:fld id="{BDD8EFDA-7918-4BD0-8E91-CD91CFDEB8D1}" type="slidenum">
              <a:rPr lang="en-AU" smtClean="0"/>
              <a:t>9</a:t>
            </a:fld>
            <a:endParaRPr lang="en-AU" dirty="0"/>
          </a:p>
        </p:txBody>
      </p:sp>
    </p:spTree>
    <p:extLst>
      <p:ext uri="{BB962C8B-B14F-4D97-AF65-F5344CB8AC3E}">
        <p14:creationId xmlns:p14="http://schemas.microsoft.com/office/powerpoint/2010/main" val="32236503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dirty="0" smtClean="0"/>
              <a:t>Here is a recap of</a:t>
            </a:r>
            <a:r>
              <a:rPr lang="en-AU" sz="1200" baseline="0" dirty="0" smtClean="0"/>
              <a:t> the important information covered in this slideshow. </a:t>
            </a:r>
            <a:r>
              <a:rPr lang="en-AU" b="1" baseline="0" dirty="0" smtClean="0"/>
              <a:t>(Click) </a:t>
            </a:r>
            <a:r>
              <a:rPr lang="en-AU" sz="1200" dirty="0" smtClean="0"/>
              <a:t>A</a:t>
            </a:r>
            <a:r>
              <a:rPr lang="en-AU" dirty="0" smtClean="0">
                <a:solidFill>
                  <a:schemeClr val="tx1"/>
                </a:solidFill>
                <a:latin typeface="QBeginners" panose="00000400000000000000" pitchFamily="2" charset="0"/>
              </a:rPr>
              <a:t> timeline is a line on which important events or developments are put in time order or chronological order. There are</a:t>
            </a:r>
            <a:r>
              <a:rPr lang="en-AU" baseline="0" dirty="0" smtClean="0">
                <a:solidFill>
                  <a:schemeClr val="tx1"/>
                </a:solidFill>
                <a:latin typeface="QBeginners" panose="00000400000000000000" pitchFamily="2" charset="0"/>
              </a:rPr>
              <a:t> six key steps involved in constructing a historical timeline. </a:t>
            </a:r>
            <a:r>
              <a:rPr lang="en-AU" b="1" baseline="0" dirty="0" smtClean="0"/>
              <a:t>(Click) </a:t>
            </a:r>
            <a:r>
              <a:rPr lang="en-AU" baseline="0" dirty="0" smtClean="0">
                <a:solidFill>
                  <a:schemeClr val="tx1"/>
                </a:solidFill>
                <a:latin typeface="QBeginners" panose="00000400000000000000" pitchFamily="2" charset="0"/>
              </a:rPr>
              <a:t>Step 1 is to determine the length of the line. </a:t>
            </a:r>
            <a:r>
              <a:rPr lang="en-AU" b="1" baseline="0" dirty="0" smtClean="0"/>
              <a:t>(Click) </a:t>
            </a:r>
            <a:r>
              <a:rPr lang="en-AU" baseline="0" dirty="0" smtClean="0">
                <a:solidFill>
                  <a:schemeClr val="tx1"/>
                </a:solidFill>
                <a:latin typeface="QBeginners" panose="00000400000000000000" pitchFamily="2" charset="0"/>
              </a:rPr>
              <a:t>Step 2 is to draw the line. </a:t>
            </a:r>
            <a:r>
              <a:rPr lang="en-AU" b="1" baseline="0" dirty="0" smtClean="0"/>
              <a:t>(Click) </a:t>
            </a:r>
            <a:r>
              <a:rPr lang="en-AU" baseline="0" dirty="0" smtClean="0">
                <a:solidFill>
                  <a:schemeClr val="tx1"/>
                </a:solidFill>
                <a:latin typeface="QBeginners" panose="00000400000000000000" pitchFamily="2" charset="0"/>
              </a:rPr>
              <a:t>Step 3 is to divide the timeline into equal intervals of time. </a:t>
            </a:r>
            <a:r>
              <a:rPr lang="en-AU" b="1" baseline="0" dirty="0" smtClean="0"/>
              <a:t>(Click) </a:t>
            </a:r>
            <a:r>
              <a:rPr lang="en-AU" baseline="0" dirty="0" smtClean="0">
                <a:solidFill>
                  <a:schemeClr val="tx1"/>
                </a:solidFill>
                <a:latin typeface="QBeginners" panose="00000400000000000000" pitchFamily="2" charset="0"/>
              </a:rPr>
              <a:t>Step 4 involves recording the appropriate dates on each interval of time, followed by </a:t>
            </a:r>
            <a:r>
              <a:rPr lang="en-AU" b="1" baseline="0" dirty="0" smtClean="0"/>
              <a:t>(Click) Step 5, </a:t>
            </a:r>
            <a:r>
              <a:rPr lang="en-AU" baseline="0" dirty="0" smtClean="0">
                <a:solidFill>
                  <a:schemeClr val="tx1"/>
                </a:solidFill>
                <a:latin typeface="QBeginners" panose="00000400000000000000" pitchFamily="2" charset="0"/>
              </a:rPr>
              <a:t>placing the events in the correct place along the line. </a:t>
            </a:r>
            <a:r>
              <a:rPr lang="en-AU" b="1" baseline="0" dirty="0" smtClean="0"/>
              <a:t>(Click) </a:t>
            </a:r>
            <a:r>
              <a:rPr lang="en-AU" baseline="0" dirty="0" smtClean="0">
                <a:solidFill>
                  <a:schemeClr val="tx1"/>
                </a:solidFill>
                <a:latin typeface="QBeginners" panose="00000400000000000000" pitchFamily="2" charset="0"/>
              </a:rPr>
              <a:t>The final step in constructing a timeline is to give it a suitable title. </a:t>
            </a:r>
          </a:p>
          <a:p>
            <a:endParaRPr lang="en-AU" sz="1200" dirty="0" smtClean="0"/>
          </a:p>
          <a:p>
            <a:endParaRPr lang="en-AU" dirty="0"/>
          </a:p>
        </p:txBody>
      </p:sp>
      <p:sp>
        <p:nvSpPr>
          <p:cNvPr id="4" name="Slide Number Placeholder 3"/>
          <p:cNvSpPr>
            <a:spLocks noGrp="1"/>
          </p:cNvSpPr>
          <p:nvPr>
            <p:ph type="sldNum" sz="quarter" idx="10"/>
          </p:nvPr>
        </p:nvSpPr>
        <p:spPr/>
        <p:txBody>
          <a:bodyPr/>
          <a:lstStyle/>
          <a:p>
            <a:fld id="{BDD8EFDA-7918-4BD0-8E91-CD91CFDEB8D1}" type="slidenum">
              <a:rPr lang="en-AU" smtClean="0"/>
              <a:t>10</a:t>
            </a:fld>
            <a:endParaRPr lang="en-AU" dirty="0"/>
          </a:p>
        </p:txBody>
      </p:sp>
    </p:spTree>
    <p:extLst>
      <p:ext uri="{BB962C8B-B14F-4D97-AF65-F5344CB8AC3E}">
        <p14:creationId xmlns:p14="http://schemas.microsoft.com/office/powerpoint/2010/main" val="3741541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DD8EFDA-7918-4BD0-8E91-CD91CFDEB8D1}" type="slidenum">
              <a:rPr lang="en-AU" smtClean="0"/>
              <a:t>11</a:t>
            </a:fld>
            <a:endParaRPr lang="en-AU" dirty="0"/>
          </a:p>
        </p:txBody>
      </p:sp>
    </p:spTree>
    <p:extLst>
      <p:ext uri="{BB962C8B-B14F-4D97-AF65-F5344CB8AC3E}">
        <p14:creationId xmlns:p14="http://schemas.microsoft.com/office/powerpoint/2010/main" val="3487939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6/27/2017</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1F7A02DC-2446-6448-A6DA-18D630DE2ED7}" type="slidenum">
              <a:rPr lang="en-US" smtClean="0"/>
              <a:t>‹#›</a:t>
            </a:fld>
            <a:endParaRPr lang="en-US" dirty="0"/>
          </a:p>
        </p:txBody>
      </p:sp>
    </p:spTree>
    <p:extLst>
      <p:ext uri="{BB962C8B-B14F-4D97-AF65-F5344CB8AC3E}">
        <p14:creationId xmlns:p14="http://schemas.microsoft.com/office/powerpoint/2010/main" val="3906482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6/27/2017</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1F7A02DC-2446-6448-A6DA-18D630DE2ED7}" type="slidenum">
              <a:rPr lang="en-US" smtClean="0"/>
              <a:t>‹#›</a:t>
            </a:fld>
            <a:endParaRPr lang="en-US" dirty="0"/>
          </a:p>
        </p:txBody>
      </p:sp>
    </p:spTree>
    <p:extLst>
      <p:ext uri="{BB962C8B-B14F-4D97-AF65-F5344CB8AC3E}">
        <p14:creationId xmlns:p14="http://schemas.microsoft.com/office/powerpoint/2010/main" val="2256202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6/27/2017</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1F7A02DC-2446-6448-A6DA-18D630DE2ED7}" type="slidenum">
              <a:rPr lang="en-US" smtClean="0"/>
              <a:t>‹#›</a:t>
            </a:fld>
            <a:endParaRPr lang="en-US" dirty="0"/>
          </a:p>
        </p:txBody>
      </p:sp>
    </p:spTree>
    <p:extLst>
      <p:ext uri="{BB962C8B-B14F-4D97-AF65-F5344CB8AC3E}">
        <p14:creationId xmlns:p14="http://schemas.microsoft.com/office/powerpoint/2010/main" val="3456071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6/27/2017</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1F7A02DC-2446-6448-A6DA-18D630DE2ED7}" type="slidenum">
              <a:rPr lang="en-US" smtClean="0"/>
              <a:t>‹#›</a:t>
            </a:fld>
            <a:endParaRPr lang="en-US" dirty="0"/>
          </a:p>
        </p:txBody>
      </p:sp>
    </p:spTree>
    <p:extLst>
      <p:ext uri="{BB962C8B-B14F-4D97-AF65-F5344CB8AC3E}">
        <p14:creationId xmlns:p14="http://schemas.microsoft.com/office/powerpoint/2010/main" val="4195985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6/27/2017</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p:txBody>
          <a:bodyPr/>
          <a:lstStyle/>
          <a:p>
            <a:fld id="{1F7A02DC-2446-6448-A6DA-18D630DE2ED7}" type="slidenum">
              <a:rPr lang="en-US" smtClean="0"/>
              <a:t>‹#›</a:t>
            </a:fld>
            <a:endParaRPr lang="en-US" dirty="0"/>
          </a:p>
        </p:txBody>
      </p:sp>
    </p:spTree>
    <p:extLst>
      <p:ext uri="{BB962C8B-B14F-4D97-AF65-F5344CB8AC3E}">
        <p14:creationId xmlns:p14="http://schemas.microsoft.com/office/powerpoint/2010/main" val="3300383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6/27/2017</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1F7A02DC-2446-6448-A6DA-18D630DE2ED7}" type="slidenum">
              <a:rPr lang="en-US" smtClean="0"/>
              <a:t>‹#›</a:t>
            </a:fld>
            <a:endParaRPr lang="en-US" dirty="0"/>
          </a:p>
        </p:txBody>
      </p:sp>
    </p:spTree>
    <p:extLst>
      <p:ext uri="{BB962C8B-B14F-4D97-AF65-F5344CB8AC3E}">
        <p14:creationId xmlns:p14="http://schemas.microsoft.com/office/powerpoint/2010/main" val="4225016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6/27/2017</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p:txBody>
          <a:bodyPr/>
          <a:lstStyle/>
          <a:p>
            <a:fld id="{1F7A02DC-2446-6448-A6DA-18D630DE2ED7}" type="slidenum">
              <a:rPr lang="en-US" smtClean="0"/>
              <a:t>‹#›</a:t>
            </a:fld>
            <a:endParaRPr lang="en-US" dirty="0"/>
          </a:p>
        </p:txBody>
      </p:sp>
    </p:spTree>
    <p:extLst>
      <p:ext uri="{BB962C8B-B14F-4D97-AF65-F5344CB8AC3E}">
        <p14:creationId xmlns:p14="http://schemas.microsoft.com/office/powerpoint/2010/main" val="3821775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6/27/2017</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1F7A02DC-2446-6448-A6DA-18D630DE2ED7}" type="slidenum">
              <a:rPr lang="en-US" smtClean="0"/>
              <a:t>‹#›</a:t>
            </a:fld>
            <a:endParaRPr lang="en-US" dirty="0"/>
          </a:p>
        </p:txBody>
      </p:sp>
    </p:spTree>
    <p:extLst>
      <p:ext uri="{BB962C8B-B14F-4D97-AF65-F5344CB8AC3E}">
        <p14:creationId xmlns:p14="http://schemas.microsoft.com/office/powerpoint/2010/main" val="2076073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6/27/2017</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1F7A02DC-2446-6448-A6DA-18D630DE2ED7}" type="slidenum">
              <a:rPr lang="en-US" smtClean="0"/>
              <a:t>‹#›</a:t>
            </a:fld>
            <a:endParaRPr lang="en-US" dirty="0"/>
          </a:p>
        </p:txBody>
      </p:sp>
    </p:spTree>
    <p:extLst>
      <p:ext uri="{BB962C8B-B14F-4D97-AF65-F5344CB8AC3E}">
        <p14:creationId xmlns:p14="http://schemas.microsoft.com/office/powerpoint/2010/main" val="2045787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6/27/2017</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1F7A02DC-2446-6448-A6DA-18D630DE2ED7}" type="slidenum">
              <a:rPr lang="en-US" smtClean="0"/>
              <a:t>‹#›</a:t>
            </a:fld>
            <a:endParaRPr lang="en-US" dirty="0"/>
          </a:p>
        </p:txBody>
      </p:sp>
    </p:spTree>
    <p:extLst>
      <p:ext uri="{BB962C8B-B14F-4D97-AF65-F5344CB8AC3E}">
        <p14:creationId xmlns:p14="http://schemas.microsoft.com/office/powerpoint/2010/main" val="1606321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6/27/2017</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1F7A02DC-2446-6448-A6DA-18D630DE2ED7}" type="slidenum">
              <a:rPr lang="en-US" smtClean="0"/>
              <a:t>‹#›</a:t>
            </a:fld>
            <a:endParaRPr lang="en-US" dirty="0"/>
          </a:p>
        </p:txBody>
      </p:sp>
    </p:spTree>
    <p:extLst>
      <p:ext uri="{BB962C8B-B14F-4D97-AF65-F5344CB8AC3E}">
        <p14:creationId xmlns:p14="http://schemas.microsoft.com/office/powerpoint/2010/main" val="2073102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5000"/>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974DF9-AD47-4691-BA21-BBFCE3637A9A}" type="slidenum">
              <a:rPr kumimoji="0" lang="en-US" smtClean="0"/>
              <a:pPr eaLnBrk="1" latinLnBrk="0" hangingPunct="1"/>
              <a:t>‹#›</a:t>
            </a:fld>
            <a:endParaRPr kumimoji="0" lang="en-US"/>
          </a:p>
        </p:txBody>
      </p:sp>
      <p:sp>
        <p:nvSpPr>
          <p:cNvPr id="11" name="Rectangle 10"/>
          <p:cNvSpPr/>
          <p:nvPr userDrawn="1"/>
        </p:nvSpPr>
        <p:spPr>
          <a:xfrm>
            <a:off x="564693" y="6562145"/>
            <a:ext cx="2431323" cy="184666"/>
          </a:xfrm>
          <a:prstGeom prst="rect">
            <a:avLst/>
          </a:prstGeom>
        </p:spPr>
        <p:txBody>
          <a:bodyPr wrap="square">
            <a:spAutoFit/>
          </a:bodyPr>
          <a:lstStyle/>
          <a:p>
            <a:pPr algn="l" rtl="0">
              <a:spcAft>
                <a:spcPts val="200"/>
              </a:spcAft>
            </a:pPr>
            <a:r>
              <a:rPr lang="en-US" sz="600" b="0" i="0" u="none" strike="noStrike" kern="1200" baseline="0" dirty="0" smtClean="0">
                <a:solidFill>
                  <a:srgbClr val="000000"/>
                </a:solidFill>
                <a:latin typeface="Arial"/>
                <a:ea typeface="+mn-ea"/>
                <a:cs typeface="Arial"/>
              </a:rPr>
              <a:t>His_Y06_U1_SS_HowConHisTimeline</a:t>
            </a:r>
          </a:p>
        </p:txBody>
      </p:sp>
      <p:pic>
        <p:nvPicPr>
          <p:cNvPr id="12" name="Picture 11"/>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17239" y="6503155"/>
            <a:ext cx="1356360" cy="236220"/>
          </a:xfrm>
          <a:prstGeom prst="rect">
            <a:avLst/>
          </a:prstGeom>
        </p:spPr>
      </p:pic>
      <p:pic>
        <p:nvPicPr>
          <p:cNvPr id="9" name="Picture 8" descr="C2CIcon.png"/>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107504" y="6563084"/>
            <a:ext cx="424150" cy="184018"/>
          </a:xfrm>
          <a:prstGeom prst="rect">
            <a:avLst/>
          </a:prstGeom>
        </p:spPr>
      </p:pic>
      <p:pic>
        <p:nvPicPr>
          <p:cNvPr id="10" name="Picture 9" descr="../../../../../../../../Volumes/Data/Coredata/DevArea/C2C/ePublishing/Templates/logos/20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3563888" y="6551392"/>
            <a:ext cx="1719220" cy="208052"/>
          </a:xfrm>
          <a:prstGeom prst="rect">
            <a:avLst/>
          </a:prstGeom>
          <a:noFill/>
          <a:ln>
            <a:noFill/>
          </a:ln>
        </p:spPr>
      </p:pic>
    </p:spTree>
    <p:extLst>
      <p:ext uri="{BB962C8B-B14F-4D97-AF65-F5344CB8AC3E}">
        <p14:creationId xmlns:p14="http://schemas.microsoft.com/office/powerpoint/2010/main" val="1670844274"/>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jp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0985" y="4131974"/>
            <a:ext cx="3314852" cy="2335500"/>
          </a:xfrm>
          <a:prstGeom prst="rect">
            <a:avLst/>
          </a:prstGeom>
          <a:ln>
            <a:noFill/>
          </a:ln>
          <a:effectLst>
            <a:outerShdw blurRad="190500" algn="tl" rotWithShape="0">
              <a:srgbClr val="000000">
                <a:alpha val="70000"/>
              </a:srgbClr>
            </a:outerShdw>
          </a:effectLst>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699" y="1744951"/>
            <a:ext cx="3242944" cy="2341274"/>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50985" y="1716376"/>
            <a:ext cx="3314852" cy="2341274"/>
          </a:xfrm>
          <a:prstGeom prst="rect">
            <a:avLst/>
          </a:prstGeom>
          <a:ln>
            <a:noFill/>
          </a:ln>
          <a:effectLst>
            <a:outerShdw blurRad="190500" algn="tl" rotWithShape="0">
              <a:srgbClr val="000000">
                <a:alpha val="70000"/>
              </a:srgbClr>
            </a:outerShdw>
          </a:effectLst>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30224" y="4131974"/>
            <a:ext cx="3242944" cy="2335501"/>
          </a:xfrm>
          <a:prstGeom prst="rect">
            <a:avLst/>
          </a:prstGeom>
          <a:ln>
            <a:noFill/>
          </a:ln>
          <a:effectLst>
            <a:outerShdw blurRad="190500" algn="tl" rotWithShape="0">
              <a:srgbClr val="000000">
                <a:alpha val="70000"/>
              </a:srgbClr>
            </a:outerShdw>
          </a:effectLst>
        </p:spPr>
      </p:pic>
      <p:sp>
        <p:nvSpPr>
          <p:cNvPr id="9" name="Rounded Rectangle 8"/>
          <p:cNvSpPr/>
          <p:nvPr/>
        </p:nvSpPr>
        <p:spPr>
          <a:xfrm>
            <a:off x="849888" y="371475"/>
            <a:ext cx="7246560" cy="1019175"/>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AU" sz="3600" dirty="0" smtClean="0">
                <a:latin typeface="Cambria" panose="02040503050406030204" pitchFamily="18" charset="0"/>
                <a:cs typeface="Adobe Hebrew" pitchFamily="18" charset="-79"/>
              </a:rPr>
              <a:t>How to construct a History timeline</a:t>
            </a:r>
            <a:endParaRPr lang="en-AU" sz="3600" dirty="0">
              <a:latin typeface="Cambria" panose="02040503050406030204" pitchFamily="18" charset="0"/>
              <a:cs typeface="Adobe Hebrew" pitchFamily="18" charset="-79"/>
            </a:endParaRPr>
          </a:p>
        </p:txBody>
      </p:sp>
      <p:sp>
        <p:nvSpPr>
          <p:cNvPr id="10" name="Explosion 1 9"/>
          <p:cNvSpPr/>
          <p:nvPr/>
        </p:nvSpPr>
        <p:spPr>
          <a:xfrm>
            <a:off x="3443004" y="3086100"/>
            <a:ext cx="2462496" cy="1601601"/>
          </a:xfrm>
          <a:prstGeom prst="irregularSeal1">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AU" sz="3000" dirty="0" smtClean="0">
                <a:latin typeface="+mj-lt"/>
              </a:rPr>
              <a:t>Lines</a:t>
            </a:r>
            <a:endParaRPr lang="en-AU" sz="3000" dirty="0">
              <a:latin typeface="+mj-lt"/>
            </a:endParaRPr>
          </a:p>
        </p:txBody>
      </p:sp>
      <p:sp>
        <p:nvSpPr>
          <p:cNvPr id="11" name="Explosion 1 10"/>
          <p:cNvSpPr/>
          <p:nvPr/>
        </p:nvSpPr>
        <p:spPr>
          <a:xfrm>
            <a:off x="2358316" y="2060812"/>
            <a:ext cx="4385338" cy="3575610"/>
          </a:xfrm>
          <a:prstGeom prst="irregularSeal1">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AU" sz="3000" dirty="0" smtClean="0">
                <a:latin typeface="+mj-lt"/>
              </a:rPr>
              <a:t>Pattern of intervals</a:t>
            </a:r>
            <a:endParaRPr lang="en-AU" sz="3000" dirty="0">
              <a:latin typeface="+mj-lt"/>
            </a:endParaRPr>
          </a:p>
        </p:txBody>
      </p:sp>
      <p:cxnSp>
        <p:nvCxnSpPr>
          <p:cNvPr id="7" name="Straight Arrow Connector 6"/>
          <p:cNvCxnSpPr/>
          <p:nvPr/>
        </p:nvCxnSpPr>
        <p:spPr>
          <a:xfrm flipV="1">
            <a:off x="2404845" y="3086100"/>
            <a:ext cx="437326" cy="116682"/>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6238875" y="3086100"/>
            <a:ext cx="0" cy="233364"/>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2404845" y="5183986"/>
            <a:ext cx="276225" cy="2"/>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5725606" y="5636422"/>
            <a:ext cx="340737" cy="0"/>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0" y="5788400"/>
            <a:ext cx="1346479" cy="522433"/>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72000" tIns="72000" rIns="72000" bIns="72000" rtlCol="0">
            <a:spAutoFit/>
          </a:bodyPr>
          <a:lstStyle/>
          <a:p>
            <a:pPr>
              <a:spcAft>
                <a:spcPts val="300"/>
              </a:spcAft>
            </a:pPr>
            <a:r>
              <a:rPr lang="en-AU" sz="1200" dirty="0">
                <a:solidFill>
                  <a:srgbClr val="FFFFCC"/>
                </a:solidFill>
                <a:latin typeface="Calibri" panose="020F0502020204030204" pitchFamily="34" charset="0"/>
                <a:cs typeface="Arial" panose="020B0604020202020204" pitchFamily="34" charset="0"/>
              </a:rPr>
              <a:t>Teacher Tip</a:t>
            </a:r>
          </a:p>
          <a:p>
            <a:pPr>
              <a:spcAft>
                <a:spcPts val="300"/>
              </a:spcAft>
            </a:pPr>
            <a:r>
              <a:rPr lang="en-AU" sz="1000" dirty="0" smtClean="0">
                <a:solidFill>
                  <a:srgbClr val="FFFFCC"/>
                </a:solidFill>
                <a:latin typeface="Calibri" panose="020F0502020204030204" pitchFamily="34" charset="0"/>
                <a:cs typeface="Arial" panose="020B0604020202020204" pitchFamily="34" charset="0"/>
              </a:rPr>
              <a:t>Use </a:t>
            </a:r>
            <a:r>
              <a:rPr lang="en-AU" sz="1000" dirty="0">
                <a:solidFill>
                  <a:srgbClr val="FFFFCC"/>
                </a:solidFill>
                <a:latin typeface="Calibri" panose="020F0502020204030204" pitchFamily="34" charset="0"/>
                <a:cs typeface="Arial" panose="020B0604020202020204" pitchFamily="34" charset="0"/>
              </a:rPr>
              <a:t>slideshow </a:t>
            </a:r>
            <a:r>
              <a:rPr lang="en-AU" sz="1000" dirty="0" smtClean="0">
                <a:solidFill>
                  <a:srgbClr val="FFFFCC"/>
                </a:solidFill>
                <a:latin typeface="Calibri" panose="020F0502020204030204" pitchFamily="34" charset="0"/>
                <a:cs typeface="Arial" panose="020B0604020202020204" pitchFamily="34" charset="0"/>
              </a:rPr>
              <a:t>mode.</a:t>
            </a:r>
            <a:endParaRPr lang="en-AU" sz="1000" dirty="0">
              <a:solidFill>
                <a:srgbClr val="FFFFCC"/>
              </a:solidFill>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463122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par>
                                <p:cTn id="13" presetID="26" presetClass="emph" presetSubtype="0" fill="hold" nodeType="withEffect">
                                  <p:stCondLst>
                                    <p:cond delay="0"/>
                                  </p:stCondLst>
                                  <p:childTnLst>
                                    <p:animEffect transition="out" filter="fade">
                                      <p:cBhvr>
                                        <p:cTn id="14" dur="500" tmFilter="0, 0; .2, .5; .8, .5; 1, 0"/>
                                        <p:tgtEl>
                                          <p:spTgt spid="4"/>
                                        </p:tgtEl>
                                      </p:cBhvr>
                                    </p:animEffect>
                                    <p:animScale>
                                      <p:cBhvr>
                                        <p:cTn id="15" dur="250" autoRev="1" fill="hold"/>
                                        <p:tgtEl>
                                          <p:spTgt spid="4"/>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26" presetClass="emph" presetSubtype="0" fill="hold" nodeType="clickEffect">
                                  <p:stCondLst>
                                    <p:cond delay="0"/>
                                  </p:stCondLst>
                                  <p:childTnLst>
                                    <p:animEffect transition="out" filter="fade">
                                      <p:cBhvr>
                                        <p:cTn id="19" dur="500" tmFilter="0, 0; .2, .5; .8, .5; 1, 0"/>
                                        <p:tgtEl>
                                          <p:spTgt spid="5"/>
                                        </p:tgtEl>
                                      </p:cBhvr>
                                    </p:animEffect>
                                    <p:animScale>
                                      <p:cBhvr>
                                        <p:cTn id="20" dur="250" autoRev="1" fill="hold"/>
                                        <p:tgtEl>
                                          <p:spTgt spid="5"/>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26" presetClass="emph" presetSubtype="0" fill="hold" nodeType="clickEffect">
                                  <p:stCondLst>
                                    <p:cond delay="0"/>
                                  </p:stCondLst>
                                  <p:childTnLst>
                                    <p:animEffect transition="out" filter="fade">
                                      <p:cBhvr>
                                        <p:cTn id="24" dur="500" tmFilter="0, 0; .2, .5; .8, .5; 1, 0"/>
                                        <p:tgtEl>
                                          <p:spTgt spid="6"/>
                                        </p:tgtEl>
                                      </p:cBhvr>
                                    </p:animEffect>
                                    <p:animScale>
                                      <p:cBhvr>
                                        <p:cTn id="25" dur="250" autoRev="1" fill="hold"/>
                                        <p:tgtEl>
                                          <p:spTgt spid="6"/>
                                        </p:tgtEl>
                                      </p:cBhvr>
                                      <p:by x="105000" y="105000"/>
                                    </p:animScale>
                                  </p:childTnLst>
                                </p:cTn>
                              </p:par>
                            </p:childTnLst>
                          </p:cTn>
                        </p:par>
                      </p:childTnLst>
                    </p:cTn>
                  </p:par>
                  <p:par>
                    <p:cTn id="26" fill="hold">
                      <p:stCondLst>
                        <p:cond delay="indefinite"/>
                      </p:stCondLst>
                      <p:childTnLst>
                        <p:par>
                          <p:cTn id="27" fill="hold">
                            <p:stCondLst>
                              <p:cond delay="0"/>
                            </p:stCondLst>
                            <p:childTnLst>
                              <p:par>
                                <p:cTn id="28" presetID="26" presetClass="emph" presetSubtype="0" fill="hold" nodeType="clickEffect">
                                  <p:stCondLst>
                                    <p:cond delay="0"/>
                                  </p:stCondLst>
                                  <p:childTnLst>
                                    <p:animEffect transition="out" filter="fade">
                                      <p:cBhvr>
                                        <p:cTn id="29" dur="500" tmFilter="0, 0; .2, .5; .8, .5; 1, 0"/>
                                        <p:tgtEl>
                                          <p:spTgt spid="3"/>
                                        </p:tgtEl>
                                      </p:cBhvr>
                                    </p:animEffect>
                                    <p:animScale>
                                      <p:cBhvr>
                                        <p:cTn id="30" dur="250" autoRev="1" fill="hold"/>
                                        <p:tgtEl>
                                          <p:spTgt spid="3"/>
                                        </p:tgtEl>
                                      </p:cBhvr>
                                      <p:by x="105000" y="105000"/>
                                    </p:animScale>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barn(inVertical)">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grpId="1" nodeType="clickEffect">
                                  <p:stCondLst>
                                    <p:cond delay="0"/>
                                  </p:stCondLst>
                                  <p:childTnLst>
                                    <p:animEffect transition="out" filter="fade">
                                      <p:cBhvr>
                                        <p:cTn id="39" dur="500"/>
                                        <p:tgtEl>
                                          <p:spTgt spid="11"/>
                                        </p:tgtEl>
                                      </p:cBhvr>
                                    </p:animEffect>
                                    <p:set>
                                      <p:cBhvr>
                                        <p:cTn id="40" dur="1" fill="hold">
                                          <p:stCondLst>
                                            <p:cond delay="499"/>
                                          </p:stCondLst>
                                        </p:cTn>
                                        <p:tgtEl>
                                          <p:spTgt spid="11"/>
                                        </p:tgtEl>
                                        <p:attrNameLst>
                                          <p:attrName>style.visibility</p:attrName>
                                        </p:attrNameLst>
                                      </p:cBhvr>
                                      <p:to>
                                        <p:strVal val="hidden"/>
                                      </p:to>
                                    </p:set>
                                  </p:childTnLst>
                                </p:cTn>
                              </p:par>
                              <p:par>
                                <p:cTn id="41" presetID="2" presetClass="entr" presetSubtype="4" fill="hold" nodeType="with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ppt_x"/>
                                          </p:val>
                                        </p:tav>
                                        <p:tav tm="100000">
                                          <p:val>
                                            <p:strVal val="#ppt_x"/>
                                          </p:val>
                                        </p:tav>
                                      </p:tavLst>
                                    </p:anim>
                                    <p:anim calcmode="lin" valueType="num">
                                      <p:cBhvr additive="base">
                                        <p:cTn id="5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9"/>
                                        </p:tgtEl>
                                        <p:attrNameLst>
                                          <p:attrName>style.visibility</p:attrName>
                                        </p:attrNameLst>
                                      </p:cBhvr>
                                      <p:to>
                                        <p:strVal val="visible"/>
                                      </p:to>
                                    </p:set>
                                    <p:anim calcmode="lin" valueType="num">
                                      <p:cBhvr additive="base">
                                        <p:cTn id="61" dur="500" fill="hold"/>
                                        <p:tgtEl>
                                          <p:spTgt spid="19"/>
                                        </p:tgtEl>
                                        <p:attrNameLst>
                                          <p:attrName>ppt_x</p:attrName>
                                        </p:attrNameLst>
                                      </p:cBhvr>
                                      <p:tavLst>
                                        <p:tav tm="0">
                                          <p:val>
                                            <p:strVal val="#ppt_x"/>
                                          </p:val>
                                        </p:tav>
                                        <p:tav tm="100000">
                                          <p:val>
                                            <p:strVal val="#ppt_x"/>
                                          </p:val>
                                        </p:tav>
                                      </p:tavLst>
                                    </p:anim>
                                    <p:anim calcmode="lin" valueType="num">
                                      <p:cBhvr additive="base">
                                        <p:cTn id="6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672877" y="3686061"/>
            <a:ext cx="2106730" cy="1800070"/>
            <a:chOff x="1112362" y="623181"/>
            <a:chExt cx="2106730" cy="1800070"/>
          </a:xfrm>
        </p:grpSpPr>
        <p:pic>
          <p:nvPicPr>
            <p:cNvPr id="21" name="Picture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5110" y="623181"/>
              <a:ext cx="2023982" cy="1517986"/>
            </a:xfrm>
            <a:prstGeom prst="rect">
              <a:avLst/>
            </a:prstGeom>
          </p:spPr>
        </p:pic>
        <p:sp>
          <p:nvSpPr>
            <p:cNvPr id="22" name="TextBox 21"/>
            <p:cNvSpPr txBox="1"/>
            <p:nvPr/>
          </p:nvSpPr>
          <p:spPr>
            <a:xfrm>
              <a:off x="1112362" y="2177030"/>
              <a:ext cx="2106729" cy="246221"/>
            </a:xfrm>
            <a:prstGeom prst="rect">
              <a:avLst/>
            </a:prstGeom>
            <a:noFill/>
          </p:spPr>
          <p:txBody>
            <a:bodyPr wrap="square" rtlCol="0">
              <a:spAutoFit/>
            </a:bodyPr>
            <a:lstStyle/>
            <a:p>
              <a:pPr algn="ctr"/>
              <a:r>
                <a:rPr lang="en-AU" sz="1000" b="1" dirty="0" smtClean="0"/>
                <a:t>World War </a:t>
              </a:r>
              <a:r>
                <a:rPr lang="en-AU" sz="1000" b="1" dirty="0"/>
                <a:t>I</a:t>
              </a:r>
            </a:p>
          </p:txBody>
        </p:sp>
      </p:grpSp>
      <p:grpSp>
        <p:nvGrpSpPr>
          <p:cNvPr id="6" name="Group 5"/>
          <p:cNvGrpSpPr/>
          <p:nvPr/>
        </p:nvGrpSpPr>
        <p:grpSpPr>
          <a:xfrm>
            <a:off x="3671880" y="1303774"/>
            <a:ext cx="2135802" cy="1656008"/>
            <a:chOff x="4414990" y="362099"/>
            <a:chExt cx="2135802" cy="1656008"/>
          </a:xfrm>
        </p:grpSpPr>
        <p:pic>
          <p:nvPicPr>
            <p:cNvPr id="19" name="Pictur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5444" y="362099"/>
              <a:ext cx="2032346" cy="1352780"/>
            </a:xfrm>
            <a:prstGeom prst="rect">
              <a:avLst/>
            </a:prstGeom>
          </p:spPr>
        </p:pic>
        <p:sp>
          <p:nvSpPr>
            <p:cNvPr id="20" name="TextBox 19"/>
            <p:cNvSpPr txBox="1"/>
            <p:nvPr/>
          </p:nvSpPr>
          <p:spPr>
            <a:xfrm>
              <a:off x="4414990" y="1771886"/>
              <a:ext cx="2135802" cy="246221"/>
            </a:xfrm>
            <a:prstGeom prst="rect">
              <a:avLst/>
            </a:prstGeom>
            <a:noFill/>
          </p:spPr>
          <p:txBody>
            <a:bodyPr wrap="square" rtlCol="0">
              <a:spAutoFit/>
            </a:bodyPr>
            <a:lstStyle/>
            <a:p>
              <a:pPr algn="ctr"/>
              <a:r>
                <a:rPr lang="en-AU" sz="1000" b="1" dirty="0"/>
                <a:t>First </a:t>
              </a:r>
              <a:r>
                <a:rPr lang="en-AU" sz="1000" b="1" dirty="0" smtClean="0"/>
                <a:t>moon </a:t>
              </a:r>
              <a:r>
                <a:rPr lang="en-AU" sz="1000" b="1" dirty="0"/>
                <a:t>landing</a:t>
              </a:r>
            </a:p>
          </p:txBody>
        </p:sp>
      </p:grpSp>
      <p:grpSp>
        <p:nvGrpSpPr>
          <p:cNvPr id="7" name="Group 6"/>
          <p:cNvGrpSpPr/>
          <p:nvPr/>
        </p:nvGrpSpPr>
        <p:grpSpPr>
          <a:xfrm>
            <a:off x="3674010" y="3781945"/>
            <a:ext cx="2068994" cy="1813641"/>
            <a:chOff x="-952484" y="3360613"/>
            <a:chExt cx="2068994" cy="1813641"/>
          </a:xfrm>
        </p:grpSpPr>
        <p:sp>
          <p:nvSpPr>
            <p:cNvPr id="17" name="TextBox 16"/>
            <p:cNvSpPr txBox="1"/>
            <p:nvPr/>
          </p:nvSpPr>
          <p:spPr>
            <a:xfrm>
              <a:off x="-828554" y="4928033"/>
              <a:ext cx="1945064" cy="246221"/>
            </a:xfrm>
            <a:prstGeom prst="rect">
              <a:avLst/>
            </a:prstGeom>
            <a:noFill/>
          </p:spPr>
          <p:txBody>
            <a:bodyPr wrap="square" rtlCol="0">
              <a:spAutoFit/>
            </a:bodyPr>
            <a:lstStyle/>
            <a:p>
              <a:pPr algn="ctr"/>
              <a:r>
                <a:rPr lang="en-AU" sz="1000" b="1" dirty="0" smtClean="0"/>
                <a:t>The Age of Exploration</a:t>
              </a:r>
              <a:endParaRPr lang="en-AU" sz="1000" b="1" dirty="0"/>
            </a:p>
          </p:txBody>
        </p:sp>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2484" y="3360613"/>
              <a:ext cx="2068994" cy="1567420"/>
            </a:xfrm>
            <a:prstGeom prst="rect">
              <a:avLst/>
            </a:prstGeom>
          </p:spPr>
        </p:pic>
      </p:grpSp>
      <p:grpSp>
        <p:nvGrpSpPr>
          <p:cNvPr id="8" name="Group 7"/>
          <p:cNvGrpSpPr/>
          <p:nvPr/>
        </p:nvGrpSpPr>
        <p:grpSpPr>
          <a:xfrm>
            <a:off x="6596277" y="3768845"/>
            <a:ext cx="1902825" cy="1741664"/>
            <a:chOff x="3389321" y="1164312"/>
            <a:chExt cx="1902825" cy="1741664"/>
          </a:xfrm>
        </p:grpSpPr>
        <p:sp>
          <p:nvSpPr>
            <p:cNvPr id="15" name="TextBox 14"/>
            <p:cNvSpPr txBox="1"/>
            <p:nvPr/>
          </p:nvSpPr>
          <p:spPr>
            <a:xfrm>
              <a:off x="3414546" y="2659755"/>
              <a:ext cx="1877600" cy="246221"/>
            </a:xfrm>
            <a:prstGeom prst="rect">
              <a:avLst/>
            </a:prstGeom>
            <a:noFill/>
          </p:spPr>
          <p:txBody>
            <a:bodyPr wrap="square" rtlCol="0">
              <a:spAutoFit/>
            </a:bodyPr>
            <a:lstStyle/>
            <a:p>
              <a:pPr algn="ctr"/>
              <a:r>
                <a:rPr lang="en-AU" sz="1000" b="1" dirty="0" smtClean="0"/>
                <a:t>The French Revolution</a:t>
              </a:r>
              <a:endParaRPr lang="en-AU" sz="1000" b="1" dirty="0"/>
            </a:p>
          </p:txBody>
        </p:sp>
        <p:pic>
          <p:nvPicPr>
            <p:cNvPr id="16" name="Picture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89321" y="1164312"/>
              <a:ext cx="1902824" cy="1506193"/>
            </a:xfrm>
            <a:prstGeom prst="rect">
              <a:avLst/>
            </a:prstGeom>
          </p:spPr>
        </p:pic>
      </p:grpSp>
      <p:grpSp>
        <p:nvGrpSpPr>
          <p:cNvPr id="9" name="Group 8"/>
          <p:cNvGrpSpPr/>
          <p:nvPr/>
        </p:nvGrpSpPr>
        <p:grpSpPr>
          <a:xfrm>
            <a:off x="983031" y="877435"/>
            <a:ext cx="1430152" cy="2205457"/>
            <a:chOff x="1291887" y="3678339"/>
            <a:chExt cx="1430152" cy="2205457"/>
          </a:xfrm>
        </p:grpSpPr>
        <p:pic>
          <p:nvPicPr>
            <p:cNvPr id="13"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180" y="3678339"/>
              <a:ext cx="1350859" cy="19592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Box 13"/>
            <p:cNvSpPr txBox="1"/>
            <p:nvPr/>
          </p:nvSpPr>
          <p:spPr>
            <a:xfrm>
              <a:off x="1291887" y="5637575"/>
              <a:ext cx="1430152" cy="246221"/>
            </a:xfrm>
            <a:prstGeom prst="rect">
              <a:avLst/>
            </a:prstGeom>
            <a:noFill/>
          </p:spPr>
          <p:txBody>
            <a:bodyPr wrap="square" rtlCol="0">
              <a:spAutoFit/>
            </a:bodyPr>
            <a:lstStyle/>
            <a:p>
              <a:pPr algn="ctr"/>
              <a:r>
                <a:rPr lang="en-AU" sz="1000" b="1" dirty="0"/>
                <a:t>Printing </a:t>
              </a:r>
              <a:r>
                <a:rPr lang="en-AU" sz="1000" b="1" dirty="0" smtClean="0"/>
                <a:t>press invented</a:t>
              </a:r>
              <a:endParaRPr lang="en-AU" sz="1000" b="1" dirty="0"/>
            </a:p>
          </p:txBody>
        </p:sp>
      </p:grpSp>
      <p:grpSp>
        <p:nvGrpSpPr>
          <p:cNvPr id="10" name="Group 9"/>
          <p:cNvGrpSpPr/>
          <p:nvPr/>
        </p:nvGrpSpPr>
        <p:grpSpPr>
          <a:xfrm>
            <a:off x="6922362" y="784971"/>
            <a:ext cx="1576740" cy="2169105"/>
            <a:chOff x="3581188" y="3837802"/>
            <a:chExt cx="1576740" cy="2169105"/>
          </a:xfrm>
        </p:grpSpPr>
        <p:pic>
          <p:nvPicPr>
            <p:cNvPr id="11" name="Picture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00662" y="3837802"/>
              <a:ext cx="1131385" cy="1882499"/>
            </a:xfrm>
            <a:prstGeom prst="rect">
              <a:avLst/>
            </a:prstGeom>
          </p:spPr>
        </p:pic>
        <p:sp>
          <p:nvSpPr>
            <p:cNvPr id="12" name="TextBox 11"/>
            <p:cNvSpPr txBox="1"/>
            <p:nvPr/>
          </p:nvSpPr>
          <p:spPr>
            <a:xfrm>
              <a:off x="3581188" y="5760686"/>
              <a:ext cx="1576740" cy="246221"/>
            </a:xfrm>
            <a:prstGeom prst="rect">
              <a:avLst/>
            </a:prstGeom>
            <a:noFill/>
          </p:spPr>
          <p:txBody>
            <a:bodyPr wrap="square" rtlCol="0">
              <a:spAutoFit/>
            </a:bodyPr>
            <a:lstStyle/>
            <a:p>
              <a:r>
                <a:rPr lang="en-AU" sz="1000" b="1" dirty="0"/>
                <a:t>Beginning of Qing Dynasty</a:t>
              </a:r>
            </a:p>
          </p:txBody>
        </p:sp>
      </p:grpSp>
      <p:grpSp>
        <p:nvGrpSpPr>
          <p:cNvPr id="23" name="Group 22"/>
          <p:cNvGrpSpPr/>
          <p:nvPr/>
        </p:nvGrpSpPr>
        <p:grpSpPr>
          <a:xfrm>
            <a:off x="-18612" y="3013228"/>
            <a:ext cx="9163242" cy="329926"/>
            <a:chOff x="-18612" y="3013228"/>
            <a:chExt cx="9163242" cy="329926"/>
          </a:xfrm>
        </p:grpSpPr>
        <p:sp>
          <p:nvSpPr>
            <p:cNvPr id="24" name="TextBox 23"/>
            <p:cNvSpPr txBox="1"/>
            <p:nvPr/>
          </p:nvSpPr>
          <p:spPr>
            <a:xfrm>
              <a:off x="-18612" y="3035377"/>
              <a:ext cx="575035" cy="307777"/>
            </a:xfrm>
            <a:prstGeom prst="rect">
              <a:avLst/>
            </a:prstGeom>
            <a:noFill/>
          </p:spPr>
          <p:txBody>
            <a:bodyPr wrap="square" rtlCol="0">
              <a:spAutoFit/>
            </a:bodyPr>
            <a:lstStyle/>
            <a:p>
              <a:r>
                <a:rPr lang="en-AU" sz="1400" dirty="0" smtClean="0"/>
                <a:t>1400</a:t>
              </a:r>
              <a:endParaRPr lang="en-AU" sz="1400" dirty="0"/>
            </a:p>
          </p:txBody>
        </p:sp>
        <p:sp>
          <p:nvSpPr>
            <p:cNvPr id="25" name="TextBox 24"/>
            <p:cNvSpPr txBox="1"/>
            <p:nvPr/>
          </p:nvSpPr>
          <p:spPr>
            <a:xfrm>
              <a:off x="1410590" y="3013229"/>
              <a:ext cx="575035" cy="307777"/>
            </a:xfrm>
            <a:prstGeom prst="rect">
              <a:avLst/>
            </a:prstGeom>
            <a:noFill/>
          </p:spPr>
          <p:txBody>
            <a:bodyPr wrap="square" rtlCol="0">
              <a:spAutoFit/>
            </a:bodyPr>
            <a:lstStyle/>
            <a:p>
              <a:r>
                <a:rPr lang="en-AU" sz="1400" dirty="0" smtClean="0"/>
                <a:t>1500</a:t>
              </a:r>
              <a:endParaRPr lang="en-AU" sz="1400" dirty="0"/>
            </a:p>
          </p:txBody>
        </p:sp>
        <p:sp>
          <p:nvSpPr>
            <p:cNvPr id="26" name="TextBox 25"/>
            <p:cNvSpPr txBox="1"/>
            <p:nvPr/>
          </p:nvSpPr>
          <p:spPr>
            <a:xfrm>
              <a:off x="4296140" y="3035377"/>
              <a:ext cx="575035" cy="307777"/>
            </a:xfrm>
            <a:prstGeom prst="rect">
              <a:avLst/>
            </a:prstGeom>
            <a:noFill/>
          </p:spPr>
          <p:txBody>
            <a:bodyPr wrap="square" rtlCol="0">
              <a:spAutoFit/>
            </a:bodyPr>
            <a:lstStyle/>
            <a:p>
              <a:r>
                <a:rPr lang="en-AU" sz="1400" dirty="0" smtClean="0"/>
                <a:t>1700</a:t>
              </a:r>
              <a:endParaRPr lang="en-AU" sz="1400" dirty="0"/>
            </a:p>
          </p:txBody>
        </p:sp>
        <p:sp>
          <p:nvSpPr>
            <p:cNvPr id="27" name="TextBox 26"/>
            <p:cNvSpPr txBox="1"/>
            <p:nvPr/>
          </p:nvSpPr>
          <p:spPr>
            <a:xfrm>
              <a:off x="2840742" y="3013228"/>
              <a:ext cx="575035" cy="307777"/>
            </a:xfrm>
            <a:prstGeom prst="rect">
              <a:avLst/>
            </a:prstGeom>
            <a:noFill/>
          </p:spPr>
          <p:txBody>
            <a:bodyPr wrap="square" rtlCol="0">
              <a:spAutoFit/>
            </a:bodyPr>
            <a:lstStyle/>
            <a:p>
              <a:r>
                <a:rPr lang="en-AU" sz="1400" dirty="0" smtClean="0"/>
                <a:t>1600</a:t>
              </a:r>
              <a:endParaRPr lang="en-AU" sz="1400" dirty="0"/>
            </a:p>
          </p:txBody>
        </p:sp>
        <p:sp>
          <p:nvSpPr>
            <p:cNvPr id="28" name="TextBox 27"/>
            <p:cNvSpPr txBox="1"/>
            <p:nvPr/>
          </p:nvSpPr>
          <p:spPr>
            <a:xfrm>
              <a:off x="5761215" y="3013228"/>
              <a:ext cx="575035" cy="307777"/>
            </a:xfrm>
            <a:prstGeom prst="rect">
              <a:avLst/>
            </a:prstGeom>
            <a:noFill/>
          </p:spPr>
          <p:txBody>
            <a:bodyPr wrap="square" rtlCol="0">
              <a:spAutoFit/>
            </a:bodyPr>
            <a:lstStyle/>
            <a:p>
              <a:r>
                <a:rPr lang="en-AU" sz="1400" dirty="0" smtClean="0"/>
                <a:t>1800</a:t>
              </a:r>
              <a:endParaRPr lang="en-AU" sz="1400" dirty="0"/>
            </a:p>
          </p:txBody>
        </p:sp>
        <p:sp>
          <p:nvSpPr>
            <p:cNvPr id="29" name="TextBox 28"/>
            <p:cNvSpPr txBox="1"/>
            <p:nvPr/>
          </p:nvSpPr>
          <p:spPr>
            <a:xfrm>
              <a:off x="7177072" y="3016557"/>
              <a:ext cx="575035" cy="307777"/>
            </a:xfrm>
            <a:prstGeom prst="rect">
              <a:avLst/>
            </a:prstGeom>
            <a:noFill/>
          </p:spPr>
          <p:txBody>
            <a:bodyPr wrap="square" rtlCol="0">
              <a:spAutoFit/>
            </a:bodyPr>
            <a:lstStyle/>
            <a:p>
              <a:r>
                <a:rPr lang="en-AU" sz="1400" dirty="0" smtClean="0"/>
                <a:t>1900</a:t>
              </a:r>
              <a:endParaRPr lang="en-AU" sz="1400" dirty="0"/>
            </a:p>
          </p:txBody>
        </p:sp>
        <p:sp>
          <p:nvSpPr>
            <p:cNvPr id="30" name="TextBox 29"/>
            <p:cNvSpPr txBox="1"/>
            <p:nvPr/>
          </p:nvSpPr>
          <p:spPr>
            <a:xfrm>
              <a:off x="8569595" y="3022984"/>
              <a:ext cx="575035" cy="307777"/>
            </a:xfrm>
            <a:prstGeom prst="rect">
              <a:avLst/>
            </a:prstGeom>
            <a:noFill/>
          </p:spPr>
          <p:txBody>
            <a:bodyPr wrap="square" rtlCol="0">
              <a:spAutoFit/>
            </a:bodyPr>
            <a:lstStyle/>
            <a:p>
              <a:r>
                <a:rPr lang="en-AU" sz="1400" dirty="0" smtClean="0"/>
                <a:t>2000</a:t>
              </a:r>
              <a:endParaRPr lang="en-AU" sz="1400" dirty="0"/>
            </a:p>
          </p:txBody>
        </p:sp>
      </p:grpSp>
      <p:grpSp>
        <p:nvGrpSpPr>
          <p:cNvPr id="31" name="Group 30"/>
          <p:cNvGrpSpPr/>
          <p:nvPr/>
        </p:nvGrpSpPr>
        <p:grpSpPr>
          <a:xfrm>
            <a:off x="9963" y="3297477"/>
            <a:ext cx="9133599" cy="265680"/>
            <a:chOff x="9963" y="3297477"/>
            <a:chExt cx="9133599" cy="265680"/>
          </a:xfrm>
        </p:grpSpPr>
        <p:cxnSp>
          <p:nvCxnSpPr>
            <p:cNvPr id="32" name="Straight Connector 31"/>
            <p:cNvCxnSpPr/>
            <p:nvPr/>
          </p:nvCxnSpPr>
          <p:spPr>
            <a:xfrm>
              <a:off x="67311" y="3421930"/>
              <a:ext cx="9067164" cy="707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a:xfrm>
              <a:off x="8990766" y="3297477"/>
              <a:ext cx="152796" cy="254397"/>
              <a:chOff x="8801217" y="3307002"/>
              <a:chExt cx="152796" cy="254397"/>
            </a:xfrm>
          </p:grpSpPr>
          <p:cxnSp>
            <p:nvCxnSpPr>
              <p:cNvPr id="37" name="Straight Connector 36"/>
              <p:cNvCxnSpPr/>
              <p:nvPr/>
            </p:nvCxnSpPr>
            <p:spPr>
              <a:xfrm flipH="1" flipV="1">
                <a:off x="8801217" y="3307002"/>
                <a:ext cx="152796" cy="13197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8801217" y="3426280"/>
                <a:ext cx="152400" cy="1351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flipH="1">
              <a:off x="9963" y="3308760"/>
              <a:ext cx="152796" cy="254397"/>
              <a:chOff x="8801217" y="3307002"/>
              <a:chExt cx="152796" cy="254397"/>
            </a:xfrm>
          </p:grpSpPr>
          <p:cxnSp>
            <p:nvCxnSpPr>
              <p:cNvPr id="35" name="Straight Connector 34"/>
              <p:cNvCxnSpPr/>
              <p:nvPr/>
            </p:nvCxnSpPr>
            <p:spPr>
              <a:xfrm flipH="1" flipV="1">
                <a:off x="8801217" y="3307002"/>
                <a:ext cx="152796" cy="13197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8801217" y="3426280"/>
                <a:ext cx="152400" cy="1351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39" name="Group 38"/>
          <p:cNvGrpSpPr/>
          <p:nvPr/>
        </p:nvGrpSpPr>
        <p:grpSpPr>
          <a:xfrm>
            <a:off x="251424" y="3275813"/>
            <a:ext cx="8641152" cy="311105"/>
            <a:chOff x="251424" y="3275813"/>
            <a:chExt cx="8641152" cy="311105"/>
          </a:xfrm>
        </p:grpSpPr>
        <p:cxnSp>
          <p:nvCxnSpPr>
            <p:cNvPr id="40" name="Straight Connector 39"/>
            <p:cNvCxnSpPr/>
            <p:nvPr/>
          </p:nvCxnSpPr>
          <p:spPr>
            <a:xfrm>
              <a:off x="1671687" y="3275813"/>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3131808" y="3275813"/>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4562574" y="3275813"/>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012192" y="3275813"/>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7452384" y="3275813"/>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8892576" y="3277551"/>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251424" y="3285260"/>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27275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31"/>
                                        </p:tgtEl>
                                        <p:attrNameLst>
                                          <p:attrName>r</p:attrName>
                                        </p:attrNameLst>
                                      </p:cBhvr>
                                    </p:animRot>
                                    <p:animRot by="-240000">
                                      <p:cBhvr>
                                        <p:cTn id="7" dur="200" fill="hold">
                                          <p:stCondLst>
                                            <p:cond delay="200"/>
                                          </p:stCondLst>
                                        </p:cTn>
                                        <p:tgtEl>
                                          <p:spTgt spid="31"/>
                                        </p:tgtEl>
                                        <p:attrNameLst>
                                          <p:attrName>r</p:attrName>
                                        </p:attrNameLst>
                                      </p:cBhvr>
                                    </p:animRot>
                                    <p:animRot by="240000">
                                      <p:cBhvr>
                                        <p:cTn id="8" dur="200" fill="hold">
                                          <p:stCondLst>
                                            <p:cond delay="400"/>
                                          </p:stCondLst>
                                        </p:cTn>
                                        <p:tgtEl>
                                          <p:spTgt spid="31"/>
                                        </p:tgtEl>
                                        <p:attrNameLst>
                                          <p:attrName>r</p:attrName>
                                        </p:attrNameLst>
                                      </p:cBhvr>
                                    </p:animRot>
                                    <p:animRot by="-240000">
                                      <p:cBhvr>
                                        <p:cTn id="9" dur="200" fill="hold">
                                          <p:stCondLst>
                                            <p:cond delay="600"/>
                                          </p:stCondLst>
                                        </p:cTn>
                                        <p:tgtEl>
                                          <p:spTgt spid="31"/>
                                        </p:tgtEl>
                                        <p:attrNameLst>
                                          <p:attrName>r</p:attrName>
                                        </p:attrNameLst>
                                      </p:cBhvr>
                                    </p:animRot>
                                    <p:animRot by="120000">
                                      <p:cBhvr>
                                        <p:cTn id="10" dur="200" fill="hold">
                                          <p:stCondLst>
                                            <p:cond delay="800"/>
                                          </p:stCondLst>
                                        </p:cTn>
                                        <p:tgtEl>
                                          <p:spTgt spid="31"/>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26" presetClass="emph" presetSubtype="0" fill="hold" nodeType="clickEffect">
                                  <p:stCondLst>
                                    <p:cond delay="0"/>
                                  </p:stCondLst>
                                  <p:childTnLst>
                                    <p:animEffect transition="out" filter="fade">
                                      <p:cBhvr>
                                        <p:cTn id="14" dur="500" tmFilter="0, 0; .2, .5; .8, .5; 1, 0"/>
                                        <p:tgtEl>
                                          <p:spTgt spid="39"/>
                                        </p:tgtEl>
                                      </p:cBhvr>
                                    </p:animEffect>
                                    <p:animScale>
                                      <p:cBhvr>
                                        <p:cTn id="15" dur="250" autoRev="1" fill="hold"/>
                                        <p:tgtEl>
                                          <p:spTgt spid="39"/>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26" presetClass="emph" presetSubtype="0" fill="hold" nodeType="clickEffect">
                                  <p:stCondLst>
                                    <p:cond delay="0"/>
                                  </p:stCondLst>
                                  <p:childTnLst>
                                    <p:animEffect transition="out" filter="fade">
                                      <p:cBhvr>
                                        <p:cTn id="19" dur="500" tmFilter="0, 0; .2, .5; .8, .5; 1, 0"/>
                                        <p:tgtEl>
                                          <p:spTgt spid="23"/>
                                        </p:tgtEl>
                                      </p:cBhvr>
                                    </p:animEffect>
                                    <p:animScale>
                                      <p:cBhvr>
                                        <p:cTn id="20" dur="250" autoRev="1" fill="hold"/>
                                        <p:tgtEl>
                                          <p:spTgt spid="23"/>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35" presetClass="path" presetSubtype="0" accel="50000" decel="50000" fill="hold" nodeType="clickEffect">
                                  <p:stCondLst>
                                    <p:cond delay="0"/>
                                  </p:stCondLst>
                                  <p:childTnLst>
                                    <p:animMotion origin="layout" path="M -5.55556E-7 -4.81481E-6 L -0.39878 -0.37291 " pathEditMode="relative" rAng="0" ptsTypes="AA">
                                      <p:cBhvr>
                                        <p:cTn id="24" dur="2000" fill="hold"/>
                                        <p:tgtEl>
                                          <p:spTgt spid="7"/>
                                        </p:tgtEl>
                                        <p:attrNameLst>
                                          <p:attrName>ppt_x</p:attrName>
                                          <p:attrName>ppt_y</p:attrName>
                                        </p:attrNameLst>
                                      </p:cBhvr>
                                      <p:rCtr x="-19948" y="-18657"/>
                                    </p:animMotion>
                                  </p:childTnLst>
                                </p:cTn>
                              </p:par>
                            </p:childTnLst>
                          </p:cTn>
                        </p:par>
                        <p:par>
                          <p:cTn id="25" fill="hold">
                            <p:stCondLst>
                              <p:cond delay="2000"/>
                            </p:stCondLst>
                            <p:childTnLst>
                              <p:par>
                                <p:cTn id="26" presetID="42" presetClass="path" presetSubtype="0" accel="50000" decel="50000" fill="hold" nodeType="afterEffect">
                                  <p:stCondLst>
                                    <p:cond delay="0"/>
                                  </p:stCondLst>
                                  <p:childTnLst>
                                    <p:animMotion origin="layout" path="M -2.77778E-7 2.59259E-6 L 0.06823 0.42129 " pathEditMode="relative" rAng="0" ptsTypes="AA">
                                      <p:cBhvr>
                                        <p:cTn id="27" dur="2000" fill="hold"/>
                                        <p:tgtEl>
                                          <p:spTgt spid="9"/>
                                        </p:tgtEl>
                                        <p:attrNameLst>
                                          <p:attrName>ppt_x</p:attrName>
                                          <p:attrName>ppt_y</p:attrName>
                                        </p:attrNameLst>
                                      </p:cBhvr>
                                      <p:rCtr x="3403" y="21065"/>
                                    </p:animMotion>
                                  </p:childTnLst>
                                </p:cTn>
                              </p:par>
                            </p:childTnLst>
                          </p:cTn>
                        </p:par>
                        <p:par>
                          <p:cTn id="28" fill="hold">
                            <p:stCondLst>
                              <p:cond delay="4000"/>
                            </p:stCondLst>
                            <p:childTnLst>
                              <p:par>
                                <p:cTn id="29" presetID="42" presetClass="path" presetSubtype="0" accel="50000" decel="50000" fill="hold" nodeType="afterEffect">
                                  <p:stCondLst>
                                    <p:cond delay="0"/>
                                  </p:stCondLst>
                                  <p:childTnLst>
                                    <p:animMotion origin="layout" path="M 8.33333E-7 -3.7037E-6 L -0.37274 0.41111 " pathEditMode="relative" rAng="0" ptsTypes="AA">
                                      <p:cBhvr>
                                        <p:cTn id="30" dur="2000" fill="hold"/>
                                        <p:tgtEl>
                                          <p:spTgt spid="10"/>
                                        </p:tgtEl>
                                        <p:attrNameLst>
                                          <p:attrName>ppt_x</p:attrName>
                                          <p:attrName>ppt_y</p:attrName>
                                        </p:attrNameLst>
                                      </p:cBhvr>
                                      <p:rCtr x="-18646" y="20556"/>
                                    </p:animMotion>
                                  </p:childTnLst>
                                </p:cTn>
                              </p:par>
                            </p:childTnLst>
                          </p:cTn>
                        </p:par>
                        <p:par>
                          <p:cTn id="31" fill="hold">
                            <p:stCondLst>
                              <p:cond delay="6000"/>
                            </p:stCondLst>
                            <p:childTnLst>
                              <p:par>
                                <p:cTn id="32" presetID="64" presetClass="path" presetSubtype="0" accel="50000" decel="50000" fill="hold" nodeType="afterEffect">
                                  <p:stCondLst>
                                    <p:cond delay="0"/>
                                  </p:stCondLst>
                                  <p:childTnLst>
                                    <p:animMotion origin="layout" path="M 2.77778E-6 1.11111E-6 L -0.24653 -0.38634 " pathEditMode="relative" rAng="0" ptsTypes="AA">
                                      <p:cBhvr>
                                        <p:cTn id="33" dur="2000" fill="hold"/>
                                        <p:tgtEl>
                                          <p:spTgt spid="8"/>
                                        </p:tgtEl>
                                        <p:attrNameLst>
                                          <p:attrName>ppt_x</p:attrName>
                                          <p:attrName>ppt_y</p:attrName>
                                        </p:attrNameLst>
                                      </p:cBhvr>
                                      <p:rCtr x="-12326" y="-19329"/>
                                    </p:animMotion>
                                  </p:childTnLst>
                                </p:cTn>
                              </p:par>
                            </p:childTnLst>
                          </p:cTn>
                        </p:par>
                        <p:par>
                          <p:cTn id="34" fill="hold">
                            <p:stCondLst>
                              <p:cond delay="8000"/>
                            </p:stCondLst>
                            <p:childTnLst>
                              <p:par>
                                <p:cTn id="35" presetID="63" presetClass="path" presetSubtype="0" accel="50000" decel="50000" fill="hold" nodeType="afterEffect">
                                  <p:stCondLst>
                                    <p:cond delay="0"/>
                                  </p:stCondLst>
                                  <p:childTnLst>
                                    <p:animMotion origin="layout" path="M -0.01788 -0.00718 L 0.63663 0.00763 " pathEditMode="relative" rAng="0" ptsTypes="AA">
                                      <p:cBhvr>
                                        <p:cTn id="36" dur="2000" fill="hold"/>
                                        <p:tgtEl>
                                          <p:spTgt spid="5"/>
                                        </p:tgtEl>
                                        <p:attrNameLst>
                                          <p:attrName>ppt_x</p:attrName>
                                          <p:attrName>ppt_y</p:attrName>
                                        </p:attrNameLst>
                                      </p:cBhvr>
                                      <p:rCtr x="32726" y="741"/>
                                    </p:animMotion>
                                  </p:childTnLst>
                                </p:cTn>
                              </p:par>
                            </p:childTnLst>
                          </p:cTn>
                        </p:par>
                        <p:par>
                          <p:cTn id="37" fill="hold">
                            <p:stCondLst>
                              <p:cond delay="10000"/>
                            </p:stCondLst>
                            <p:childTnLst>
                              <p:par>
                                <p:cTn id="38" presetID="63" presetClass="path" presetSubtype="0" accel="50000" decel="50000" fill="hold" nodeType="afterEffect">
                                  <p:stCondLst>
                                    <p:cond delay="0"/>
                                  </p:stCondLst>
                                  <p:childTnLst>
                                    <p:animMotion origin="layout" path="M 8.33333E-7 1.85185E-6 L 0.36562 1.85185E-6 " pathEditMode="relative" rAng="0" ptsTypes="AA">
                                      <p:cBhvr>
                                        <p:cTn id="39" dur="2000" fill="hold"/>
                                        <p:tgtEl>
                                          <p:spTgt spid="6"/>
                                        </p:tgtEl>
                                        <p:attrNameLst>
                                          <p:attrName>ppt_x</p:attrName>
                                          <p:attrName>ppt_y</p:attrName>
                                        </p:attrNameLst>
                                      </p:cBhvr>
                                      <p:rCtr x="182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3" name="Straight Arrow Connector 82"/>
          <p:cNvCxnSpPr/>
          <p:nvPr/>
        </p:nvCxnSpPr>
        <p:spPr>
          <a:xfrm flipV="1">
            <a:off x="6732288" y="2732324"/>
            <a:ext cx="0" cy="707886"/>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a:off x="3596564" y="3440210"/>
            <a:ext cx="0" cy="1072630"/>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151544" y="3086267"/>
            <a:ext cx="539096" cy="261610"/>
          </a:xfrm>
          <a:prstGeom prst="rect">
            <a:avLst/>
          </a:prstGeom>
          <a:noFill/>
        </p:spPr>
        <p:txBody>
          <a:bodyPr wrap="square" rtlCol="0">
            <a:spAutoFit/>
          </a:bodyPr>
          <a:lstStyle/>
          <a:p>
            <a:pPr algn="ctr"/>
            <a:r>
              <a:rPr lang="en-AU" sz="1100" dirty="0" smtClean="0">
                <a:solidFill>
                  <a:srgbClr val="FF0000"/>
                </a:solidFill>
              </a:rPr>
              <a:t>1940</a:t>
            </a:r>
            <a:endParaRPr lang="en-AU" sz="1100" dirty="0">
              <a:solidFill>
                <a:srgbClr val="FF0000"/>
              </a:solidFill>
            </a:endParaRPr>
          </a:p>
        </p:txBody>
      </p:sp>
      <p:sp>
        <p:nvSpPr>
          <p:cNvPr id="11" name="TextBox 10"/>
          <p:cNvSpPr txBox="1"/>
          <p:nvPr/>
        </p:nvSpPr>
        <p:spPr>
          <a:xfrm>
            <a:off x="2051664" y="3086267"/>
            <a:ext cx="557752" cy="261610"/>
          </a:xfrm>
          <a:prstGeom prst="rect">
            <a:avLst/>
          </a:prstGeom>
          <a:noFill/>
        </p:spPr>
        <p:txBody>
          <a:bodyPr wrap="square" rtlCol="0">
            <a:spAutoFit/>
          </a:bodyPr>
          <a:lstStyle/>
          <a:p>
            <a:pPr algn="ctr"/>
            <a:r>
              <a:rPr lang="en-AU" sz="1100" dirty="0" smtClean="0">
                <a:solidFill>
                  <a:srgbClr val="FF0000"/>
                </a:solidFill>
              </a:rPr>
              <a:t>1950</a:t>
            </a:r>
            <a:endParaRPr lang="en-AU" sz="1100" dirty="0">
              <a:solidFill>
                <a:srgbClr val="FF0000"/>
              </a:solidFill>
            </a:endParaRPr>
          </a:p>
        </p:txBody>
      </p:sp>
      <p:sp>
        <p:nvSpPr>
          <p:cNvPr id="12" name="TextBox 11"/>
          <p:cNvSpPr txBox="1"/>
          <p:nvPr/>
        </p:nvSpPr>
        <p:spPr>
          <a:xfrm>
            <a:off x="2930892" y="3086267"/>
            <a:ext cx="559324" cy="261610"/>
          </a:xfrm>
          <a:prstGeom prst="rect">
            <a:avLst/>
          </a:prstGeom>
          <a:noFill/>
        </p:spPr>
        <p:txBody>
          <a:bodyPr wrap="square" rtlCol="0">
            <a:spAutoFit/>
          </a:bodyPr>
          <a:lstStyle/>
          <a:p>
            <a:pPr algn="ctr"/>
            <a:r>
              <a:rPr lang="en-AU" sz="1100" dirty="0" smtClean="0">
                <a:solidFill>
                  <a:srgbClr val="FF0000"/>
                </a:solidFill>
              </a:rPr>
              <a:t>1960</a:t>
            </a:r>
            <a:endParaRPr lang="en-AU" sz="1100" dirty="0">
              <a:solidFill>
                <a:srgbClr val="FF0000"/>
              </a:solidFill>
            </a:endParaRPr>
          </a:p>
        </p:txBody>
      </p:sp>
      <p:sp>
        <p:nvSpPr>
          <p:cNvPr id="14" name="TextBox 13"/>
          <p:cNvSpPr txBox="1"/>
          <p:nvPr/>
        </p:nvSpPr>
        <p:spPr>
          <a:xfrm>
            <a:off x="3868787" y="3086267"/>
            <a:ext cx="523189" cy="261610"/>
          </a:xfrm>
          <a:prstGeom prst="rect">
            <a:avLst/>
          </a:prstGeom>
          <a:noFill/>
        </p:spPr>
        <p:txBody>
          <a:bodyPr wrap="square" rtlCol="0">
            <a:spAutoFit/>
          </a:bodyPr>
          <a:lstStyle/>
          <a:p>
            <a:pPr algn="ctr"/>
            <a:r>
              <a:rPr lang="en-AU" sz="1100" dirty="0" smtClean="0">
                <a:solidFill>
                  <a:srgbClr val="FF0000"/>
                </a:solidFill>
              </a:rPr>
              <a:t>1970</a:t>
            </a:r>
            <a:endParaRPr lang="en-AU" sz="1100" dirty="0">
              <a:solidFill>
                <a:srgbClr val="FF0000"/>
              </a:solidFill>
            </a:endParaRPr>
          </a:p>
        </p:txBody>
      </p:sp>
      <p:sp>
        <p:nvSpPr>
          <p:cNvPr id="16" name="TextBox 15"/>
          <p:cNvSpPr txBox="1"/>
          <p:nvPr/>
        </p:nvSpPr>
        <p:spPr>
          <a:xfrm>
            <a:off x="5652144" y="3086267"/>
            <a:ext cx="543614" cy="261610"/>
          </a:xfrm>
          <a:prstGeom prst="rect">
            <a:avLst/>
          </a:prstGeom>
          <a:noFill/>
        </p:spPr>
        <p:txBody>
          <a:bodyPr wrap="square" rtlCol="0">
            <a:spAutoFit/>
          </a:bodyPr>
          <a:lstStyle/>
          <a:p>
            <a:pPr algn="ctr"/>
            <a:r>
              <a:rPr lang="en-AU" sz="1100" dirty="0" smtClean="0">
                <a:solidFill>
                  <a:srgbClr val="FF0000"/>
                </a:solidFill>
              </a:rPr>
              <a:t>1990</a:t>
            </a:r>
            <a:endParaRPr lang="en-AU" sz="1100" dirty="0">
              <a:solidFill>
                <a:srgbClr val="FF0000"/>
              </a:solidFill>
            </a:endParaRPr>
          </a:p>
        </p:txBody>
      </p:sp>
      <p:sp>
        <p:nvSpPr>
          <p:cNvPr id="19" name="TextBox 18"/>
          <p:cNvSpPr txBox="1"/>
          <p:nvPr/>
        </p:nvSpPr>
        <p:spPr>
          <a:xfrm>
            <a:off x="7452384" y="3086267"/>
            <a:ext cx="567180" cy="261610"/>
          </a:xfrm>
          <a:prstGeom prst="rect">
            <a:avLst/>
          </a:prstGeom>
          <a:noFill/>
        </p:spPr>
        <p:txBody>
          <a:bodyPr wrap="square" rtlCol="0">
            <a:spAutoFit/>
          </a:bodyPr>
          <a:lstStyle/>
          <a:p>
            <a:pPr algn="ctr"/>
            <a:r>
              <a:rPr lang="en-AU" sz="1100" dirty="0" smtClean="0">
                <a:solidFill>
                  <a:srgbClr val="FF0000"/>
                </a:solidFill>
              </a:rPr>
              <a:t>2010</a:t>
            </a:r>
            <a:endParaRPr lang="en-AU" sz="1100" dirty="0">
              <a:solidFill>
                <a:srgbClr val="FF0000"/>
              </a:solidFill>
            </a:endParaRPr>
          </a:p>
        </p:txBody>
      </p:sp>
      <p:sp>
        <p:nvSpPr>
          <p:cNvPr id="20" name="TextBox 19"/>
          <p:cNvSpPr txBox="1"/>
          <p:nvPr/>
        </p:nvSpPr>
        <p:spPr>
          <a:xfrm>
            <a:off x="8347437" y="3086267"/>
            <a:ext cx="518475" cy="261610"/>
          </a:xfrm>
          <a:prstGeom prst="rect">
            <a:avLst/>
          </a:prstGeom>
          <a:noFill/>
        </p:spPr>
        <p:txBody>
          <a:bodyPr wrap="square" rtlCol="0">
            <a:spAutoFit/>
          </a:bodyPr>
          <a:lstStyle/>
          <a:p>
            <a:pPr algn="ctr"/>
            <a:r>
              <a:rPr lang="en-AU" sz="1100" dirty="0" smtClean="0">
                <a:solidFill>
                  <a:srgbClr val="FF0000"/>
                </a:solidFill>
              </a:rPr>
              <a:t>2020</a:t>
            </a:r>
            <a:endParaRPr lang="en-AU" sz="1100" dirty="0">
              <a:solidFill>
                <a:srgbClr val="FF0000"/>
              </a:solidFill>
            </a:endParaRPr>
          </a:p>
        </p:txBody>
      </p:sp>
      <p:sp>
        <p:nvSpPr>
          <p:cNvPr id="40" name="TextBox 39"/>
          <p:cNvSpPr txBox="1"/>
          <p:nvPr/>
        </p:nvSpPr>
        <p:spPr>
          <a:xfrm>
            <a:off x="10426" y="2297489"/>
            <a:ext cx="981954" cy="600164"/>
          </a:xfrm>
          <a:prstGeom prst="rect">
            <a:avLst/>
          </a:prstGeom>
          <a:noFill/>
        </p:spPr>
        <p:txBody>
          <a:bodyPr wrap="square" rtlCol="0">
            <a:spAutoFit/>
          </a:bodyPr>
          <a:lstStyle/>
          <a:p>
            <a:pPr algn="ctr"/>
            <a:r>
              <a:rPr lang="en-AU" sz="1100" dirty="0"/>
              <a:t>1930</a:t>
            </a:r>
          </a:p>
          <a:p>
            <a:pPr algn="ctr"/>
            <a:r>
              <a:rPr lang="en-AU" sz="1100" dirty="0" smtClean="0"/>
              <a:t>Mary born </a:t>
            </a:r>
            <a:br>
              <a:rPr lang="en-AU" sz="1100" dirty="0" smtClean="0"/>
            </a:br>
            <a:r>
              <a:rPr lang="en-AU" sz="1100" dirty="0" smtClean="0"/>
              <a:t>3 March</a:t>
            </a:r>
            <a:endParaRPr lang="en-AU" sz="1100" dirty="0"/>
          </a:p>
        </p:txBody>
      </p:sp>
      <p:sp>
        <p:nvSpPr>
          <p:cNvPr id="41" name="TextBox 40"/>
          <p:cNvSpPr txBox="1"/>
          <p:nvPr/>
        </p:nvSpPr>
        <p:spPr>
          <a:xfrm>
            <a:off x="2851315" y="3652877"/>
            <a:ext cx="857839" cy="938719"/>
          </a:xfrm>
          <a:prstGeom prst="rect">
            <a:avLst/>
          </a:prstGeom>
          <a:noFill/>
        </p:spPr>
        <p:txBody>
          <a:bodyPr wrap="square" rtlCol="0">
            <a:spAutoFit/>
          </a:bodyPr>
          <a:lstStyle/>
          <a:p>
            <a:pPr algn="ctr"/>
            <a:r>
              <a:rPr lang="en-AU" sz="1100" dirty="0"/>
              <a:t>1961</a:t>
            </a:r>
          </a:p>
          <a:p>
            <a:pPr algn="ctr"/>
            <a:r>
              <a:rPr lang="en-AU" sz="1100" dirty="0" smtClean="0"/>
              <a:t>Mary gets her first job in a law firm</a:t>
            </a:r>
            <a:endParaRPr lang="en-AU" sz="1100" dirty="0"/>
          </a:p>
        </p:txBody>
      </p:sp>
      <p:sp>
        <p:nvSpPr>
          <p:cNvPr id="42" name="TextBox 41"/>
          <p:cNvSpPr txBox="1"/>
          <p:nvPr/>
        </p:nvSpPr>
        <p:spPr>
          <a:xfrm>
            <a:off x="1631407" y="1379399"/>
            <a:ext cx="1033610" cy="769441"/>
          </a:xfrm>
          <a:prstGeom prst="rect">
            <a:avLst/>
          </a:prstGeom>
          <a:noFill/>
        </p:spPr>
        <p:txBody>
          <a:bodyPr wrap="square" rtlCol="0">
            <a:spAutoFit/>
          </a:bodyPr>
          <a:lstStyle/>
          <a:p>
            <a:pPr algn="ctr"/>
            <a:r>
              <a:rPr lang="en-AU" sz="1100" dirty="0"/>
              <a:t>1948</a:t>
            </a:r>
          </a:p>
          <a:p>
            <a:pPr algn="ctr"/>
            <a:r>
              <a:rPr lang="en-AU" sz="1100" dirty="0" smtClean="0"/>
              <a:t>Mary gets her first job as a secretary</a:t>
            </a:r>
            <a:endParaRPr lang="en-AU" sz="1100" dirty="0"/>
          </a:p>
        </p:txBody>
      </p:sp>
      <p:sp>
        <p:nvSpPr>
          <p:cNvPr id="43" name="TextBox 42"/>
          <p:cNvSpPr txBox="1"/>
          <p:nvPr/>
        </p:nvSpPr>
        <p:spPr>
          <a:xfrm>
            <a:off x="672443" y="1798869"/>
            <a:ext cx="907330" cy="600164"/>
          </a:xfrm>
          <a:prstGeom prst="rect">
            <a:avLst/>
          </a:prstGeom>
          <a:noFill/>
        </p:spPr>
        <p:txBody>
          <a:bodyPr wrap="square" rtlCol="0">
            <a:spAutoFit/>
          </a:bodyPr>
          <a:lstStyle/>
          <a:p>
            <a:pPr algn="ctr"/>
            <a:r>
              <a:rPr lang="en-AU" sz="1100" dirty="0"/>
              <a:t>1936</a:t>
            </a:r>
          </a:p>
          <a:p>
            <a:pPr algn="ctr"/>
            <a:r>
              <a:rPr lang="en-AU" sz="1100" dirty="0" smtClean="0"/>
              <a:t>Mary begins school</a:t>
            </a:r>
            <a:endParaRPr lang="en-AU" sz="1100" dirty="0"/>
          </a:p>
        </p:txBody>
      </p:sp>
      <p:sp>
        <p:nvSpPr>
          <p:cNvPr id="44" name="TextBox 43"/>
          <p:cNvSpPr txBox="1"/>
          <p:nvPr/>
        </p:nvSpPr>
        <p:spPr>
          <a:xfrm>
            <a:off x="2234647" y="2531531"/>
            <a:ext cx="914421" cy="600164"/>
          </a:xfrm>
          <a:prstGeom prst="rect">
            <a:avLst/>
          </a:prstGeom>
          <a:noFill/>
        </p:spPr>
        <p:txBody>
          <a:bodyPr wrap="square" rtlCol="0">
            <a:spAutoFit/>
          </a:bodyPr>
          <a:lstStyle/>
          <a:p>
            <a:pPr algn="ctr"/>
            <a:r>
              <a:rPr lang="en-AU" sz="1100" dirty="0"/>
              <a:t>1954</a:t>
            </a:r>
          </a:p>
          <a:p>
            <a:pPr algn="ctr"/>
            <a:r>
              <a:rPr lang="en-AU" sz="1100" dirty="0" smtClean="0"/>
              <a:t>Mary meets the Queen</a:t>
            </a:r>
            <a:endParaRPr lang="en-AU" sz="1100" dirty="0"/>
          </a:p>
        </p:txBody>
      </p:sp>
      <p:sp>
        <p:nvSpPr>
          <p:cNvPr id="45" name="TextBox 44"/>
          <p:cNvSpPr txBox="1"/>
          <p:nvPr/>
        </p:nvSpPr>
        <p:spPr>
          <a:xfrm>
            <a:off x="362183" y="3926192"/>
            <a:ext cx="857839" cy="600164"/>
          </a:xfrm>
          <a:prstGeom prst="rect">
            <a:avLst/>
          </a:prstGeom>
          <a:noFill/>
        </p:spPr>
        <p:txBody>
          <a:bodyPr wrap="square" rtlCol="0">
            <a:spAutoFit/>
          </a:bodyPr>
          <a:lstStyle/>
          <a:p>
            <a:pPr algn="ctr"/>
            <a:r>
              <a:rPr lang="en-AU" sz="1100" dirty="0"/>
              <a:t>1933</a:t>
            </a:r>
          </a:p>
          <a:p>
            <a:pPr algn="ctr"/>
            <a:r>
              <a:rPr lang="en-AU" sz="1100" dirty="0" smtClean="0"/>
              <a:t>Mary’s sister born</a:t>
            </a:r>
            <a:endParaRPr lang="en-AU" sz="1100" dirty="0"/>
          </a:p>
        </p:txBody>
      </p:sp>
      <p:sp>
        <p:nvSpPr>
          <p:cNvPr id="46" name="TextBox 45"/>
          <p:cNvSpPr txBox="1"/>
          <p:nvPr/>
        </p:nvSpPr>
        <p:spPr>
          <a:xfrm>
            <a:off x="1241556" y="4189763"/>
            <a:ext cx="1248252" cy="769441"/>
          </a:xfrm>
          <a:prstGeom prst="rect">
            <a:avLst/>
          </a:prstGeom>
          <a:noFill/>
        </p:spPr>
        <p:txBody>
          <a:bodyPr wrap="square" rtlCol="0">
            <a:spAutoFit/>
          </a:bodyPr>
          <a:lstStyle/>
          <a:p>
            <a:pPr algn="ctr"/>
            <a:r>
              <a:rPr lang="en-AU" sz="1100" dirty="0"/>
              <a:t>1946</a:t>
            </a:r>
          </a:p>
          <a:p>
            <a:pPr algn="ctr"/>
            <a:r>
              <a:rPr lang="en-AU" sz="1100" dirty="0" smtClean="0"/>
              <a:t>Mary achieves first place in a piano competition</a:t>
            </a:r>
            <a:endParaRPr lang="en-AU" sz="1100" dirty="0"/>
          </a:p>
        </p:txBody>
      </p:sp>
      <p:sp>
        <p:nvSpPr>
          <p:cNvPr id="47" name="TextBox 46"/>
          <p:cNvSpPr txBox="1"/>
          <p:nvPr/>
        </p:nvSpPr>
        <p:spPr>
          <a:xfrm>
            <a:off x="1305024" y="2514954"/>
            <a:ext cx="816595" cy="553998"/>
          </a:xfrm>
          <a:prstGeom prst="rect">
            <a:avLst/>
          </a:prstGeom>
          <a:noFill/>
        </p:spPr>
        <p:txBody>
          <a:bodyPr wrap="square" rtlCol="0">
            <a:spAutoFit/>
          </a:bodyPr>
          <a:lstStyle/>
          <a:p>
            <a:pPr algn="ctr"/>
            <a:r>
              <a:rPr lang="en-AU" sz="1000" dirty="0" smtClean="0"/>
              <a:t>Mary enters high school 1944</a:t>
            </a:r>
            <a:endParaRPr lang="en-AU" sz="1000" dirty="0"/>
          </a:p>
        </p:txBody>
      </p:sp>
      <p:sp>
        <p:nvSpPr>
          <p:cNvPr id="48" name="TextBox 47"/>
          <p:cNvSpPr txBox="1"/>
          <p:nvPr/>
        </p:nvSpPr>
        <p:spPr>
          <a:xfrm>
            <a:off x="3153271" y="4472216"/>
            <a:ext cx="857839" cy="769441"/>
          </a:xfrm>
          <a:prstGeom prst="rect">
            <a:avLst/>
          </a:prstGeom>
          <a:noFill/>
        </p:spPr>
        <p:txBody>
          <a:bodyPr wrap="square" rtlCol="0">
            <a:spAutoFit/>
          </a:bodyPr>
          <a:lstStyle/>
          <a:p>
            <a:pPr algn="ctr"/>
            <a:r>
              <a:rPr lang="en-AU" sz="1100" dirty="0"/>
              <a:t>1964</a:t>
            </a:r>
          </a:p>
          <a:p>
            <a:pPr algn="ctr"/>
            <a:r>
              <a:rPr lang="en-AU" sz="1100" dirty="0" smtClean="0"/>
              <a:t>Mary marries John</a:t>
            </a:r>
            <a:endParaRPr lang="en-AU" sz="1100" dirty="0"/>
          </a:p>
        </p:txBody>
      </p:sp>
      <p:sp>
        <p:nvSpPr>
          <p:cNvPr id="49" name="TextBox 48"/>
          <p:cNvSpPr txBox="1"/>
          <p:nvPr/>
        </p:nvSpPr>
        <p:spPr>
          <a:xfrm>
            <a:off x="2833541" y="1319214"/>
            <a:ext cx="1151172" cy="600164"/>
          </a:xfrm>
          <a:prstGeom prst="rect">
            <a:avLst/>
          </a:prstGeom>
          <a:noFill/>
        </p:spPr>
        <p:txBody>
          <a:bodyPr wrap="square" rtlCol="0">
            <a:spAutoFit/>
          </a:bodyPr>
          <a:lstStyle/>
          <a:p>
            <a:pPr algn="ctr"/>
            <a:r>
              <a:rPr lang="en-AU" sz="1100" dirty="0"/>
              <a:t>1962</a:t>
            </a:r>
          </a:p>
          <a:p>
            <a:pPr algn="ctr"/>
            <a:r>
              <a:rPr lang="en-AU" sz="1100" dirty="0" smtClean="0"/>
              <a:t>Mary becomes engaged to John</a:t>
            </a:r>
            <a:endParaRPr lang="en-AU" sz="1100" dirty="0"/>
          </a:p>
        </p:txBody>
      </p:sp>
      <p:sp>
        <p:nvSpPr>
          <p:cNvPr id="51" name="TextBox 50"/>
          <p:cNvSpPr txBox="1"/>
          <p:nvPr/>
        </p:nvSpPr>
        <p:spPr>
          <a:xfrm>
            <a:off x="2348002" y="4689168"/>
            <a:ext cx="982955" cy="769441"/>
          </a:xfrm>
          <a:prstGeom prst="rect">
            <a:avLst/>
          </a:prstGeom>
          <a:noFill/>
        </p:spPr>
        <p:txBody>
          <a:bodyPr wrap="square" rtlCol="0">
            <a:spAutoFit/>
          </a:bodyPr>
          <a:lstStyle/>
          <a:p>
            <a:pPr algn="ctr"/>
            <a:r>
              <a:rPr lang="en-AU" sz="1100" dirty="0"/>
              <a:t>1956 Mary </a:t>
            </a:r>
            <a:r>
              <a:rPr lang="en-AU" sz="1100" dirty="0" smtClean="0"/>
              <a:t>begins a University Law Degree</a:t>
            </a:r>
            <a:endParaRPr lang="en-AU" sz="1100" dirty="0"/>
          </a:p>
        </p:txBody>
      </p:sp>
      <p:sp>
        <p:nvSpPr>
          <p:cNvPr id="52" name="TextBox 51"/>
          <p:cNvSpPr txBox="1"/>
          <p:nvPr/>
        </p:nvSpPr>
        <p:spPr>
          <a:xfrm>
            <a:off x="3671880" y="3986267"/>
            <a:ext cx="1146494" cy="769441"/>
          </a:xfrm>
          <a:prstGeom prst="rect">
            <a:avLst/>
          </a:prstGeom>
          <a:noFill/>
        </p:spPr>
        <p:txBody>
          <a:bodyPr wrap="square" rtlCol="0">
            <a:spAutoFit/>
          </a:bodyPr>
          <a:lstStyle/>
          <a:p>
            <a:pPr algn="ctr"/>
            <a:r>
              <a:rPr lang="en-AU" sz="1100" dirty="0" smtClean="0"/>
              <a:t>1971 Mary becomes a full partner in her law firm</a:t>
            </a:r>
            <a:endParaRPr lang="en-AU" sz="1100" dirty="0"/>
          </a:p>
        </p:txBody>
      </p:sp>
      <p:sp>
        <p:nvSpPr>
          <p:cNvPr id="53" name="TextBox 52"/>
          <p:cNvSpPr txBox="1"/>
          <p:nvPr/>
        </p:nvSpPr>
        <p:spPr>
          <a:xfrm>
            <a:off x="3192279" y="2528880"/>
            <a:ext cx="944526" cy="600164"/>
          </a:xfrm>
          <a:prstGeom prst="rect">
            <a:avLst/>
          </a:prstGeom>
          <a:noFill/>
        </p:spPr>
        <p:txBody>
          <a:bodyPr wrap="square" rtlCol="0">
            <a:spAutoFit/>
          </a:bodyPr>
          <a:lstStyle/>
          <a:p>
            <a:pPr algn="ctr"/>
            <a:r>
              <a:rPr lang="en-AU" sz="1100" dirty="0" smtClean="0"/>
              <a:t>1965 </a:t>
            </a:r>
            <a:br>
              <a:rPr lang="en-AU" sz="1100" dirty="0" smtClean="0"/>
            </a:br>
            <a:r>
              <a:rPr lang="en-AU" sz="1100" dirty="0" smtClean="0"/>
              <a:t>Mary has her first child</a:t>
            </a:r>
            <a:endParaRPr lang="en-AU" sz="1100" dirty="0"/>
          </a:p>
        </p:txBody>
      </p:sp>
      <p:sp>
        <p:nvSpPr>
          <p:cNvPr id="54" name="TextBox 53"/>
          <p:cNvSpPr txBox="1"/>
          <p:nvPr/>
        </p:nvSpPr>
        <p:spPr>
          <a:xfrm>
            <a:off x="4681255" y="2168832"/>
            <a:ext cx="857839" cy="769441"/>
          </a:xfrm>
          <a:prstGeom prst="rect">
            <a:avLst/>
          </a:prstGeom>
          <a:noFill/>
        </p:spPr>
        <p:txBody>
          <a:bodyPr wrap="square" rtlCol="0">
            <a:spAutoFit/>
          </a:bodyPr>
          <a:lstStyle/>
          <a:p>
            <a:pPr algn="ctr"/>
            <a:r>
              <a:rPr lang="en-AU" sz="1100" dirty="0"/>
              <a:t>1981</a:t>
            </a:r>
          </a:p>
          <a:p>
            <a:pPr algn="ctr"/>
            <a:r>
              <a:rPr lang="en-AU" sz="1100" dirty="0" smtClean="0"/>
              <a:t>Mary becomes a Judge</a:t>
            </a:r>
            <a:endParaRPr lang="en-AU" sz="1100" dirty="0"/>
          </a:p>
        </p:txBody>
      </p:sp>
      <p:sp>
        <p:nvSpPr>
          <p:cNvPr id="55" name="TextBox 54"/>
          <p:cNvSpPr txBox="1"/>
          <p:nvPr/>
        </p:nvSpPr>
        <p:spPr>
          <a:xfrm>
            <a:off x="6286249" y="2241491"/>
            <a:ext cx="892078" cy="600164"/>
          </a:xfrm>
          <a:prstGeom prst="rect">
            <a:avLst/>
          </a:prstGeom>
          <a:noFill/>
        </p:spPr>
        <p:txBody>
          <a:bodyPr wrap="square" rtlCol="0">
            <a:spAutoFit/>
          </a:bodyPr>
          <a:lstStyle/>
          <a:p>
            <a:pPr algn="ctr"/>
            <a:r>
              <a:rPr lang="en-AU" sz="1100" dirty="0"/>
              <a:t>1999</a:t>
            </a:r>
          </a:p>
          <a:p>
            <a:pPr algn="ctr"/>
            <a:r>
              <a:rPr lang="en-AU" sz="1100" dirty="0" smtClean="0"/>
              <a:t>Mary retires as a Judge</a:t>
            </a:r>
            <a:endParaRPr lang="en-AU" sz="1100" dirty="0"/>
          </a:p>
        </p:txBody>
      </p:sp>
      <p:sp>
        <p:nvSpPr>
          <p:cNvPr id="56" name="TextBox 55"/>
          <p:cNvSpPr txBox="1"/>
          <p:nvPr/>
        </p:nvSpPr>
        <p:spPr>
          <a:xfrm>
            <a:off x="5382108" y="3919727"/>
            <a:ext cx="1117192" cy="769441"/>
          </a:xfrm>
          <a:prstGeom prst="rect">
            <a:avLst/>
          </a:prstGeom>
          <a:noFill/>
        </p:spPr>
        <p:txBody>
          <a:bodyPr wrap="square" rtlCol="0">
            <a:spAutoFit/>
          </a:bodyPr>
          <a:lstStyle/>
          <a:p>
            <a:pPr algn="ctr"/>
            <a:r>
              <a:rPr lang="en-AU" sz="1100" dirty="0"/>
              <a:t>1990</a:t>
            </a:r>
          </a:p>
          <a:p>
            <a:pPr algn="ctr"/>
            <a:r>
              <a:rPr lang="en-AU" sz="1100" dirty="0" smtClean="0"/>
              <a:t>Mary promoted to the Supreme Court</a:t>
            </a:r>
            <a:endParaRPr lang="en-AU" sz="1100" dirty="0"/>
          </a:p>
        </p:txBody>
      </p:sp>
      <p:sp>
        <p:nvSpPr>
          <p:cNvPr id="57" name="TextBox 56"/>
          <p:cNvSpPr txBox="1"/>
          <p:nvPr/>
        </p:nvSpPr>
        <p:spPr>
          <a:xfrm>
            <a:off x="5562132" y="1512323"/>
            <a:ext cx="942406" cy="769441"/>
          </a:xfrm>
          <a:prstGeom prst="rect">
            <a:avLst/>
          </a:prstGeom>
          <a:noFill/>
        </p:spPr>
        <p:txBody>
          <a:bodyPr wrap="square" rtlCol="0">
            <a:spAutoFit/>
          </a:bodyPr>
          <a:lstStyle/>
          <a:p>
            <a:pPr algn="ctr"/>
            <a:r>
              <a:rPr lang="en-AU" sz="1100" dirty="0"/>
              <a:t>1991</a:t>
            </a:r>
          </a:p>
          <a:p>
            <a:pPr algn="ctr"/>
            <a:r>
              <a:rPr lang="en-AU" sz="1100" dirty="0" smtClean="0"/>
              <a:t>Mary’s first grandchild born</a:t>
            </a:r>
            <a:endParaRPr lang="en-AU" sz="1100" dirty="0"/>
          </a:p>
        </p:txBody>
      </p:sp>
      <p:sp>
        <p:nvSpPr>
          <p:cNvPr id="58" name="TextBox 57"/>
          <p:cNvSpPr txBox="1"/>
          <p:nvPr/>
        </p:nvSpPr>
        <p:spPr>
          <a:xfrm>
            <a:off x="7722420" y="2198752"/>
            <a:ext cx="641019" cy="600164"/>
          </a:xfrm>
          <a:prstGeom prst="rect">
            <a:avLst/>
          </a:prstGeom>
          <a:noFill/>
        </p:spPr>
        <p:txBody>
          <a:bodyPr wrap="square" rtlCol="0">
            <a:spAutoFit/>
          </a:bodyPr>
          <a:lstStyle/>
          <a:p>
            <a:pPr algn="ctr"/>
            <a:r>
              <a:rPr lang="en-AU" sz="1100" dirty="0"/>
              <a:t>2014</a:t>
            </a:r>
          </a:p>
          <a:p>
            <a:pPr algn="ctr"/>
            <a:r>
              <a:rPr lang="en-AU" sz="1100" dirty="0" smtClean="0"/>
              <a:t>Mary dies</a:t>
            </a:r>
            <a:endParaRPr lang="en-AU" sz="1100" dirty="0"/>
          </a:p>
        </p:txBody>
      </p:sp>
      <p:cxnSp>
        <p:nvCxnSpPr>
          <p:cNvPr id="60" name="Straight Arrow Connector 59"/>
          <p:cNvCxnSpPr/>
          <p:nvPr/>
        </p:nvCxnSpPr>
        <p:spPr>
          <a:xfrm>
            <a:off x="788866" y="3476064"/>
            <a:ext cx="0" cy="493008"/>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1889485" y="3470857"/>
            <a:ext cx="0" cy="755417"/>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5929458" y="3467555"/>
            <a:ext cx="0" cy="474366"/>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4239212" y="3458194"/>
            <a:ext cx="0" cy="553673"/>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2833541" y="3413361"/>
            <a:ext cx="0" cy="1186919"/>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flipV="1">
            <a:off x="1126108" y="2362122"/>
            <a:ext cx="0" cy="1076647"/>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H="1" flipV="1">
            <a:off x="3210554" y="2518490"/>
            <a:ext cx="11266" cy="887913"/>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V="1">
            <a:off x="5117901" y="2888928"/>
            <a:ext cx="0" cy="544634"/>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flipV="1">
            <a:off x="6025160" y="2271016"/>
            <a:ext cx="0" cy="1157984"/>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flipV="1">
            <a:off x="8031534" y="2723471"/>
            <a:ext cx="0" cy="707886"/>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flipV="1">
            <a:off x="2113758" y="2123912"/>
            <a:ext cx="7861" cy="1314859"/>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flipV="1">
            <a:off x="3397668" y="1928305"/>
            <a:ext cx="0" cy="1502339"/>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a:endCxn id="47" idx="2"/>
          </p:cNvCxnSpPr>
          <p:nvPr/>
        </p:nvCxnSpPr>
        <p:spPr>
          <a:xfrm flipV="1">
            <a:off x="1713322" y="3068952"/>
            <a:ext cx="0" cy="384784"/>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flipV="1">
            <a:off x="519856" y="2868440"/>
            <a:ext cx="0" cy="544634"/>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2" name="TextBox 101"/>
          <p:cNvSpPr txBox="1"/>
          <p:nvPr/>
        </p:nvSpPr>
        <p:spPr>
          <a:xfrm>
            <a:off x="2468262" y="638628"/>
            <a:ext cx="3762865" cy="400110"/>
          </a:xfrm>
          <a:prstGeom prst="rect">
            <a:avLst/>
          </a:prstGeom>
          <a:noFill/>
        </p:spPr>
        <p:txBody>
          <a:bodyPr wrap="square" rtlCol="0">
            <a:spAutoFit/>
          </a:bodyPr>
          <a:lstStyle/>
          <a:p>
            <a:pPr algn="ctr"/>
            <a:r>
              <a:rPr lang="en-AU" sz="2000" b="1" dirty="0" smtClean="0"/>
              <a:t>Timeline of Mary Irvine’s life</a:t>
            </a:r>
            <a:endParaRPr lang="en-AU" sz="2000" b="1" dirty="0"/>
          </a:p>
        </p:txBody>
      </p:sp>
      <p:sp>
        <p:nvSpPr>
          <p:cNvPr id="8" name="TextBox 7"/>
          <p:cNvSpPr txBox="1"/>
          <p:nvPr/>
        </p:nvSpPr>
        <p:spPr>
          <a:xfrm>
            <a:off x="251424" y="3086267"/>
            <a:ext cx="509890" cy="261610"/>
          </a:xfrm>
          <a:prstGeom prst="rect">
            <a:avLst/>
          </a:prstGeom>
          <a:noFill/>
        </p:spPr>
        <p:txBody>
          <a:bodyPr wrap="square" rtlCol="0">
            <a:spAutoFit/>
          </a:bodyPr>
          <a:lstStyle/>
          <a:p>
            <a:pPr algn="ctr"/>
            <a:r>
              <a:rPr lang="en-AU" sz="1100" dirty="0" smtClean="0">
                <a:solidFill>
                  <a:srgbClr val="FF0000"/>
                </a:solidFill>
              </a:rPr>
              <a:t>1930</a:t>
            </a:r>
            <a:endParaRPr lang="en-AU" sz="1100" dirty="0">
              <a:solidFill>
                <a:srgbClr val="FF0000"/>
              </a:solidFill>
            </a:endParaRPr>
          </a:p>
        </p:txBody>
      </p:sp>
      <p:grpSp>
        <p:nvGrpSpPr>
          <p:cNvPr id="71" name="Group 70"/>
          <p:cNvGrpSpPr/>
          <p:nvPr/>
        </p:nvGrpSpPr>
        <p:grpSpPr>
          <a:xfrm>
            <a:off x="6312917" y="2206869"/>
            <a:ext cx="1589527" cy="693576"/>
            <a:chOff x="6552782" y="2177617"/>
            <a:chExt cx="1589527" cy="693576"/>
          </a:xfrm>
        </p:grpSpPr>
        <p:sp>
          <p:nvSpPr>
            <p:cNvPr id="26" name="Oval 25"/>
            <p:cNvSpPr/>
            <p:nvPr/>
          </p:nvSpPr>
          <p:spPr>
            <a:xfrm>
              <a:off x="6552782" y="2177617"/>
              <a:ext cx="797993" cy="69357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69" name="Straight Arrow Connector 68"/>
            <p:cNvCxnSpPr/>
            <p:nvPr/>
          </p:nvCxnSpPr>
          <p:spPr>
            <a:xfrm>
              <a:off x="7362890" y="2566537"/>
              <a:ext cx="779419" cy="0"/>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grpSp>
      <p:grpSp>
        <p:nvGrpSpPr>
          <p:cNvPr id="59" name="Group 58"/>
          <p:cNvGrpSpPr/>
          <p:nvPr/>
        </p:nvGrpSpPr>
        <p:grpSpPr>
          <a:xfrm>
            <a:off x="160065" y="3321505"/>
            <a:ext cx="8793948" cy="287519"/>
            <a:chOff x="160065" y="3321505"/>
            <a:chExt cx="8793948" cy="287519"/>
          </a:xfrm>
        </p:grpSpPr>
        <p:cxnSp>
          <p:nvCxnSpPr>
            <p:cNvPr id="97" name="Straight Connector 96"/>
            <p:cNvCxnSpPr/>
            <p:nvPr/>
          </p:nvCxnSpPr>
          <p:spPr>
            <a:xfrm>
              <a:off x="160065" y="3457150"/>
              <a:ext cx="8790503" cy="471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8" name="Group 97"/>
            <p:cNvGrpSpPr/>
            <p:nvPr/>
          </p:nvGrpSpPr>
          <p:grpSpPr>
            <a:xfrm>
              <a:off x="160065" y="3321505"/>
              <a:ext cx="115834" cy="287519"/>
              <a:chOff x="37707" y="3289952"/>
              <a:chExt cx="115834" cy="287519"/>
            </a:xfrm>
          </p:grpSpPr>
          <p:cxnSp>
            <p:nvCxnSpPr>
              <p:cNvPr id="107" name="Straight Connector 106"/>
              <p:cNvCxnSpPr/>
              <p:nvPr/>
            </p:nvCxnSpPr>
            <p:spPr>
              <a:xfrm flipV="1">
                <a:off x="37707" y="3289952"/>
                <a:ext cx="115834" cy="1414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a:off x="50070" y="3421930"/>
                <a:ext cx="103471" cy="15554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00" name="Group 99"/>
            <p:cNvGrpSpPr/>
            <p:nvPr/>
          </p:nvGrpSpPr>
          <p:grpSpPr>
            <a:xfrm>
              <a:off x="8801217" y="3335577"/>
              <a:ext cx="152796" cy="254397"/>
              <a:chOff x="8953500" y="3302652"/>
              <a:chExt cx="152796" cy="254397"/>
            </a:xfrm>
          </p:grpSpPr>
          <p:cxnSp>
            <p:nvCxnSpPr>
              <p:cNvPr id="105" name="Straight Connector 104"/>
              <p:cNvCxnSpPr/>
              <p:nvPr/>
            </p:nvCxnSpPr>
            <p:spPr>
              <a:xfrm flipH="1" flipV="1">
                <a:off x="8953500" y="3302652"/>
                <a:ext cx="152796" cy="13197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flipV="1">
                <a:off x="8953500" y="3421930"/>
                <a:ext cx="152400" cy="1351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cxnSp>
        <p:nvCxnSpPr>
          <p:cNvPr id="80" name="Straight Arrow Connector 79"/>
          <p:cNvCxnSpPr/>
          <p:nvPr/>
        </p:nvCxnSpPr>
        <p:spPr>
          <a:xfrm>
            <a:off x="3303308" y="3438770"/>
            <a:ext cx="0" cy="265968"/>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72" name="Group 71"/>
          <p:cNvGrpSpPr/>
          <p:nvPr/>
        </p:nvGrpSpPr>
        <p:grpSpPr>
          <a:xfrm>
            <a:off x="511473" y="3307366"/>
            <a:ext cx="8109720" cy="301658"/>
            <a:chOff x="511473" y="3307366"/>
            <a:chExt cx="8109720" cy="301658"/>
          </a:xfrm>
        </p:grpSpPr>
        <p:cxnSp>
          <p:nvCxnSpPr>
            <p:cNvPr id="87" name="Straight Connector 86"/>
            <p:cNvCxnSpPr/>
            <p:nvPr/>
          </p:nvCxnSpPr>
          <p:spPr>
            <a:xfrm>
              <a:off x="51147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42023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232035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322047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502071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682095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862119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a:off x="772107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a:off x="412059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592083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5" name="TextBox 14"/>
          <p:cNvSpPr txBox="1"/>
          <p:nvPr/>
        </p:nvSpPr>
        <p:spPr>
          <a:xfrm>
            <a:off x="4752024" y="3086267"/>
            <a:ext cx="516904" cy="261610"/>
          </a:xfrm>
          <a:prstGeom prst="rect">
            <a:avLst/>
          </a:prstGeom>
          <a:noFill/>
        </p:spPr>
        <p:txBody>
          <a:bodyPr wrap="square" rtlCol="0">
            <a:spAutoFit/>
          </a:bodyPr>
          <a:lstStyle/>
          <a:p>
            <a:pPr algn="ctr"/>
            <a:r>
              <a:rPr lang="en-AU" sz="1100" dirty="0" smtClean="0">
                <a:solidFill>
                  <a:srgbClr val="FF0000"/>
                </a:solidFill>
              </a:rPr>
              <a:t>1980</a:t>
            </a:r>
            <a:endParaRPr lang="en-AU" sz="1100" dirty="0">
              <a:solidFill>
                <a:srgbClr val="FF0000"/>
              </a:solidFill>
            </a:endParaRPr>
          </a:p>
        </p:txBody>
      </p:sp>
      <p:cxnSp>
        <p:nvCxnSpPr>
          <p:cNvPr id="110" name="Straight Arrow Connector 109"/>
          <p:cNvCxnSpPr/>
          <p:nvPr/>
        </p:nvCxnSpPr>
        <p:spPr>
          <a:xfrm flipV="1">
            <a:off x="2683874" y="3086267"/>
            <a:ext cx="0" cy="377963"/>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p:nvPr/>
        </p:nvCxnSpPr>
        <p:spPr>
          <a:xfrm flipV="1">
            <a:off x="3671880" y="3067853"/>
            <a:ext cx="0" cy="377963"/>
          </a:xfrm>
          <a:prstGeom prst="straightConnector1">
            <a:avLst/>
          </a:prstGeom>
          <a:ln w="28575">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2445456" y="1988808"/>
            <a:ext cx="1510446" cy="600164"/>
          </a:xfrm>
          <a:prstGeom prst="rect">
            <a:avLst/>
          </a:prstGeom>
          <a:noFill/>
        </p:spPr>
        <p:txBody>
          <a:bodyPr wrap="square" rtlCol="0">
            <a:spAutoFit/>
          </a:bodyPr>
          <a:lstStyle/>
          <a:p>
            <a:pPr algn="ctr"/>
            <a:r>
              <a:rPr lang="en-AU" sz="1100" dirty="0" smtClean="0"/>
              <a:t>1960 </a:t>
            </a:r>
            <a:br>
              <a:rPr lang="en-AU" sz="1100" dirty="0" smtClean="0"/>
            </a:br>
            <a:r>
              <a:rPr lang="en-AU" sz="1100" dirty="0" smtClean="0"/>
              <a:t>Mary awarded the University Medal</a:t>
            </a:r>
            <a:endParaRPr lang="en-AU" sz="1100" dirty="0"/>
          </a:p>
        </p:txBody>
      </p:sp>
      <p:sp>
        <p:nvSpPr>
          <p:cNvPr id="17" name="TextBox 16"/>
          <p:cNvSpPr txBox="1"/>
          <p:nvPr/>
        </p:nvSpPr>
        <p:spPr>
          <a:xfrm>
            <a:off x="6552264" y="3086267"/>
            <a:ext cx="551469" cy="261610"/>
          </a:xfrm>
          <a:prstGeom prst="rect">
            <a:avLst/>
          </a:prstGeom>
          <a:noFill/>
        </p:spPr>
        <p:txBody>
          <a:bodyPr wrap="square" rtlCol="0">
            <a:spAutoFit/>
          </a:bodyPr>
          <a:lstStyle/>
          <a:p>
            <a:pPr algn="ctr"/>
            <a:r>
              <a:rPr lang="en-AU" sz="1100" dirty="0" smtClean="0">
                <a:solidFill>
                  <a:srgbClr val="FF0000"/>
                </a:solidFill>
              </a:rPr>
              <a:t>2000</a:t>
            </a:r>
            <a:endParaRPr lang="en-AU" sz="1100" dirty="0">
              <a:solidFill>
                <a:srgbClr val="FF0000"/>
              </a:solidFill>
            </a:endParaRPr>
          </a:p>
        </p:txBody>
      </p:sp>
    </p:spTree>
    <p:extLst>
      <p:ext uri="{BB962C8B-B14F-4D97-AF65-F5344CB8AC3E}">
        <p14:creationId xmlns:p14="http://schemas.microsoft.com/office/powerpoint/2010/main" val="949113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59"/>
                                        </p:tgtEl>
                                      </p:cBhvr>
                                    </p:animEffect>
                                    <p:animScale>
                                      <p:cBhvr>
                                        <p:cTn id="7" dur="250" autoRev="1" fill="hold"/>
                                        <p:tgtEl>
                                          <p:spTgt spid="59"/>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72"/>
                                        </p:tgtEl>
                                      </p:cBhvr>
                                    </p:animEffect>
                                    <p:animScale>
                                      <p:cBhvr>
                                        <p:cTn id="12" dur="250" autoRev="1" fill="hold"/>
                                        <p:tgtEl>
                                          <p:spTgt spid="72"/>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wheel(1)">
                                      <p:cBhvr>
                                        <p:cTn id="17" dur="20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29844909"/>
              </p:ext>
            </p:extLst>
          </p:nvPr>
        </p:nvGraphicFramePr>
        <p:xfrm>
          <a:off x="1533754" y="1397000"/>
          <a:ext cx="6220358" cy="3196944"/>
        </p:xfrm>
        <a:graphic>
          <a:graphicData uri="http://schemas.openxmlformats.org/drawingml/2006/table">
            <a:tbl>
              <a:tblPr firstRow="1" bandRow="1">
                <a:tableStyleId>{5C22544A-7EE6-4342-B048-85BDC9FD1C3A}</a:tableStyleId>
              </a:tblPr>
              <a:tblGrid>
                <a:gridCol w="1137081"/>
                <a:gridCol w="5083277"/>
              </a:tblGrid>
              <a:tr h="399618">
                <a:tc>
                  <a:txBody>
                    <a:bodyPr/>
                    <a:lstStyle/>
                    <a:p>
                      <a:pPr algn="ctr"/>
                      <a:r>
                        <a:rPr lang="en-AU" dirty="0" smtClean="0"/>
                        <a:t>Date</a:t>
                      </a:r>
                      <a:endParaRPr lang="en-AU" dirty="0"/>
                    </a:p>
                  </a:txBody>
                  <a:tcPr/>
                </a:tc>
                <a:tc>
                  <a:txBody>
                    <a:bodyPr/>
                    <a:lstStyle/>
                    <a:p>
                      <a:pPr algn="ctr"/>
                      <a:r>
                        <a:rPr lang="en-AU" dirty="0" smtClean="0"/>
                        <a:t>Event</a:t>
                      </a:r>
                      <a:endParaRPr lang="en-AU" dirty="0"/>
                    </a:p>
                  </a:txBody>
                  <a:tcPr/>
                </a:tc>
              </a:tr>
              <a:tr h="399618">
                <a:tc>
                  <a:txBody>
                    <a:bodyPr/>
                    <a:lstStyle/>
                    <a:p>
                      <a:pPr algn="ctr"/>
                      <a:r>
                        <a:rPr lang="en-AU" dirty="0" smtClean="0"/>
                        <a:t>1930</a:t>
                      </a:r>
                      <a:endParaRPr lang="en-AU" dirty="0"/>
                    </a:p>
                  </a:txBody>
                  <a:tcPr/>
                </a:tc>
                <a:tc>
                  <a:txBody>
                    <a:bodyPr/>
                    <a:lstStyle/>
                    <a:p>
                      <a:r>
                        <a:rPr lang="en-AU" dirty="0" smtClean="0"/>
                        <a:t>Birth of Mary Irvine</a:t>
                      </a:r>
                      <a:endParaRPr lang="en-AU" dirty="0"/>
                    </a:p>
                  </a:txBody>
                  <a:tcPr/>
                </a:tc>
              </a:tr>
              <a:tr h="399618">
                <a:tc>
                  <a:txBody>
                    <a:bodyPr/>
                    <a:lstStyle/>
                    <a:p>
                      <a:pPr algn="ctr"/>
                      <a:r>
                        <a:rPr lang="en-AU" dirty="0" smtClean="0"/>
                        <a:t>1944</a:t>
                      </a:r>
                      <a:endParaRPr lang="en-AU" dirty="0"/>
                    </a:p>
                  </a:txBody>
                  <a:tcPr/>
                </a:tc>
                <a:tc>
                  <a:txBody>
                    <a:bodyPr/>
                    <a:lstStyle/>
                    <a:p>
                      <a:r>
                        <a:rPr lang="en-AU" dirty="0" smtClean="0"/>
                        <a:t>Mary</a:t>
                      </a:r>
                      <a:r>
                        <a:rPr lang="en-AU" baseline="0" dirty="0" smtClean="0"/>
                        <a:t> enters high school </a:t>
                      </a:r>
                      <a:endParaRPr lang="en-AU" dirty="0"/>
                    </a:p>
                  </a:txBody>
                  <a:tcPr/>
                </a:tc>
              </a:tr>
              <a:tr h="399618">
                <a:tc>
                  <a:txBody>
                    <a:bodyPr/>
                    <a:lstStyle/>
                    <a:p>
                      <a:pPr algn="ctr"/>
                      <a:r>
                        <a:rPr lang="en-AU" dirty="0" smtClean="0"/>
                        <a:t>1960</a:t>
                      </a:r>
                      <a:endParaRPr lang="en-AU" dirty="0"/>
                    </a:p>
                  </a:txBody>
                  <a:tcPr/>
                </a:tc>
                <a:tc>
                  <a:txBody>
                    <a:bodyPr/>
                    <a:lstStyle/>
                    <a:p>
                      <a:r>
                        <a:rPr lang="en-AU" dirty="0" smtClean="0"/>
                        <a:t>Mary is awarded</a:t>
                      </a:r>
                      <a:r>
                        <a:rPr lang="en-AU" baseline="0" dirty="0" smtClean="0"/>
                        <a:t> the University medal </a:t>
                      </a:r>
                      <a:endParaRPr lang="en-AU" dirty="0"/>
                    </a:p>
                  </a:txBody>
                  <a:tcPr/>
                </a:tc>
              </a:tr>
              <a:tr h="399618">
                <a:tc>
                  <a:txBody>
                    <a:bodyPr/>
                    <a:lstStyle/>
                    <a:p>
                      <a:pPr algn="ctr"/>
                      <a:r>
                        <a:rPr lang="en-AU" dirty="0" smtClean="0"/>
                        <a:t>1981</a:t>
                      </a:r>
                      <a:endParaRPr lang="en-AU" dirty="0"/>
                    </a:p>
                  </a:txBody>
                  <a:tcPr/>
                </a:tc>
                <a:tc>
                  <a:txBody>
                    <a:bodyPr/>
                    <a:lstStyle/>
                    <a:p>
                      <a:r>
                        <a:rPr lang="en-AU" dirty="0" smtClean="0"/>
                        <a:t>Mary becomes</a:t>
                      </a:r>
                      <a:r>
                        <a:rPr lang="en-AU" baseline="0" dirty="0" smtClean="0"/>
                        <a:t> a judge </a:t>
                      </a:r>
                      <a:endParaRPr lang="en-AU" dirty="0"/>
                    </a:p>
                  </a:txBody>
                  <a:tcPr/>
                </a:tc>
              </a:tr>
              <a:tr h="399618">
                <a:tc>
                  <a:txBody>
                    <a:bodyPr/>
                    <a:lstStyle/>
                    <a:p>
                      <a:pPr algn="ctr"/>
                      <a:r>
                        <a:rPr lang="en-AU" dirty="0" smtClean="0"/>
                        <a:t>1990</a:t>
                      </a:r>
                      <a:endParaRPr lang="en-AU" dirty="0"/>
                    </a:p>
                  </a:txBody>
                  <a:tcPr/>
                </a:tc>
                <a:tc>
                  <a:txBody>
                    <a:bodyPr/>
                    <a:lstStyle/>
                    <a:p>
                      <a:r>
                        <a:rPr lang="en-AU" dirty="0" smtClean="0"/>
                        <a:t>Mary promoted</a:t>
                      </a:r>
                      <a:r>
                        <a:rPr lang="en-AU" baseline="0" dirty="0" smtClean="0"/>
                        <a:t> to the Supreme Court </a:t>
                      </a:r>
                      <a:endParaRPr lang="en-AU" dirty="0"/>
                    </a:p>
                  </a:txBody>
                  <a:tcPr/>
                </a:tc>
              </a:tr>
              <a:tr h="399618">
                <a:tc>
                  <a:txBody>
                    <a:bodyPr/>
                    <a:lstStyle/>
                    <a:p>
                      <a:pPr algn="ctr"/>
                      <a:r>
                        <a:rPr lang="en-AU" dirty="0" smtClean="0"/>
                        <a:t>1999</a:t>
                      </a:r>
                      <a:endParaRPr lang="en-AU" dirty="0"/>
                    </a:p>
                  </a:txBody>
                  <a:tcPr/>
                </a:tc>
                <a:tc>
                  <a:txBody>
                    <a:bodyPr/>
                    <a:lstStyle/>
                    <a:p>
                      <a:r>
                        <a:rPr lang="en-AU" dirty="0" smtClean="0"/>
                        <a:t>Mary</a:t>
                      </a:r>
                      <a:r>
                        <a:rPr lang="en-AU" baseline="0" dirty="0" smtClean="0"/>
                        <a:t> retires as a judge</a:t>
                      </a:r>
                      <a:endParaRPr lang="en-AU" dirty="0"/>
                    </a:p>
                  </a:txBody>
                  <a:tcPr/>
                </a:tc>
              </a:tr>
              <a:tr h="399618">
                <a:tc>
                  <a:txBody>
                    <a:bodyPr/>
                    <a:lstStyle/>
                    <a:p>
                      <a:pPr algn="ctr"/>
                      <a:r>
                        <a:rPr lang="en-AU" dirty="0" smtClean="0"/>
                        <a:t>2014</a:t>
                      </a:r>
                      <a:endParaRPr lang="en-AU" dirty="0"/>
                    </a:p>
                  </a:txBody>
                  <a:tcPr/>
                </a:tc>
                <a:tc>
                  <a:txBody>
                    <a:bodyPr/>
                    <a:lstStyle/>
                    <a:p>
                      <a:r>
                        <a:rPr lang="en-AU" dirty="0" smtClean="0"/>
                        <a:t>Death of Mary</a:t>
                      </a:r>
                      <a:r>
                        <a:rPr lang="en-AU" baseline="0" dirty="0" smtClean="0"/>
                        <a:t> Irvine </a:t>
                      </a:r>
                      <a:endParaRPr lang="en-AU" dirty="0"/>
                    </a:p>
                  </a:txBody>
                  <a:tcPr/>
                </a:tc>
              </a:tr>
            </a:tbl>
          </a:graphicData>
        </a:graphic>
      </p:graphicFrame>
      <p:sp>
        <p:nvSpPr>
          <p:cNvPr id="5" name="TextBox 4"/>
          <p:cNvSpPr txBox="1"/>
          <p:nvPr/>
        </p:nvSpPr>
        <p:spPr>
          <a:xfrm>
            <a:off x="150614" y="582475"/>
            <a:ext cx="8777177"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AU" sz="2400" b="1" dirty="0" smtClean="0">
                <a:latin typeface="+mj-lt"/>
                <a:cs typeface="Arial" panose="020B0604020202020204" pitchFamily="34" charset="0"/>
              </a:rPr>
              <a:t>Step 1:  </a:t>
            </a:r>
            <a:r>
              <a:rPr lang="en-AU" sz="2400" dirty="0" smtClean="0">
                <a:latin typeface="+mj-lt"/>
                <a:cs typeface="Arial" panose="020B0604020202020204" pitchFamily="34" charset="0"/>
              </a:rPr>
              <a:t>Determine </a:t>
            </a:r>
            <a:r>
              <a:rPr lang="en-AU" sz="2400" dirty="0">
                <a:latin typeface="+mj-lt"/>
                <a:cs typeface="Arial" panose="020B0604020202020204" pitchFamily="34" charset="0"/>
              </a:rPr>
              <a:t>the </a:t>
            </a:r>
            <a:r>
              <a:rPr lang="en-AU" sz="2400" dirty="0" smtClean="0">
                <a:latin typeface="+mj-lt"/>
                <a:cs typeface="Arial" panose="020B0604020202020204" pitchFamily="34" charset="0"/>
              </a:rPr>
              <a:t>minimum length </a:t>
            </a:r>
            <a:r>
              <a:rPr lang="en-AU" sz="2400" dirty="0">
                <a:latin typeface="+mj-lt"/>
                <a:cs typeface="Arial" panose="020B0604020202020204" pitchFamily="34" charset="0"/>
              </a:rPr>
              <a:t>of the </a:t>
            </a:r>
            <a:r>
              <a:rPr lang="en-AU" sz="2400" dirty="0" smtClean="0">
                <a:latin typeface="+mj-lt"/>
                <a:cs typeface="Arial" panose="020B0604020202020204" pitchFamily="34" charset="0"/>
              </a:rPr>
              <a:t>timeline</a:t>
            </a:r>
            <a:endParaRPr lang="en-AU" sz="2400" dirty="0">
              <a:latin typeface="+mj-lt"/>
              <a:cs typeface="Arial" panose="020B0604020202020204" pitchFamily="34" charset="0"/>
            </a:endParaRPr>
          </a:p>
        </p:txBody>
      </p:sp>
      <p:sp>
        <p:nvSpPr>
          <p:cNvPr id="2" name="Oval 1"/>
          <p:cNvSpPr/>
          <p:nvPr/>
        </p:nvSpPr>
        <p:spPr>
          <a:xfrm>
            <a:off x="1733702" y="1814170"/>
            <a:ext cx="731520" cy="3584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Oval 5"/>
          <p:cNvSpPr/>
          <p:nvPr/>
        </p:nvSpPr>
        <p:spPr>
          <a:xfrm>
            <a:off x="1733702" y="4226965"/>
            <a:ext cx="731520" cy="3584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9" name="Group 18"/>
          <p:cNvGrpSpPr/>
          <p:nvPr/>
        </p:nvGrpSpPr>
        <p:grpSpPr>
          <a:xfrm>
            <a:off x="1258214" y="1997050"/>
            <a:ext cx="275540" cy="2428646"/>
            <a:chOff x="1258214" y="1997050"/>
            <a:chExt cx="275540" cy="2428646"/>
          </a:xfrm>
        </p:grpSpPr>
        <p:cxnSp>
          <p:nvCxnSpPr>
            <p:cNvPr id="7" name="Straight Connector 6"/>
            <p:cNvCxnSpPr/>
            <p:nvPr/>
          </p:nvCxnSpPr>
          <p:spPr>
            <a:xfrm flipH="1">
              <a:off x="1258214" y="4425696"/>
              <a:ext cx="27554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1258214" y="1997050"/>
              <a:ext cx="0" cy="929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258214" y="1997050"/>
              <a:ext cx="27554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1258214" y="3152851"/>
              <a:ext cx="0" cy="127284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1" name="Straight Connector 20"/>
          <p:cNvCxnSpPr/>
          <p:nvPr/>
        </p:nvCxnSpPr>
        <p:spPr>
          <a:xfrm>
            <a:off x="1068019" y="3035808"/>
            <a:ext cx="263347"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50614" y="2830982"/>
            <a:ext cx="965605" cy="369332"/>
          </a:xfrm>
          <a:prstGeom prst="rect">
            <a:avLst/>
          </a:prstGeom>
          <a:noFill/>
        </p:spPr>
        <p:txBody>
          <a:bodyPr wrap="square" rtlCol="0">
            <a:spAutoFit/>
          </a:bodyPr>
          <a:lstStyle/>
          <a:p>
            <a:pPr algn="ctr"/>
            <a:r>
              <a:rPr lang="en-AU" dirty="0" smtClean="0">
                <a:solidFill>
                  <a:srgbClr val="0070C0"/>
                </a:solidFill>
              </a:rPr>
              <a:t>84 years </a:t>
            </a:r>
            <a:endParaRPr lang="en-AU" dirty="0">
              <a:solidFill>
                <a:srgbClr val="0070C0"/>
              </a:solidFill>
            </a:endParaRPr>
          </a:p>
        </p:txBody>
      </p:sp>
    </p:spTree>
    <p:extLst>
      <p:ext uri="{BB962C8B-B14F-4D97-AF65-F5344CB8AC3E}">
        <p14:creationId xmlns:p14="http://schemas.microsoft.com/office/powerpoint/2010/main" val="248512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heel(1)">
                                      <p:cBhvr>
                                        <p:cTn id="12" dur="2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heel(1)">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arn(inVertical)">
                                      <p:cBhvr>
                                        <p:cTn id="22" dur="500"/>
                                        <p:tgtEl>
                                          <p:spTgt spid="19"/>
                                        </p:tgtEl>
                                      </p:cBhvr>
                                    </p:animEffect>
                                  </p:childTnLst>
                                </p:cTn>
                              </p:par>
                              <p:par>
                                <p:cTn id="23" presetID="16" presetClass="entr" presetSubtype="21"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arn(inVertical)">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barn(inVertical)">
                                      <p:cBhvr>
                                        <p:cTn id="3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6" grpId="0" animBg="1"/>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245097" y="3513354"/>
            <a:ext cx="8597245" cy="375948"/>
            <a:chOff x="245097" y="3513354"/>
            <a:chExt cx="8597245" cy="375948"/>
          </a:xfrm>
        </p:grpSpPr>
        <p:cxnSp>
          <p:nvCxnSpPr>
            <p:cNvPr id="6" name="Straight Connector 5"/>
            <p:cNvCxnSpPr/>
            <p:nvPr/>
          </p:nvCxnSpPr>
          <p:spPr>
            <a:xfrm>
              <a:off x="245097" y="3704740"/>
              <a:ext cx="859724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8629691" y="3513354"/>
              <a:ext cx="212651" cy="19138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8629691" y="3697916"/>
              <a:ext cx="205829" cy="19138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45097" y="3697916"/>
              <a:ext cx="212651" cy="19138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245097" y="3513354"/>
              <a:ext cx="212651" cy="19138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9" name="Group 28"/>
          <p:cNvGrpSpPr/>
          <p:nvPr/>
        </p:nvGrpSpPr>
        <p:grpSpPr>
          <a:xfrm>
            <a:off x="707010" y="537329"/>
            <a:ext cx="1753386" cy="2585323"/>
            <a:chOff x="707010" y="537329"/>
            <a:chExt cx="1753386" cy="2585323"/>
          </a:xfrm>
        </p:grpSpPr>
        <p:sp>
          <p:nvSpPr>
            <p:cNvPr id="7" name="TextBox 6"/>
            <p:cNvSpPr txBox="1"/>
            <p:nvPr/>
          </p:nvSpPr>
          <p:spPr>
            <a:xfrm>
              <a:off x="707010" y="537329"/>
              <a:ext cx="1753386" cy="2585323"/>
            </a:xfrm>
            <a:prstGeom prst="rect">
              <a:avLst/>
            </a:prstGeom>
            <a:solidFill>
              <a:schemeClr val="bg1">
                <a:lumMod val="75000"/>
              </a:schemeClr>
            </a:solidFill>
            <a:ln>
              <a:solidFill>
                <a:schemeClr val="tx1"/>
              </a:solidFill>
            </a:ln>
          </p:spPr>
          <p:txBody>
            <a:bodyPr wrap="square" rtlCol="0">
              <a:spAutoFit/>
            </a:bodyPr>
            <a:lstStyle/>
            <a:p>
              <a:endParaRPr lang="en-AU" dirty="0" smtClean="0"/>
            </a:p>
            <a:p>
              <a:endParaRPr lang="en-AU" dirty="0"/>
            </a:p>
            <a:p>
              <a:endParaRPr lang="en-AU" dirty="0" smtClean="0"/>
            </a:p>
            <a:p>
              <a:endParaRPr lang="en-AU" dirty="0"/>
            </a:p>
            <a:p>
              <a:endParaRPr lang="en-AU" dirty="0" smtClean="0"/>
            </a:p>
            <a:p>
              <a:endParaRPr lang="en-AU" dirty="0"/>
            </a:p>
            <a:p>
              <a:endParaRPr lang="en-AU" dirty="0" smtClean="0"/>
            </a:p>
            <a:p>
              <a:endParaRPr lang="en-AU" dirty="0"/>
            </a:p>
            <a:p>
              <a:endParaRPr lang="en-AU" dirty="0"/>
            </a:p>
          </p:txBody>
        </p:sp>
        <p:grpSp>
          <p:nvGrpSpPr>
            <p:cNvPr id="28" name="Group 27"/>
            <p:cNvGrpSpPr/>
            <p:nvPr/>
          </p:nvGrpSpPr>
          <p:grpSpPr>
            <a:xfrm>
              <a:off x="1447333" y="622172"/>
              <a:ext cx="272740" cy="2403835"/>
              <a:chOff x="1447333" y="622172"/>
              <a:chExt cx="272740" cy="2403835"/>
            </a:xfrm>
          </p:grpSpPr>
          <p:cxnSp>
            <p:nvCxnSpPr>
              <p:cNvPr id="11" name="Straight Connector 10"/>
              <p:cNvCxnSpPr/>
              <p:nvPr/>
            </p:nvCxnSpPr>
            <p:spPr>
              <a:xfrm>
                <a:off x="1583703" y="622172"/>
                <a:ext cx="0" cy="24038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1447333" y="622172"/>
                <a:ext cx="136370" cy="18564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flipV="1">
                <a:off x="1583703" y="624539"/>
                <a:ext cx="136370" cy="1776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1583703" y="2848343"/>
                <a:ext cx="126424" cy="1776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flipV="1">
                <a:off x="1447333" y="2848343"/>
                <a:ext cx="136370" cy="1776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3" name="Group 42"/>
          <p:cNvGrpSpPr/>
          <p:nvPr/>
        </p:nvGrpSpPr>
        <p:grpSpPr>
          <a:xfrm>
            <a:off x="4242062" y="4213786"/>
            <a:ext cx="4100660" cy="2031325"/>
            <a:chOff x="4242062" y="4213786"/>
            <a:chExt cx="4100660" cy="2031325"/>
          </a:xfrm>
        </p:grpSpPr>
        <p:sp>
          <p:nvSpPr>
            <p:cNvPr id="12" name="TextBox 11"/>
            <p:cNvSpPr txBox="1"/>
            <p:nvPr/>
          </p:nvSpPr>
          <p:spPr>
            <a:xfrm>
              <a:off x="4242062" y="4213786"/>
              <a:ext cx="4100660" cy="2031325"/>
            </a:xfrm>
            <a:prstGeom prst="rect">
              <a:avLst/>
            </a:prstGeom>
            <a:solidFill>
              <a:schemeClr val="bg1">
                <a:lumMod val="75000"/>
              </a:schemeClr>
            </a:solidFill>
            <a:ln>
              <a:solidFill>
                <a:schemeClr val="tx1"/>
              </a:solidFill>
            </a:ln>
          </p:spPr>
          <p:txBody>
            <a:bodyPr wrap="square" rtlCol="0">
              <a:spAutoFit/>
            </a:bodyPr>
            <a:lstStyle/>
            <a:p>
              <a:endParaRPr lang="en-AU" dirty="0" smtClean="0"/>
            </a:p>
            <a:p>
              <a:endParaRPr lang="en-AU" dirty="0"/>
            </a:p>
            <a:p>
              <a:endParaRPr lang="en-AU" dirty="0" smtClean="0"/>
            </a:p>
            <a:p>
              <a:endParaRPr lang="en-AU" dirty="0"/>
            </a:p>
            <a:p>
              <a:endParaRPr lang="en-AU" dirty="0" smtClean="0"/>
            </a:p>
            <a:p>
              <a:endParaRPr lang="en-AU" dirty="0"/>
            </a:p>
            <a:p>
              <a:endParaRPr lang="en-AU" dirty="0"/>
            </a:p>
          </p:txBody>
        </p:sp>
        <p:grpSp>
          <p:nvGrpSpPr>
            <p:cNvPr id="42" name="Group 41"/>
            <p:cNvGrpSpPr/>
            <p:nvPr/>
          </p:nvGrpSpPr>
          <p:grpSpPr>
            <a:xfrm>
              <a:off x="4374037" y="5069091"/>
              <a:ext cx="3817856" cy="320385"/>
              <a:chOff x="4374037" y="5069091"/>
              <a:chExt cx="3817856" cy="320385"/>
            </a:xfrm>
          </p:grpSpPr>
          <p:cxnSp>
            <p:nvCxnSpPr>
              <p:cNvPr id="14" name="Straight Connector 13"/>
              <p:cNvCxnSpPr/>
              <p:nvPr/>
            </p:nvCxnSpPr>
            <p:spPr>
              <a:xfrm>
                <a:off x="4374037" y="5229448"/>
                <a:ext cx="38178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flipV="1">
                <a:off x="8016427" y="5076883"/>
                <a:ext cx="175466" cy="1525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8016427" y="5221656"/>
                <a:ext cx="175466" cy="1678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H="1" flipV="1">
                <a:off x="4374037" y="5221657"/>
                <a:ext cx="175466" cy="1525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4374037" y="5069091"/>
                <a:ext cx="175466" cy="1525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4" name="TextBox 43"/>
          <p:cNvSpPr txBox="1"/>
          <p:nvPr/>
        </p:nvSpPr>
        <p:spPr>
          <a:xfrm>
            <a:off x="3056553" y="533921"/>
            <a:ext cx="2974332"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nchor="ctr">
            <a:spAutoFit/>
          </a:bodyPr>
          <a:lstStyle/>
          <a:p>
            <a:pPr algn="ctr">
              <a:spcBef>
                <a:spcPts val="600"/>
              </a:spcBef>
              <a:spcAft>
                <a:spcPts val="600"/>
              </a:spcAft>
            </a:pPr>
            <a:r>
              <a:rPr lang="en-AU" sz="2400" b="1" dirty="0" smtClean="0">
                <a:latin typeface="+mj-lt"/>
                <a:cs typeface="Arial" panose="020B0604020202020204" pitchFamily="34" charset="0"/>
              </a:rPr>
              <a:t>Step 2:  </a:t>
            </a:r>
            <a:r>
              <a:rPr lang="en-AU" sz="2400" dirty="0">
                <a:latin typeface="+mj-lt"/>
                <a:cs typeface="Arial" panose="020B0604020202020204" pitchFamily="34" charset="0"/>
              </a:rPr>
              <a:t>Draw the </a:t>
            </a:r>
            <a:r>
              <a:rPr lang="en-AU" sz="2400" dirty="0" smtClean="0">
                <a:latin typeface="+mj-lt"/>
                <a:cs typeface="Arial" panose="020B0604020202020204" pitchFamily="34" charset="0"/>
              </a:rPr>
              <a:t>line</a:t>
            </a:r>
            <a:endParaRPr lang="en-AU" sz="2400" dirty="0">
              <a:latin typeface="+mj-lt"/>
              <a:cs typeface="Arial" panose="020B0604020202020204" pitchFamily="34" charset="0"/>
            </a:endParaRPr>
          </a:p>
        </p:txBody>
      </p:sp>
    </p:spTree>
    <p:extLst>
      <p:ext uri="{BB962C8B-B14F-4D97-AF65-F5344CB8AC3E}">
        <p14:creationId xmlns:p14="http://schemas.microsoft.com/office/powerpoint/2010/main" val="3053562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heel(1)">
                                      <p:cBhvr>
                                        <p:cTn id="7" dur="2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arn(inVertical)">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arn(inVertical)">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233688" y="2937284"/>
            <a:ext cx="697585" cy="369332"/>
          </a:xfrm>
          <a:prstGeom prst="rect">
            <a:avLst/>
          </a:prstGeom>
          <a:noFill/>
        </p:spPr>
        <p:txBody>
          <a:bodyPr wrap="square" rtlCol="0">
            <a:spAutoFit/>
          </a:bodyPr>
          <a:lstStyle/>
          <a:p>
            <a:r>
              <a:rPr lang="en-AU" dirty="0" smtClean="0"/>
              <a:t>1930</a:t>
            </a:r>
            <a:endParaRPr lang="en-AU" dirty="0"/>
          </a:p>
        </p:txBody>
      </p:sp>
      <p:sp>
        <p:nvSpPr>
          <p:cNvPr id="20" name="TextBox 19"/>
          <p:cNvSpPr txBox="1"/>
          <p:nvPr/>
        </p:nvSpPr>
        <p:spPr>
          <a:xfrm>
            <a:off x="4039279" y="2273721"/>
            <a:ext cx="754145" cy="584775"/>
          </a:xfrm>
          <a:prstGeom prst="rect">
            <a:avLst/>
          </a:prstGeom>
          <a:noFill/>
        </p:spPr>
        <p:txBody>
          <a:bodyPr wrap="square" rtlCol="0">
            <a:spAutoFit/>
          </a:bodyPr>
          <a:lstStyle/>
          <a:p>
            <a:r>
              <a:rPr lang="en-AU" sz="3200" dirty="0" smtClean="0"/>
              <a:t>90</a:t>
            </a:r>
            <a:endParaRPr lang="en-AU" sz="3200" dirty="0"/>
          </a:p>
        </p:txBody>
      </p:sp>
      <p:sp>
        <p:nvSpPr>
          <p:cNvPr id="23" name="Left Arrow 22"/>
          <p:cNvSpPr/>
          <p:nvPr/>
        </p:nvSpPr>
        <p:spPr>
          <a:xfrm>
            <a:off x="604158" y="2322720"/>
            <a:ext cx="2995966" cy="486780"/>
          </a:xfrm>
          <a:prstGeom prst="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AU" dirty="0"/>
          </a:p>
        </p:txBody>
      </p:sp>
      <p:sp>
        <p:nvSpPr>
          <p:cNvPr id="24" name="Left Arrow 23"/>
          <p:cNvSpPr/>
          <p:nvPr/>
        </p:nvSpPr>
        <p:spPr>
          <a:xfrm rot="10800000">
            <a:off x="5205496" y="2322720"/>
            <a:ext cx="3147007" cy="486780"/>
          </a:xfrm>
          <a:prstGeom prst="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AU" dirty="0"/>
          </a:p>
        </p:txBody>
      </p:sp>
      <p:sp>
        <p:nvSpPr>
          <p:cNvPr id="37" name="TextBox 36"/>
          <p:cNvSpPr txBox="1"/>
          <p:nvPr/>
        </p:nvSpPr>
        <p:spPr>
          <a:xfrm>
            <a:off x="467349" y="638627"/>
            <a:ext cx="8175933"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AU" sz="2400" b="1" dirty="0" smtClean="0">
                <a:latin typeface="+mj-lt"/>
                <a:cs typeface="Arial" panose="020B0604020202020204" pitchFamily="34" charset="0"/>
              </a:rPr>
              <a:t>Step 3:  </a:t>
            </a:r>
            <a:r>
              <a:rPr lang="en-AU" sz="2400" dirty="0" smtClean="0">
                <a:latin typeface="+mj-lt"/>
                <a:cs typeface="Arial" panose="020B0604020202020204" pitchFamily="34" charset="0"/>
              </a:rPr>
              <a:t>Divide the timeline into </a:t>
            </a:r>
            <a:r>
              <a:rPr lang="en-AU" sz="2400" dirty="0">
                <a:latin typeface="+mj-lt"/>
                <a:cs typeface="Arial" panose="020B0604020202020204" pitchFamily="34" charset="0"/>
              </a:rPr>
              <a:t>equal intervals of </a:t>
            </a:r>
            <a:r>
              <a:rPr lang="en-AU" sz="2400" dirty="0" smtClean="0">
                <a:latin typeface="+mj-lt"/>
                <a:cs typeface="Arial" panose="020B0604020202020204" pitchFamily="34" charset="0"/>
              </a:rPr>
              <a:t>time</a:t>
            </a:r>
            <a:endParaRPr lang="en-AU" sz="2400" dirty="0">
              <a:latin typeface="+mj-lt"/>
              <a:cs typeface="Arial" panose="020B0604020202020204" pitchFamily="34" charset="0"/>
            </a:endParaRPr>
          </a:p>
        </p:txBody>
      </p:sp>
      <p:cxnSp>
        <p:nvCxnSpPr>
          <p:cNvPr id="38" name="Straight Arrow Connector 37"/>
          <p:cNvCxnSpPr/>
          <p:nvPr/>
        </p:nvCxnSpPr>
        <p:spPr>
          <a:xfrm>
            <a:off x="516000" y="3699036"/>
            <a:ext cx="904233" cy="0"/>
          </a:xfrm>
          <a:prstGeom prst="straightConnector1">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511474" y="3727611"/>
            <a:ext cx="908760" cy="276999"/>
          </a:xfrm>
          <a:prstGeom prst="rect">
            <a:avLst/>
          </a:prstGeom>
          <a:noFill/>
        </p:spPr>
        <p:txBody>
          <a:bodyPr wrap="square" rtlCol="0">
            <a:spAutoFit/>
          </a:bodyPr>
          <a:lstStyle/>
          <a:p>
            <a:pPr algn="ctr"/>
            <a:r>
              <a:rPr lang="en-AU" sz="1200" dirty="0" smtClean="0"/>
              <a:t>10  years </a:t>
            </a:r>
            <a:endParaRPr lang="en-AU" sz="1200" dirty="0"/>
          </a:p>
        </p:txBody>
      </p:sp>
      <p:cxnSp>
        <p:nvCxnSpPr>
          <p:cNvPr id="66" name="Straight Arrow Connector 65"/>
          <p:cNvCxnSpPr/>
          <p:nvPr/>
        </p:nvCxnSpPr>
        <p:spPr>
          <a:xfrm>
            <a:off x="1420233" y="3699036"/>
            <a:ext cx="900120" cy="0"/>
          </a:xfrm>
          <a:prstGeom prst="straightConnector1">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1420234" y="3735326"/>
            <a:ext cx="900692" cy="276999"/>
          </a:xfrm>
          <a:prstGeom prst="rect">
            <a:avLst/>
          </a:prstGeom>
          <a:noFill/>
        </p:spPr>
        <p:txBody>
          <a:bodyPr wrap="square" rtlCol="0">
            <a:spAutoFit/>
          </a:bodyPr>
          <a:lstStyle/>
          <a:p>
            <a:pPr algn="ctr"/>
            <a:r>
              <a:rPr lang="en-AU" sz="1200" dirty="0" smtClean="0"/>
              <a:t>10 years </a:t>
            </a:r>
            <a:endParaRPr lang="en-AU" sz="1200" dirty="0"/>
          </a:p>
        </p:txBody>
      </p:sp>
      <p:grpSp>
        <p:nvGrpSpPr>
          <p:cNvPr id="28" name="Group 27"/>
          <p:cNvGrpSpPr/>
          <p:nvPr/>
        </p:nvGrpSpPr>
        <p:grpSpPr>
          <a:xfrm>
            <a:off x="160065" y="3307366"/>
            <a:ext cx="8793948" cy="301658"/>
            <a:chOff x="-108624" y="3307366"/>
            <a:chExt cx="8793948" cy="301658"/>
          </a:xfrm>
        </p:grpSpPr>
        <p:cxnSp>
          <p:nvCxnSpPr>
            <p:cNvPr id="5" name="Straight Connector 4"/>
            <p:cNvCxnSpPr/>
            <p:nvPr/>
          </p:nvCxnSpPr>
          <p:spPr>
            <a:xfrm>
              <a:off x="242784"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151544"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051664"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951784"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752024"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552264"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352504"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452384"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108624" y="3457150"/>
              <a:ext cx="8790503" cy="471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108624" y="3321505"/>
              <a:ext cx="115834" cy="287519"/>
              <a:chOff x="37707" y="3289952"/>
              <a:chExt cx="115834" cy="287519"/>
            </a:xfrm>
          </p:grpSpPr>
          <p:cxnSp>
            <p:nvCxnSpPr>
              <p:cNvPr id="46" name="Straight Connector 45"/>
              <p:cNvCxnSpPr/>
              <p:nvPr/>
            </p:nvCxnSpPr>
            <p:spPr>
              <a:xfrm flipV="1">
                <a:off x="37707" y="3289952"/>
                <a:ext cx="115834" cy="1414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50070" y="3421930"/>
                <a:ext cx="103471" cy="15554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a:off x="8532528" y="3335577"/>
              <a:ext cx="152796" cy="254397"/>
              <a:chOff x="8953500" y="3302652"/>
              <a:chExt cx="152796" cy="254397"/>
            </a:xfrm>
          </p:grpSpPr>
          <p:cxnSp>
            <p:nvCxnSpPr>
              <p:cNvPr id="59" name="Straight Connector 58"/>
              <p:cNvCxnSpPr/>
              <p:nvPr/>
            </p:nvCxnSpPr>
            <p:spPr>
              <a:xfrm flipH="1" flipV="1">
                <a:off x="8953500" y="3302652"/>
                <a:ext cx="152796" cy="13197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V="1">
                <a:off x="8953500" y="3421930"/>
                <a:ext cx="152400" cy="1351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65" name="Straight Connector 64"/>
            <p:cNvCxnSpPr/>
            <p:nvPr/>
          </p:nvCxnSpPr>
          <p:spPr>
            <a:xfrm>
              <a:off x="3851904"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5652144"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86" name="TextBox 85"/>
          <p:cNvSpPr txBox="1"/>
          <p:nvPr/>
        </p:nvSpPr>
        <p:spPr>
          <a:xfrm>
            <a:off x="8189357" y="2890655"/>
            <a:ext cx="697585" cy="369332"/>
          </a:xfrm>
          <a:prstGeom prst="rect">
            <a:avLst/>
          </a:prstGeom>
          <a:noFill/>
        </p:spPr>
        <p:txBody>
          <a:bodyPr wrap="square" rtlCol="0">
            <a:spAutoFit/>
          </a:bodyPr>
          <a:lstStyle/>
          <a:p>
            <a:r>
              <a:rPr lang="en-AU" dirty="0" smtClean="0"/>
              <a:t>2020</a:t>
            </a:r>
            <a:endParaRPr lang="en-AU" dirty="0"/>
          </a:p>
        </p:txBody>
      </p:sp>
      <p:grpSp>
        <p:nvGrpSpPr>
          <p:cNvPr id="87" name="Group 86"/>
          <p:cNvGrpSpPr/>
          <p:nvPr/>
        </p:nvGrpSpPr>
        <p:grpSpPr>
          <a:xfrm>
            <a:off x="3212608" y="3699036"/>
            <a:ext cx="1809452" cy="328940"/>
            <a:chOff x="511474" y="3714658"/>
            <a:chExt cx="1809452" cy="328940"/>
          </a:xfrm>
        </p:grpSpPr>
        <p:cxnSp>
          <p:nvCxnSpPr>
            <p:cNvPr id="88" name="Straight Arrow Connector 87"/>
            <p:cNvCxnSpPr/>
            <p:nvPr/>
          </p:nvCxnSpPr>
          <p:spPr>
            <a:xfrm>
              <a:off x="516000" y="3714658"/>
              <a:ext cx="904233" cy="0"/>
            </a:xfrm>
            <a:prstGeom prst="straightConnector1">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9" name="TextBox 88"/>
            <p:cNvSpPr txBox="1"/>
            <p:nvPr/>
          </p:nvSpPr>
          <p:spPr>
            <a:xfrm>
              <a:off x="511474" y="3766599"/>
              <a:ext cx="908760" cy="276999"/>
            </a:xfrm>
            <a:prstGeom prst="rect">
              <a:avLst/>
            </a:prstGeom>
            <a:noFill/>
          </p:spPr>
          <p:txBody>
            <a:bodyPr wrap="square" rtlCol="0">
              <a:spAutoFit/>
            </a:bodyPr>
            <a:lstStyle/>
            <a:p>
              <a:pPr algn="ctr"/>
              <a:r>
                <a:rPr lang="en-AU" sz="1200" dirty="0" smtClean="0"/>
                <a:t>10  years </a:t>
              </a:r>
              <a:endParaRPr lang="en-AU" sz="1200" dirty="0"/>
            </a:p>
          </p:txBody>
        </p:sp>
        <p:cxnSp>
          <p:nvCxnSpPr>
            <p:cNvPr id="90" name="Straight Arrow Connector 89"/>
            <p:cNvCxnSpPr/>
            <p:nvPr/>
          </p:nvCxnSpPr>
          <p:spPr>
            <a:xfrm>
              <a:off x="1420233" y="3714658"/>
              <a:ext cx="900120" cy="0"/>
            </a:xfrm>
            <a:prstGeom prst="straightConnector1">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1420234" y="3750948"/>
              <a:ext cx="900692" cy="276999"/>
            </a:xfrm>
            <a:prstGeom prst="rect">
              <a:avLst/>
            </a:prstGeom>
            <a:noFill/>
          </p:spPr>
          <p:txBody>
            <a:bodyPr wrap="square" rtlCol="0">
              <a:spAutoFit/>
            </a:bodyPr>
            <a:lstStyle/>
            <a:p>
              <a:pPr algn="ctr"/>
              <a:r>
                <a:rPr lang="en-AU" sz="1200" dirty="0" smtClean="0"/>
                <a:t>10 years </a:t>
              </a:r>
              <a:endParaRPr lang="en-AU" sz="1200" dirty="0"/>
            </a:p>
          </p:txBody>
        </p:sp>
      </p:grpSp>
      <p:grpSp>
        <p:nvGrpSpPr>
          <p:cNvPr id="92" name="Group 91"/>
          <p:cNvGrpSpPr/>
          <p:nvPr/>
        </p:nvGrpSpPr>
        <p:grpSpPr>
          <a:xfrm>
            <a:off x="5022950" y="3699036"/>
            <a:ext cx="1809452" cy="328940"/>
            <a:chOff x="511474" y="3714658"/>
            <a:chExt cx="1809452" cy="328940"/>
          </a:xfrm>
        </p:grpSpPr>
        <p:cxnSp>
          <p:nvCxnSpPr>
            <p:cNvPr id="93" name="Straight Arrow Connector 92"/>
            <p:cNvCxnSpPr/>
            <p:nvPr/>
          </p:nvCxnSpPr>
          <p:spPr>
            <a:xfrm>
              <a:off x="516000" y="3714658"/>
              <a:ext cx="904233" cy="0"/>
            </a:xfrm>
            <a:prstGeom prst="straightConnector1">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511474" y="3766599"/>
              <a:ext cx="908760" cy="276999"/>
            </a:xfrm>
            <a:prstGeom prst="rect">
              <a:avLst/>
            </a:prstGeom>
            <a:noFill/>
          </p:spPr>
          <p:txBody>
            <a:bodyPr wrap="square" rtlCol="0">
              <a:spAutoFit/>
            </a:bodyPr>
            <a:lstStyle/>
            <a:p>
              <a:pPr algn="ctr"/>
              <a:r>
                <a:rPr lang="en-AU" sz="1200" dirty="0" smtClean="0"/>
                <a:t>10  years </a:t>
              </a:r>
              <a:endParaRPr lang="en-AU" sz="1200" dirty="0"/>
            </a:p>
          </p:txBody>
        </p:sp>
        <p:cxnSp>
          <p:nvCxnSpPr>
            <p:cNvPr id="95" name="Straight Arrow Connector 94"/>
            <p:cNvCxnSpPr/>
            <p:nvPr/>
          </p:nvCxnSpPr>
          <p:spPr>
            <a:xfrm>
              <a:off x="1420233" y="3714658"/>
              <a:ext cx="900120" cy="0"/>
            </a:xfrm>
            <a:prstGeom prst="straightConnector1">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1420234" y="3750948"/>
              <a:ext cx="900692" cy="276999"/>
            </a:xfrm>
            <a:prstGeom prst="rect">
              <a:avLst/>
            </a:prstGeom>
            <a:noFill/>
          </p:spPr>
          <p:txBody>
            <a:bodyPr wrap="square" rtlCol="0">
              <a:spAutoFit/>
            </a:bodyPr>
            <a:lstStyle/>
            <a:p>
              <a:pPr algn="ctr"/>
              <a:r>
                <a:rPr lang="en-AU" sz="1200" dirty="0" smtClean="0"/>
                <a:t>10 years </a:t>
              </a:r>
              <a:endParaRPr lang="en-AU" sz="1200" dirty="0"/>
            </a:p>
          </p:txBody>
        </p:sp>
      </p:grpSp>
      <p:grpSp>
        <p:nvGrpSpPr>
          <p:cNvPr id="97" name="Group 96"/>
          <p:cNvGrpSpPr/>
          <p:nvPr/>
        </p:nvGrpSpPr>
        <p:grpSpPr>
          <a:xfrm>
            <a:off x="6822300" y="3697588"/>
            <a:ext cx="1809452" cy="328940"/>
            <a:chOff x="511474" y="3714658"/>
            <a:chExt cx="1809452" cy="328940"/>
          </a:xfrm>
        </p:grpSpPr>
        <p:cxnSp>
          <p:nvCxnSpPr>
            <p:cNvPr id="98" name="Straight Arrow Connector 97"/>
            <p:cNvCxnSpPr/>
            <p:nvPr/>
          </p:nvCxnSpPr>
          <p:spPr>
            <a:xfrm>
              <a:off x="516000" y="3714658"/>
              <a:ext cx="904233" cy="0"/>
            </a:xfrm>
            <a:prstGeom prst="straightConnector1">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511474" y="3766599"/>
              <a:ext cx="908760" cy="276999"/>
            </a:xfrm>
            <a:prstGeom prst="rect">
              <a:avLst/>
            </a:prstGeom>
            <a:noFill/>
          </p:spPr>
          <p:txBody>
            <a:bodyPr wrap="square" rtlCol="0">
              <a:spAutoFit/>
            </a:bodyPr>
            <a:lstStyle/>
            <a:p>
              <a:pPr algn="ctr"/>
              <a:r>
                <a:rPr lang="en-AU" sz="1200" dirty="0" smtClean="0"/>
                <a:t>10  years </a:t>
              </a:r>
              <a:endParaRPr lang="en-AU" sz="1200" dirty="0"/>
            </a:p>
          </p:txBody>
        </p:sp>
        <p:cxnSp>
          <p:nvCxnSpPr>
            <p:cNvPr id="100" name="Straight Arrow Connector 99"/>
            <p:cNvCxnSpPr/>
            <p:nvPr/>
          </p:nvCxnSpPr>
          <p:spPr>
            <a:xfrm>
              <a:off x="1420233" y="3714658"/>
              <a:ext cx="900120" cy="0"/>
            </a:xfrm>
            <a:prstGeom prst="straightConnector1">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1420234" y="3750948"/>
              <a:ext cx="900692" cy="276999"/>
            </a:xfrm>
            <a:prstGeom prst="rect">
              <a:avLst/>
            </a:prstGeom>
            <a:noFill/>
          </p:spPr>
          <p:txBody>
            <a:bodyPr wrap="square" rtlCol="0">
              <a:spAutoFit/>
            </a:bodyPr>
            <a:lstStyle/>
            <a:p>
              <a:pPr algn="ctr"/>
              <a:r>
                <a:rPr lang="en-AU" sz="1200" dirty="0" smtClean="0"/>
                <a:t>10 years </a:t>
              </a:r>
              <a:endParaRPr lang="en-AU" sz="1200" dirty="0"/>
            </a:p>
          </p:txBody>
        </p:sp>
      </p:grpSp>
      <p:cxnSp>
        <p:nvCxnSpPr>
          <p:cNvPr id="102" name="Straight Arrow Connector 101"/>
          <p:cNvCxnSpPr/>
          <p:nvPr/>
        </p:nvCxnSpPr>
        <p:spPr>
          <a:xfrm>
            <a:off x="2321700" y="3699036"/>
            <a:ext cx="900120" cy="0"/>
          </a:xfrm>
          <a:prstGeom prst="straightConnector1">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2321701" y="3735326"/>
            <a:ext cx="900692" cy="276999"/>
          </a:xfrm>
          <a:prstGeom prst="rect">
            <a:avLst/>
          </a:prstGeom>
          <a:noFill/>
        </p:spPr>
        <p:txBody>
          <a:bodyPr wrap="square" rtlCol="0">
            <a:spAutoFit/>
          </a:bodyPr>
          <a:lstStyle/>
          <a:p>
            <a:pPr algn="ctr"/>
            <a:r>
              <a:rPr lang="en-AU" sz="1200" dirty="0" smtClean="0"/>
              <a:t>10 years </a:t>
            </a:r>
            <a:endParaRPr lang="en-AU" sz="1200" dirty="0"/>
          </a:p>
        </p:txBody>
      </p:sp>
    </p:spTree>
    <p:extLst>
      <p:ext uri="{BB962C8B-B14F-4D97-AF65-F5344CB8AC3E}">
        <p14:creationId xmlns:p14="http://schemas.microsoft.com/office/powerpoint/2010/main" val="4169649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randombar(horizontal)">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randombar(horizontal)">
                                      <p:cBhvr>
                                        <p:cTn id="12" dur="500"/>
                                        <p:tgtEl>
                                          <p:spTgt spid="23"/>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randombar(horizontal)">
                                      <p:cBhvr>
                                        <p:cTn id="15" dur="500"/>
                                        <p:tgtEl>
                                          <p:spTgt spid="24"/>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randombar(horizontal)">
                                      <p:cBhvr>
                                        <p:cTn id="21" dur="500"/>
                                        <p:tgtEl>
                                          <p:spTgt spid="20"/>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86"/>
                                        </p:tgtEl>
                                        <p:attrNameLst>
                                          <p:attrName>style.visibility</p:attrName>
                                        </p:attrNameLst>
                                      </p:cBhvr>
                                      <p:to>
                                        <p:strVal val="visible"/>
                                      </p:to>
                                    </p:set>
                                    <p:animEffect transition="in" filter="randombar(horizontal)">
                                      <p:cBhvr>
                                        <p:cTn id="24"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3" grpId="0" animBg="1"/>
      <p:bldP spid="24" grpId="0" animBg="1"/>
      <p:bldP spid="37" grpId="0" animBg="1"/>
      <p:bldP spid="8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341436" y="548616"/>
            <a:ext cx="8459781"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AU" sz="2400" b="1" dirty="0" smtClean="0">
                <a:cs typeface="Arial" panose="020B0604020202020204" pitchFamily="34" charset="0"/>
              </a:rPr>
              <a:t>Step 4:  </a:t>
            </a:r>
            <a:r>
              <a:rPr lang="en-AU" sz="2400" dirty="0" smtClean="0">
                <a:cs typeface="Arial" panose="020B0604020202020204" pitchFamily="34" charset="0"/>
              </a:rPr>
              <a:t>Record the appropriate </a:t>
            </a:r>
            <a:r>
              <a:rPr lang="en-AU" sz="2400" dirty="0">
                <a:cs typeface="Arial" panose="020B0604020202020204" pitchFamily="34" charset="0"/>
              </a:rPr>
              <a:t>dates on each </a:t>
            </a:r>
            <a:r>
              <a:rPr lang="en-AU" sz="2400" dirty="0" smtClean="0">
                <a:cs typeface="Arial" panose="020B0604020202020204" pitchFamily="34" charset="0"/>
              </a:rPr>
              <a:t>time interval</a:t>
            </a:r>
            <a:endParaRPr lang="en-AU" sz="2400" dirty="0">
              <a:cs typeface="Arial" panose="020B0604020202020204" pitchFamily="34" charset="0"/>
            </a:endParaRPr>
          </a:p>
        </p:txBody>
      </p:sp>
      <p:sp>
        <p:nvSpPr>
          <p:cNvPr id="98" name="TextBox 97"/>
          <p:cNvSpPr txBox="1"/>
          <p:nvPr/>
        </p:nvSpPr>
        <p:spPr>
          <a:xfrm>
            <a:off x="1164208" y="3086267"/>
            <a:ext cx="539096" cy="261610"/>
          </a:xfrm>
          <a:prstGeom prst="rect">
            <a:avLst/>
          </a:prstGeom>
          <a:noFill/>
        </p:spPr>
        <p:txBody>
          <a:bodyPr wrap="square" rtlCol="0">
            <a:spAutoFit/>
          </a:bodyPr>
          <a:lstStyle/>
          <a:p>
            <a:r>
              <a:rPr lang="en-AU" sz="1100" dirty="0" smtClean="0"/>
              <a:t>1940</a:t>
            </a:r>
            <a:endParaRPr lang="en-AU" sz="1100" dirty="0"/>
          </a:p>
        </p:txBody>
      </p:sp>
      <p:sp>
        <p:nvSpPr>
          <p:cNvPr id="99" name="TextBox 98"/>
          <p:cNvSpPr txBox="1"/>
          <p:nvPr/>
        </p:nvSpPr>
        <p:spPr>
          <a:xfrm>
            <a:off x="2051664" y="3086267"/>
            <a:ext cx="557752" cy="261610"/>
          </a:xfrm>
          <a:prstGeom prst="rect">
            <a:avLst/>
          </a:prstGeom>
          <a:noFill/>
        </p:spPr>
        <p:txBody>
          <a:bodyPr wrap="square" rtlCol="0">
            <a:spAutoFit/>
          </a:bodyPr>
          <a:lstStyle/>
          <a:p>
            <a:r>
              <a:rPr lang="en-AU" sz="1100" dirty="0" smtClean="0"/>
              <a:t>1950</a:t>
            </a:r>
            <a:endParaRPr lang="en-AU" sz="1100" dirty="0"/>
          </a:p>
        </p:txBody>
      </p:sp>
      <p:sp>
        <p:nvSpPr>
          <p:cNvPr id="100" name="TextBox 99"/>
          <p:cNvSpPr txBox="1"/>
          <p:nvPr/>
        </p:nvSpPr>
        <p:spPr>
          <a:xfrm>
            <a:off x="2951784" y="3086267"/>
            <a:ext cx="559324" cy="261610"/>
          </a:xfrm>
          <a:prstGeom prst="rect">
            <a:avLst/>
          </a:prstGeom>
          <a:noFill/>
        </p:spPr>
        <p:txBody>
          <a:bodyPr wrap="square" rtlCol="0">
            <a:spAutoFit/>
          </a:bodyPr>
          <a:lstStyle/>
          <a:p>
            <a:r>
              <a:rPr lang="en-AU" sz="1100" dirty="0" smtClean="0"/>
              <a:t>1960</a:t>
            </a:r>
            <a:endParaRPr lang="en-AU" sz="1100" dirty="0"/>
          </a:p>
        </p:txBody>
      </p:sp>
      <p:sp>
        <p:nvSpPr>
          <p:cNvPr id="101" name="TextBox 100"/>
          <p:cNvSpPr txBox="1"/>
          <p:nvPr/>
        </p:nvSpPr>
        <p:spPr>
          <a:xfrm>
            <a:off x="3851904" y="3086267"/>
            <a:ext cx="523189" cy="261610"/>
          </a:xfrm>
          <a:prstGeom prst="rect">
            <a:avLst/>
          </a:prstGeom>
          <a:noFill/>
        </p:spPr>
        <p:txBody>
          <a:bodyPr wrap="square" rtlCol="0">
            <a:spAutoFit/>
          </a:bodyPr>
          <a:lstStyle/>
          <a:p>
            <a:r>
              <a:rPr lang="en-AU" sz="1100" dirty="0" smtClean="0"/>
              <a:t>1970</a:t>
            </a:r>
            <a:endParaRPr lang="en-AU" sz="1100" dirty="0"/>
          </a:p>
        </p:txBody>
      </p:sp>
      <p:sp>
        <p:nvSpPr>
          <p:cNvPr id="102" name="TextBox 101"/>
          <p:cNvSpPr txBox="1"/>
          <p:nvPr/>
        </p:nvSpPr>
        <p:spPr>
          <a:xfrm>
            <a:off x="5666907" y="3086267"/>
            <a:ext cx="543614" cy="261610"/>
          </a:xfrm>
          <a:prstGeom prst="rect">
            <a:avLst/>
          </a:prstGeom>
          <a:noFill/>
        </p:spPr>
        <p:txBody>
          <a:bodyPr wrap="square" rtlCol="0">
            <a:spAutoFit/>
          </a:bodyPr>
          <a:lstStyle/>
          <a:p>
            <a:r>
              <a:rPr lang="en-AU" sz="1100" dirty="0" smtClean="0"/>
              <a:t>1990</a:t>
            </a:r>
            <a:endParaRPr lang="en-AU" sz="1100" dirty="0"/>
          </a:p>
        </p:txBody>
      </p:sp>
      <p:sp>
        <p:nvSpPr>
          <p:cNvPr id="103" name="TextBox 102"/>
          <p:cNvSpPr txBox="1"/>
          <p:nvPr/>
        </p:nvSpPr>
        <p:spPr>
          <a:xfrm>
            <a:off x="7452384" y="3086267"/>
            <a:ext cx="567180" cy="261610"/>
          </a:xfrm>
          <a:prstGeom prst="rect">
            <a:avLst/>
          </a:prstGeom>
          <a:noFill/>
        </p:spPr>
        <p:txBody>
          <a:bodyPr wrap="square" rtlCol="0">
            <a:spAutoFit/>
          </a:bodyPr>
          <a:lstStyle/>
          <a:p>
            <a:r>
              <a:rPr lang="en-AU" sz="1100" dirty="0" smtClean="0"/>
              <a:t>2010</a:t>
            </a:r>
            <a:endParaRPr lang="en-AU" sz="1100" dirty="0"/>
          </a:p>
        </p:txBody>
      </p:sp>
      <p:sp>
        <p:nvSpPr>
          <p:cNvPr id="104" name="TextBox 103"/>
          <p:cNvSpPr txBox="1"/>
          <p:nvPr/>
        </p:nvSpPr>
        <p:spPr>
          <a:xfrm>
            <a:off x="8347437" y="3086267"/>
            <a:ext cx="518475" cy="261610"/>
          </a:xfrm>
          <a:prstGeom prst="rect">
            <a:avLst/>
          </a:prstGeom>
          <a:noFill/>
        </p:spPr>
        <p:txBody>
          <a:bodyPr wrap="square" rtlCol="0">
            <a:spAutoFit/>
          </a:bodyPr>
          <a:lstStyle/>
          <a:p>
            <a:r>
              <a:rPr lang="en-AU" sz="1100" dirty="0" smtClean="0"/>
              <a:t>2020</a:t>
            </a:r>
            <a:endParaRPr lang="en-AU" sz="1100" dirty="0"/>
          </a:p>
        </p:txBody>
      </p:sp>
      <p:sp>
        <p:nvSpPr>
          <p:cNvPr id="106" name="TextBox 105"/>
          <p:cNvSpPr txBox="1"/>
          <p:nvPr/>
        </p:nvSpPr>
        <p:spPr>
          <a:xfrm>
            <a:off x="292072" y="3086267"/>
            <a:ext cx="509890" cy="261610"/>
          </a:xfrm>
          <a:prstGeom prst="rect">
            <a:avLst/>
          </a:prstGeom>
          <a:noFill/>
        </p:spPr>
        <p:txBody>
          <a:bodyPr wrap="square" rtlCol="0">
            <a:spAutoFit/>
          </a:bodyPr>
          <a:lstStyle/>
          <a:p>
            <a:r>
              <a:rPr lang="en-AU" sz="1100" dirty="0" smtClean="0"/>
              <a:t>1930</a:t>
            </a:r>
            <a:endParaRPr lang="en-AU" sz="1100" dirty="0"/>
          </a:p>
        </p:txBody>
      </p:sp>
      <p:grpSp>
        <p:nvGrpSpPr>
          <p:cNvPr id="107" name="Group 106"/>
          <p:cNvGrpSpPr/>
          <p:nvPr/>
        </p:nvGrpSpPr>
        <p:grpSpPr>
          <a:xfrm>
            <a:off x="160065" y="3321505"/>
            <a:ext cx="8793948" cy="287519"/>
            <a:chOff x="160065" y="3321505"/>
            <a:chExt cx="8793948" cy="287519"/>
          </a:xfrm>
        </p:grpSpPr>
        <p:cxnSp>
          <p:nvCxnSpPr>
            <p:cNvPr id="108" name="Straight Connector 107"/>
            <p:cNvCxnSpPr/>
            <p:nvPr/>
          </p:nvCxnSpPr>
          <p:spPr>
            <a:xfrm>
              <a:off x="160065" y="3457150"/>
              <a:ext cx="8790503" cy="471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09" name="Group 108"/>
            <p:cNvGrpSpPr/>
            <p:nvPr/>
          </p:nvGrpSpPr>
          <p:grpSpPr>
            <a:xfrm>
              <a:off x="160065" y="3321505"/>
              <a:ext cx="115834" cy="287519"/>
              <a:chOff x="37707" y="3289952"/>
              <a:chExt cx="115834" cy="287519"/>
            </a:xfrm>
          </p:grpSpPr>
          <p:cxnSp>
            <p:nvCxnSpPr>
              <p:cNvPr id="113" name="Straight Connector 112"/>
              <p:cNvCxnSpPr/>
              <p:nvPr/>
            </p:nvCxnSpPr>
            <p:spPr>
              <a:xfrm flipV="1">
                <a:off x="37707" y="3289952"/>
                <a:ext cx="115834" cy="1414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a:off x="50070" y="3421930"/>
                <a:ext cx="103471" cy="15554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10" name="Group 109"/>
            <p:cNvGrpSpPr/>
            <p:nvPr/>
          </p:nvGrpSpPr>
          <p:grpSpPr>
            <a:xfrm>
              <a:off x="8801217" y="3335577"/>
              <a:ext cx="152796" cy="254397"/>
              <a:chOff x="8953500" y="3302652"/>
              <a:chExt cx="152796" cy="254397"/>
            </a:xfrm>
          </p:grpSpPr>
          <p:cxnSp>
            <p:nvCxnSpPr>
              <p:cNvPr id="111" name="Straight Connector 110"/>
              <p:cNvCxnSpPr/>
              <p:nvPr/>
            </p:nvCxnSpPr>
            <p:spPr>
              <a:xfrm flipH="1" flipV="1">
                <a:off x="8953500" y="3302652"/>
                <a:ext cx="152796" cy="13197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V="1">
                <a:off x="8953500" y="3421930"/>
                <a:ext cx="152400" cy="1351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116" name="Group 115"/>
          <p:cNvGrpSpPr/>
          <p:nvPr/>
        </p:nvGrpSpPr>
        <p:grpSpPr>
          <a:xfrm>
            <a:off x="511473" y="3307366"/>
            <a:ext cx="8109720" cy="301658"/>
            <a:chOff x="511473" y="3307366"/>
            <a:chExt cx="8109720" cy="301658"/>
          </a:xfrm>
        </p:grpSpPr>
        <p:cxnSp>
          <p:nvCxnSpPr>
            <p:cNvPr id="117" name="Straight Connector 116"/>
            <p:cNvCxnSpPr/>
            <p:nvPr/>
          </p:nvCxnSpPr>
          <p:spPr>
            <a:xfrm>
              <a:off x="51147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a:off x="142023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a:off x="232035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322047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502071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a:off x="682095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862119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a:off x="772107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412059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592083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27" name="TextBox 126"/>
          <p:cNvSpPr txBox="1"/>
          <p:nvPr/>
        </p:nvSpPr>
        <p:spPr>
          <a:xfrm>
            <a:off x="4777030" y="3086267"/>
            <a:ext cx="516904" cy="261610"/>
          </a:xfrm>
          <a:prstGeom prst="rect">
            <a:avLst/>
          </a:prstGeom>
          <a:noFill/>
        </p:spPr>
        <p:txBody>
          <a:bodyPr wrap="square" rtlCol="0">
            <a:spAutoFit/>
          </a:bodyPr>
          <a:lstStyle/>
          <a:p>
            <a:r>
              <a:rPr lang="en-AU" sz="1100" dirty="0" smtClean="0"/>
              <a:t>1980</a:t>
            </a:r>
            <a:endParaRPr lang="en-AU" sz="1100" dirty="0"/>
          </a:p>
        </p:txBody>
      </p:sp>
      <p:sp>
        <p:nvSpPr>
          <p:cNvPr id="130" name="TextBox 129"/>
          <p:cNvSpPr txBox="1"/>
          <p:nvPr/>
        </p:nvSpPr>
        <p:spPr>
          <a:xfrm>
            <a:off x="6552264" y="3086267"/>
            <a:ext cx="551469" cy="261610"/>
          </a:xfrm>
          <a:prstGeom prst="rect">
            <a:avLst/>
          </a:prstGeom>
          <a:noFill/>
        </p:spPr>
        <p:txBody>
          <a:bodyPr wrap="square" rtlCol="0">
            <a:spAutoFit/>
          </a:bodyPr>
          <a:lstStyle/>
          <a:p>
            <a:r>
              <a:rPr lang="en-AU" sz="1100" dirty="0" smtClean="0"/>
              <a:t>2000</a:t>
            </a:r>
            <a:endParaRPr lang="en-AU" sz="1100" dirty="0"/>
          </a:p>
        </p:txBody>
      </p:sp>
    </p:spTree>
    <p:extLst>
      <p:ext uri="{BB962C8B-B14F-4D97-AF65-F5344CB8AC3E}">
        <p14:creationId xmlns:p14="http://schemas.microsoft.com/office/powerpoint/2010/main" val="1913939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6"/>
                                        </p:tgtEl>
                                        <p:attrNameLst>
                                          <p:attrName>style.visibility</p:attrName>
                                        </p:attrNameLst>
                                      </p:cBhvr>
                                      <p:to>
                                        <p:strVal val="visible"/>
                                      </p:to>
                                    </p:set>
                                    <p:animEffect transition="in" filter="fade">
                                      <p:cBhvr>
                                        <p:cTn id="12" dur="500"/>
                                        <p:tgtEl>
                                          <p:spTgt spid="10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8">
                                            <p:txEl>
                                              <p:pRg st="0" end="0"/>
                                            </p:txEl>
                                          </p:spTgt>
                                        </p:tgtEl>
                                        <p:attrNameLst>
                                          <p:attrName>style.visibility</p:attrName>
                                        </p:attrNameLst>
                                      </p:cBhvr>
                                      <p:to>
                                        <p:strVal val="visible"/>
                                      </p:to>
                                    </p:set>
                                    <p:animEffect transition="in" filter="fade">
                                      <p:cBhvr>
                                        <p:cTn id="17" dur="500"/>
                                        <p:tgtEl>
                                          <p:spTgt spid="98">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99">
                                            <p:txEl>
                                              <p:pRg st="0" end="0"/>
                                            </p:txEl>
                                          </p:spTgt>
                                        </p:tgtEl>
                                        <p:attrNameLst>
                                          <p:attrName>style.visibility</p:attrName>
                                        </p:attrNameLst>
                                      </p:cBhvr>
                                      <p:to>
                                        <p:strVal val="visible"/>
                                      </p:to>
                                    </p:set>
                                    <p:animEffect transition="in" filter="fade">
                                      <p:cBhvr>
                                        <p:cTn id="21" dur="500"/>
                                        <p:tgtEl>
                                          <p:spTgt spid="99">
                                            <p:txEl>
                                              <p:pRg st="0" end="0"/>
                                            </p:txEl>
                                          </p:spTgt>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100">
                                            <p:txEl>
                                              <p:pRg st="0" end="0"/>
                                            </p:txEl>
                                          </p:spTgt>
                                        </p:tgtEl>
                                        <p:attrNameLst>
                                          <p:attrName>style.visibility</p:attrName>
                                        </p:attrNameLst>
                                      </p:cBhvr>
                                      <p:to>
                                        <p:strVal val="visible"/>
                                      </p:to>
                                    </p:set>
                                    <p:animEffect transition="in" filter="fade">
                                      <p:cBhvr>
                                        <p:cTn id="25" dur="500"/>
                                        <p:tgtEl>
                                          <p:spTgt spid="100">
                                            <p:txEl>
                                              <p:pRg st="0" end="0"/>
                                            </p:txEl>
                                          </p:spTgt>
                                        </p:tgtEl>
                                      </p:cBhvr>
                                    </p:animEffect>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01">
                                            <p:txEl>
                                              <p:pRg st="0" end="0"/>
                                            </p:txEl>
                                          </p:spTgt>
                                        </p:tgtEl>
                                        <p:attrNameLst>
                                          <p:attrName>style.visibility</p:attrName>
                                        </p:attrNameLst>
                                      </p:cBhvr>
                                      <p:to>
                                        <p:strVal val="visible"/>
                                      </p:to>
                                    </p:set>
                                    <p:animEffect transition="in" filter="fade">
                                      <p:cBhvr>
                                        <p:cTn id="29" dur="500"/>
                                        <p:tgtEl>
                                          <p:spTgt spid="101">
                                            <p:txEl>
                                              <p:pRg st="0" end="0"/>
                                            </p:txEl>
                                          </p:spTgt>
                                        </p:tgtEl>
                                      </p:cBhvr>
                                    </p:animEffect>
                                  </p:childTnLst>
                                </p:cTn>
                              </p:par>
                            </p:childTnLst>
                          </p:cTn>
                        </p:par>
                        <p:par>
                          <p:cTn id="30" fill="hold">
                            <p:stCondLst>
                              <p:cond delay="2000"/>
                            </p:stCondLst>
                            <p:childTnLst>
                              <p:par>
                                <p:cTn id="31" presetID="10" presetClass="entr" presetSubtype="0" fill="hold" grpId="0" nodeType="afterEffect">
                                  <p:stCondLst>
                                    <p:cond delay="0"/>
                                  </p:stCondLst>
                                  <p:childTnLst>
                                    <p:set>
                                      <p:cBhvr>
                                        <p:cTn id="32" dur="1" fill="hold">
                                          <p:stCondLst>
                                            <p:cond delay="0"/>
                                          </p:stCondLst>
                                        </p:cTn>
                                        <p:tgtEl>
                                          <p:spTgt spid="127">
                                            <p:txEl>
                                              <p:pRg st="0" end="0"/>
                                            </p:txEl>
                                          </p:spTgt>
                                        </p:tgtEl>
                                        <p:attrNameLst>
                                          <p:attrName>style.visibility</p:attrName>
                                        </p:attrNameLst>
                                      </p:cBhvr>
                                      <p:to>
                                        <p:strVal val="visible"/>
                                      </p:to>
                                    </p:set>
                                    <p:animEffect transition="in" filter="fade">
                                      <p:cBhvr>
                                        <p:cTn id="33" dur="500"/>
                                        <p:tgtEl>
                                          <p:spTgt spid="127">
                                            <p:txEl>
                                              <p:pRg st="0" end="0"/>
                                            </p:txEl>
                                          </p:spTgt>
                                        </p:tgtEl>
                                      </p:cBhvr>
                                    </p:animEffect>
                                  </p:childTnLst>
                                </p:cTn>
                              </p:par>
                            </p:childTnLst>
                          </p:cTn>
                        </p:par>
                        <p:par>
                          <p:cTn id="34" fill="hold">
                            <p:stCondLst>
                              <p:cond delay="2500"/>
                            </p:stCondLst>
                            <p:childTnLst>
                              <p:par>
                                <p:cTn id="35" presetID="10" presetClass="entr" presetSubtype="0" fill="hold" grpId="0" nodeType="afterEffect">
                                  <p:stCondLst>
                                    <p:cond delay="0"/>
                                  </p:stCondLst>
                                  <p:childTnLst>
                                    <p:set>
                                      <p:cBhvr>
                                        <p:cTn id="36" dur="1" fill="hold">
                                          <p:stCondLst>
                                            <p:cond delay="0"/>
                                          </p:stCondLst>
                                        </p:cTn>
                                        <p:tgtEl>
                                          <p:spTgt spid="102">
                                            <p:txEl>
                                              <p:pRg st="0" end="0"/>
                                            </p:txEl>
                                          </p:spTgt>
                                        </p:tgtEl>
                                        <p:attrNameLst>
                                          <p:attrName>style.visibility</p:attrName>
                                        </p:attrNameLst>
                                      </p:cBhvr>
                                      <p:to>
                                        <p:strVal val="visible"/>
                                      </p:to>
                                    </p:set>
                                    <p:animEffect transition="in" filter="fade">
                                      <p:cBhvr>
                                        <p:cTn id="37" dur="500"/>
                                        <p:tgtEl>
                                          <p:spTgt spid="102">
                                            <p:txEl>
                                              <p:pRg st="0" end="0"/>
                                            </p:txEl>
                                          </p:spTgt>
                                        </p:tgtEl>
                                      </p:cBhvr>
                                    </p:animEffect>
                                  </p:childTnLst>
                                </p:cTn>
                              </p:par>
                            </p:childTnLst>
                          </p:cTn>
                        </p:par>
                        <p:par>
                          <p:cTn id="38" fill="hold">
                            <p:stCondLst>
                              <p:cond delay="3000"/>
                            </p:stCondLst>
                            <p:childTnLst>
                              <p:par>
                                <p:cTn id="39" presetID="10" presetClass="entr" presetSubtype="0" fill="hold" grpId="0" nodeType="afterEffect">
                                  <p:stCondLst>
                                    <p:cond delay="0"/>
                                  </p:stCondLst>
                                  <p:childTnLst>
                                    <p:set>
                                      <p:cBhvr>
                                        <p:cTn id="40" dur="1" fill="hold">
                                          <p:stCondLst>
                                            <p:cond delay="0"/>
                                          </p:stCondLst>
                                        </p:cTn>
                                        <p:tgtEl>
                                          <p:spTgt spid="130">
                                            <p:txEl>
                                              <p:pRg st="0" end="0"/>
                                            </p:txEl>
                                          </p:spTgt>
                                        </p:tgtEl>
                                        <p:attrNameLst>
                                          <p:attrName>style.visibility</p:attrName>
                                        </p:attrNameLst>
                                      </p:cBhvr>
                                      <p:to>
                                        <p:strVal val="visible"/>
                                      </p:to>
                                    </p:set>
                                    <p:animEffect transition="in" filter="fade">
                                      <p:cBhvr>
                                        <p:cTn id="41" dur="500"/>
                                        <p:tgtEl>
                                          <p:spTgt spid="130">
                                            <p:txEl>
                                              <p:pRg st="0" end="0"/>
                                            </p:txEl>
                                          </p:spTgt>
                                        </p:tgtEl>
                                      </p:cBhvr>
                                    </p:animEffect>
                                  </p:childTnLst>
                                </p:cTn>
                              </p:par>
                            </p:childTnLst>
                          </p:cTn>
                        </p:par>
                        <p:par>
                          <p:cTn id="42" fill="hold">
                            <p:stCondLst>
                              <p:cond delay="3500"/>
                            </p:stCondLst>
                            <p:childTnLst>
                              <p:par>
                                <p:cTn id="43" presetID="10" presetClass="entr" presetSubtype="0" fill="hold" grpId="0" nodeType="afterEffect">
                                  <p:stCondLst>
                                    <p:cond delay="0"/>
                                  </p:stCondLst>
                                  <p:childTnLst>
                                    <p:set>
                                      <p:cBhvr>
                                        <p:cTn id="44" dur="1" fill="hold">
                                          <p:stCondLst>
                                            <p:cond delay="0"/>
                                          </p:stCondLst>
                                        </p:cTn>
                                        <p:tgtEl>
                                          <p:spTgt spid="103">
                                            <p:txEl>
                                              <p:pRg st="0" end="0"/>
                                            </p:txEl>
                                          </p:spTgt>
                                        </p:tgtEl>
                                        <p:attrNameLst>
                                          <p:attrName>style.visibility</p:attrName>
                                        </p:attrNameLst>
                                      </p:cBhvr>
                                      <p:to>
                                        <p:strVal val="visible"/>
                                      </p:to>
                                    </p:set>
                                    <p:animEffect transition="in" filter="fade">
                                      <p:cBhvr>
                                        <p:cTn id="45" dur="500"/>
                                        <p:tgtEl>
                                          <p:spTgt spid="103">
                                            <p:txEl>
                                              <p:pRg st="0" end="0"/>
                                            </p:txEl>
                                          </p:spTgt>
                                        </p:tgtEl>
                                      </p:cBhvr>
                                    </p:animEffect>
                                  </p:childTnLst>
                                </p:cTn>
                              </p:par>
                            </p:childTnLst>
                          </p:cTn>
                        </p:par>
                        <p:par>
                          <p:cTn id="46" fill="hold">
                            <p:stCondLst>
                              <p:cond delay="4000"/>
                            </p:stCondLst>
                            <p:childTnLst>
                              <p:par>
                                <p:cTn id="47" presetID="10" presetClass="entr" presetSubtype="0" fill="hold" grpId="0" nodeType="afterEffect">
                                  <p:stCondLst>
                                    <p:cond delay="0"/>
                                  </p:stCondLst>
                                  <p:childTnLst>
                                    <p:set>
                                      <p:cBhvr>
                                        <p:cTn id="48" dur="1" fill="hold">
                                          <p:stCondLst>
                                            <p:cond delay="0"/>
                                          </p:stCondLst>
                                        </p:cTn>
                                        <p:tgtEl>
                                          <p:spTgt spid="104">
                                            <p:txEl>
                                              <p:pRg st="0" end="0"/>
                                            </p:txEl>
                                          </p:spTgt>
                                        </p:tgtEl>
                                        <p:attrNameLst>
                                          <p:attrName>style.visibility</p:attrName>
                                        </p:attrNameLst>
                                      </p:cBhvr>
                                      <p:to>
                                        <p:strVal val="visible"/>
                                      </p:to>
                                    </p:set>
                                    <p:animEffect transition="in" filter="fade">
                                      <p:cBhvr>
                                        <p:cTn id="49" dur="500"/>
                                        <p:tgtEl>
                                          <p:spTgt spid="10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8" grpId="0" build="p"/>
      <p:bldP spid="99" grpId="0" build="p"/>
      <p:bldP spid="100" grpId="0" build="p"/>
      <p:bldP spid="101" grpId="0" build="p"/>
      <p:bldP spid="102" grpId="0" build="p"/>
      <p:bldP spid="103" grpId="0" build="p"/>
      <p:bldP spid="104" grpId="0" build="p"/>
      <p:bldP spid="106" grpId="0"/>
      <p:bldP spid="127" grpId="0" build="p"/>
      <p:bldP spid="13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2788678" y="573068"/>
            <a:ext cx="6269126" cy="76944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AU" sz="2200" b="1" dirty="0" smtClean="0">
                <a:latin typeface="+mj-lt"/>
                <a:cs typeface="Arial" panose="020B0604020202020204" pitchFamily="34" charset="0"/>
              </a:rPr>
              <a:t>Step 5:  </a:t>
            </a:r>
            <a:r>
              <a:rPr lang="en-AU" sz="2200" dirty="0" smtClean="0">
                <a:latin typeface="+mj-lt"/>
                <a:cs typeface="Arial" panose="020B0604020202020204" pitchFamily="34" charset="0"/>
              </a:rPr>
              <a:t>Plot the events in </a:t>
            </a:r>
            <a:r>
              <a:rPr lang="en-AU" sz="2200" dirty="0">
                <a:latin typeface="+mj-lt"/>
                <a:cs typeface="Arial" panose="020B0604020202020204" pitchFamily="34" charset="0"/>
              </a:rPr>
              <a:t>the </a:t>
            </a:r>
            <a:r>
              <a:rPr lang="en-AU" sz="2200" dirty="0" smtClean="0">
                <a:latin typeface="+mj-lt"/>
                <a:cs typeface="Arial" panose="020B0604020202020204" pitchFamily="34" charset="0"/>
              </a:rPr>
              <a:t>correct </a:t>
            </a:r>
            <a:r>
              <a:rPr lang="en-AU" sz="2200" dirty="0">
                <a:latin typeface="+mj-lt"/>
                <a:cs typeface="Arial" panose="020B0604020202020204" pitchFamily="34" charset="0"/>
              </a:rPr>
              <a:t>place on </a:t>
            </a:r>
            <a:r>
              <a:rPr lang="en-AU" sz="2200" dirty="0" smtClean="0">
                <a:latin typeface="+mj-lt"/>
                <a:cs typeface="Arial" panose="020B0604020202020204" pitchFamily="34" charset="0"/>
              </a:rPr>
              <a:t>the timeline </a:t>
            </a:r>
            <a:endParaRPr lang="en-AU" sz="2200" dirty="0">
              <a:latin typeface="+mj-lt"/>
              <a:cs typeface="Arial" panose="020B0604020202020204" pitchFamily="34" charset="0"/>
            </a:endParaRPr>
          </a:p>
        </p:txBody>
      </p:sp>
      <p:grpSp>
        <p:nvGrpSpPr>
          <p:cNvPr id="66" name="Group 65"/>
          <p:cNvGrpSpPr/>
          <p:nvPr/>
        </p:nvGrpSpPr>
        <p:grpSpPr>
          <a:xfrm>
            <a:off x="846350" y="4367618"/>
            <a:ext cx="1835398" cy="1037299"/>
            <a:chOff x="744458" y="3246361"/>
            <a:chExt cx="1835398" cy="1037299"/>
          </a:xfrm>
        </p:grpSpPr>
        <p:cxnSp>
          <p:nvCxnSpPr>
            <p:cNvPr id="44" name="Straight Arrow Connector 43"/>
            <p:cNvCxnSpPr/>
            <p:nvPr/>
          </p:nvCxnSpPr>
          <p:spPr>
            <a:xfrm>
              <a:off x="1671687" y="3246361"/>
              <a:ext cx="0" cy="60641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744458" y="3852773"/>
              <a:ext cx="1835398" cy="430887"/>
            </a:xfrm>
            <a:prstGeom prst="rect">
              <a:avLst/>
            </a:prstGeom>
            <a:noFill/>
          </p:spPr>
          <p:txBody>
            <a:bodyPr wrap="square" rtlCol="0">
              <a:spAutoFit/>
            </a:bodyPr>
            <a:lstStyle/>
            <a:p>
              <a:pPr algn="ctr"/>
              <a:r>
                <a:rPr lang="en-AU" sz="1100" b="1" dirty="0"/>
                <a:t>1944 </a:t>
              </a:r>
              <a:endParaRPr lang="en-AU" sz="1100" b="1" dirty="0" smtClean="0"/>
            </a:p>
            <a:p>
              <a:pPr algn="ctr"/>
              <a:r>
                <a:rPr lang="en-AU" sz="1100" dirty="0" smtClean="0"/>
                <a:t>Mary enters high school</a:t>
              </a:r>
              <a:endParaRPr lang="en-AU" sz="1100" b="1" dirty="0"/>
            </a:p>
          </p:txBody>
        </p:sp>
      </p:grpSp>
      <p:grpSp>
        <p:nvGrpSpPr>
          <p:cNvPr id="45" name="Group 44"/>
          <p:cNvGrpSpPr/>
          <p:nvPr/>
        </p:nvGrpSpPr>
        <p:grpSpPr>
          <a:xfrm>
            <a:off x="71400" y="2998113"/>
            <a:ext cx="6711046" cy="1371264"/>
            <a:chOff x="71400" y="2998113"/>
            <a:chExt cx="6711046" cy="1371264"/>
          </a:xfrm>
        </p:grpSpPr>
        <p:grpSp>
          <p:nvGrpSpPr>
            <p:cNvPr id="65" name="Group 64"/>
            <p:cNvGrpSpPr/>
            <p:nvPr/>
          </p:nvGrpSpPr>
          <p:grpSpPr>
            <a:xfrm>
              <a:off x="71400" y="2998113"/>
              <a:ext cx="945657" cy="1371264"/>
              <a:chOff x="-189652" y="1875096"/>
              <a:chExt cx="945657" cy="1371264"/>
            </a:xfrm>
          </p:grpSpPr>
          <p:cxnSp>
            <p:nvCxnSpPr>
              <p:cNvPr id="40" name="Straight Arrow Connector 39"/>
              <p:cNvCxnSpPr/>
              <p:nvPr/>
            </p:nvCxnSpPr>
            <p:spPr>
              <a:xfrm flipV="1">
                <a:off x="254524" y="2275027"/>
                <a:ext cx="0" cy="97133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189652" y="1875096"/>
                <a:ext cx="945657" cy="430887"/>
              </a:xfrm>
              <a:prstGeom prst="rect">
                <a:avLst/>
              </a:prstGeom>
              <a:noFill/>
            </p:spPr>
            <p:txBody>
              <a:bodyPr wrap="square" rtlCol="0">
                <a:spAutoFit/>
              </a:bodyPr>
              <a:lstStyle/>
              <a:p>
                <a:pPr algn="ctr"/>
                <a:r>
                  <a:rPr lang="en-AU" sz="1100" b="1" dirty="0">
                    <a:latin typeface="+mj-lt"/>
                    <a:cs typeface="Arial" panose="020B0604020202020204" pitchFamily="34" charset="0"/>
                  </a:rPr>
                  <a:t>1930 </a:t>
                </a:r>
                <a:endParaRPr lang="en-AU" sz="1100" b="1" dirty="0" smtClean="0">
                  <a:latin typeface="+mj-lt"/>
                  <a:cs typeface="Arial" panose="020B0604020202020204" pitchFamily="34" charset="0"/>
                </a:endParaRPr>
              </a:p>
              <a:p>
                <a:pPr algn="ctr"/>
                <a:r>
                  <a:rPr lang="en-AU" sz="1100" dirty="0" smtClean="0">
                    <a:latin typeface="+mj-lt"/>
                    <a:cs typeface="Arial" panose="020B0604020202020204" pitchFamily="34" charset="0"/>
                  </a:rPr>
                  <a:t>Mary is born</a:t>
                </a:r>
                <a:endParaRPr lang="en-AU" sz="1100" dirty="0">
                  <a:latin typeface="+mj-lt"/>
                  <a:cs typeface="Arial" panose="020B0604020202020204" pitchFamily="34" charset="0"/>
                </a:endParaRPr>
              </a:p>
            </p:txBody>
          </p:sp>
        </p:grpSp>
        <p:grpSp>
          <p:nvGrpSpPr>
            <p:cNvPr id="67" name="Group 66"/>
            <p:cNvGrpSpPr/>
            <p:nvPr/>
          </p:nvGrpSpPr>
          <p:grpSpPr>
            <a:xfrm>
              <a:off x="2507471" y="3068952"/>
              <a:ext cx="1434445" cy="1290674"/>
              <a:chOff x="2569456" y="1955686"/>
              <a:chExt cx="1434445" cy="1290674"/>
            </a:xfrm>
          </p:grpSpPr>
          <p:cxnSp>
            <p:nvCxnSpPr>
              <p:cNvPr id="48" name="Straight Arrow Connector 47"/>
              <p:cNvCxnSpPr/>
              <p:nvPr/>
            </p:nvCxnSpPr>
            <p:spPr>
              <a:xfrm flipV="1">
                <a:off x="3277210" y="2521262"/>
                <a:ext cx="0" cy="72509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2569456" y="1955686"/>
                <a:ext cx="1434445" cy="600164"/>
              </a:xfrm>
              <a:prstGeom prst="rect">
                <a:avLst/>
              </a:prstGeom>
              <a:noFill/>
            </p:spPr>
            <p:txBody>
              <a:bodyPr wrap="square" rtlCol="0">
                <a:spAutoFit/>
              </a:bodyPr>
              <a:lstStyle/>
              <a:p>
                <a:pPr algn="ctr"/>
                <a:r>
                  <a:rPr lang="en-AU" sz="1100" b="1" dirty="0"/>
                  <a:t>1960 </a:t>
                </a:r>
                <a:endParaRPr lang="en-AU" sz="1100" b="1" dirty="0" smtClean="0"/>
              </a:p>
              <a:p>
                <a:pPr algn="ctr"/>
                <a:r>
                  <a:rPr lang="en-AU" sz="1100" dirty="0" smtClean="0"/>
                  <a:t>Mary is awarded the University medal</a:t>
                </a:r>
                <a:endParaRPr lang="en-AU" sz="1100" dirty="0"/>
              </a:p>
            </p:txBody>
          </p:sp>
        </p:grpSp>
        <p:grpSp>
          <p:nvGrpSpPr>
            <p:cNvPr id="69" name="Group 68"/>
            <p:cNvGrpSpPr/>
            <p:nvPr/>
          </p:nvGrpSpPr>
          <p:grpSpPr>
            <a:xfrm>
              <a:off x="5064035" y="3158964"/>
              <a:ext cx="1718411" cy="1112744"/>
              <a:chOff x="5420276" y="2140931"/>
              <a:chExt cx="1718411" cy="1112744"/>
            </a:xfrm>
          </p:grpSpPr>
          <p:cxnSp>
            <p:nvCxnSpPr>
              <p:cNvPr id="55" name="Straight Arrow Connector 54"/>
              <p:cNvCxnSpPr/>
              <p:nvPr/>
            </p:nvCxnSpPr>
            <p:spPr>
              <a:xfrm flipH="1" flipV="1">
                <a:off x="6267476" y="2667566"/>
                <a:ext cx="12006" cy="58610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5420276" y="2140931"/>
                <a:ext cx="1718411" cy="600164"/>
              </a:xfrm>
              <a:prstGeom prst="rect">
                <a:avLst/>
              </a:prstGeom>
              <a:noFill/>
            </p:spPr>
            <p:txBody>
              <a:bodyPr wrap="square" rtlCol="0">
                <a:spAutoFit/>
              </a:bodyPr>
              <a:lstStyle/>
              <a:p>
                <a:pPr algn="ctr"/>
                <a:r>
                  <a:rPr lang="en-AU" sz="1100" b="1" dirty="0"/>
                  <a:t>1990</a:t>
                </a:r>
              </a:p>
              <a:p>
                <a:pPr algn="ctr"/>
                <a:r>
                  <a:rPr lang="en-AU" sz="1100" dirty="0" smtClean="0"/>
                  <a:t>Mary promoted to the Supreme Court</a:t>
                </a:r>
                <a:endParaRPr lang="en-AU" sz="1100" b="1" dirty="0"/>
              </a:p>
            </p:txBody>
          </p:sp>
        </p:grpSp>
      </p:grpSp>
      <p:grpSp>
        <p:nvGrpSpPr>
          <p:cNvPr id="68" name="Group 67"/>
          <p:cNvGrpSpPr/>
          <p:nvPr/>
        </p:nvGrpSpPr>
        <p:grpSpPr>
          <a:xfrm>
            <a:off x="4211952" y="4367675"/>
            <a:ext cx="1750065" cy="1382464"/>
            <a:chOff x="4440007" y="3253676"/>
            <a:chExt cx="1750065" cy="1382464"/>
          </a:xfrm>
        </p:grpSpPr>
        <p:cxnSp>
          <p:nvCxnSpPr>
            <p:cNvPr id="52" name="Straight Arrow Connector 51"/>
            <p:cNvCxnSpPr/>
            <p:nvPr/>
          </p:nvCxnSpPr>
          <p:spPr>
            <a:xfrm flipH="1">
              <a:off x="5325621" y="3253676"/>
              <a:ext cx="7315" cy="99397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4440007" y="4205253"/>
              <a:ext cx="1750065" cy="430887"/>
            </a:xfrm>
            <a:prstGeom prst="rect">
              <a:avLst/>
            </a:prstGeom>
            <a:noFill/>
          </p:spPr>
          <p:txBody>
            <a:bodyPr wrap="square" rtlCol="0">
              <a:spAutoFit/>
            </a:bodyPr>
            <a:lstStyle/>
            <a:p>
              <a:pPr algn="ctr"/>
              <a:r>
                <a:rPr lang="en-AU" sz="1100" b="1" dirty="0"/>
                <a:t>1981 </a:t>
              </a:r>
              <a:endParaRPr lang="en-AU" sz="1100" b="1" dirty="0" smtClean="0"/>
            </a:p>
            <a:p>
              <a:pPr algn="ctr"/>
              <a:r>
                <a:rPr lang="en-AU" sz="1100" dirty="0" smtClean="0"/>
                <a:t>Mary becomes a judge</a:t>
              </a:r>
              <a:endParaRPr lang="en-AU" sz="1100" b="1" dirty="0"/>
            </a:p>
          </p:txBody>
        </p:sp>
      </p:grpSp>
      <p:grpSp>
        <p:nvGrpSpPr>
          <p:cNvPr id="70" name="Group 69"/>
          <p:cNvGrpSpPr/>
          <p:nvPr/>
        </p:nvGrpSpPr>
        <p:grpSpPr>
          <a:xfrm>
            <a:off x="5953383" y="4350028"/>
            <a:ext cx="1603683" cy="1010638"/>
            <a:chOff x="6296505" y="3266376"/>
            <a:chExt cx="1603683" cy="1010638"/>
          </a:xfrm>
        </p:grpSpPr>
        <p:cxnSp>
          <p:nvCxnSpPr>
            <p:cNvPr id="60" name="Straight Arrow Connector 59"/>
            <p:cNvCxnSpPr/>
            <p:nvPr/>
          </p:nvCxnSpPr>
          <p:spPr>
            <a:xfrm>
              <a:off x="7098347" y="3266376"/>
              <a:ext cx="0" cy="58639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6296505" y="3846127"/>
              <a:ext cx="1603683" cy="430887"/>
            </a:xfrm>
            <a:prstGeom prst="rect">
              <a:avLst/>
            </a:prstGeom>
            <a:noFill/>
          </p:spPr>
          <p:txBody>
            <a:bodyPr wrap="square" rtlCol="0">
              <a:spAutoFit/>
            </a:bodyPr>
            <a:lstStyle/>
            <a:p>
              <a:pPr algn="ctr"/>
              <a:r>
                <a:rPr lang="en-AU" sz="1100" b="1" dirty="0"/>
                <a:t>1999</a:t>
              </a:r>
            </a:p>
            <a:p>
              <a:pPr algn="ctr"/>
              <a:r>
                <a:rPr lang="en-AU" sz="1100" dirty="0" smtClean="0"/>
                <a:t>Mary retires as a judge</a:t>
              </a:r>
              <a:endParaRPr lang="en-AU" sz="1100" b="1" dirty="0"/>
            </a:p>
          </p:txBody>
        </p:sp>
      </p:grpSp>
      <p:grpSp>
        <p:nvGrpSpPr>
          <p:cNvPr id="71" name="Group 70"/>
          <p:cNvGrpSpPr/>
          <p:nvPr/>
        </p:nvGrpSpPr>
        <p:grpSpPr>
          <a:xfrm>
            <a:off x="7392936" y="2528880"/>
            <a:ext cx="1250249" cy="1848334"/>
            <a:chOff x="7893751" y="1425357"/>
            <a:chExt cx="1250249" cy="1848334"/>
          </a:xfrm>
        </p:grpSpPr>
        <p:cxnSp>
          <p:nvCxnSpPr>
            <p:cNvPr id="62" name="Straight Arrow Connector 61"/>
            <p:cNvCxnSpPr/>
            <p:nvPr/>
          </p:nvCxnSpPr>
          <p:spPr>
            <a:xfrm flipH="1" flipV="1">
              <a:off x="8587711" y="1777594"/>
              <a:ext cx="1384" cy="149609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7893751" y="1425357"/>
              <a:ext cx="1250249" cy="430887"/>
            </a:xfrm>
            <a:prstGeom prst="rect">
              <a:avLst/>
            </a:prstGeom>
            <a:noFill/>
          </p:spPr>
          <p:txBody>
            <a:bodyPr wrap="square" rtlCol="0">
              <a:spAutoFit/>
            </a:bodyPr>
            <a:lstStyle/>
            <a:p>
              <a:pPr algn="ctr"/>
              <a:r>
                <a:rPr lang="en-AU" sz="1100" b="1" dirty="0"/>
                <a:t>2014</a:t>
              </a:r>
            </a:p>
            <a:p>
              <a:pPr algn="ctr"/>
              <a:r>
                <a:rPr lang="en-AU" sz="1100" dirty="0" smtClean="0"/>
                <a:t>Mary dies</a:t>
              </a:r>
              <a:endParaRPr lang="en-AU" sz="1100" b="1" dirty="0"/>
            </a:p>
          </p:txBody>
        </p:sp>
      </p:grpSp>
      <p:graphicFrame>
        <p:nvGraphicFramePr>
          <p:cNvPr id="74" name="Table 73"/>
          <p:cNvGraphicFramePr>
            <a:graphicFrameLocks noGrp="1"/>
          </p:cNvGraphicFramePr>
          <p:nvPr>
            <p:extLst>
              <p:ext uri="{D42A27DB-BD31-4B8C-83A1-F6EECF244321}">
                <p14:modId xmlns:p14="http://schemas.microsoft.com/office/powerpoint/2010/main" val="797767776"/>
              </p:ext>
            </p:extLst>
          </p:nvPr>
        </p:nvGraphicFramePr>
        <p:xfrm>
          <a:off x="213027" y="573068"/>
          <a:ext cx="2464295" cy="2114093"/>
        </p:xfrm>
        <a:graphic>
          <a:graphicData uri="http://schemas.openxmlformats.org/drawingml/2006/table">
            <a:tbl>
              <a:tblPr firstRow="1" bandRow="1">
                <a:tableStyleId>{5C22544A-7EE6-4342-B048-85BDC9FD1C3A}</a:tableStyleId>
              </a:tblPr>
              <a:tblGrid>
                <a:gridCol w="418769"/>
                <a:gridCol w="2045526"/>
              </a:tblGrid>
              <a:tr h="225206">
                <a:tc>
                  <a:txBody>
                    <a:bodyPr/>
                    <a:lstStyle/>
                    <a:p>
                      <a:pPr algn="ctr"/>
                      <a:r>
                        <a:rPr lang="en-AU" sz="800" dirty="0" smtClean="0"/>
                        <a:t>Date</a:t>
                      </a:r>
                      <a:endParaRPr lang="en-AU" sz="800" dirty="0"/>
                    </a:p>
                  </a:txBody>
                  <a:tcPr/>
                </a:tc>
                <a:tc>
                  <a:txBody>
                    <a:bodyPr/>
                    <a:lstStyle/>
                    <a:p>
                      <a:pPr algn="ctr"/>
                      <a:r>
                        <a:rPr lang="en-AU" sz="800" dirty="0" smtClean="0"/>
                        <a:t>Event</a:t>
                      </a:r>
                      <a:endParaRPr lang="en-AU" sz="800" dirty="0"/>
                    </a:p>
                  </a:txBody>
                  <a:tcPr/>
                </a:tc>
              </a:tr>
              <a:tr h="266372">
                <a:tc>
                  <a:txBody>
                    <a:bodyPr/>
                    <a:lstStyle/>
                    <a:p>
                      <a:pPr algn="ctr"/>
                      <a:r>
                        <a:rPr lang="en-AU" sz="900" b="1" dirty="0" smtClean="0"/>
                        <a:t>1930</a:t>
                      </a:r>
                      <a:endParaRPr lang="en-AU" sz="900" b="1" dirty="0"/>
                    </a:p>
                  </a:txBody>
                  <a:tcPr/>
                </a:tc>
                <a:tc>
                  <a:txBody>
                    <a:bodyPr/>
                    <a:lstStyle/>
                    <a:p>
                      <a:r>
                        <a:rPr lang="en-AU" sz="900" dirty="0" smtClean="0"/>
                        <a:t>Birth of Mary Irvine</a:t>
                      </a:r>
                      <a:endParaRPr lang="en-AU" sz="900" dirty="0"/>
                    </a:p>
                  </a:txBody>
                  <a:tcPr/>
                </a:tc>
              </a:tr>
              <a:tr h="266372">
                <a:tc>
                  <a:txBody>
                    <a:bodyPr/>
                    <a:lstStyle/>
                    <a:p>
                      <a:pPr algn="ctr"/>
                      <a:r>
                        <a:rPr lang="en-AU" sz="900" b="1" dirty="0" smtClean="0"/>
                        <a:t>1944</a:t>
                      </a:r>
                      <a:endParaRPr lang="en-AU" sz="900" b="1" dirty="0"/>
                    </a:p>
                  </a:txBody>
                  <a:tcPr/>
                </a:tc>
                <a:tc>
                  <a:txBody>
                    <a:bodyPr/>
                    <a:lstStyle/>
                    <a:p>
                      <a:r>
                        <a:rPr lang="en-AU" sz="900" dirty="0" smtClean="0"/>
                        <a:t>Mary</a:t>
                      </a:r>
                      <a:r>
                        <a:rPr lang="en-AU" sz="900" baseline="0" dirty="0" smtClean="0"/>
                        <a:t> enters high school </a:t>
                      </a:r>
                      <a:endParaRPr lang="en-AU" sz="900" dirty="0"/>
                    </a:p>
                  </a:txBody>
                  <a:tcPr/>
                </a:tc>
              </a:tr>
              <a:tr h="266372">
                <a:tc>
                  <a:txBody>
                    <a:bodyPr/>
                    <a:lstStyle/>
                    <a:p>
                      <a:pPr algn="ctr"/>
                      <a:r>
                        <a:rPr lang="en-AU" sz="900" b="1" dirty="0" smtClean="0"/>
                        <a:t>1960</a:t>
                      </a:r>
                      <a:endParaRPr lang="en-AU" sz="900" b="1" dirty="0"/>
                    </a:p>
                  </a:txBody>
                  <a:tcPr/>
                </a:tc>
                <a:tc>
                  <a:txBody>
                    <a:bodyPr/>
                    <a:lstStyle/>
                    <a:p>
                      <a:r>
                        <a:rPr lang="en-AU" sz="900" dirty="0" smtClean="0"/>
                        <a:t>Mary is awarded</a:t>
                      </a:r>
                      <a:r>
                        <a:rPr lang="en-AU" sz="900" baseline="0" dirty="0" smtClean="0"/>
                        <a:t> the University medal </a:t>
                      </a:r>
                      <a:endParaRPr lang="en-AU" sz="900" dirty="0"/>
                    </a:p>
                  </a:txBody>
                  <a:tcPr/>
                </a:tc>
              </a:tr>
              <a:tr h="266372">
                <a:tc>
                  <a:txBody>
                    <a:bodyPr/>
                    <a:lstStyle/>
                    <a:p>
                      <a:pPr algn="ctr"/>
                      <a:r>
                        <a:rPr lang="en-AU" sz="900" b="1" dirty="0" smtClean="0"/>
                        <a:t>1981</a:t>
                      </a:r>
                      <a:endParaRPr lang="en-AU" sz="900" b="1" dirty="0"/>
                    </a:p>
                  </a:txBody>
                  <a:tcPr/>
                </a:tc>
                <a:tc>
                  <a:txBody>
                    <a:bodyPr/>
                    <a:lstStyle/>
                    <a:p>
                      <a:r>
                        <a:rPr lang="en-AU" sz="900" dirty="0" smtClean="0"/>
                        <a:t>Mary becomes</a:t>
                      </a:r>
                      <a:r>
                        <a:rPr lang="en-AU" sz="900" baseline="0" dirty="0" smtClean="0"/>
                        <a:t> a judge </a:t>
                      </a:r>
                      <a:endParaRPr lang="en-AU" sz="900" dirty="0"/>
                    </a:p>
                  </a:txBody>
                  <a:tcPr/>
                </a:tc>
              </a:tr>
              <a:tr h="266372">
                <a:tc>
                  <a:txBody>
                    <a:bodyPr/>
                    <a:lstStyle/>
                    <a:p>
                      <a:pPr algn="ctr"/>
                      <a:r>
                        <a:rPr lang="en-AU" sz="900" b="1" dirty="0" smtClean="0"/>
                        <a:t>1990</a:t>
                      </a:r>
                      <a:endParaRPr lang="en-AU" sz="900" b="1" dirty="0"/>
                    </a:p>
                  </a:txBody>
                  <a:tcPr/>
                </a:tc>
                <a:tc>
                  <a:txBody>
                    <a:bodyPr/>
                    <a:lstStyle/>
                    <a:p>
                      <a:r>
                        <a:rPr lang="en-AU" sz="900" dirty="0" smtClean="0"/>
                        <a:t>Mary promoted</a:t>
                      </a:r>
                      <a:r>
                        <a:rPr lang="en-AU" sz="900" baseline="0" dirty="0" smtClean="0"/>
                        <a:t> to the Supreme Court </a:t>
                      </a:r>
                      <a:endParaRPr lang="en-AU" sz="900" dirty="0"/>
                    </a:p>
                  </a:txBody>
                  <a:tcPr/>
                </a:tc>
              </a:tr>
              <a:tr h="266372">
                <a:tc>
                  <a:txBody>
                    <a:bodyPr/>
                    <a:lstStyle/>
                    <a:p>
                      <a:pPr algn="ctr"/>
                      <a:r>
                        <a:rPr lang="en-AU" sz="900" b="1" dirty="0" smtClean="0"/>
                        <a:t>1999</a:t>
                      </a:r>
                      <a:endParaRPr lang="en-AU" sz="900" b="1" dirty="0"/>
                    </a:p>
                  </a:txBody>
                  <a:tcPr/>
                </a:tc>
                <a:tc>
                  <a:txBody>
                    <a:bodyPr/>
                    <a:lstStyle/>
                    <a:p>
                      <a:r>
                        <a:rPr lang="en-AU" sz="900" dirty="0" smtClean="0"/>
                        <a:t>Mary</a:t>
                      </a:r>
                      <a:r>
                        <a:rPr lang="en-AU" sz="900" baseline="0" dirty="0" smtClean="0"/>
                        <a:t> retires as a judge</a:t>
                      </a:r>
                      <a:endParaRPr lang="en-AU" sz="900" dirty="0"/>
                    </a:p>
                  </a:txBody>
                  <a:tcPr/>
                </a:tc>
              </a:tr>
              <a:tr h="290655">
                <a:tc>
                  <a:txBody>
                    <a:bodyPr/>
                    <a:lstStyle/>
                    <a:p>
                      <a:pPr algn="ctr"/>
                      <a:r>
                        <a:rPr lang="en-AU" sz="900" b="1" dirty="0" smtClean="0"/>
                        <a:t>2014</a:t>
                      </a:r>
                      <a:endParaRPr lang="en-AU" sz="900" b="1" dirty="0"/>
                    </a:p>
                  </a:txBody>
                  <a:tcPr/>
                </a:tc>
                <a:tc>
                  <a:txBody>
                    <a:bodyPr/>
                    <a:lstStyle/>
                    <a:p>
                      <a:r>
                        <a:rPr lang="en-AU" sz="900" dirty="0" smtClean="0"/>
                        <a:t>Death of Mary</a:t>
                      </a:r>
                      <a:r>
                        <a:rPr lang="en-AU" sz="900" baseline="0" dirty="0" smtClean="0"/>
                        <a:t> Irvine </a:t>
                      </a:r>
                      <a:endParaRPr lang="en-AU" sz="900" dirty="0"/>
                    </a:p>
                  </a:txBody>
                  <a:tcPr/>
                </a:tc>
              </a:tr>
            </a:tbl>
          </a:graphicData>
        </a:graphic>
      </p:graphicFrame>
      <p:sp>
        <p:nvSpPr>
          <p:cNvPr id="80" name="Oval 79"/>
          <p:cNvSpPr/>
          <p:nvPr/>
        </p:nvSpPr>
        <p:spPr>
          <a:xfrm>
            <a:off x="250989" y="812834"/>
            <a:ext cx="316286" cy="18934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3" name="Oval 82"/>
          <p:cNvSpPr/>
          <p:nvPr/>
        </p:nvSpPr>
        <p:spPr>
          <a:xfrm>
            <a:off x="261622" y="1356257"/>
            <a:ext cx="316286" cy="18934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5" name="Oval 84"/>
          <p:cNvSpPr/>
          <p:nvPr/>
        </p:nvSpPr>
        <p:spPr>
          <a:xfrm>
            <a:off x="255879" y="1881733"/>
            <a:ext cx="316286" cy="18934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 name="Group 1"/>
          <p:cNvGrpSpPr/>
          <p:nvPr/>
        </p:nvGrpSpPr>
        <p:grpSpPr>
          <a:xfrm>
            <a:off x="250989" y="1074538"/>
            <a:ext cx="331809" cy="1544066"/>
            <a:chOff x="250989" y="1074538"/>
            <a:chExt cx="331809" cy="1544066"/>
          </a:xfrm>
        </p:grpSpPr>
        <p:sp>
          <p:nvSpPr>
            <p:cNvPr id="81" name="Oval 80"/>
            <p:cNvSpPr/>
            <p:nvPr/>
          </p:nvSpPr>
          <p:spPr>
            <a:xfrm>
              <a:off x="266512" y="1074538"/>
              <a:ext cx="316286" cy="18934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2" name="Oval 81"/>
            <p:cNvSpPr/>
            <p:nvPr/>
          </p:nvSpPr>
          <p:spPr>
            <a:xfrm>
              <a:off x="261622" y="2429255"/>
              <a:ext cx="316286" cy="18934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4" name="Oval 83"/>
            <p:cNvSpPr/>
            <p:nvPr/>
          </p:nvSpPr>
          <p:spPr>
            <a:xfrm>
              <a:off x="250989" y="1613964"/>
              <a:ext cx="316286" cy="18934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6" name="Oval 85"/>
            <p:cNvSpPr/>
            <p:nvPr/>
          </p:nvSpPr>
          <p:spPr>
            <a:xfrm>
              <a:off x="261622" y="2148397"/>
              <a:ext cx="316286" cy="18934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57" name="Group 56"/>
          <p:cNvGrpSpPr/>
          <p:nvPr/>
        </p:nvGrpSpPr>
        <p:grpSpPr>
          <a:xfrm>
            <a:off x="1268983" y="4576939"/>
            <a:ext cx="782545" cy="246222"/>
            <a:chOff x="2973050" y="4293561"/>
            <a:chExt cx="646908" cy="179682"/>
          </a:xfrm>
        </p:grpSpPr>
        <p:cxnSp>
          <p:nvCxnSpPr>
            <p:cNvPr id="3" name="Straight Arrow Connector 2"/>
            <p:cNvCxnSpPr/>
            <p:nvPr/>
          </p:nvCxnSpPr>
          <p:spPr>
            <a:xfrm>
              <a:off x="3099116" y="4297004"/>
              <a:ext cx="280804" cy="1"/>
            </a:xfrm>
            <a:prstGeom prst="straightConnector1">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973050" y="4293561"/>
              <a:ext cx="646908" cy="179682"/>
            </a:xfrm>
            <a:prstGeom prst="rect">
              <a:avLst/>
            </a:prstGeom>
            <a:noFill/>
          </p:spPr>
          <p:txBody>
            <a:bodyPr wrap="square" rtlCol="0">
              <a:spAutoFit/>
            </a:bodyPr>
            <a:lstStyle/>
            <a:p>
              <a:r>
                <a:rPr lang="en-AU" sz="1000" dirty="0" smtClean="0"/>
                <a:t>4 years</a:t>
              </a:r>
              <a:endParaRPr lang="en-AU" sz="1000" dirty="0"/>
            </a:p>
          </p:txBody>
        </p:sp>
      </p:grpSp>
      <p:grpSp>
        <p:nvGrpSpPr>
          <p:cNvPr id="63" name="Group 62"/>
          <p:cNvGrpSpPr/>
          <p:nvPr/>
        </p:nvGrpSpPr>
        <p:grpSpPr>
          <a:xfrm>
            <a:off x="1801852" y="4572643"/>
            <a:ext cx="819559" cy="246221"/>
            <a:chOff x="3338800" y="4297003"/>
            <a:chExt cx="819559" cy="246221"/>
          </a:xfrm>
        </p:grpSpPr>
        <p:cxnSp>
          <p:nvCxnSpPr>
            <p:cNvPr id="92" name="Straight Arrow Connector 91"/>
            <p:cNvCxnSpPr/>
            <p:nvPr/>
          </p:nvCxnSpPr>
          <p:spPr>
            <a:xfrm flipV="1">
              <a:off x="3338800" y="4297004"/>
              <a:ext cx="462473" cy="1"/>
            </a:xfrm>
            <a:prstGeom prst="straightConnector1">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3364318" y="4297003"/>
              <a:ext cx="794041" cy="246221"/>
            </a:xfrm>
            <a:prstGeom prst="rect">
              <a:avLst/>
            </a:prstGeom>
            <a:noFill/>
          </p:spPr>
          <p:txBody>
            <a:bodyPr wrap="square" rtlCol="0">
              <a:spAutoFit/>
            </a:bodyPr>
            <a:lstStyle>
              <a:defPPr>
                <a:defRPr lang="en-US"/>
              </a:defPPr>
              <a:lvl1pPr>
                <a:defRPr sz="1100"/>
              </a:lvl1pPr>
            </a:lstStyle>
            <a:p>
              <a:r>
                <a:rPr lang="en-AU" sz="1000" dirty="0" smtClean="0"/>
                <a:t>6 </a:t>
              </a:r>
              <a:r>
                <a:rPr lang="en-AU" sz="1000" dirty="0"/>
                <a:t>years</a:t>
              </a:r>
            </a:p>
          </p:txBody>
        </p:sp>
      </p:grpSp>
      <p:cxnSp>
        <p:nvCxnSpPr>
          <p:cNvPr id="94" name="Straight Arrow Connector 93"/>
          <p:cNvCxnSpPr/>
          <p:nvPr/>
        </p:nvCxnSpPr>
        <p:spPr>
          <a:xfrm>
            <a:off x="1463967" y="4229583"/>
            <a:ext cx="808761" cy="0"/>
          </a:xfrm>
          <a:prstGeom prst="straightConnector1">
            <a:avLst/>
          </a:prstGeom>
          <a:ln w="28575">
            <a:solidFill>
              <a:schemeClr val="accent3">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1164208" y="3986387"/>
            <a:ext cx="539096" cy="261610"/>
          </a:xfrm>
          <a:prstGeom prst="rect">
            <a:avLst/>
          </a:prstGeom>
          <a:noFill/>
        </p:spPr>
        <p:txBody>
          <a:bodyPr wrap="square" rtlCol="0">
            <a:spAutoFit/>
          </a:bodyPr>
          <a:lstStyle/>
          <a:p>
            <a:r>
              <a:rPr lang="en-AU" sz="1100" dirty="0" smtClean="0"/>
              <a:t>1940</a:t>
            </a:r>
            <a:endParaRPr lang="en-AU" sz="1100" dirty="0"/>
          </a:p>
        </p:txBody>
      </p:sp>
      <p:sp>
        <p:nvSpPr>
          <p:cNvPr id="77" name="TextBox 76"/>
          <p:cNvSpPr txBox="1"/>
          <p:nvPr/>
        </p:nvSpPr>
        <p:spPr>
          <a:xfrm>
            <a:off x="2118470" y="3959538"/>
            <a:ext cx="557752" cy="261610"/>
          </a:xfrm>
          <a:prstGeom prst="rect">
            <a:avLst/>
          </a:prstGeom>
          <a:noFill/>
        </p:spPr>
        <p:txBody>
          <a:bodyPr wrap="square" rtlCol="0">
            <a:spAutoFit/>
          </a:bodyPr>
          <a:lstStyle/>
          <a:p>
            <a:r>
              <a:rPr lang="en-AU" sz="1100" dirty="0" smtClean="0"/>
              <a:t>1950</a:t>
            </a:r>
            <a:endParaRPr lang="en-AU" sz="1100" dirty="0"/>
          </a:p>
        </p:txBody>
      </p:sp>
      <p:sp>
        <p:nvSpPr>
          <p:cNvPr id="79" name="TextBox 78"/>
          <p:cNvSpPr txBox="1"/>
          <p:nvPr/>
        </p:nvSpPr>
        <p:spPr>
          <a:xfrm>
            <a:off x="3946687" y="3947448"/>
            <a:ext cx="523189" cy="261610"/>
          </a:xfrm>
          <a:prstGeom prst="rect">
            <a:avLst/>
          </a:prstGeom>
          <a:noFill/>
        </p:spPr>
        <p:txBody>
          <a:bodyPr wrap="square" rtlCol="0">
            <a:spAutoFit/>
          </a:bodyPr>
          <a:lstStyle/>
          <a:p>
            <a:r>
              <a:rPr lang="en-AU" sz="1100" dirty="0" smtClean="0"/>
              <a:t>1970</a:t>
            </a:r>
            <a:endParaRPr lang="en-AU" sz="1100" dirty="0"/>
          </a:p>
        </p:txBody>
      </p:sp>
      <p:sp>
        <p:nvSpPr>
          <p:cNvPr id="91" name="TextBox 90"/>
          <p:cNvSpPr txBox="1"/>
          <p:nvPr/>
        </p:nvSpPr>
        <p:spPr>
          <a:xfrm>
            <a:off x="7479456" y="3947610"/>
            <a:ext cx="567180" cy="261610"/>
          </a:xfrm>
          <a:prstGeom prst="rect">
            <a:avLst/>
          </a:prstGeom>
          <a:noFill/>
        </p:spPr>
        <p:txBody>
          <a:bodyPr wrap="square" rtlCol="0">
            <a:spAutoFit/>
          </a:bodyPr>
          <a:lstStyle/>
          <a:p>
            <a:r>
              <a:rPr lang="en-AU" sz="1100" dirty="0" smtClean="0"/>
              <a:t>2010</a:t>
            </a:r>
            <a:endParaRPr lang="en-AU" sz="1100" dirty="0"/>
          </a:p>
        </p:txBody>
      </p:sp>
      <p:sp>
        <p:nvSpPr>
          <p:cNvPr id="95" name="TextBox 94"/>
          <p:cNvSpPr txBox="1"/>
          <p:nvPr/>
        </p:nvSpPr>
        <p:spPr>
          <a:xfrm>
            <a:off x="8347437" y="3934051"/>
            <a:ext cx="518475" cy="261610"/>
          </a:xfrm>
          <a:prstGeom prst="rect">
            <a:avLst/>
          </a:prstGeom>
          <a:noFill/>
        </p:spPr>
        <p:txBody>
          <a:bodyPr wrap="square" rtlCol="0">
            <a:spAutoFit/>
          </a:bodyPr>
          <a:lstStyle/>
          <a:p>
            <a:r>
              <a:rPr lang="en-AU" sz="1100" dirty="0" smtClean="0"/>
              <a:t>2020</a:t>
            </a:r>
            <a:endParaRPr lang="en-AU" sz="1100" dirty="0"/>
          </a:p>
        </p:txBody>
      </p:sp>
      <p:grpSp>
        <p:nvGrpSpPr>
          <p:cNvPr id="97" name="Group 96"/>
          <p:cNvGrpSpPr/>
          <p:nvPr/>
        </p:nvGrpSpPr>
        <p:grpSpPr>
          <a:xfrm>
            <a:off x="160065" y="4221625"/>
            <a:ext cx="8793948" cy="287519"/>
            <a:chOff x="160065" y="3321505"/>
            <a:chExt cx="8793948" cy="287519"/>
          </a:xfrm>
        </p:grpSpPr>
        <p:cxnSp>
          <p:nvCxnSpPr>
            <p:cNvPr id="98" name="Straight Connector 97"/>
            <p:cNvCxnSpPr/>
            <p:nvPr/>
          </p:nvCxnSpPr>
          <p:spPr>
            <a:xfrm>
              <a:off x="160065" y="3457150"/>
              <a:ext cx="8790503" cy="471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9" name="Group 98"/>
            <p:cNvGrpSpPr/>
            <p:nvPr/>
          </p:nvGrpSpPr>
          <p:grpSpPr>
            <a:xfrm>
              <a:off x="160065" y="3321505"/>
              <a:ext cx="115834" cy="287519"/>
              <a:chOff x="37707" y="3289952"/>
              <a:chExt cx="115834" cy="287519"/>
            </a:xfrm>
          </p:grpSpPr>
          <p:cxnSp>
            <p:nvCxnSpPr>
              <p:cNvPr id="103" name="Straight Connector 102"/>
              <p:cNvCxnSpPr/>
              <p:nvPr/>
            </p:nvCxnSpPr>
            <p:spPr>
              <a:xfrm flipV="1">
                <a:off x="37707" y="3289952"/>
                <a:ext cx="115834" cy="1414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50070" y="3421930"/>
                <a:ext cx="103471" cy="15554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00" name="Group 99"/>
            <p:cNvGrpSpPr/>
            <p:nvPr/>
          </p:nvGrpSpPr>
          <p:grpSpPr>
            <a:xfrm>
              <a:off x="8801217" y="3335577"/>
              <a:ext cx="152796" cy="254397"/>
              <a:chOff x="8953500" y="3302652"/>
              <a:chExt cx="152796" cy="254397"/>
            </a:xfrm>
          </p:grpSpPr>
          <p:cxnSp>
            <p:nvCxnSpPr>
              <p:cNvPr id="101" name="Straight Connector 100"/>
              <p:cNvCxnSpPr/>
              <p:nvPr/>
            </p:nvCxnSpPr>
            <p:spPr>
              <a:xfrm flipH="1" flipV="1">
                <a:off x="8953500" y="3302652"/>
                <a:ext cx="152796" cy="13197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V="1">
                <a:off x="8953500" y="3421930"/>
                <a:ext cx="152400" cy="1351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105" name="Group 104"/>
          <p:cNvGrpSpPr/>
          <p:nvPr/>
        </p:nvGrpSpPr>
        <p:grpSpPr>
          <a:xfrm>
            <a:off x="511473" y="4207486"/>
            <a:ext cx="8109720" cy="301658"/>
            <a:chOff x="511473" y="3307366"/>
            <a:chExt cx="8109720" cy="301658"/>
          </a:xfrm>
        </p:grpSpPr>
        <p:cxnSp>
          <p:nvCxnSpPr>
            <p:cNvPr id="106" name="Straight Connector 105"/>
            <p:cNvCxnSpPr/>
            <p:nvPr/>
          </p:nvCxnSpPr>
          <p:spPr>
            <a:xfrm>
              <a:off x="51147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a:off x="142023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a:off x="232035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322047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502071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a:off x="682095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a:off x="862119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a:off x="772107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a:off x="412059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a:off x="592083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16" name="TextBox 115"/>
          <p:cNvSpPr txBox="1"/>
          <p:nvPr/>
        </p:nvSpPr>
        <p:spPr>
          <a:xfrm>
            <a:off x="4777030" y="3947610"/>
            <a:ext cx="516904" cy="261610"/>
          </a:xfrm>
          <a:prstGeom prst="rect">
            <a:avLst/>
          </a:prstGeom>
          <a:noFill/>
        </p:spPr>
        <p:txBody>
          <a:bodyPr wrap="square" rtlCol="0">
            <a:spAutoFit/>
          </a:bodyPr>
          <a:lstStyle/>
          <a:p>
            <a:r>
              <a:rPr lang="en-AU" sz="1100" dirty="0" smtClean="0"/>
              <a:t>1980</a:t>
            </a:r>
            <a:endParaRPr lang="en-AU" sz="1100" dirty="0"/>
          </a:p>
        </p:txBody>
      </p:sp>
      <p:sp>
        <p:nvSpPr>
          <p:cNvPr id="117" name="TextBox 116"/>
          <p:cNvSpPr txBox="1"/>
          <p:nvPr/>
        </p:nvSpPr>
        <p:spPr>
          <a:xfrm>
            <a:off x="6654437" y="3957135"/>
            <a:ext cx="551469" cy="261610"/>
          </a:xfrm>
          <a:prstGeom prst="rect">
            <a:avLst/>
          </a:prstGeom>
          <a:noFill/>
        </p:spPr>
        <p:txBody>
          <a:bodyPr wrap="square" rtlCol="0">
            <a:spAutoFit/>
          </a:bodyPr>
          <a:lstStyle/>
          <a:p>
            <a:r>
              <a:rPr lang="en-AU" sz="1100" dirty="0" smtClean="0"/>
              <a:t>2000</a:t>
            </a:r>
            <a:endParaRPr lang="en-AU" sz="1100" dirty="0"/>
          </a:p>
        </p:txBody>
      </p:sp>
      <p:sp>
        <p:nvSpPr>
          <p:cNvPr id="96" name="TextBox 95"/>
          <p:cNvSpPr txBox="1"/>
          <p:nvPr/>
        </p:nvSpPr>
        <p:spPr>
          <a:xfrm>
            <a:off x="292072" y="3959538"/>
            <a:ext cx="493942" cy="261610"/>
          </a:xfrm>
          <a:prstGeom prst="rect">
            <a:avLst/>
          </a:prstGeom>
          <a:noFill/>
        </p:spPr>
        <p:txBody>
          <a:bodyPr wrap="square" rtlCol="0">
            <a:spAutoFit/>
          </a:bodyPr>
          <a:lstStyle/>
          <a:p>
            <a:r>
              <a:rPr lang="en-AU" sz="1100" dirty="0" smtClean="0"/>
              <a:t>1930</a:t>
            </a:r>
            <a:endParaRPr lang="en-AU" sz="1100" dirty="0"/>
          </a:p>
        </p:txBody>
      </p:sp>
      <p:sp>
        <p:nvSpPr>
          <p:cNvPr id="125" name="TextBox 124"/>
          <p:cNvSpPr txBox="1"/>
          <p:nvPr/>
        </p:nvSpPr>
        <p:spPr>
          <a:xfrm>
            <a:off x="5700481" y="3958674"/>
            <a:ext cx="516904" cy="261610"/>
          </a:xfrm>
          <a:prstGeom prst="rect">
            <a:avLst/>
          </a:prstGeom>
          <a:noFill/>
        </p:spPr>
        <p:txBody>
          <a:bodyPr wrap="square" rtlCol="0">
            <a:spAutoFit/>
          </a:bodyPr>
          <a:lstStyle/>
          <a:p>
            <a:r>
              <a:rPr lang="en-AU" sz="1100" dirty="0" smtClean="0"/>
              <a:t>1990</a:t>
            </a:r>
            <a:endParaRPr lang="en-AU" sz="1100" dirty="0"/>
          </a:p>
        </p:txBody>
      </p:sp>
      <p:sp>
        <p:nvSpPr>
          <p:cNvPr id="126" name="TextBox 125"/>
          <p:cNvSpPr txBox="1"/>
          <p:nvPr/>
        </p:nvSpPr>
        <p:spPr>
          <a:xfrm>
            <a:off x="3006503" y="3966660"/>
            <a:ext cx="523189" cy="261610"/>
          </a:xfrm>
          <a:prstGeom prst="rect">
            <a:avLst/>
          </a:prstGeom>
          <a:noFill/>
        </p:spPr>
        <p:txBody>
          <a:bodyPr wrap="square" rtlCol="0">
            <a:spAutoFit/>
          </a:bodyPr>
          <a:lstStyle/>
          <a:p>
            <a:r>
              <a:rPr lang="en-AU" sz="1100" dirty="0" smtClean="0"/>
              <a:t>1960</a:t>
            </a:r>
            <a:endParaRPr lang="en-AU" sz="1100" dirty="0"/>
          </a:p>
        </p:txBody>
      </p:sp>
    </p:spTree>
    <p:extLst>
      <p:ext uri="{BB962C8B-B14F-4D97-AF65-F5344CB8AC3E}">
        <p14:creationId xmlns:p14="http://schemas.microsoft.com/office/powerpoint/2010/main" val="972547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500"/>
                                        <p:tgtEl>
                                          <p:spTgt spid="74"/>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wheel(1)">
                                      <p:cBhvr>
                                        <p:cTn id="17" dur="2000"/>
                                        <p:tgtEl>
                                          <p:spTgt spid="80"/>
                                        </p:tgtEl>
                                      </p:cBhvr>
                                    </p:animEffect>
                                  </p:childTnLst>
                                </p:cTn>
                              </p:par>
                              <p:par>
                                <p:cTn id="18" presetID="21" presetClass="entr" presetSubtype="1" fill="hold" grpId="0" nodeType="withEffect">
                                  <p:stCondLst>
                                    <p:cond delay="0"/>
                                  </p:stCondLst>
                                  <p:childTnLst>
                                    <p:set>
                                      <p:cBhvr>
                                        <p:cTn id="19" dur="1" fill="hold">
                                          <p:stCondLst>
                                            <p:cond delay="0"/>
                                          </p:stCondLst>
                                        </p:cTn>
                                        <p:tgtEl>
                                          <p:spTgt spid="83"/>
                                        </p:tgtEl>
                                        <p:attrNameLst>
                                          <p:attrName>style.visibility</p:attrName>
                                        </p:attrNameLst>
                                      </p:cBhvr>
                                      <p:to>
                                        <p:strVal val="visible"/>
                                      </p:to>
                                    </p:set>
                                    <p:animEffect transition="in" filter="wheel(1)">
                                      <p:cBhvr>
                                        <p:cTn id="20" dur="2000"/>
                                        <p:tgtEl>
                                          <p:spTgt spid="83"/>
                                        </p:tgtEl>
                                      </p:cBhvr>
                                    </p:animEffect>
                                  </p:childTnLst>
                                </p:cTn>
                              </p:par>
                              <p:par>
                                <p:cTn id="21" presetID="21" presetClass="entr" presetSubtype="1" fill="hold" grpId="0" nodeType="withEffect">
                                  <p:stCondLst>
                                    <p:cond delay="0"/>
                                  </p:stCondLst>
                                  <p:childTnLst>
                                    <p:set>
                                      <p:cBhvr>
                                        <p:cTn id="22" dur="1" fill="hold">
                                          <p:stCondLst>
                                            <p:cond delay="0"/>
                                          </p:stCondLst>
                                        </p:cTn>
                                        <p:tgtEl>
                                          <p:spTgt spid="85"/>
                                        </p:tgtEl>
                                        <p:attrNameLst>
                                          <p:attrName>style.visibility</p:attrName>
                                        </p:attrNameLst>
                                      </p:cBhvr>
                                      <p:to>
                                        <p:strVal val="visible"/>
                                      </p:to>
                                    </p:set>
                                    <p:animEffect transition="in" filter="wheel(1)">
                                      <p:cBhvr>
                                        <p:cTn id="23" dur="2000"/>
                                        <p:tgtEl>
                                          <p:spTgt spid="85"/>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45"/>
                                        </p:tgtEl>
                                        <p:attrNameLst>
                                          <p:attrName>style.visibility</p:attrName>
                                        </p:attrNameLst>
                                      </p:cBhvr>
                                      <p:to>
                                        <p:strVal val="visible"/>
                                      </p:to>
                                    </p:set>
                                    <p:anim calcmode="lin" valueType="num">
                                      <p:cBhvr additive="base">
                                        <p:cTn id="28" dur="500" fill="hold"/>
                                        <p:tgtEl>
                                          <p:spTgt spid="45"/>
                                        </p:tgtEl>
                                        <p:attrNameLst>
                                          <p:attrName>ppt_x</p:attrName>
                                        </p:attrNameLst>
                                      </p:cBhvr>
                                      <p:tavLst>
                                        <p:tav tm="0">
                                          <p:val>
                                            <p:strVal val="#ppt_x"/>
                                          </p:val>
                                        </p:tav>
                                        <p:tav tm="100000">
                                          <p:val>
                                            <p:strVal val="#ppt_x"/>
                                          </p:val>
                                        </p:tav>
                                      </p:tavLst>
                                    </p:anim>
                                    <p:anim calcmode="lin" valueType="num">
                                      <p:cBhvr additive="base">
                                        <p:cTn id="29"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1" presetClass="entr" presetSubtype="1"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heel(1)">
                                      <p:cBhvr>
                                        <p:cTn id="34" dur="2000"/>
                                        <p:tgtEl>
                                          <p:spTgt spid="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94"/>
                                        </p:tgtEl>
                                        <p:attrNameLst>
                                          <p:attrName>style.visibility</p:attrName>
                                        </p:attrNameLst>
                                      </p:cBhvr>
                                      <p:to>
                                        <p:strVal val="visible"/>
                                      </p:to>
                                    </p:set>
                                    <p:animEffect transition="in" filter="wipe(left)">
                                      <p:cBhvr>
                                        <p:cTn id="39" dur="500"/>
                                        <p:tgtEl>
                                          <p:spTgt spid="94"/>
                                        </p:tgtEl>
                                      </p:cBhvr>
                                    </p:animEffect>
                                  </p:childTnLst>
                                </p:cTn>
                              </p:par>
                            </p:childTnLst>
                          </p:cTn>
                        </p:par>
                        <p:par>
                          <p:cTn id="40" fill="hold">
                            <p:stCondLst>
                              <p:cond delay="500"/>
                            </p:stCondLst>
                            <p:childTnLst>
                              <p:par>
                                <p:cTn id="41" presetID="2" presetClass="entr" presetSubtype="1" fill="hold" nodeType="afterEffect">
                                  <p:stCondLst>
                                    <p:cond delay="0"/>
                                  </p:stCondLst>
                                  <p:childTnLst>
                                    <p:set>
                                      <p:cBhvr>
                                        <p:cTn id="42" dur="1" fill="hold">
                                          <p:stCondLst>
                                            <p:cond delay="0"/>
                                          </p:stCondLst>
                                        </p:cTn>
                                        <p:tgtEl>
                                          <p:spTgt spid="66"/>
                                        </p:tgtEl>
                                        <p:attrNameLst>
                                          <p:attrName>style.visibility</p:attrName>
                                        </p:attrNameLst>
                                      </p:cBhvr>
                                      <p:to>
                                        <p:strVal val="visible"/>
                                      </p:to>
                                    </p:set>
                                    <p:anim calcmode="lin" valueType="num">
                                      <p:cBhvr additive="base">
                                        <p:cTn id="43" dur="500" fill="hold"/>
                                        <p:tgtEl>
                                          <p:spTgt spid="66"/>
                                        </p:tgtEl>
                                        <p:attrNameLst>
                                          <p:attrName>ppt_x</p:attrName>
                                        </p:attrNameLst>
                                      </p:cBhvr>
                                      <p:tavLst>
                                        <p:tav tm="0">
                                          <p:val>
                                            <p:strVal val="#ppt_x"/>
                                          </p:val>
                                        </p:tav>
                                        <p:tav tm="100000">
                                          <p:val>
                                            <p:strVal val="#ppt_x"/>
                                          </p:val>
                                        </p:tav>
                                      </p:tavLst>
                                    </p:anim>
                                    <p:anim calcmode="lin" valueType="num">
                                      <p:cBhvr additive="base">
                                        <p:cTn id="44" dur="500" fill="hold"/>
                                        <p:tgtEl>
                                          <p:spTgt spid="66"/>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7"/>
                                        </p:tgtEl>
                                        <p:attrNameLst>
                                          <p:attrName>style.visibility</p:attrName>
                                        </p:attrNameLst>
                                      </p:cBhvr>
                                      <p:to>
                                        <p:strVal val="visible"/>
                                      </p:to>
                                    </p:set>
                                    <p:anim calcmode="lin" valueType="num">
                                      <p:cBhvr additive="base">
                                        <p:cTn id="49" dur="500" fill="hold"/>
                                        <p:tgtEl>
                                          <p:spTgt spid="57"/>
                                        </p:tgtEl>
                                        <p:attrNameLst>
                                          <p:attrName>ppt_x</p:attrName>
                                        </p:attrNameLst>
                                      </p:cBhvr>
                                      <p:tavLst>
                                        <p:tav tm="0">
                                          <p:val>
                                            <p:strVal val="#ppt_x"/>
                                          </p:val>
                                        </p:tav>
                                        <p:tav tm="100000">
                                          <p:val>
                                            <p:strVal val="#ppt_x"/>
                                          </p:val>
                                        </p:tav>
                                      </p:tavLst>
                                    </p:anim>
                                    <p:anim calcmode="lin" valueType="num">
                                      <p:cBhvr additive="base">
                                        <p:cTn id="50" dur="500" fill="hold"/>
                                        <p:tgtEl>
                                          <p:spTgt spid="57"/>
                                        </p:tgtEl>
                                        <p:attrNameLst>
                                          <p:attrName>ppt_y</p:attrName>
                                        </p:attrNameLst>
                                      </p:cBhvr>
                                      <p:tavLst>
                                        <p:tav tm="0">
                                          <p:val>
                                            <p:strVal val="1+#ppt_h/2"/>
                                          </p:val>
                                        </p:tav>
                                        <p:tav tm="100000">
                                          <p:val>
                                            <p:strVal val="#ppt_y"/>
                                          </p:val>
                                        </p:tav>
                                      </p:tavLst>
                                    </p:anim>
                                  </p:childTnLst>
                                </p:cTn>
                              </p:par>
                            </p:childTnLst>
                          </p:cTn>
                        </p:par>
                        <p:par>
                          <p:cTn id="51" fill="hold">
                            <p:stCondLst>
                              <p:cond delay="500"/>
                            </p:stCondLst>
                            <p:childTnLst>
                              <p:par>
                                <p:cTn id="52" presetID="2" presetClass="entr" presetSubtype="4" fill="hold" nodeType="afterEffect">
                                  <p:stCondLst>
                                    <p:cond delay="0"/>
                                  </p:stCondLst>
                                  <p:childTnLst>
                                    <p:set>
                                      <p:cBhvr>
                                        <p:cTn id="53" dur="1" fill="hold">
                                          <p:stCondLst>
                                            <p:cond delay="0"/>
                                          </p:stCondLst>
                                        </p:cTn>
                                        <p:tgtEl>
                                          <p:spTgt spid="63"/>
                                        </p:tgtEl>
                                        <p:attrNameLst>
                                          <p:attrName>style.visibility</p:attrName>
                                        </p:attrNameLst>
                                      </p:cBhvr>
                                      <p:to>
                                        <p:strVal val="visible"/>
                                      </p:to>
                                    </p:set>
                                    <p:anim calcmode="lin" valueType="num">
                                      <p:cBhvr additive="base">
                                        <p:cTn id="54" dur="500" fill="hold"/>
                                        <p:tgtEl>
                                          <p:spTgt spid="63"/>
                                        </p:tgtEl>
                                        <p:attrNameLst>
                                          <p:attrName>ppt_x</p:attrName>
                                        </p:attrNameLst>
                                      </p:cBhvr>
                                      <p:tavLst>
                                        <p:tav tm="0">
                                          <p:val>
                                            <p:strVal val="#ppt_x"/>
                                          </p:val>
                                        </p:tav>
                                        <p:tav tm="100000">
                                          <p:val>
                                            <p:strVal val="#ppt_x"/>
                                          </p:val>
                                        </p:tav>
                                      </p:tavLst>
                                    </p:anim>
                                    <p:anim calcmode="lin" valueType="num">
                                      <p:cBhvr additive="base">
                                        <p:cTn id="55"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1" fill="hold" nodeType="clickEffect">
                                  <p:stCondLst>
                                    <p:cond delay="0"/>
                                  </p:stCondLst>
                                  <p:childTnLst>
                                    <p:set>
                                      <p:cBhvr>
                                        <p:cTn id="59" dur="1" fill="hold">
                                          <p:stCondLst>
                                            <p:cond delay="0"/>
                                          </p:stCondLst>
                                        </p:cTn>
                                        <p:tgtEl>
                                          <p:spTgt spid="68"/>
                                        </p:tgtEl>
                                        <p:attrNameLst>
                                          <p:attrName>style.visibility</p:attrName>
                                        </p:attrNameLst>
                                      </p:cBhvr>
                                      <p:to>
                                        <p:strVal val="visible"/>
                                      </p:to>
                                    </p:set>
                                    <p:anim calcmode="lin" valueType="num">
                                      <p:cBhvr additive="base">
                                        <p:cTn id="60" dur="500" fill="hold"/>
                                        <p:tgtEl>
                                          <p:spTgt spid="68"/>
                                        </p:tgtEl>
                                        <p:attrNameLst>
                                          <p:attrName>ppt_x</p:attrName>
                                        </p:attrNameLst>
                                      </p:cBhvr>
                                      <p:tavLst>
                                        <p:tav tm="0">
                                          <p:val>
                                            <p:strVal val="#ppt_x"/>
                                          </p:val>
                                        </p:tav>
                                        <p:tav tm="100000">
                                          <p:val>
                                            <p:strVal val="#ppt_x"/>
                                          </p:val>
                                        </p:tav>
                                      </p:tavLst>
                                    </p:anim>
                                    <p:anim calcmode="lin" valueType="num">
                                      <p:cBhvr additive="base">
                                        <p:cTn id="61" dur="500" fill="hold"/>
                                        <p:tgtEl>
                                          <p:spTgt spid="68"/>
                                        </p:tgtEl>
                                        <p:attrNameLst>
                                          <p:attrName>ppt_y</p:attrName>
                                        </p:attrNameLst>
                                      </p:cBhvr>
                                      <p:tavLst>
                                        <p:tav tm="0">
                                          <p:val>
                                            <p:strVal val="0-#ppt_h/2"/>
                                          </p:val>
                                        </p:tav>
                                        <p:tav tm="100000">
                                          <p:val>
                                            <p:strVal val="#ppt_y"/>
                                          </p:val>
                                        </p:tav>
                                      </p:tavLst>
                                    </p:anim>
                                  </p:childTnLst>
                                </p:cTn>
                              </p:par>
                            </p:childTnLst>
                          </p:cTn>
                        </p:par>
                        <p:par>
                          <p:cTn id="62" fill="hold">
                            <p:stCondLst>
                              <p:cond delay="500"/>
                            </p:stCondLst>
                            <p:childTnLst>
                              <p:par>
                                <p:cTn id="63" presetID="2" presetClass="entr" presetSubtype="1" fill="hold" nodeType="afterEffect">
                                  <p:stCondLst>
                                    <p:cond delay="0"/>
                                  </p:stCondLst>
                                  <p:childTnLst>
                                    <p:set>
                                      <p:cBhvr>
                                        <p:cTn id="64" dur="1" fill="hold">
                                          <p:stCondLst>
                                            <p:cond delay="0"/>
                                          </p:stCondLst>
                                        </p:cTn>
                                        <p:tgtEl>
                                          <p:spTgt spid="70"/>
                                        </p:tgtEl>
                                        <p:attrNameLst>
                                          <p:attrName>style.visibility</p:attrName>
                                        </p:attrNameLst>
                                      </p:cBhvr>
                                      <p:to>
                                        <p:strVal val="visible"/>
                                      </p:to>
                                    </p:set>
                                    <p:anim calcmode="lin" valueType="num">
                                      <p:cBhvr additive="base">
                                        <p:cTn id="65" dur="500" fill="hold"/>
                                        <p:tgtEl>
                                          <p:spTgt spid="70"/>
                                        </p:tgtEl>
                                        <p:attrNameLst>
                                          <p:attrName>ppt_x</p:attrName>
                                        </p:attrNameLst>
                                      </p:cBhvr>
                                      <p:tavLst>
                                        <p:tav tm="0">
                                          <p:val>
                                            <p:strVal val="#ppt_x"/>
                                          </p:val>
                                        </p:tav>
                                        <p:tav tm="100000">
                                          <p:val>
                                            <p:strVal val="#ppt_x"/>
                                          </p:val>
                                        </p:tav>
                                      </p:tavLst>
                                    </p:anim>
                                    <p:anim calcmode="lin" valueType="num">
                                      <p:cBhvr additive="base">
                                        <p:cTn id="66" dur="500" fill="hold"/>
                                        <p:tgtEl>
                                          <p:spTgt spid="70"/>
                                        </p:tgtEl>
                                        <p:attrNameLst>
                                          <p:attrName>ppt_y</p:attrName>
                                        </p:attrNameLst>
                                      </p:cBhvr>
                                      <p:tavLst>
                                        <p:tav tm="0">
                                          <p:val>
                                            <p:strVal val="0-#ppt_h/2"/>
                                          </p:val>
                                        </p:tav>
                                        <p:tav tm="100000">
                                          <p:val>
                                            <p:strVal val="#ppt_y"/>
                                          </p:val>
                                        </p:tav>
                                      </p:tavLst>
                                    </p:anim>
                                  </p:childTnLst>
                                </p:cTn>
                              </p:par>
                            </p:childTnLst>
                          </p:cTn>
                        </p:par>
                        <p:par>
                          <p:cTn id="67" fill="hold">
                            <p:stCondLst>
                              <p:cond delay="1000"/>
                            </p:stCondLst>
                            <p:childTnLst>
                              <p:par>
                                <p:cTn id="68" presetID="2" presetClass="entr" presetSubtype="1" fill="hold" nodeType="afterEffect">
                                  <p:stCondLst>
                                    <p:cond delay="0"/>
                                  </p:stCondLst>
                                  <p:childTnLst>
                                    <p:set>
                                      <p:cBhvr>
                                        <p:cTn id="69" dur="1" fill="hold">
                                          <p:stCondLst>
                                            <p:cond delay="0"/>
                                          </p:stCondLst>
                                        </p:cTn>
                                        <p:tgtEl>
                                          <p:spTgt spid="71"/>
                                        </p:tgtEl>
                                        <p:attrNameLst>
                                          <p:attrName>style.visibility</p:attrName>
                                        </p:attrNameLst>
                                      </p:cBhvr>
                                      <p:to>
                                        <p:strVal val="visible"/>
                                      </p:to>
                                    </p:set>
                                    <p:anim calcmode="lin" valueType="num">
                                      <p:cBhvr additive="base">
                                        <p:cTn id="70" dur="500" fill="hold"/>
                                        <p:tgtEl>
                                          <p:spTgt spid="71"/>
                                        </p:tgtEl>
                                        <p:attrNameLst>
                                          <p:attrName>ppt_x</p:attrName>
                                        </p:attrNameLst>
                                      </p:cBhvr>
                                      <p:tavLst>
                                        <p:tav tm="0">
                                          <p:val>
                                            <p:strVal val="#ppt_x"/>
                                          </p:val>
                                        </p:tav>
                                        <p:tav tm="100000">
                                          <p:val>
                                            <p:strVal val="#ppt_x"/>
                                          </p:val>
                                        </p:tav>
                                      </p:tavLst>
                                    </p:anim>
                                    <p:anim calcmode="lin" valueType="num">
                                      <p:cBhvr additive="base">
                                        <p:cTn id="71" dur="500" fill="hold"/>
                                        <p:tgtEl>
                                          <p:spTgt spid="7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80" grpId="0" animBg="1"/>
      <p:bldP spid="83" grpId="0" animBg="1"/>
      <p:bldP spid="8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1703304" y="380467"/>
            <a:ext cx="5776152"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AU" sz="2400" b="1" dirty="0" smtClean="0">
                <a:latin typeface="+mj-lt"/>
                <a:cs typeface="Arial" panose="020B0604020202020204" pitchFamily="34" charset="0"/>
              </a:rPr>
              <a:t>Step 6:  </a:t>
            </a:r>
            <a:r>
              <a:rPr lang="en-AU" sz="2400" dirty="0" smtClean="0">
                <a:latin typeface="+mj-lt"/>
                <a:cs typeface="Arial" panose="020B0604020202020204" pitchFamily="34" charset="0"/>
              </a:rPr>
              <a:t>Give your timeline a title </a:t>
            </a:r>
            <a:endParaRPr lang="en-AU" sz="2400" dirty="0">
              <a:latin typeface="+mj-lt"/>
              <a:cs typeface="Arial" panose="020B0604020202020204" pitchFamily="34" charset="0"/>
            </a:endParaRPr>
          </a:p>
        </p:txBody>
      </p:sp>
      <p:sp>
        <p:nvSpPr>
          <p:cNvPr id="48" name="TextBox 47"/>
          <p:cNvSpPr txBox="1"/>
          <p:nvPr/>
        </p:nvSpPr>
        <p:spPr>
          <a:xfrm>
            <a:off x="3316752" y="1744907"/>
            <a:ext cx="2875464" cy="338554"/>
          </a:xfrm>
          <a:prstGeom prst="rect">
            <a:avLst/>
          </a:prstGeom>
          <a:noFill/>
        </p:spPr>
        <p:txBody>
          <a:bodyPr wrap="square" rtlCol="0">
            <a:spAutoFit/>
          </a:bodyPr>
          <a:lstStyle/>
          <a:p>
            <a:pPr algn="ctr"/>
            <a:r>
              <a:rPr lang="en-AU" sz="1600" b="1" dirty="0" smtClean="0"/>
              <a:t>Timeline of Mary Irvine’s life</a:t>
            </a:r>
            <a:endParaRPr lang="en-AU" sz="1600" b="1" dirty="0"/>
          </a:p>
        </p:txBody>
      </p:sp>
      <p:grpSp>
        <p:nvGrpSpPr>
          <p:cNvPr id="82" name="Group 81"/>
          <p:cNvGrpSpPr/>
          <p:nvPr/>
        </p:nvGrpSpPr>
        <p:grpSpPr>
          <a:xfrm>
            <a:off x="846350" y="3696675"/>
            <a:ext cx="1835398" cy="973320"/>
            <a:chOff x="744458" y="3246361"/>
            <a:chExt cx="1835398" cy="973320"/>
          </a:xfrm>
        </p:grpSpPr>
        <p:cxnSp>
          <p:nvCxnSpPr>
            <p:cNvPr id="83" name="Straight Arrow Connector 82"/>
            <p:cNvCxnSpPr/>
            <p:nvPr/>
          </p:nvCxnSpPr>
          <p:spPr>
            <a:xfrm>
              <a:off x="1671687" y="3246361"/>
              <a:ext cx="0" cy="60641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744458" y="3788794"/>
              <a:ext cx="1835398" cy="430887"/>
            </a:xfrm>
            <a:prstGeom prst="rect">
              <a:avLst/>
            </a:prstGeom>
            <a:noFill/>
          </p:spPr>
          <p:txBody>
            <a:bodyPr wrap="square" rtlCol="0">
              <a:spAutoFit/>
            </a:bodyPr>
            <a:lstStyle/>
            <a:p>
              <a:pPr algn="ctr"/>
              <a:r>
                <a:rPr lang="en-AU" sz="1100" b="1" dirty="0"/>
                <a:t>1944 </a:t>
              </a:r>
              <a:endParaRPr lang="en-AU" sz="1100" b="1" dirty="0" smtClean="0"/>
            </a:p>
            <a:p>
              <a:pPr algn="ctr"/>
              <a:r>
                <a:rPr lang="en-AU" sz="1100" dirty="0" smtClean="0"/>
                <a:t>Mary enters high school</a:t>
              </a:r>
              <a:endParaRPr lang="en-AU" sz="1100" b="1" dirty="0"/>
            </a:p>
          </p:txBody>
        </p:sp>
      </p:grpSp>
      <p:grpSp>
        <p:nvGrpSpPr>
          <p:cNvPr id="85" name="Group 84"/>
          <p:cNvGrpSpPr/>
          <p:nvPr/>
        </p:nvGrpSpPr>
        <p:grpSpPr>
          <a:xfrm>
            <a:off x="71400" y="2368029"/>
            <a:ext cx="6750900" cy="1330405"/>
            <a:chOff x="71400" y="3038972"/>
            <a:chExt cx="6750900" cy="1330405"/>
          </a:xfrm>
        </p:grpSpPr>
        <p:grpSp>
          <p:nvGrpSpPr>
            <p:cNvPr id="86" name="Group 85"/>
            <p:cNvGrpSpPr/>
            <p:nvPr/>
          </p:nvGrpSpPr>
          <p:grpSpPr>
            <a:xfrm>
              <a:off x="71400" y="3038972"/>
              <a:ext cx="922240" cy="1330405"/>
              <a:chOff x="-189652" y="1915955"/>
              <a:chExt cx="922240" cy="1330405"/>
            </a:xfrm>
          </p:grpSpPr>
          <p:cxnSp>
            <p:nvCxnSpPr>
              <p:cNvPr id="93" name="Straight Arrow Connector 92"/>
              <p:cNvCxnSpPr/>
              <p:nvPr/>
            </p:nvCxnSpPr>
            <p:spPr>
              <a:xfrm flipV="1">
                <a:off x="254524" y="2275027"/>
                <a:ext cx="0" cy="97133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189652" y="1915955"/>
                <a:ext cx="922240" cy="430887"/>
              </a:xfrm>
              <a:prstGeom prst="rect">
                <a:avLst/>
              </a:prstGeom>
              <a:noFill/>
            </p:spPr>
            <p:txBody>
              <a:bodyPr wrap="square" rtlCol="0">
                <a:spAutoFit/>
              </a:bodyPr>
              <a:lstStyle/>
              <a:p>
                <a:pPr algn="ctr"/>
                <a:r>
                  <a:rPr lang="en-AU" sz="1100" b="1" dirty="0">
                    <a:latin typeface="+mj-lt"/>
                    <a:cs typeface="Arial" panose="020B0604020202020204" pitchFamily="34" charset="0"/>
                  </a:rPr>
                  <a:t>1930 </a:t>
                </a:r>
              </a:p>
              <a:p>
                <a:pPr algn="ctr"/>
                <a:r>
                  <a:rPr lang="en-AU" sz="1100" dirty="0" smtClean="0">
                    <a:latin typeface="+mj-lt"/>
                    <a:cs typeface="Arial" panose="020B0604020202020204" pitchFamily="34" charset="0"/>
                  </a:rPr>
                  <a:t>Mary is born</a:t>
                </a:r>
                <a:endParaRPr lang="en-AU" sz="1100" dirty="0">
                  <a:latin typeface="+mj-lt"/>
                  <a:cs typeface="Arial" panose="020B0604020202020204" pitchFamily="34" charset="0"/>
                </a:endParaRPr>
              </a:p>
            </p:txBody>
          </p:sp>
        </p:grpSp>
        <p:grpSp>
          <p:nvGrpSpPr>
            <p:cNvPr id="87" name="Group 86"/>
            <p:cNvGrpSpPr/>
            <p:nvPr/>
          </p:nvGrpSpPr>
          <p:grpSpPr>
            <a:xfrm>
              <a:off x="2501724" y="3109811"/>
              <a:ext cx="1434445" cy="1249815"/>
              <a:chOff x="2563709" y="1996545"/>
              <a:chExt cx="1434445" cy="1249815"/>
            </a:xfrm>
          </p:grpSpPr>
          <p:cxnSp>
            <p:nvCxnSpPr>
              <p:cNvPr id="91" name="Straight Arrow Connector 90"/>
              <p:cNvCxnSpPr/>
              <p:nvPr/>
            </p:nvCxnSpPr>
            <p:spPr>
              <a:xfrm flipV="1">
                <a:off x="3277210" y="2521262"/>
                <a:ext cx="0" cy="72509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2" name="TextBox 91"/>
              <p:cNvSpPr txBox="1"/>
              <p:nvPr/>
            </p:nvSpPr>
            <p:spPr>
              <a:xfrm>
                <a:off x="2563709" y="1996545"/>
                <a:ext cx="1434445" cy="600164"/>
              </a:xfrm>
              <a:prstGeom prst="rect">
                <a:avLst/>
              </a:prstGeom>
              <a:noFill/>
            </p:spPr>
            <p:txBody>
              <a:bodyPr wrap="square" rtlCol="0">
                <a:spAutoFit/>
              </a:bodyPr>
              <a:lstStyle/>
              <a:p>
                <a:pPr algn="ctr"/>
                <a:r>
                  <a:rPr lang="en-AU" sz="1100" b="1" dirty="0"/>
                  <a:t>1960 </a:t>
                </a:r>
                <a:endParaRPr lang="en-AU" sz="1100" b="1" dirty="0" smtClean="0"/>
              </a:p>
              <a:p>
                <a:pPr algn="ctr"/>
                <a:r>
                  <a:rPr lang="en-AU" sz="1100" dirty="0" smtClean="0"/>
                  <a:t>Mary is awarded the University medal</a:t>
                </a:r>
                <a:endParaRPr lang="en-AU" sz="1100" dirty="0"/>
              </a:p>
            </p:txBody>
          </p:sp>
        </p:grpSp>
        <p:grpSp>
          <p:nvGrpSpPr>
            <p:cNvPr id="88" name="Group 87"/>
            <p:cNvGrpSpPr/>
            <p:nvPr/>
          </p:nvGrpSpPr>
          <p:grpSpPr>
            <a:xfrm>
              <a:off x="5103889" y="3109811"/>
              <a:ext cx="1718411" cy="1161897"/>
              <a:chOff x="5460130" y="2091778"/>
              <a:chExt cx="1718411" cy="1161897"/>
            </a:xfrm>
          </p:grpSpPr>
          <p:cxnSp>
            <p:nvCxnSpPr>
              <p:cNvPr id="89" name="Straight Arrow Connector 88"/>
              <p:cNvCxnSpPr/>
              <p:nvPr/>
            </p:nvCxnSpPr>
            <p:spPr>
              <a:xfrm flipH="1" flipV="1">
                <a:off x="6267476" y="2667566"/>
                <a:ext cx="12006" cy="58610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5460130" y="2091778"/>
                <a:ext cx="1718411" cy="600164"/>
              </a:xfrm>
              <a:prstGeom prst="rect">
                <a:avLst/>
              </a:prstGeom>
              <a:noFill/>
            </p:spPr>
            <p:txBody>
              <a:bodyPr wrap="square" rtlCol="0">
                <a:spAutoFit/>
              </a:bodyPr>
              <a:lstStyle/>
              <a:p>
                <a:pPr algn="ctr"/>
                <a:r>
                  <a:rPr lang="en-AU" sz="1100" b="1" dirty="0" smtClean="0"/>
                  <a:t>1990 </a:t>
                </a:r>
              </a:p>
              <a:p>
                <a:pPr algn="ctr"/>
                <a:r>
                  <a:rPr lang="en-AU" sz="1100" dirty="0" smtClean="0"/>
                  <a:t>Mary promoted to the Supreme Court</a:t>
                </a:r>
                <a:endParaRPr lang="en-AU" sz="1100" b="1" dirty="0"/>
              </a:p>
            </p:txBody>
          </p:sp>
        </p:grpSp>
      </p:grpSp>
      <p:grpSp>
        <p:nvGrpSpPr>
          <p:cNvPr id="95" name="Group 94"/>
          <p:cNvGrpSpPr/>
          <p:nvPr/>
        </p:nvGrpSpPr>
        <p:grpSpPr>
          <a:xfrm>
            <a:off x="4211952" y="3696732"/>
            <a:ext cx="1750065" cy="1333311"/>
            <a:chOff x="4440007" y="3253676"/>
            <a:chExt cx="1750065" cy="1333311"/>
          </a:xfrm>
        </p:grpSpPr>
        <p:cxnSp>
          <p:nvCxnSpPr>
            <p:cNvPr id="96" name="Straight Arrow Connector 95"/>
            <p:cNvCxnSpPr/>
            <p:nvPr/>
          </p:nvCxnSpPr>
          <p:spPr>
            <a:xfrm flipH="1">
              <a:off x="5325621" y="3253676"/>
              <a:ext cx="7315" cy="99397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4440007" y="4156100"/>
              <a:ext cx="1750065" cy="430887"/>
            </a:xfrm>
            <a:prstGeom prst="rect">
              <a:avLst/>
            </a:prstGeom>
            <a:noFill/>
          </p:spPr>
          <p:txBody>
            <a:bodyPr wrap="square" rtlCol="0">
              <a:spAutoFit/>
            </a:bodyPr>
            <a:lstStyle/>
            <a:p>
              <a:pPr algn="ctr"/>
              <a:r>
                <a:rPr lang="en-AU" sz="1100" b="1" dirty="0"/>
                <a:t>1981 </a:t>
              </a:r>
              <a:endParaRPr lang="en-AU" sz="1100" b="1" dirty="0" smtClean="0"/>
            </a:p>
            <a:p>
              <a:pPr algn="ctr"/>
              <a:r>
                <a:rPr lang="en-AU" sz="1100" dirty="0" smtClean="0"/>
                <a:t>Mary becomes a judge</a:t>
              </a:r>
              <a:endParaRPr lang="en-AU" sz="1100" b="1" dirty="0"/>
            </a:p>
          </p:txBody>
        </p:sp>
      </p:grpSp>
      <p:grpSp>
        <p:nvGrpSpPr>
          <p:cNvPr id="98" name="Group 97"/>
          <p:cNvGrpSpPr/>
          <p:nvPr/>
        </p:nvGrpSpPr>
        <p:grpSpPr>
          <a:xfrm>
            <a:off x="5922180" y="3679085"/>
            <a:ext cx="1603683" cy="925792"/>
            <a:chOff x="6265302" y="3266376"/>
            <a:chExt cx="1603683" cy="925792"/>
          </a:xfrm>
        </p:grpSpPr>
        <p:cxnSp>
          <p:nvCxnSpPr>
            <p:cNvPr id="99" name="Straight Arrow Connector 98"/>
            <p:cNvCxnSpPr/>
            <p:nvPr/>
          </p:nvCxnSpPr>
          <p:spPr>
            <a:xfrm>
              <a:off x="7098347" y="3266376"/>
              <a:ext cx="0" cy="58639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0" name="TextBox 99"/>
            <p:cNvSpPr txBox="1"/>
            <p:nvPr/>
          </p:nvSpPr>
          <p:spPr>
            <a:xfrm>
              <a:off x="6265302" y="3761281"/>
              <a:ext cx="1603683" cy="430887"/>
            </a:xfrm>
            <a:prstGeom prst="rect">
              <a:avLst/>
            </a:prstGeom>
            <a:noFill/>
          </p:spPr>
          <p:txBody>
            <a:bodyPr wrap="square" rtlCol="0">
              <a:spAutoFit/>
            </a:bodyPr>
            <a:lstStyle/>
            <a:p>
              <a:pPr algn="ctr"/>
              <a:r>
                <a:rPr lang="en-AU" sz="1100" b="1" dirty="0"/>
                <a:t>1999</a:t>
              </a:r>
            </a:p>
            <a:p>
              <a:pPr algn="ctr"/>
              <a:r>
                <a:rPr lang="en-AU" sz="1100" dirty="0" smtClean="0"/>
                <a:t>Mary retires as a judge</a:t>
              </a:r>
              <a:endParaRPr lang="en-AU" sz="1100" b="1" dirty="0"/>
            </a:p>
          </p:txBody>
        </p:sp>
      </p:grpSp>
      <p:sp>
        <p:nvSpPr>
          <p:cNvPr id="108" name="TextBox 107"/>
          <p:cNvSpPr txBox="1"/>
          <p:nvPr/>
        </p:nvSpPr>
        <p:spPr>
          <a:xfrm>
            <a:off x="1164208" y="3315444"/>
            <a:ext cx="539096" cy="261610"/>
          </a:xfrm>
          <a:prstGeom prst="rect">
            <a:avLst/>
          </a:prstGeom>
          <a:noFill/>
        </p:spPr>
        <p:txBody>
          <a:bodyPr wrap="square" rtlCol="0">
            <a:spAutoFit/>
          </a:bodyPr>
          <a:lstStyle/>
          <a:p>
            <a:r>
              <a:rPr lang="en-AU" sz="1100" dirty="0" smtClean="0"/>
              <a:t>1940</a:t>
            </a:r>
            <a:endParaRPr lang="en-AU" sz="1100" dirty="0"/>
          </a:p>
        </p:txBody>
      </p:sp>
      <p:sp>
        <p:nvSpPr>
          <p:cNvPr id="109" name="TextBox 108"/>
          <p:cNvSpPr txBox="1"/>
          <p:nvPr/>
        </p:nvSpPr>
        <p:spPr>
          <a:xfrm>
            <a:off x="2118470" y="3288595"/>
            <a:ext cx="557752" cy="261610"/>
          </a:xfrm>
          <a:prstGeom prst="rect">
            <a:avLst/>
          </a:prstGeom>
          <a:noFill/>
        </p:spPr>
        <p:txBody>
          <a:bodyPr wrap="square" rtlCol="0">
            <a:spAutoFit/>
          </a:bodyPr>
          <a:lstStyle/>
          <a:p>
            <a:r>
              <a:rPr lang="en-AU" sz="1100" dirty="0" smtClean="0"/>
              <a:t>1950</a:t>
            </a:r>
            <a:endParaRPr lang="en-AU" sz="1100" dirty="0"/>
          </a:p>
        </p:txBody>
      </p:sp>
      <p:sp>
        <p:nvSpPr>
          <p:cNvPr id="110" name="TextBox 109"/>
          <p:cNvSpPr txBox="1"/>
          <p:nvPr/>
        </p:nvSpPr>
        <p:spPr>
          <a:xfrm>
            <a:off x="3946687" y="3276505"/>
            <a:ext cx="523189" cy="261610"/>
          </a:xfrm>
          <a:prstGeom prst="rect">
            <a:avLst/>
          </a:prstGeom>
          <a:noFill/>
        </p:spPr>
        <p:txBody>
          <a:bodyPr wrap="square" rtlCol="0">
            <a:spAutoFit/>
          </a:bodyPr>
          <a:lstStyle/>
          <a:p>
            <a:r>
              <a:rPr lang="en-AU" sz="1100" dirty="0" smtClean="0"/>
              <a:t>1970</a:t>
            </a:r>
            <a:endParaRPr lang="en-AU" sz="1100" dirty="0"/>
          </a:p>
        </p:txBody>
      </p:sp>
      <p:sp>
        <p:nvSpPr>
          <p:cNvPr id="111" name="TextBox 110"/>
          <p:cNvSpPr txBox="1"/>
          <p:nvPr/>
        </p:nvSpPr>
        <p:spPr>
          <a:xfrm>
            <a:off x="7479456" y="3276667"/>
            <a:ext cx="567180" cy="261610"/>
          </a:xfrm>
          <a:prstGeom prst="rect">
            <a:avLst/>
          </a:prstGeom>
          <a:noFill/>
        </p:spPr>
        <p:txBody>
          <a:bodyPr wrap="square" rtlCol="0">
            <a:spAutoFit/>
          </a:bodyPr>
          <a:lstStyle/>
          <a:p>
            <a:r>
              <a:rPr lang="en-AU" sz="1100" dirty="0" smtClean="0"/>
              <a:t>2010</a:t>
            </a:r>
            <a:endParaRPr lang="en-AU" sz="1100" dirty="0"/>
          </a:p>
        </p:txBody>
      </p:sp>
      <p:sp>
        <p:nvSpPr>
          <p:cNvPr id="112" name="TextBox 111"/>
          <p:cNvSpPr txBox="1"/>
          <p:nvPr/>
        </p:nvSpPr>
        <p:spPr>
          <a:xfrm>
            <a:off x="8347437" y="3263108"/>
            <a:ext cx="518475" cy="261610"/>
          </a:xfrm>
          <a:prstGeom prst="rect">
            <a:avLst/>
          </a:prstGeom>
          <a:noFill/>
        </p:spPr>
        <p:txBody>
          <a:bodyPr wrap="square" rtlCol="0">
            <a:spAutoFit/>
          </a:bodyPr>
          <a:lstStyle/>
          <a:p>
            <a:r>
              <a:rPr lang="en-AU" sz="1100" dirty="0" smtClean="0"/>
              <a:t>2020</a:t>
            </a:r>
            <a:endParaRPr lang="en-AU" sz="1100" dirty="0"/>
          </a:p>
        </p:txBody>
      </p:sp>
      <p:grpSp>
        <p:nvGrpSpPr>
          <p:cNvPr id="113" name="Group 112"/>
          <p:cNvGrpSpPr/>
          <p:nvPr/>
        </p:nvGrpSpPr>
        <p:grpSpPr>
          <a:xfrm>
            <a:off x="160065" y="3550682"/>
            <a:ext cx="8793948" cy="287519"/>
            <a:chOff x="160065" y="3321505"/>
            <a:chExt cx="8793948" cy="287519"/>
          </a:xfrm>
        </p:grpSpPr>
        <p:cxnSp>
          <p:nvCxnSpPr>
            <p:cNvPr id="114" name="Straight Connector 113"/>
            <p:cNvCxnSpPr/>
            <p:nvPr/>
          </p:nvCxnSpPr>
          <p:spPr>
            <a:xfrm>
              <a:off x="160065" y="3457150"/>
              <a:ext cx="8790503" cy="471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15" name="Group 114"/>
            <p:cNvGrpSpPr/>
            <p:nvPr/>
          </p:nvGrpSpPr>
          <p:grpSpPr>
            <a:xfrm>
              <a:off x="160065" y="3321505"/>
              <a:ext cx="115834" cy="287519"/>
              <a:chOff x="37707" y="3289952"/>
              <a:chExt cx="115834" cy="287519"/>
            </a:xfrm>
          </p:grpSpPr>
          <p:cxnSp>
            <p:nvCxnSpPr>
              <p:cNvPr id="119" name="Straight Connector 118"/>
              <p:cNvCxnSpPr/>
              <p:nvPr/>
            </p:nvCxnSpPr>
            <p:spPr>
              <a:xfrm flipV="1">
                <a:off x="37707" y="3289952"/>
                <a:ext cx="115834" cy="1414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50070" y="3421930"/>
                <a:ext cx="103471" cy="15554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16" name="Group 115"/>
            <p:cNvGrpSpPr/>
            <p:nvPr/>
          </p:nvGrpSpPr>
          <p:grpSpPr>
            <a:xfrm>
              <a:off x="8801217" y="3335577"/>
              <a:ext cx="152796" cy="254397"/>
              <a:chOff x="8953500" y="3302652"/>
              <a:chExt cx="152796" cy="254397"/>
            </a:xfrm>
          </p:grpSpPr>
          <p:cxnSp>
            <p:nvCxnSpPr>
              <p:cNvPr id="117" name="Straight Connector 116"/>
              <p:cNvCxnSpPr/>
              <p:nvPr/>
            </p:nvCxnSpPr>
            <p:spPr>
              <a:xfrm flipH="1" flipV="1">
                <a:off x="8953500" y="3302652"/>
                <a:ext cx="152796" cy="13197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flipV="1">
                <a:off x="8953500" y="3421930"/>
                <a:ext cx="152400" cy="1351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121" name="Group 120"/>
          <p:cNvGrpSpPr/>
          <p:nvPr/>
        </p:nvGrpSpPr>
        <p:grpSpPr>
          <a:xfrm>
            <a:off x="511473" y="3536543"/>
            <a:ext cx="8109720" cy="301658"/>
            <a:chOff x="511473" y="3307366"/>
            <a:chExt cx="8109720" cy="301658"/>
          </a:xfrm>
        </p:grpSpPr>
        <p:cxnSp>
          <p:nvCxnSpPr>
            <p:cNvPr id="122" name="Straight Connector 121"/>
            <p:cNvCxnSpPr/>
            <p:nvPr/>
          </p:nvCxnSpPr>
          <p:spPr>
            <a:xfrm>
              <a:off x="51147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142023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a:off x="232035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322047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502071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682095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862119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772107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412059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5920833" y="3307366"/>
              <a:ext cx="0" cy="301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32" name="TextBox 131"/>
          <p:cNvSpPr txBox="1"/>
          <p:nvPr/>
        </p:nvSpPr>
        <p:spPr>
          <a:xfrm>
            <a:off x="4777030" y="3276667"/>
            <a:ext cx="516904" cy="261610"/>
          </a:xfrm>
          <a:prstGeom prst="rect">
            <a:avLst/>
          </a:prstGeom>
          <a:noFill/>
        </p:spPr>
        <p:txBody>
          <a:bodyPr wrap="square" rtlCol="0">
            <a:spAutoFit/>
          </a:bodyPr>
          <a:lstStyle/>
          <a:p>
            <a:r>
              <a:rPr lang="en-AU" sz="1100" dirty="0" smtClean="0"/>
              <a:t>1980</a:t>
            </a:r>
            <a:endParaRPr lang="en-AU" sz="1100" dirty="0"/>
          </a:p>
        </p:txBody>
      </p:sp>
      <p:sp>
        <p:nvSpPr>
          <p:cNvPr id="133" name="TextBox 132"/>
          <p:cNvSpPr txBox="1"/>
          <p:nvPr/>
        </p:nvSpPr>
        <p:spPr>
          <a:xfrm>
            <a:off x="6654437" y="3286192"/>
            <a:ext cx="551469" cy="261610"/>
          </a:xfrm>
          <a:prstGeom prst="rect">
            <a:avLst/>
          </a:prstGeom>
          <a:noFill/>
        </p:spPr>
        <p:txBody>
          <a:bodyPr wrap="square" rtlCol="0">
            <a:spAutoFit/>
          </a:bodyPr>
          <a:lstStyle/>
          <a:p>
            <a:r>
              <a:rPr lang="en-AU" sz="1100" dirty="0" smtClean="0"/>
              <a:t>2000</a:t>
            </a:r>
            <a:endParaRPr lang="en-AU" sz="1100" dirty="0"/>
          </a:p>
        </p:txBody>
      </p:sp>
      <p:sp>
        <p:nvSpPr>
          <p:cNvPr id="134" name="TextBox 133"/>
          <p:cNvSpPr txBox="1"/>
          <p:nvPr/>
        </p:nvSpPr>
        <p:spPr>
          <a:xfrm>
            <a:off x="292072" y="3288595"/>
            <a:ext cx="493942" cy="261610"/>
          </a:xfrm>
          <a:prstGeom prst="rect">
            <a:avLst/>
          </a:prstGeom>
          <a:noFill/>
        </p:spPr>
        <p:txBody>
          <a:bodyPr wrap="square" rtlCol="0">
            <a:spAutoFit/>
          </a:bodyPr>
          <a:lstStyle/>
          <a:p>
            <a:r>
              <a:rPr lang="en-AU" sz="1100" dirty="0" smtClean="0"/>
              <a:t>1930</a:t>
            </a:r>
            <a:endParaRPr lang="en-AU" sz="1100" dirty="0"/>
          </a:p>
        </p:txBody>
      </p:sp>
      <p:sp>
        <p:nvSpPr>
          <p:cNvPr id="135" name="TextBox 134"/>
          <p:cNvSpPr txBox="1"/>
          <p:nvPr/>
        </p:nvSpPr>
        <p:spPr>
          <a:xfrm>
            <a:off x="5700481" y="3287731"/>
            <a:ext cx="516904" cy="261610"/>
          </a:xfrm>
          <a:prstGeom prst="rect">
            <a:avLst/>
          </a:prstGeom>
          <a:noFill/>
        </p:spPr>
        <p:txBody>
          <a:bodyPr wrap="square" rtlCol="0">
            <a:spAutoFit/>
          </a:bodyPr>
          <a:lstStyle/>
          <a:p>
            <a:r>
              <a:rPr lang="en-AU" sz="1100" dirty="0" smtClean="0"/>
              <a:t>1990</a:t>
            </a:r>
            <a:endParaRPr lang="en-AU" sz="1100" dirty="0"/>
          </a:p>
        </p:txBody>
      </p:sp>
      <p:sp>
        <p:nvSpPr>
          <p:cNvPr id="136" name="TextBox 135"/>
          <p:cNvSpPr txBox="1"/>
          <p:nvPr/>
        </p:nvSpPr>
        <p:spPr>
          <a:xfrm>
            <a:off x="3006503" y="3295717"/>
            <a:ext cx="523189" cy="261610"/>
          </a:xfrm>
          <a:prstGeom prst="rect">
            <a:avLst/>
          </a:prstGeom>
          <a:noFill/>
        </p:spPr>
        <p:txBody>
          <a:bodyPr wrap="square" rtlCol="0">
            <a:spAutoFit/>
          </a:bodyPr>
          <a:lstStyle/>
          <a:p>
            <a:r>
              <a:rPr lang="en-AU" sz="1100" dirty="0" smtClean="0"/>
              <a:t>1960</a:t>
            </a:r>
            <a:endParaRPr lang="en-AU" sz="1100" dirty="0"/>
          </a:p>
        </p:txBody>
      </p:sp>
      <p:grpSp>
        <p:nvGrpSpPr>
          <p:cNvPr id="137" name="Group 136"/>
          <p:cNvGrpSpPr/>
          <p:nvPr/>
        </p:nvGrpSpPr>
        <p:grpSpPr>
          <a:xfrm>
            <a:off x="7462303" y="1827957"/>
            <a:ext cx="1250249" cy="1871079"/>
            <a:chOff x="7963118" y="1402612"/>
            <a:chExt cx="1250249" cy="1871079"/>
          </a:xfrm>
        </p:grpSpPr>
        <p:cxnSp>
          <p:nvCxnSpPr>
            <p:cNvPr id="138" name="Straight Arrow Connector 137"/>
            <p:cNvCxnSpPr/>
            <p:nvPr/>
          </p:nvCxnSpPr>
          <p:spPr>
            <a:xfrm flipH="1" flipV="1">
              <a:off x="8587711" y="1777594"/>
              <a:ext cx="1384" cy="149609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9" name="TextBox 138"/>
            <p:cNvSpPr txBox="1"/>
            <p:nvPr/>
          </p:nvSpPr>
          <p:spPr>
            <a:xfrm>
              <a:off x="7963118" y="1402612"/>
              <a:ext cx="1250249" cy="430887"/>
            </a:xfrm>
            <a:prstGeom prst="rect">
              <a:avLst/>
            </a:prstGeom>
            <a:noFill/>
          </p:spPr>
          <p:txBody>
            <a:bodyPr wrap="square" rtlCol="0">
              <a:spAutoFit/>
            </a:bodyPr>
            <a:lstStyle/>
            <a:p>
              <a:pPr algn="ctr"/>
              <a:r>
                <a:rPr lang="en-AU" sz="1100" b="1" dirty="0" smtClean="0"/>
                <a:t>2014 </a:t>
              </a:r>
            </a:p>
            <a:p>
              <a:pPr algn="ctr"/>
              <a:r>
                <a:rPr lang="en-AU" sz="1100" dirty="0" smtClean="0"/>
                <a:t>Mary dies</a:t>
              </a:r>
              <a:endParaRPr lang="en-AU" sz="1100" b="1" dirty="0"/>
            </a:p>
          </p:txBody>
        </p:sp>
      </p:grpSp>
    </p:spTree>
    <p:extLst>
      <p:ext uri="{BB962C8B-B14F-4D97-AF65-F5344CB8AC3E}">
        <p14:creationId xmlns:p14="http://schemas.microsoft.com/office/powerpoint/2010/main" val="1655443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randombar(horizontal)">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1000"/>
                                        <p:tgtEl>
                                          <p:spTgt spid="48"/>
                                        </p:tgtEl>
                                      </p:cBhvr>
                                    </p:animEffect>
                                    <p:anim calcmode="lin" valueType="num">
                                      <p:cBhvr>
                                        <p:cTn id="13" dur="1000" fill="hold"/>
                                        <p:tgtEl>
                                          <p:spTgt spid="48"/>
                                        </p:tgtEl>
                                        <p:attrNameLst>
                                          <p:attrName>ppt_x</p:attrName>
                                        </p:attrNameLst>
                                      </p:cBhvr>
                                      <p:tavLst>
                                        <p:tav tm="0">
                                          <p:val>
                                            <p:strVal val="#ppt_x"/>
                                          </p:val>
                                        </p:tav>
                                        <p:tav tm="100000">
                                          <p:val>
                                            <p:strVal val="#ppt_x"/>
                                          </p:val>
                                        </p:tav>
                                      </p:tavLst>
                                    </p:anim>
                                    <p:anim calcmode="lin" valueType="num">
                                      <p:cBhvr>
                                        <p:cTn id="14"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436" y="-13708"/>
            <a:ext cx="8229600" cy="1143000"/>
          </a:xfrm>
        </p:spPr>
        <p:txBody>
          <a:bodyPr>
            <a:normAutofit/>
          </a:bodyPr>
          <a:lstStyle/>
          <a:p>
            <a:r>
              <a:rPr lang="en-AU" sz="4000" b="1" dirty="0">
                <a:latin typeface="+mn-lt"/>
                <a:ea typeface="+mn-ea"/>
                <a:cs typeface="+mn-cs"/>
              </a:rPr>
              <a:t>SUMMARY</a:t>
            </a:r>
            <a:r>
              <a:rPr lang="en-AU" sz="4000" dirty="0" smtClean="0"/>
              <a:t> </a:t>
            </a:r>
            <a:endParaRPr lang="en-AU" sz="4000" dirty="0"/>
          </a:p>
        </p:txBody>
      </p:sp>
      <p:sp>
        <p:nvSpPr>
          <p:cNvPr id="6" name="TextBox 5"/>
          <p:cNvSpPr txBox="1"/>
          <p:nvPr/>
        </p:nvSpPr>
        <p:spPr>
          <a:xfrm>
            <a:off x="3671880" y="1088688"/>
            <a:ext cx="4876801" cy="369332"/>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AU" b="1" dirty="0" smtClean="0">
                <a:latin typeface="+mj-lt"/>
              </a:rPr>
              <a:t>1. </a:t>
            </a:r>
            <a:r>
              <a:rPr lang="en-AU" dirty="0" smtClean="0">
                <a:latin typeface="+mj-lt"/>
              </a:rPr>
              <a:t>Determine the minimum length of the timeline. </a:t>
            </a:r>
            <a:endParaRPr lang="en-AU" dirty="0">
              <a:latin typeface="+mj-lt"/>
            </a:endParaRPr>
          </a:p>
        </p:txBody>
      </p:sp>
      <p:sp>
        <p:nvSpPr>
          <p:cNvPr id="8" name="TextBox 7"/>
          <p:cNvSpPr txBox="1"/>
          <p:nvPr/>
        </p:nvSpPr>
        <p:spPr>
          <a:xfrm>
            <a:off x="3671881" y="1898796"/>
            <a:ext cx="1943100" cy="369332"/>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AU" b="1" dirty="0" smtClean="0">
                <a:latin typeface="+mj-lt"/>
              </a:rPr>
              <a:t>2. </a:t>
            </a:r>
            <a:r>
              <a:rPr lang="en-AU" dirty="0" smtClean="0">
                <a:latin typeface="+mj-lt"/>
              </a:rPr>
              <a:t>Draw the line. </a:t>
            </a:r>
            <a:endParaRPr lang="en-AU" dirty="0">
              <a:latin typeface="+mj-lt"/>
            </a:endParaRPr>
          </a:p>
        </p:txBody>
      </p:sp>
      <p:sp>
        <p:nvSpPr>
          <p:cNvPr id="9" name="TextBox 8"/>
          <p:cNvSpPr txBox="1"/>
          <p:nvPr/>
        </p:nvSpPr>
        <p:spPr>
          <a:xfrm>
            <a:off x="3671880" y="2708904"/>
            <a:ext cx="4876801" cy="369332"/>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AU" b="1" dirty="0" smtClean="0">
                <a:latin typeface="+mj-lt"/>
              </a:rPr>
              <a:t>3. </a:t>
            </a:r>
            <a:r>
              <a:rPr lang="en-AU" dirty="0" smtClean="0">
                <a:latin typeface="+mj-lt"/>
              </a:rPr>
              <a:t>Divide the timeline into equal intervals of time.</a:t>
            </a:r>
            <a:endParaRPr lang="en-AU" dirty="0">
              <a:latin typeface="+mj-lt"/>
            </a:endParaRPr>
          </a:p>
        </p:txBody>
      </p:sp>
      <p:sp>
        <p:nvSpPr>
          <p:cNvPr id="10" name="TextBox 9"/>
          <p:cNvSpPr txBox="1"/>
          <p:nvPr/>
        </p:nvSpPr>
        <p:spPr>
          <a:xfrm>
            <a:off x="3700458" y="3519012"/>
            <a:ext cx="5241646" cy="369332"/>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AU" b="1" dirty="0" smtClean="0">
                <a:latin typeface="+mj-lt"/>
              </a:rPr>
              <a:t>4. </a:t>
            </a:r>
            <a:r>
              <a:rPr lang="en-AU" dirty="0" smtClean="0">
                <a:latin typeface="+mj-lt"/>
              </a:rPr>
              <a:t>Record the appropriate dates on each time interval.</a:t>
            </a:r>
            <a:endParaRPr lang="en-AU" dirty="0">
              <a:latin typeface="+mj-lt"/>
            </a:endParaRPr>
          </a:p>
        </p:txBody>
      </p:sp>
      <p:sp>
        <p:nvSpPr>
          <p:cNvPr id="11" name="TextBox 10"/>
          <p:cNvSpPr txBox="1"/>
          <p:nvPr/>
        </p:nvSpPr>
        <p:spPr>
          <a:xfrm>
            <a:off x="3700458" y="4329120"/>
            <a:ext cx="5241645" cy="369332"/>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AU" b="1" dirty="0" smtClean="0">
                <a:latin typeface="+mj-lt"/>
              </a:rPr>
              <a:t>5. </a:t>
            </a:r>
            <a:r>
              <a:rPr lang="en-AU" dirty="0" smtClean="0">
                <a:latin typeface="+mj-lt"/>
              </a:rPr>
              <a:t>Plot the events in the correct place on the timeline.</a:t>
            </a:r>
            <a:endParaRPr lang="en-AU" dirty="0">
              <a:latin typeface="+mj-lt"/>
            </a:endParaRPr>
          </a:p>
        </p:txBody>
      </p:sp>
      <p:sp>
        <p:nvSpPr>
          <p:cNvPr id="12" name="TextBox 11"/>
          <p:cNvSpPr txBox="1"/>
          <p:nvPr/>
        </p:nvSpPr>
        <p:spPr>
          <a:xfrm>
            <a:off x="3700458" y="5170453"/>
            <a:ext cx="2851807" cy="369332"/>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AU" b="1" dirty="0" smtClean="0">
                <a:latin typeface="+mj-lt"/>
              </a:rPr>
              <a:t>6. </a:t>
            </a:r>
            <a:r>
              <a:rPr lang="en-AU" dirty="0" smtClean="0">
                <a:latin typeface="+mj-lt"/>
              </a:rPr>
              <a:t>Give the timeline a title. </a:t>
            </a:r>
            <a:endParaRPr lang="en-AU" dirty="0">
              <a:latin typeface="+mj-lt"/>
            </a:endParaRPr>
          </a:p>
        </p:txBody>
      </p:sp>
      <p:sp>
        <p:nvSpPr>
          <p:cNvPr id="7" name="Down Arrow 6"/>
          <p:cNvSpPr/>
          <p:nvPr/>
        </p:nvSpPr>
        <p:spPr>
          <a:xfrm>
            <a:off x="4262431" y="1538748"/>
            <a:ext cx="152400" cy="266699"/>
          </a:xfrm>
          <a:prstGeom prst="downArrow">
            <a:avLst/>
          </a:prstGeom>
          <a:solidFill>
            <a:srgbClr val="FFC00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Down Arrow 13"/>
          <p:cNvSpPr/>
          <p:nvPr/>
        </p:nvSpPr>
        <p:spPr>
          <a:xfrm>
            <a:off x="4262431" y="2348856"/>
            <a:ext cx="152400" cy="266699"/>
          </a:xfrm>
          <a:prstGeom prst="downArrow">
            <a:avLst/>
          </a:prstGeom>
          <a:solidFill>
            <a:srgbClr val="FFC00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Down Arrow 14"/>
          <p:cNvSpPr/>
          <p:nvPr/>
        </p:nvSpPr>
        <p:spPr>
          <a:xfrm>
            <a:off x="4262431" y="3158964"/>
            <a:ext cx="152400" cy="266699"/>
          </a:xfrm>
          <a:prstGeom prst="downArrow">
            <a:avLst/>
          </a:prstGeom>
          <a:solidFill>
            <a:srgbClr val="FFC00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Down Arrow 16"/>
          <p:cNvSpPr/>
          <p:nvPr/>
        </p:nvSpPr>
        <p:spPr>
          <a:xfrm>
            <a:off x="4243381" y="3969072"/>
            <a:ext cx="152400" cy="266699"/>
          </a:xfrm>
          <a:prstGeom prst="downArrow">
            <a:avLst/>
          </a:prstGeom>
          <a:solidFill>
            <a:srgbClr val="FFC00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Down Arrow 17"/>
          <p:cNvSpPr/>
          <p:nvPr/>
        </p:nvSpPr>
        <p:spPr>
          <a:xfrm>
            <a:off x="4243381" y="4779180"/>
            <a:ext cx="152400" cy="266699"/>
          </a:xfrm>
          <a:prstGeom prst="downArrow">
            <a:avLst/>
          </a:prstGeom>
          <a:solidFill>
            <a:srgbClr val="FFC00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ounded Rectangular Callout 3"/>
          <p:cNvSpPr/>
          <p:nvPr/>
        </p:nvSpPr>
        <p:spPr>
          <a:xfrm>
            <a:off x="251424" y="1805447"/>
            <a:ext cx="3240432" cy="2829067"/>
          </a:xfrm>
          <a:prstGeom prst="wedgeRoundRectCallout">
            <a:avLst>
              <a:gd name="adj1" fmla="val -18360"/>
              <a:gd name="adj2" fmla="val 48966"/>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solidFill>
                  <a:schemeClr val="tx1"/>
                </a:solidFill>
              </a:rPr>
              <a:t>A timeline is a line  on which important events or developments are put in time order or chronological order.  </a:t>
            </a:r>
          </a:p>
        </p:txBody>
      </p:sp>
    </p:spTree>
    <p:extLst>
      <p:ext uri="{BB962C8B-B14F-4D97-AF65-F5344CB8AC3E}">
        <p14:creationId xmlns:p14="http://schemas.microsoft.com/office/powerpoint/2010/main" val="136781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animEffect transition="in" filter="fade">
                                      <p:cBhvr>
                                        <p:cTn id="26" dur="500"/>
                                        <p:tgtEl>
                                          <p:spTgt spid="8"/>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500" fill="hold"/>
                                        <p:tgtEl>
                                          <p:spTgt spid="14"/>
                                        </p:tgtEl>
                                        <p:attrNameLst>
                                          <p:attrName>ppt_w</p:attrName>
                                        </p:attrNameLst>
                                      </p:cBhvr>
                                      <p:tavLst>
                                        <p:tav tm="0">
                                          <p:val>
                                            <p:fltVal val="0"/>
                                          </p:val>
                                        </p:tav>
                                        <p:tav tm="100000">
                                          <p:val>
                                            <p:strVal val="#ppt_w"/>
                                          </p:val>
                                        </p:tav>
                                      </p:tavLst>
                                    </p:anim>
                                    <p:anim calcmode="lin" valueType="num">
                                      <p:cBhvr>
                                        <p:cTn id="30" dur="500" fill="hold"/>
                                        <p:tgtEl>
                                          <p:spTgt spid="14"/>
                                        </p:tgtEl>
                                        <p:attrNameLst>
                                          <p:attrName>ppt_h</p:attrName>
                                        </p:attrNameLst>
                                      </p:cBhvr>
                                      <p:tavLst>
                                        <p:tav tm="0">
                                          <p:val>
                                            <p:fltVal val="0"/>
                                          </p:val>
                                        </p:tav>
                                        <p:tav tm="100000">
                                          <p:val>
                                            <p:strVal val="#ppt_h"/>
                                          </p:val>
                                        </p:tav>
                                      </p:tavLst>
                                    </p:anim>
                                    <p:animEffect transition="in" filter="fade">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p:cTn id="36" dur="500" fill="hold"/>
                                        <p:tgtEl>
                                          <p:spTgt spid="9"/>
                                        </p:tgtEl>
                                        <p:attrNameLst>
                                          <p:attrName>ppt_w</p:attrName>
                                        </p:attrNameLst>
                                      </p:cBhvr>
                                      <p:tavLst>
                                        <p:tav tm="0">
                                          <p:val>
                                            <p:fltVal val="0"/>
                                          </p:val>
                                        </p:tav>
                                        <p:tav tm="100000">
                                          <p:val>
                                            <p:strVal val="#ppt_w"/>
                                          </p:val>
                                        </p:tav>
                                      </p:tavLst>
                                    </p:anim>
                                    <p:anim calcmode="lin" valueType="num">
                                      <p:cBhvr>
                                        <p:cTn id="37" dur="500" fill="hold"/>
                                        <p:tgtEl>
                                          <p:spTgt spid="9"/>
                                        </p:tgtEl>
                                        <p:attrNameLst>
                                          <p:attrName>ppt_h</p:attrName>
                                        </p:attrNameLst>
                                      </p:cBhvr>
                                      <p:tavLst>
                                        <p:tav tm="0">
                                          <p:val>
                                            <p:fltVal val="0"/>
                                          </p:val>
                                        </p:tav>
                                        <p:tav tm="100000">
                                          <p:val>
                                            <p:strVal val="#ppt_h"/>
                                          </p:val>
                                        </p:tav>
                                      </p:tavLst>
                                    </p:anim>
                                    <p:animEffect transition="in" filter="fade">
                                      <p:cBhvr>
                                        <p:cTn id="38" dur="500"/>
                                        <p:tgtEl>
                                          <p:spTgt spid="9"/>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p:cTn id="41" dur="500" fill="hold"/>
                                        <p:tgtEl>
                                          <p:spTgt spid="15"/>
                                        </p:tgtEl>
                                        <p:attrNameLst>
                                          <p:attrName>ppt_w</p:attrName>
                                        </p:attrNameLst>
                                      </p:cBhvr>
                                      <p:tavLst>
                                        <p:tav tm="0">
                                          <p:val>
                                            <p:fltVal val="0"/>
                                          </p:val>
                                        </p:tav>
                                        <p:tav tm="100000">
                                          <p:val>
                                            <p:strVal val="#ppt_w"/>
                                          </p:val>
                                        </p:tav>
                                      </p:tavLst>
                                    </p:anim>
                                    <p:anim calcmode="lin" valueType="num">
                                      <p:cBhvr>
                                        <p:cTn id="42" dur="500" fill="hold"/>
                                        <p:tgtEl>
                                          <p:spTgt spid="15"/>
                                        </p:tgtEl>
                                        <p:attrNameLst>
                                          <p:attrName>ppt_h</p:attrName>
                                        </p:attrNameLst>
                                      </p:cBhvr>
                                      <p:tavLst>
                                        <p:tav tm="0">
                                          <p:val>
                                            <p:fltVal val="0"/>
                                          </p:val>
                                        </p:tav>
                                        <p:tav tm="100000">
                                          <p:val>
                                            <p:strVal val="#ppt_h"/>
                                          </p:val>
                                        </p:tav>
                                      </p:tavLst>
                                    </p:anim>
                                    <p:animEffect transition="in" filter="fade">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anim calcmode="lin" valueType="num">
                                      <p:cBhvr>
                                        <p:cTn id="48" dur="500" fill="hold"/>
                                        <p:tgtEl>
                                          <p:spTgt spid="10"/>
                                        </p:tgtEl>
                                        <p:attrNameLst>
                                          <p:attrName>ppt_w</p:attrName>
                                        </p:attrNameLst>
                                      </p:cBhvr>
                                      <p:tavLst>
                                        <p:tav tm="0">
                                          <p:val>
                                            <p:fltVal val="0"/>
                                          </p:val>
                                        </p:tav>
                                        <p:tav tm="100000">
                                          <p:val>
                                            <p:strVal val="#ppt_w"/>
                                          </p:val>
                                        </p:tav>
                                      </p:tavLst>
                                    </p:anim>
                                    <p:anim calcmode="lin" valueType="num">
                                      <p:cBhvr>
                                        <p:cTn id="49" dur="500" fill="hold"/>
                                        <p:tgtEl>
                                          <p:spTgt spid="10"/>
                                        </p:tgtEl>
                                        <p:attrNameLst>
                                          <p:attrName>ppt_h</p:attrName>
                                        </p:attrNameLst>
                                      </p:cBhvr>
                                      <p:tavLst>
                                        <p:tav tm="0">
                                          <p:val>
                                            <p:fltVal val="0"/>
                                          </p:val>
                                        </p:tav>
                                        <p:tav tm="100000">
                                          <p:val>
                                            <p:strVal val="#ppt_h"/>
                                          </p:val>
                                        </p:tav>
                                      </p:tavLst>
                                    </p:anim>
                                    <p:animEffect transition="in" filter="fade">
                                      <p:cBhvr>
                                        <p:cTn id="50" dur="500"/>
                                        <p:tgtEl>
                                          <p:spTgt spid="10"/>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fltVal val="0"/>
                                          </p:val>
                                        </p:tav>
                                        <p:tav tm="100000">
                                          <p:val>
                                            <p:strVal val="#ppt_h"/>
                                          </p:val>
                                        </p:tav>
                                      </p:tavLst>
                                    </p:anim>
                                    <p:animEffect transition="in" filter="fade">
                                      <p:cBhvr>
                                        <p:cTn id="55" dur="500"/>
                                        <p:tgtEl>
                                          <p:spTgt spid="17"/>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11"/>
                                        </p:tgtEl>
                                        <p:attrNameLst>
                                          <p:attrName>style.visibility</p:attrName>
                                        </p:attrNameLst>
                                      </p:cBhvr>
                                      <p:to>
                                        <p:strVal val="visible"/>
                                      </p:to>
                                    </p:set>
                                    <p:anim calcmode="lin" valueType="num">
                                      <p:cBhvr>
                                        <p:cTn id="60" dur="500" fill="hold"/>
                                        <p:tgtEl>
                                          <p:spTgt spid="11"/>
                                        </p:tgtEl>
                                        <p:attrNameLst>
                                          <p:attrName>ppt_w</p:attrName>
                                        </p:attrNameLst>
                                      </p:cBhvr>
                                      <p:tavLst>
                                        <p:tav tm="0">
                                          <p:val>
                                            <p:fltVal val="0"/>
                                          </p:val>
                                        </p:tav>
                                        <p:tav tm="100000">
                                          <p:val>
                                            <p:strVal val="#ppt_w"/>
                                          </p:val>
                                        </p:tav>
                                      </p:tavLst>
                                    </p:anim>
                                    <p:anim calcmode="lin" valueType="num">
                                      <p:cBhvr>
                                        <p:cTn id="61" dur="500" fill="hold"/>
                                        <p:tgtEl>
                                          <p:spTgt spid="11"/>
                                        </p:tgtEl>
                                        <p:attrNameLst>
                                          <p:attrName>ppt_h</p:attrName>
                                        </p:attrNameLst>
                                      </p:cBhvr>
                                      <p:tavLst>
                                        <p:tav tm="0">
                                          <p:val>
                                            <p:fltVal val="0"/>
                                          </p:val>
                                        </p:tav>
                                        <p:tav tm="100000">
                                          <p:val>
                                            <p:strVal val="#ppt_h"/>
                                          </p:val>
                                        </p:tav>
                                      </p:tavLst>
                                    </p:anim>
                                    <p:animEffect transition="in" filter="fade">
                                      <p:cBhvr>
                                        <p:cTn id="62" dur="500"/>
                                        <p:tgtEl>
                                          <p:spTgt spid="11"/>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 calcmode="lin" valueType="num">
                                      <p:cBhvr>
                                        <p:cTn id="65" dur="500" fill="hold"/>
                                        <p:tgtEl>
                                          <p:spTgt spid="18"/>
                                        </p:tgtEl>
                                        <p:attrNameLst>
                                          <p:attrName>ppt_w</p:attrName>
                                        </p:attrNameLst>
                                      </p:cBhvr>
                                      <p:tavLst>
                                        <p:tav tm="0">
                                          <p:val>
                                            <p:fltVal val="0"/>
                                          </p:val>
                                        </p:tav>
                                        <p:tav tm="100000">
                                          <p:val>
                                            <p:strVal val="#ppt_w"/>
                                          </p:val>
                                        </p:tav>
                                      </p:tavLst>
                                    </p:anim>
                                    <p:anim calcmode="lin" valueType="num">
                                      <p:cBhvr>
                                        <p:cTn id="66" dur="500" fill="hold"/>
                                        <p:tgtEl>
                                          <p:spTgt spid="18"/>
                                        </p:tgtEl>
                                        <p:attrNameLst>
                                          <p:attrName>ppt_h</p:attrName>
                                        </p:attrNameLst>
                                      </p:cBhvr>
                                      <p:tavLst>
                                        <p:tav tm="0">
                                          <p:val>
                                            <p:fltVal val="0"/>
                                          </p:val>
                                        </p:tav>
                                        <p:tav tm="100000">
                                          <p:val>
                                            <p:strVal val="#ppt_h"/>
                                          </p:val>
                                        </p:tav>
                                      </p:tavLst>
                                    </p:anim>
                                    <p:animEffect transition="in" filter="fade">
                                      <p:cBhvr>
                                        <p:cTn id="67"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12"/>
                                        </p:tgtEl>
                                        <p:attrNameLst>
                                          <p:attrName>style.visibility</p:attrName>
                                        </p:attrNameLst>
                                      </p:cBhvr>
                                      <p:to>
                                        <p:strVal val="visible"/>
                                      </p:to>
                                    </p:set>
                                    <p:anim calcmode="lin" valueType="num">
                                      <p:cBhvr>
                                        <p:cTn id="72" dur="500" fill="hold"/>
                                        <p:tgtEl>
                                          <p:spTgt spid="12"/>
                                        </p:tgtEl>
                                        <p:attrNameLst>
                                          <p:attrName>ppt_w</p:attrName>
                                        </p:attrNameLst>
                                      </p:cBhvr>
                                      <p:tavLst>
                                        <p:tav tm="0">
                                          <p:val>
                                            <p:fltVal val="0"/>
                                          </p:val>
                                        </p:tav>
                                        <p:tav tm="100000">
                                          <p:val>
                                            <p:strVal val="#ppt_w"/>
                                          </p:val>
                                        </p:tav>
                                      </p:tavLst>
                                    </p:anim>
                                    <p:anim calcmode="lin" valueType="num">
                                      <p:cBhvr>
                                        <p:cTn id="73" dur="500" fill="hold"/>
                                        <p:tgtEl>
                                          <p:spTgt spid="12"/>
                                        </p:tgtEl>
                                        <p:attrNameLst>
                                          <p:attrName>ppt_h</p:attrName>
                                        </p:attrNameLst>
                                      </p:cBhvr>
                                      <p:tavLst>
                                        <p:tav tm="0">
                                          <p:val>
                                            <p:fltVal val="0"/>
                                          </p:val>
                                        </p:tav>
                                        <p:tav tm="100000">
                                          <p:val>
                                            <p:strVal val="#ppt_h"/>
                                          </p:val>
                                        </p:tav>
                                      </p:tavLst>
                                    </p:anim>
                                    <p:animEffect transition="in" filter="fade">
                                      <p:cBhvr>
                                        <p:cTn id="7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7" grpId="0" animBg="1"/>
      <p:bldP spid="14" grpId="0" animBg="1"/>
      <p:bldP spid="15" grpId="0" animBg="1"/>
      <p:bldP spid="17" grpId="0" animBg="1"/>
      <p:bldP spid="18" grpId="0" animBg="1"/>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p:cNvSpPr txBox="1"/>
          <p:nvPr/>
        </p:nvSpPr>
        <p:spPr>
          <a:xfrm>
            <a:off x="1106538" y="728640"/>
            <a:ext cx="6930924" cy="3185487"/>
          </a:xfrm>
          <a:prstGeom prst="rect">
            <a:avLst/>
          </a:prstGeom>
          <a:noFill/>
        </p:spPr>
        <p:txBody>
          <a:bodyPr wrap="square" rtlCol="0">
            <a:spAutoFit/>
          </a:bodyPr>
          <a:lstStyle/>
          <a:p>
            <a:r>
              <a:rPr lang="en-AU" sz="1600" b="1" dirty="0" smtClean="0">
                <a:latin typeface="Arial" panose="020B0604020202020204" pitchFamily="34" charset="0"/>
                <a:cs typeface="Arial" panose="020B0604020202020204" pitchFamily="34" charset="0"/>
              </a:rPr>
              <a:t>Attributions</a:t>
            </a:r>
          </a:p>
          <a:p>
            <a:pPr>
              <a:spcBef>
                <a:spcPts val="1200"/>
              </a:spcBef>
            </a:pPr>
            <a:r>
              <a:rPr lang="en-AU" sz="1100" b="1" dirty="0">
                <a:latin typeface="Arial" panose="020B0604020202020204" pitchFamily="34" charset="0"/>
                <a:cs typeface="Arial" panose="020B0604020202020204" pitchFamily="34" charset="0"/>
              </a:rPr>
              <a:t>Slide 1</a:t>
            </a:r>
            <a:endParaRPr lang="en-AU" sz="1100" dirty="0">
              <a:latin typeface="Arial" panose="020B0604020202020204" pitchFamily="34" charset="0"/>
              <a:cs typeface="Arial" panose="020B0604020202020204" pitchFamily="34" charset="0"/>
            </a:endParaRPr>
          </a:p>
          <a:p>
            <a:r>
              <a:rPr lang="en-AU" sz="1100" i="1" dirty="0" smtClean="0">
                <a:latin typeface="Arial" panose="020B0604020202020204" pitchFamily="34" charset="0"/>
                <a:cs typeface="Arial" panose="020B0604020202020204" pitchFamily="34" charset="0"/>
              </a:rPr>
              <a:t>Line </a:t>
            </a:r>
            <a:r>
              <a:rPr lang="en-AU" sz="1100" i="1" dirty="0">
                <a:latin typeface="Arial" panose="020B0604020202020204" pitchFamily="34" charset="0"/>
                <a:cs typeface="Arial" panose="020B0604020202020204" pitchFamily="34" charset="0"/>
              </a:rPr>
              <a:t>of planes </a:t>
            </a:r>
            <a:r>
              <a:rPr lang="en-AU" sz="1100" dirty="0">
                <a:solidFill>
                  <a:schemeClr val="bg1">
                    <a:lumMod val="65000"/>
                  </a:schemeClr>
                </a:solidFill>
                <a:latin typeface="Arial" panose="020B0604020202020204" pitchFamily="34" charset="0"/>
                <a:cs typeface="Arial" panose="020B0604020202020204" pitchFamily="34" charset="0"/>
              </a:rPr>
              <a:t>http://pixabay.com/en/airplanes-lined-up-takeoff-cargo-566260/</a:t>
            </a:r>
          </a:p>
          <a:p>
            <a:r>
              <a:rPr lang="en-AU" sz="1100" i="1" dirty="0">
                <a:latin typeface="Arial" panose="020B0604020202020204" pitchFamily="34" charset="0"/>
                <a:cs typeface="Arial" panose="020B0604020202020204" pitchFamily="34" charset="0"/>
              </a:rPr>
              <a:t>Railway lines </a:t>
            </a:r>
            <a:r>
              <a:rPr lang="en-AU" sz="1100" dirty="0">
                <a:solidFill>
                  <a:schemeClr val="bg1">
                    <a:lumMod val="65000"/>
                  </a:schemeClr>
                </a:solidFill>
                <a:latin typeface="Arial" panose="020B0604020202020204" pitchFamily="34" charset="0"/>
                <a:cs typeface="Arial" panose="020B0604020202020204" pitchFamily="34" charset="0"/>
              </a:rPr>
              <a:t>http://pixabay.com/en/train-track-pebble-railway-traffic-365453/</a:t>
            </a:r>
          </a:p>
          <a:p>
            <a:r>
              <a:rPr lang="en-AU" sz="1100" i="1" dirty="0">
                <a:latin typeface="Arial" panose="020B0604020202020204" pitchFamily="34" charset="0"/>
                <a:cs typeface="Arial" panose="020B0604020202020204" pitchFamily="34" charset="0"/>
              </a:rPr>
              <a:t>Clothes </a:t>
            </a:r>
            <a:r>
              <a:rPr lang="en-AU" sz="1100" i="1" dirty="0" smtClean="0">
                <a:latin typeface="Arial" panose="020B0604020202020204" pitchFamily="34" charset="0"/>
                <a:cs typeface="Arial" panose="020B0604020202020204" pitchFamily="34" charset="0"/>
              </a:rPr>
              <a:t>li</a:t>
            </a:r>
            <a:r>
              <a:rPr lang="en-AU" sz="1100" dirty="0" smtClean="0">
                <a:latin typeface="Arial" panose="020B0604020202020204" pitchFamily="34" charset="0"/>
                <a:cs typeface="Arial" panose="020B0604020202020204" pitchFamily="34" charset="0"/>
              </a:rPr>
              <a:t>ne </a:t>
            </a:r>
            <a:r>
              <a:rPr lang="en-AU" sz="1100" dirty="0" smtClean="0">
                <a:solidFill>
                  <a:schemeClr val="bg1">
                    <a:lumMod val="65000"/>
                  </a:schemeClr>
                </a:solidFill>
                <a:latin typeface="Arial" panose="020B0604020202020204" pitchFamily="34" charset="0"/>
                <a:cs typeface="Arial" panose="020B0604020202020204" pitchFamily="34" charset="0"/>
              </a:rPr>
              <a:t>http</a:t>
            </a:r>
            <a:r>
              <a:rPr lang="en-AU" sz="1100" dirty="0">
                <a:solidFill>
                  <a:schemeClr val="bg1">
                    <a:lumMod val="65000"/>
                  </a:schemeClr>
                </a:solidFill>
                <a:latin typeface="Arial" panose="020B0604020202020204" pitchFamily="34" charset="0"/>
                <a:cs typeface="Arial" panose="020B0604020202020204" pitchFamily="34" charset="0"/>
              </a:rPr>
              <a:t>://pixabay.com/en/clothespins-clothes-line-dry-sky-9272/</a:t>
            </a:r>
          </a:p>
          <a:p>
            <a:r>
              <a:rPr lang="en-AU" sz="1100" i="1" dirty="0">
                <a:latin typeface="Arial" panose="020B0604020202020204" pitchFamily="34" charset="0"/>
                <a:cs typeface="Arial" panose="020B0604020202020204" pitchFamily="34" charset="0"/>
              </a:rPr>
              <a:t>Electricity lines </a:t>
            </a:r>
            <a:r>
              <a:rPr lang="en-AU" sz="1100" dirty="0">
                <a:solidFill>
                  <a:schemeClr val="bg1">
                    <a:lumMod val="65000"/>
                  </a:schemeClr>
                </a:solidFill>
                <a:latin typeface="Arial" panose="020B0604020202020204" pitchFamily="34" charset="0"/>
                <a:cs typeface="Arial" panose="020B0604020202020204" pitchFamily="34" charset="0"/>
              </a:rPr>
              <a:t>http://pixabay.com/en/electricity-power-line-cable-384198/</a:t>
            </a:r>
          </a:p>
          <a:p>
            <a:pPr>
              <a:spcBef>
                <a:spcPts val="1200"/>
              </a:spcBef>
            </a:pPr>
            <a:r>
              <a:rPr lang="en-AU" sz="1100" b="1" dirty="0" smtClean="0">
                <a:latin typeface="Arial" panose="020B0604020202020204" pitchFamily="34" charset="0"/>
                <a:cs typeface="Arial" panose="020B0604020202020204" pitchFamily="34" charset="0"/>
              </a:rPr>
              <a:t>Slide </a:t>
            </a:r>
            <a:r>
              <a:rPr lang="en-AU" sz="1100" b="1" dirty="0">
                <a:latin typeface="Arial" panose="020B0604020202020204" pitchFamily="34" charset="0"/>
                <a:cs typeface="Arial" panose="020B0604020202020204" pitchFamily="34" charset="0"/>
              </a:rPr>
              <a:t>2</a:t>
            </a:r>
            <a:endParaRPr lang="en-AU" sz="1100" dirty="0">
              <a:latin typeface="Arial" panose="020B0604020202020204" pitchFamily="34" charset="0"/>
              <a:cs typeface="Arial" panose="020B0604020202020204" pitchFamily="34" charset="0"/>
            </a:endParaRPr>
          </a:p>
          <a:p>
            <a:r>
              <a:rPr lang="en-AU" sz="1100" i="1" dirty="0">
                <a:latin typeface="Arial" panose="020B0604020202020204" pitchFamily="34" charset="0"/>
                <a:cs typeface="Arial" panose="020B0604020202020204" pitchFamily="34" charset="0"/>
              </a:rPr>
              <a:t>Printing </a:t>
            </a:r>
            <a:r>
              <a:rPr lang="en-AU" sz="1100" i="1" dirty="0" smtClean="0">
                <a:latin typeface="Arial" panose="020B0604020202020204" pitchFamily="34" charset="0"/>
                <a:cs typeface="Arial" panose="020B0604020202020204" pitchFamily="34" charset="0"/>
              </a:rPr>
              <a:t>press 1520  </a:t>
            </a:r>
            <a:r>
              <a:rPr lang="en-AU" sz="1100" dirty="0">
                <a:solidFill>
                  <a:schemeClr val="bg1">
                    <a:lumMod val="65000"/>
                  </a:schemeClr>
                </a:solidFill>
                <a:latin typeface="Arial" panose="020B0604020202020204" pitchFamily="34" charset="0"/>
                <a:cs typeface="Arial" panose="020B0604020202020204" pitchFamily="34" charset="0"/>
              </a:rPr>
              <a:t>https://commons.wikimedia.org/wiki/File:Press1520.png</a:t>
            </a:r>
          </a:p>
          <a:p>
            <a:r>
              <a:rPr lang="en-AU" sz="1100" i="1" dirty="0">
                <a:latin typeface="Arial" panose="020B0604020202020204" pitchFamily="34" charset="0"/>
                <a:cs typeface="Arial" panose="020B0604020202020204" pitchFamily="34" charset="0"/>
              </a:rPr>
              <a:t>Moon landing </a:t>
            </a:r>
            <a:r>
              <a:rPr lang="en-AU" sz="1100" dirty="0">
                <a:solidFill>
                  <a:schemeClr val="bg1">
                    <a:lumMod val="65000"/>
                  </a:schemeClr>
                </a:solidFill>
                <a:latin typeface="Arial" panose="020B0604020202020204" pitchFamily="34" charset="0"/>
                <a:cs typeface="Arial" panose="020B0604020202020204" pitchFamily="34" charset="0"/>
              </a:rPr>
              <a:t>http://pixabay.com/en/moon-landing-lunar-module-eagle-193761/</a:t>
            </a:r>
          </a:p>
          <a:p>
            <a:r>
              <a:rPr lang="en-AU" sz="1100" i="1" dirty="0" smtClean="0">
                <a:latin typeface="Arial" panose="020B0604020202020204" pitchFamily="34" charset="0"/>
                <a:cs typeface="Arial" panose="020B0604020202020204" pitchFamily="34" charset="0"/>
              </a:rPr>
              <a:t>Portrait </a:t>
            </a:r>
            <a:r>
              <a:rPr lang="en-AU" sz="1100" i="1" dirty="0">
                <a:latin typeface="Arial" panose="020B0604020202020204" pitchFamily="34" charset="0"/>
                <a:cs typeface="Arial" panose="020B0604020202020204" pitchFamily="34" charset="0"/>
              </a:rPr>
              <a:t>of the Kangxi Emperor in Court dress </a:t>
            </a:r>
            <a:r>
              <a:rPr lang="en-AU" sz="1100" dirty="0" smtClean="0">
                <a:solidFill>
                  <a:schemeClr val="bg1">
                    <a:lumMod val="65000"/>
                  </a:schemeClr>
                </a:solidFill>
                <a:latin typeface="Arial" panose="020B0604020202020204" pitchFamily="34" charset="0"/>
                <a:cs typeface="Arial" panose="020B0604020202020204" pitchFamily="34" charset="0"/>
              </a:rPr>
              <a:t>https</a:t>
            </a:r>
            <a:r>
              <a:rPr lang="en-AU" sz="1100" dirty="0">
                <a:solidFill>
                  <a:schemeClr val="bg1">
                    <a:lumMod val="65000"/>
                  </a:schemeClr>
                </a:solidFill>
                <a:latin typeface="Arial" panose="020B0604020202020204" pitchFamily="34" charset="0"/>
                <a:cs typeface="Arial" panose="020B0604020202020204" pitchFamily="34" charset="0"/>
              </a:rPr>
              <a:t>://commons.wikimedia.org/wiki/File:Portrait_of_the_Kangxi_Emperor_in_Court_Dress.jpg</a:t>
            </a:r>
          </a:p>
          <a:p>
            <a:r>
              <a:rPr lang="en-AU" sz="1100" i="1" dirty="0">
                <a:latin typeface="Arial" panose="020B0604020202020204" pitchFamily="34" charset="0"/>
                <a:cs typeface="Arial" panose="020B0604020202020204" pitchFamily="34" charset="0"/>
              </a:rPr>
              <a:t>Tank</a:t>
            </a:r>
            <a:r>
              <a:rPr lang="en-AU" sz="1100" dirty="0">
                <a:latin typeface="Arial" panose="020B0604020202020204" pitchFamily="34" charset="0"/>
                <a:cs typeface="Arial" panose="020B0604020202020204" pitchFamily="34" charset="0"/>
              </a:rPr>
              <a:t> </a:t>
            </a:r>
            <a:r>
              <a:rPr lang="en-AU" sz="1100" dirty="0">
                <a:solidFill>
                  <a:schemeClr val="bg1">
                    <a:lumMod val="65000"/>
                  </a:schemeClr>
                </a:solidFill>
                <a:latin typeface="Arial" panose="020B0604020202020204" pitchFamily="34" charset="0"/>
                <a:cs typeface="Arial" panose="020B0604020202020204" pitchFamily="34" charset="0"/>
              </a:rPr>
              <a:t>http://pixabay.com/en/tank-centurion-mk5-historic-history-143400/</a:t>
            </a:r>
          </a:p>
          <a:p>
            <a:r>
              <a:rPr lang="en-AU" sz="1100" i="1" dirty="0">
                <a:latin typeface="Arial" panose="020B0604020202020204" pitchFamily="34" charset="0"/>
                <a:cs typeface="Arial" panose="020B0604020202020204" pitchFamily="34" charset="0"/>
              </a:rPr>
              <a:t>Columbus taking possession of the new country</a:t>
            </a:r>
            <a:r>
              <a:rPr lang="en-AU" sz="1100" dirty="0">
                <a:latin typeface="Arial" panose="020B0604020202020204" pitchFamily="34" charset="0"/>
                <a:cs typeface="Arial" panose="020B0604020202020204" pitchFamily="34" charset="0"/>
              </a:rPr>
              <a:t>, Library of Congress  </a:t>
            </a:r>
            <a:r>
              <a:rPr lang="en-AU" sz="1100" dirty="0">
                <a:solidFill>
                  <a:schemeClr val="bg1">
                    <a:lumMod val="65000"/>
                  </a:schemeClr>
                </a:solidFill>
                <a:latin typeface="Arial" panose="020B0604020202020204" pitchFamily="34" charset="0"/>
                <a:cs typeface="Arial" panose="020B0604020202020204" pitchFamily="34" charset="0"/>
              </a:rPr>
              <a:t>http://hdl.loc.gov/loc.pnp/cph.3b49587</a:t>
            </a:r>
          </a:p>
          <a:p>
            <a:r>
              <a:rPr lang="en-AU" sz="1100" i="1" dirty="0">
                <a:latin typeface="Arial" panose="020B0604020202020204" pitchFamily="34" charset="0"/>
                <a:cs typeface="Arial" panose="020B0604020202020204" pitchFamily="34" charset="0"/>
              </a:rPr>
              <a:t>French revolution </a:t>
            </a:r>
            <a:r>
              <a:rPr lang="en-AU" sz="1100" dirty="0">
                <a:solidFill>
                  <a:schemeClr val="bg1">
                    <a:lumMod val="65000"/>
                  </a:schemeClr>
                </a:solidFill>
                <a:latin typeface="Arial" panose="020B0604020202020204" pitchFamily="34" charset="0"/>
                <a:cs typeface="Arial" panose="020B0604020202020204" pitchFamily="34" charset="0"/>
              </a:rPr>
              <a:t>https://commons.wikimedia.org/wiki/File:Anonymous_-_Prise_de_la_Bastille.jpg</a:t>
            </a:r>
          </a:p>
          <a:p>
            <a:endParaRPr lang="en-AU" sz="1100" dirty="0" smtClean="0">
              <a:latin typeface="Arial" panose="020B0604020202020204" pitchFamily="34" charset="0"/>
              <a:cs typeface="Arial" panose="020B0604020202020204" pitchFamily="34" charset="0"/>
            </a:endParaRPr>
          </a:p>
          <a:p>
            <a:r>
              <a:rPr lang="en-AU" sz="1100" dirty="0" smtClean="0">
                <a:latin typeface="Arial" panose="020B0604020202020204" pitchFamily="34" charset="0"/>
                <a:cs typeface="Arial" panose="020B0604020202020204" pitchFamily="34" charset="0"/>
              </a:rPr>
              <a:t>All </a:t>
            </a:r>
            <a:r>
              <a:rPr lang="en-AU" sz="1100" dirty="0">
                <a:latin typeface="Arial" panose="020B0604020202020204" pitchFamily="34" charset="0"/>
                <a:cs typeface="Arial" panose="020B0604020202020204" pitchFamily="34" charset="0"/>
              </a:rPr>
              <a:t>other images © </a:t>
            </a:r>
            <a:r>
              <a:rPr lang="en-AU" sz="1100" dirty="0" smtClean="0">
                <a:latin typeface="Arial" panose="020B0604020202020204" pitchFamily="34" charset="0"/>
                <a:cs typeface="Arial" panose="020B0604020202020204" pitchFamily="34" charset="0"/>
              </a:rPr>
              <a:t>DET</a:t>
            </a:r>
            <a:endParaRPr lang="en-AU"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68540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2530</TotalTime>
  <Words>2154</Words>
  <Application>Microsoft Office PowerPoint</Application>
  <PresentationFormat>On-screen Show (4:3)</PresentationFormat>
  <Paragraphs>238</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vt:lpstr>
      <vt:lpstr>PowerPoint Presentation</vt:lpstr>
    </vt:vector>
  </TitlesOfParts>
  <Company>Queensland Government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BISHOP, Kay</dc:creator>
  <cp:lastModifiedBy>WRIGHT, Candace</cp:lastModifiedBy>
  <cp:revision>203</cp:revision>
  <dcterms:created xsi:type="dcterms:W3CDTF">2015-04-22T01:27:51Z</dcterms:created>
  <dcterms:modified xsi:type="dcterms:W3CDTF">2017-06-26T23:29:05Z</dcterms:modified>
</cp:coreProperties>
</file>