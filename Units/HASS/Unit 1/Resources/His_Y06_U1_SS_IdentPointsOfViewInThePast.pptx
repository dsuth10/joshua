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5" r:id="rId2"/>
    <p:sldId id="276" r:id="rId3"/>
    <p:sldId id="274" r:id="rId4"/>
    <p:sldId id="266" r:id="rId5"/>
    <p:sldId id="269" r:id="rId6"/>
    <p:sldId id="280" r:id="rId7"/>
    <p:sldId id="270" r:id="rId8"/>
    <p:sldId id="277" r:id="rId9"/>
    <p:sldId id="271" r:id="rId10"/>
    <p:sldId id="278" r:id="rId11"/>
    <p:sldId id="272" r:id="rId12"/>
    <p:sldId id="279" r:id="rId13"/>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32" autoAdjust="0"/>
    <p:restoredTop sz="84368" autoAdjust="0"/>
  </p:normalViewPr>
  <p:slideViewPr>
    <p:cSldViewPr>
      <p:cViewPr>
        <p:scale>
          <a:sx n="90" d="100"/>
          <a:sy n="90" d="100"/>
        </p:scale>
        <p:origin x="-2244" y="-2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pPr>
              <a:defRPr/>
            </a:pPr>
            <a:endParaRPr lang="en-AU" dirty="0"/>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pPr>
              <a:defRPr/>
            </a:pPr>
            <a:fld id="{DA42E02C-6FD3-4DD5-83AC-31A1E477B726}" type="datetimeFigureOut">
              <a:rPr lang="en-AU"/>
              <a:pPr>
                <a:defRPr/>
              </a:pPr>
              <a:t>21/07/2017</a:t>
            </a:fld>
            <a:endParaRPr lang="en-AU"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AU" noProof="0" dirty="0" smtClean="0"/>
          </a:p>
        </p:txBody>
      </p:sp>
      <p:sp>
        <p:nvSpPr>
          <p:cNvPr id="5" name="Notes Placeholder 4"/>
          <p:cNvSpPr>
            <a:spLocks noGrp="1"/>
          </p:cNvSpPr>
          <p:nvPr>
            <p:ph type="body" sz="quarter" idx="3"/>
          </p:nvPr>
        </p:nvSpPr>
        <p:spPr>
          <a:xfrm>
            <a:off x="679450" y="4716463"/>
            <a:ext cx="5438775" cy="4467225"/>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smtClean="0"/>
          </a:p>
        </p:txBody>
      </p:sp>
      <p:sp>
        <p:nvSpPr>
          <p:cNvPr id="6" name="Footer Placeholder 5"/>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a:defRPr sz="1200"/>
            </a:lvl1pPr>
          </a:lstStyle>
          <a:p>
            <a:pPr>
              <a:defRPr/>
            </a:pPr>
            <a:endParaRPr lang="en-AU" dirty="0"/>
          </a:p>
        </p:txBody>
      </p:sp>
      <p:sp>
        <p:nvSpPr>
          <p:cNvPr id="7" name="Slide Number Placeholder 6"/>
          <p:cNvSpPr>
            <a:spLocks noGrp="1"/>
          </p:cNvSpPr>
          <p:nvPr>
            <p:ph type="sldNum" sz="quarter" idx="5"/>
          </p:nvPr>
        </p:nvSpPr>
        <p:spPr>
          <a:xfrm>
            <a:off x="3849688" y="9428163"/>
            <a:ext cx="2946400" cy="496887"/>
          </a:xfrm>
          <a:prstGeom prst="rect">
            <a:avLst/>
          </a:prstGeom>
        </p:spPr>
        <p:txBody>
          <a:bodyPr vert="horz" lIns="91440" tIns="45720" rIns="91440" bIns="45720" rtlCol="0" anchor="b"/>
          <a:lstStyle>
            <a:lvl1pPr algn="r">
              <a:defRPr sz="1200"/>
            </a:lvl1pPr>
          </a:lstStyle>
          <a:p>
            <a:pPr>
              <a:defRPr/>
            </a:pPr>
            <a:fld id="{BD486AA0-7330-4E4E-891D-82971BBE90AE}" type="slidenum">
              <a:rPr lang="en-AU"/>
              <a:pPr>
                <a:defRPr/>
              </a:pPr>
              <a:t>‹#›</a:t>
            </a:fld>
            <a:endParaRPr lang="en-AU" dirty="0"/>
          </a:p>
        </p:txBody>
      </p:sp>
    </p:spTree>
    <p:extLst>
      <p:ext uri="{BB962C8B-B14F-4D97-AF65-F5344CB8AC3E}">
        <p14:creationId xmlns:p14="http://schemas.microsoft.com/office/powerpoint/2010/main" val="33358763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Let’s describe and interpret</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a cartoon from the past. Historians examine cartoons from the past to identify different points of view about issues and events in the past. </a:t>
            </a:r>
            <a:endParaRPr lang="en-AU" altLang="en-US" dirty="0" smtClean="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AC8DCB2-692D-4450-A397-B9466C706671}" type="slidenum">
              <a:rPr lang="en-AU" altLang="en-US" smtClean="0"/>
              <a:pPr eaLnBrk="1" hangingPunct="1">
                <a:spcBef>
                  <a:spcPct val="0"/>
                </a:spcBef>
              </a:pPr>
              <a:t>1</a:t>
            </a:fld>
            <a:endParaRPr lang="en-AU"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It’s important to remember that political cartoons are historical sources that tell us about the past. The cartoonist presents his/her point of view about the events and issues of the time, that is, their </a:t>
            </a:r>
            <a:r>
              <a:rPr lang="en-AU" sz="1200" b="1" u="none" kern="1200" dirty="0" smtClean="0">
                <a:solidFill>
                  <a:schemeClr val="tx1"/>
                </a:solidFill>
                <a:effectLst/>
                <a:latin typeface="+mn-lt"/>
                <a:ea typeface="+mn-ea"/>
                <a:cs typeface="+mn-cs"/>
              </a:rPr>
              <a:t>current</a:t>
            </a:r>
            <a:r>
              <a:rPr lang="en-AU" sz="1200" kern="1200" dirty="0" smtClean="0">
                <a:solidFill>
                  <a:schemeClr val="tx1"/>
                </a:solidFill>
                <a:effectLst/>
                <a:latin typeface="+mn-lt"/>
                <a:ea typeface="+mn-ea"/>
                <a:cs typeface="+mn-cs"/>
              </a:rPr>
              <a:t> events and issues. We can see that this cartoon was published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in the newspaper </a:t>
            </a:r>
            <a:r>
              <a:rPr lang="en-AU" sz="1200" i="1" kern="1200" dirty="0" smtClean="0">
                <a:solidFill>
                  <a:schemeClr val="tx1"/>
                </a:solidFill>
                <a:effectLst/>
                <a:latin typeface="+mn-lt"/>
                <a:ea typeface="+mn-ea"/>
                <a:cs typeface="+mn-cs"/>
              </a:rPr>
              <a:t>The Argus</a:t>
            </a:r>
            <a:r>
              <a:rPr lang="en-AU" sz="1200" kern="1200" dirty="0" smtClean="0">
                <a:solidFill>
                  <a:schemeClr val="tx1"/>
                </a:solidFill>
                <a:effectLst/>
                <a:latin typeface="+mn-lt"/>
                <a:ea typeface="+mn-ea"/>
                <a:cs typeface="+mn-cs"/>
              </a:rPr>
              <a:t> in 1898, so that means it was </a:t>
            </a:r>
            <a:r>
              <a:rPr lang="en-AU" sz="1200" b="1" u="none" kern="1200" dirty="0" smtClean="0">
                <a:solidFill>
                  <a:schemeClr val="tx1"/>
                </a:solidFill>
                <a:effectLst/>
                <a:latin typeface="+mn-lt"/>
                <a:ea typeface="+mn-ea"/>
                <a:cs typeface="+mn-cs"/>
              </a:rPr>
              <a:t>before</a:t>
            </a:r>
            <a:r>
              <a:rPr lang="en-AU" sz="1200" kern="1200" dirty="0" smtClean="0">
                <a:solidFill>
                  <a:schemeClr val="tx1"/>
                </a:solidFill>
                <a:effectLst/>
                <a:latin typeface="+mn-lt"/>
                <a:ea typeface="+mn-ea"/>
                <a:cs typeface="+mn-cs"/>
              </a:rPr>
              <a:t> Federation, which took place in 1901. Let’s interpret the visual and written language.</a:t>
            </a:r>
            <a:endParaRPr lang="en-AU" altLang="en-US" dirty="0" smtClean="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3120C021-D43A-4CA5-A788-2311997459BE}" type="slidenum">
              <a:rPr lang="en-AU" altLang="en-US" smtClean="0"/>
              <a:pPr eaLnBrk="1" hangingPunct="1"/>
              <a:t>2</a:t>
            </a:fld>
            <a:endParaRPr lang="en-AU" alt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mn-lt"/>
                <a:ea typeface="+mn-ea"/>
                <a:cs typeface="+mn-cs"/>
              </a:rPr>
              <a:t>The date that the cartoon was published was 1st June, 1898. </a:t>
            </a:r>
            <a:r>
              <a:rPr lang="en-AU" sz="1200" b="1" kern="1200" dirty="0" smtClean="0">
                <a:solidFill>
                  <a:schemeClr val="tx1"/>
                </a:solidFill>
                <a:effectLst/>
                <a:latin typeface="+mn-lt"/>
                <a:ea typeface="+mn-ea"/>
                <a:cs typeface="+mn-cs"/>
              </a:rPr>
              <a:t>(Click) </a:t>
            </a:r>
            <a:r>
              <a:rPr lang="en-AU" sz="1200" b="0" kern="1200" dirty="0" smtClean="0">
                <a:solidFill>
                  <a:schemeClr val="tx1"/>
                </a:solidFill>
                <a:effectLst/>
                <a:latin typeface="+mn-lt"/>
                <a:ea typeface="+mn-ea"/>
                <a:cs typeface="+mn-cs"/>
              </a:rPr>
              <a:t>W</a:t>
            </a:r>
            <a:r>
              <a:rPr lang="en-AU" sz="1200" kern="1200" dirty="0" smtClean="0">
                <a:solidFill>
                  <a:schemeClr val="tx1"/>
                </a:solidFill>
                <a:effectLst/>
                <a:latin typeface="+mn-lt"/>
                <a:ea typeface="+mn-ea"/>
                <a:cs typeface="+mn-cs"/>
              </a:rPr>
              <a:t>hat was happening in the colonies at this time? </a:t>
            </a:r>
          </a:p>
          <a:p>
            <a:r>
              <a:rPr lang="en-AU" sz="1200" kern="1200" dirty="0" smtClean="0">
                <a:solidFill>
                  <a:schemeClr val="tx1"/>
                </a:solidFill>
                <a:effectLst/>
                <a:latin typeface="+mn-lt"/>
                <a:ea typeface="+mn-ea"/>
                <a:cs typeface="+mn-cs"/>
              </a:rPr>
              <a:t>Towards the end of the 1800s, there were problems that were having effects on the colonies.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There were:</a:t>
            </a:r>
          </a:p>
          <a:p>
            <a:pPr marL="171450" lvl="0" indent="-171450">
              <a:buFont typeface="Arial" panose="020B0604020202020204" pitchFamily="34" charset="0"/>
              <a:buChar char="•"/>
            </a:pPr>
            <a:r>
              <a:rPr lang="en-AU" sz="1200" kern="1200" dirty="0" smtClean="0">
                <a:solidFill>
                  <a:schemeClr val="tx1"/>
                </a:solidFill>
                <a:effectLst/>
                <a:latin typeface="+mn-lt"/>
                <a:ea typeface="+mn-ea"/>
                <a:cs typeface="+mn-cs"/>
              </a:rPr>
              <a:t>social problems, such as the number of immigrants in the colonies and their ability to move freely between the colonies</a:t>
            </a:r>
          </a:p>
          <a:p>
            <a:pPr marL="171450" lvl="0" indent="-171450">
              <a:buFont typeface="Arial" panose="020B0604020202020204" pitchFamily="34" charset="0"/>
              <a:buChar char="•"/>
            </a:pPr>
            <a:r>
              <a:rPr lang="en-AU" sz="1200" kern="1200" dirty="0" smtClean="0">
                <a:solidFill>
                  <a:schemeClr val="tx1"/>
                </a:solidFill>
                <a:effectLst/>
                <a:latin typeface="+mn-lt"/>
                <a:ea typeface="+mn-ea"/>
                <a:cs typeface="+mn-cs"/>
              </a:rPr>
              <a:t>economic problems, such as goods from other colonies being expensive due to tariffs imposed</a:t>
            </a:r>
          </a:p>
          <a:p>
            <a:pPr marL="171450" lvl="0" indent="-171450">
              <a:buFont typeface="Arial" panose="020B0604020202020204" pitchFamily="34" charset="0"/>
              <a:buChar char="•"/>
            </a:pPr>
            <a:r>
              <a:rPr lang="en-AU" sz="1200" kern="1200" dirty="0" smtClean="0">
                <a:solidFill>
                  <a:schemeClr val="tx1"/>
                </a:solidFill>
                <a:effectLst/>
                <a:latin typeface="+mn-lt"/>
                <a:ea typeface="+mn-ea"/>
                <a:cs typeface="+mn-cs"/>
              </a:rPr>
              <a:t>political problems, such as slow communication between Britain and the colonies meaning that decisions took a long time to be enacted in the colonies.</a:t>
            </a:r>
          </a:p>
          <a:p>
            <a:r>
              <a:rPr lang="en-AU" sz="1200" kern="1200" dirty="0" smtClean="0">
                <a:solidFill>
                  <a:schemeClr val="tx1"/>
                </a:solidFill>
                <a:effectLst/>
                <a:latin typeface="+mn-lt"/>
                <a:ea typeface="+mn-ea"/>
                <a:cs typeface="+mn-cs"/>
              </a:rPr>
              <a:t>With Henry Parkes’s support, the colonies began to talk about Federation and forming one nation. </a:t>
            </a:r>
            <a:endParaRPr lang="en-AU"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85A269A-ACC6-48BB-BD49-E06D5F1FEB6B}" type="slidenum">
              <a:rPr lang="en-AU" altLang="en-US" smtClean="0"/>
              <a:pPr eaLnBrk="1" hangingPunct="1">
                <a:spcBef>
                  <a:spcPct val="0"/>
                </a:spcBef>
              </a:pPr>
              <a:t>3</a:t>
            </a:fld>
            <a:endParaRPr lang="en-AU" alt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There’s a lot happening in this cartoon so it helps to break it down into parts.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Look at the images. That’s the visual language. </a:t>
            </a:r>
            <a:r>
              <a:rPr lang="en-AU" sz="1200" b="1" kern="1200" dirty="0" smtClean="0">
                <a:solidFill>
                  <a:schemeClr val="tx1"/>
                </a:solidFill>
                <a:effectLst/>
                <a:latin typeface="+mn-lt"/>
                <a:ea typeface="+mn-ea"/>
                <a:cs typeface="+mn-cs"/>
              </a:rPr>
              <a:t>(Click) </a:t>
            </a:r>
            <a:r>
              <a:rPr lang="en-AU" sz="1200" b="0" kern="1200" dirty="0" smtClean="0">
                <a:solidFill>
                  <a:schemeClr val="tx1"/>
                </a:solidFill>
                <a:effectLst/>
                <a:latin typeface="+mn-lt"/>
                <a:ea typeface="+mn-ea"/>
                <a:cs typeface="+mn-cs"/>
              </a:rPr>
              <a:t>… t</a:t>
            </a:r>
            <a:r>
              <a:rPr lang="en-AU" sz="1200" kern="1200" dirty="0" smtClean="0">
                <a:solidFill>
                  <a:schemeClr val="tx1"/>
                </a:solidFill>
                <a:effectLst/>
                <a:latin typeface="+mn-lt"/>
                <a:ea typeface="+mn-ea"/>
                <a:cs typeface="+mn-cs"/>
              </a:rPr>
              <a:t>hen look at the words or text. That’s the written language. Remember, a major step in interpreting a cartoon is to describe the visual and written language features.</a:t>
            </a:r>
            <a:endParaRPr lang="en-AU" altLang="en-US" dirty="0" smtClean="0"/>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242F83B-3E63-4873-8909-83992B3CFF4A}" type="slidenum">
              <a:rPr lang="en-AU" altLang="en-US" smtClean="0"/>
              <a:pPr eaLnBrk="1" hangingPunct="1">
                <a:spcBef>
                  <a:spcPct val="0"/>
                </a:spcBef>
              </a:pPr>
              <a:t>4</a:t>
            </a:fld>
            <a:endParaRPr lang="en-AU" alt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What do you see in the top half of the cartoon?   </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In the top half, there’s a map of Australia.</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On the map of Australia, there are barriers that look like walls or fences, dividing the six colonies.</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There are six male figures — one in each colony — and they are each standing beside a flag, on which is written the name of the colony. </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All the men are turned away from each other.</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image is titled, ‘Barriers between brothers — shall they remain?’</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caption below the image reads … ’Look upon this picture’.</a:t>
            </a:r>
            <a:endParaRPr lang="en-AU" altLang="en-US" dirty="0" smtClean="0"/>
          </a:p>
          <a:p>
            <a:pPr eaLnBrk="1" hangingPunct="1"/>
            <a:endParaRPr lang="en-AU" altLang="en-US" dirty="0" smtClean="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E5CE8EE-A8D8-4C22-A203-17C581496967}" type="slidenum">
              <a:rPr lang="en-AU" altLang="en-US" smtClean="0"/>
              <a:pPr eaLnBrk="1" hangingPunct="1">
                <a:spcBef>
                  <a:spcPct val="0"/>
                </a:spcBef>
              </a:pPr>
              <a:t>5</a:t>
            </a:fld>
            <a:endParaRPr lang="en-AU"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mn-lt"/>
                <a:ea typeface="+mn-ea"/>
                <a:cs typeface="+mn-cs"/>
              </a:rPr>
              <a:t>What do you see in the bottom half of the cartoon?</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There’s another map of Australia.</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There is one flag pole labelled ‘</a:t>
            </a:r>
            <a:r>
              <a:rPr lang="en-AU" sz="1200" i="0" kern="1200" dirty="0" smtClean="0">
                <a:solidFill>
                  <a:schemeClr val="tx1"/>
                </a:solidFill>
                <a:effectLst/>
                <a:latin typeface="+mn-lt"/>
                <a:ea typeface="+mn-ea"/>
                <a:cs typeface="+mn-cs"/>
              </a:rPr>
              <a:t>Australia’</a:t>
            </a:r>
            <a:r>
              <a:rPr lang="en-AU" sz="1200" kern="1200" dirty="0" smtClean="0">
                <a:solidFill>
                  <a:schemeClr val="tx1"/>
                </a:solidFill>
                <a:effectLst/>
                <a:latin typeface="+mn-lt"/>
                <a:ea typeface="+mn-ea"/>
                <a:cs typeface="+mn-cs"/>
              </a:rPr>
              <a:t> with the flags of all the colonies beneath.</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Six male figures are facing the single flag pole.</a:t>
            </a:r>
          </a:p>
          <a:p>
            <a:pPr lvl="0"/>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All the figures hold ropes linking them to the flag pole.</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caption below the image reads, ‘And on this.’</a:t>
            </a:r>
            <a:endParaRPr lang="en-AU" dirty="0"/>
          </a:p>
        </p:txBody>
      </p:sp>
      <p:sp>
        <p:nvSpPr>
          <p:cNvPr id="4" name="Slide Number Placeholder 3"/>
          <p:cNvSpPr>
            <a:spLocks noGrp="1"/>
          </p:cNvSpPr>
          <p:nvPr>
            <p:ph type="sldNum" sz="quarter" idx="10"/>
          </p:nvPr>
        </p:nvSpPr>
        <p:spPr/>
        <p:txBody>
          <a:bodyPr/>
          <a:lstStyle/>
          <a:p>
            <a:pPr>
              <a:defRPr/>
            </a:pPr>
            <a:fld id="{BD486AA0-7330-4E4E-891D-82971BBE90AE}" type="slidenum">
              <a:rPr lang="en-AU" smtClean="0"/>
              <a:pPr>
                <a:defRPr/>
              </a:pPr>
              <a:t>6</a:t>
            </a:fld>
            <a:endParaRPr lang="en-AU" dirty="0"/>
          </a:p>
        </p:txBody>
      </p:sp>
    </p:spTree>
    <p:extLst>
      <p:ext uri="{BB962C8B-B14F-4D97-AF65-F5344CB8AC3E}">
        <p14:creationId xmlns:p14="http://schemas.microsoft.com/office/powerpoint/2010/main" val="1265052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Let’s interpret the visual and written language.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Remember, when we interpret, we try to explain the meaning or message of the cartoon.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We do this by relating what we see in the cartoon to our knowledge about the events happening at that time.</a:t>
            </a:r>
            <a:r>
              <a:rPr lang="en-AU" sz="1200" kern="1200" baseline="0" dirty="0" smtClean="0">
                <a:solidFill>
                  <a:schemeClr val="tx1"/>
                </a:solidFill>
                <a:effectLst/>
                <a:latin typeface="+mn-lt"/>
                <a:ea typeface="+mn-ea"/>
                <a:cs typeface="+mn-cs"/>
              </a:rPr>
              <a:t> </a:t>
            </a:r>
            <a:r>
              <a:rPr lang="en-AU" sz="1200" kern="1200" dirty="0" smtClean="0">
                <a:solidFill>
                  <a:schemeClr val="tx1"/>
                </a:solidFill>
                <a:effectLst/>
                <a:latin typeface="+mn-lt"/>
                <a:ea typeface="+mn-ea"/>
                <a:cs typeface="+mn-cs"/>
              </a:rPr>
              <a:t>In this case, the cartoon was published in a Melbourne newspaper three days before a referendum was due to be held in Victoria on whether to become a Federated nation.</a:t>
            </a:r>
            <a:r>
              <a:rPr lang="en-AU" sz="1200" b="1" kern="1200" dirty="0" smtClean="0">
                <a:solidFill>
                  <a:schemeClr val="tx1"/>
                </a:solidFill>
                <a:effectLst/>
                <a:latin typeface="+mn-lt"/>
                <a:ea typeface="+mn-ea"/>
                <a:cs typeface="+mn-cs"/>
              </a:rPr>
              <a:t> </a:t>
            </a:r>
            <a:endParaRPr lang="en-AU" altLang="en-US" dirty="0" smtClean="0"/>
          </a:p>
          <a:p>
            <a:endParaRPr lang="en-AU" altLang="en-US" dirty="0"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37521BB-DDB4-432B-B111-1E9390D3B3CF}" type="slidenum">
              <a:rPr lang="en-AU" altLang="en-US" smtClean="0"/>
              <a:pPr eaLnBrk="1" hangingPunct="1">
                <a:spcBef>
                  <a:spcPct val="0"/>
                </a:spcBef>
              </a:pPr>
              <a:t>7</a:t>
            </a:fld>
            <a:endParaRPr lang="en-AU" alt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Let’s look at the six men with flags. How can we interpret this?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Each one represents a colony of Australia.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We can see the men are turned away from each other. This can be interpreted as the men are isolated — they don’t want to know about the others.</a:t>
            </a:r>
          </a:p>
          <a:p>
            <a:r>
              <a:rPr lang="en-AU" sz="1200" kern="1200" dirty="0" smtClean="0">
                <a:solidFill>
                  <a:schemeClr val="tx1"/>
                </a:solidFill>
                <a:effectLst/>
                <a:latin typeface="+mn-lt"/>
                <a:ea typeface="+mn-ea"/>
                <a:cs typeface="+mn-cs"/>
              </a:rPr>
              <a:t>The bottom half of the cartoon shows the same map but with one flag pole and one flag with Australia on it.</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This can be interpreted to mean that there are no longer six divided colonies but one country with one purpose. </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six different flags of the colonies all fly now from the one flag pole. This means that the colonies all have their own identities but these separate identities are no longer obstacles. </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six men are all now facing each other, which can be interpreted to mean that they are all cooperating with one another.</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six men are holding ropes linked to the pole, which means they were all still individual but linked by a common cause.</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How about the title — ‘Barriers between brothers, shall they remain?’</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word, ‘barriers’, reflects the walls or fences that we can see in the cartoon. If we have visual and written language telling us the same thing, it must be important to the meaning of the cartoon. The question asked in the title – ‘Shall the barriers remain?’ – clearly refers to the question of whether the colonies should federate. </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Let’s look at the captions – “Look upon the picture” below the first image and then “and on this” below the second image.</a:t>
            </a:r>
          </a:p>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cartoonist is directing the reader’s attention to the common purpose that could be achieved if Federation were to occur. </a:t>
            </a:r>
            <a:endParaRPr lang="en-AU" altLang="en-US" dirty="0" smtClean="0"/>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F31E3BE-483B-4EE8-AE01-E4F4DC691A02}" type="slidenum">
              <a:rPr lang="en-AU" altLang="en-US" smtClean="0"/>
              <a:pPr eaLnBrk="1" hangingPunct="1">
                <a:spcBef>
                  <a:spcPct val="0"/>
                </a:spcBef>
              </a:pPr>
              <a:t>8</a:t>
            </a:fld>
            <a:endParaRPr lang="en-AU"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So what’s the overall message or meaning that is expressed in the cartoon? What is the main idea?</a:t>
            </a:r>
            <a:endParaRPr lang="en-AU" altLang="en-US" dirty="0" smtClean="0"/>
          </a:p>
          <a:p>
            <a:endParaRPr lang="en-AU" altLang="en-US" dirty="0" smtClean="0"/>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3C09588-17B1-446E-B767-0834896AA916}" type="slidenum">
              <a:rPr lang="en-AU" altLang="en-US" smtClean="0"/>
              <a:pPr eaLnBrk="1" hangingPunct="1">
                <a:spcBef>
                  <a:spcPct val="0"/>
                </a:spcBef>
              </a:pPr>
              <a:t>9</a:t>
            </a:fld>
            <a:endParaRPr lang="en-AU" alt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main idea is that a united Australia is a better Australia. This conclusion is backed up by the evidence in the cartoon. The fences or walls, the way the men are looking away from each other and the title and caption of the cartoon all suggest that there is a lack of communication and cooperation between the colonies, which is holding Australia back. All of this is reversed in the bottom half of the cartoon, which suggests that, by federating, the old colonial barriers could be removed to make a great nation. What do you think? Do</a:t>
            </a:r>
            <a:r>
              <a:rPr lang="en-AU" sz="1200" kern="1200" baseline="0" dirty="0" smtClean="0">
                <a:solidFill>
                  <a:schemeClr val="tx1"/>
                </a:solidFill>
                <a:effectLst/>
                <a:latin typeface="+mn-lt"/>
                <a:ea typeface="+mn-ea"/>
                <a:cs typeface="+mn-cs"/>
              </a:rPr>
              <a:t> you think there is a different main idea?</a:t>
            </a:r>
            <a:r>
              <a:rPr lang="en-AU" sz="1200" kern="1200" dirty="0" smtClean="0">
                <a:solidFill>
                  <a:schemeClr val="tx1"/>
                </a:solidFill>
                <a:effectLst/>
                <a:latin typeface="+mn-lt"/>
                <a:ea typeface="+mn-ea"/>
                <a:cs typeface="+mn-cs"/>
              </a:rPr>
              <a:t> </a:t>
            </a:r>
            <a:endParaRPr lang="en-AU" altLang="en-US" dirty="0" smtClean="0"/>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872DA69-CE33-414D-BB42-E2F3AD9282A8}" type="slidenum">
              <a:rPr lang="en-AU" altLang="en-US" smtClean="0"/>
              <a:pPr eaLnBrk="1" hangingPunct="1">
                <a:spcBef>
                  <a:spcPct val="0"/>
                </a:spcBef>
              </a:pPr>
              <a:t>10</a:t>
            </a:fld>
            <a:endParaRPr lang="en-AU" alt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sz="1200" kern="1200" dirty="0" smtClean="0">
                <a:solidFill>
                  <a:schemeClr val="tx1"/>
                </a:solidFill>
                <a:effectLst/>
                <a:latin typeface="+mn-lt"/>
                <a:ea typeface="+mn-ea"/>
                <a:cs typeface="+mn-cs"/>
              </a:rPr>
              <a:t>The last step is to identify the point of view.  We can get this from the main idea and from considering whether the cartoonist shows this idea as a positive or a negative. Do you think the cartoonist is showing Federation as a good or bad idea? </a:t>
            </a:r>
          </a:p>
          <a:p>
            <a:r>
              <a:rPr lang="en-AU" sz="1200" kern="1200" dirty="0" smtClean="0">
                <a:solidFill>
                  <a:schemeClr val="tx1"/>
                </a:solidFill>
                <a:effectLst/>
                <a:latin typeface="+mn-lt"/>
                <a:ea typeface="+mn-ea"/>
                <a:cs typeface="+mn-cs"/>
              </a:rPr>
              <a:t>For example, </a:t>
            </a:r>
            <a:r>
              <a:rPr lang="en-AU" sz="1200" b="1" kern="1200" dirty="0" smtClean="0">
                <a:solidFill>
                  <a:schemeClr val="tx1"/>
                </a:solidFill>
                <a:effectLst/>
                <a:latin typeface="+mn-lt"/>
                <a:ea typeface="+mn-ea"/>
                <a:cs typeface="+mn-cs"/>
              </a:rPr>
              <a:t>(Click) </a:t>
            </a:r>
            <a:r>
              <a:rPr lang="en-AU" sz="1200" kern="1200" dirty="0" smtClean="0">
                <a:solidFill>
                  <a:schemeClr val="tx1"/>
                </a:solidFill>
                <a:effectLst/>
                <a:latin typeface="+mn-lt"/>
                <a:ea typeface="+mn-ea"/>
                <a:cs typeface="+mn-cs"/>
              </a:rPr>
              <a:t>the cartoonist’s point of view is that Federation will be good for Australia, as it will remove the barriers that are holding Australia back. The</a:t>
            </a:r>
            <a:r>
              <a:rPr lang="en-AU" sz="1200" kern="1200" baseline="0" dirty="0" smtClean="0">
                <a:solidFill>
                  <a:schemeClr val="tx1"/>
                </a:solidFill>
                <a:effectLst/>
                <a:latin typeface="+mn-lt"/>
                <a:ea typeface="+mn-ea"/>
                <a:cs typeface="+mn-cs"/>
              </a:rPr>
              <a:t> cartoon</a:t>
            </a:r>
            <a:r>
              <a:rPr lang="en-AU" sz="1200" kern="1200" dirty="0" smtClean="0">
                <a:solidFill>
                  <a:schemeClr val="tx1"/>
                </a:solidFill>
                <a:effectLst/>
                <a:latin typeface="+mn-lt"/>
                <a:ea typeface="+mn-ea"/>
                <a:cs typeface="+mn-cs"/>
              </a:rPr>
              <a:t> was likely used as a strategy to persuade the people of Victoria to vote in favour of Federation.</a:t>
            </a:r>
            <a:endParaRPr lang="en-AU" altLang="en-US" dirty="0"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7C477E0-E234-47AC-9DB1-CAC1864A6564}" type="slidenum">
              <a:rPr lang="en-AU" altLang="en-US" smtClean="0"/>
              <a:pPr eaLnBrk="1" hangingPunct="1">
                <a:spcBef>
                  <a:spcPct val="0"/>
                </a:spcBef>
              </a:pPr>
              <a:t>11</a:t>
            </a:fld>
            <a:endParaRPr lang="en-AU" alt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dirty="0" smtClean="0"/>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fld id="{E29A5493-0B34-4D18-BFEE-38F71BA4DD83}" type="slidenum">
              <a:rPr lang="en-AU" altLang="en-US" smtClean="0"/>
              <a:pPr eaLnBrk="1" hangingPunct="1"/>
              <a:t>12</a:t>
            </a:fld>
            <a:endParaRPr lang="en-AU" alt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Slide Number Placeholder 5"/>
          <p:cNvSpPr>
            <a:spLocks noGrp="1"/>
          </p:cNvSpPr>
          <p:nvPr>
            <p:ph type="sldNum" sz="quarter" idx="10"/>
          </p:nvPr>
        </p:nvSpPr>
        <p:spPr>
          <a:ln/>
        </p:spPr>
        <p:txBody>
          <a:bodyPr/>
          <a:lstStyle>
            <a:lvl1pPr>
              <a:defRPr/>
            </a:lvl1pPr>
          </a:lstStyle>
          <a:p>
            <a:pPr>
              <a:defRPr/>
            </a:pPr>
            <a:fld id="{CCE512ED-413E-46E3-92C5-CF75A85BA51C}" type="slidenum">
              <a:rPr lang="en-AU"/>
              <a:pPr>
                <a:defRPr/>
              </a:pPr>
              <a:t>‹#›</a:t>
            </a:fld>
            <a:endParaRPr lang="en-AU" dirty="0"/>
          </a:p>
        </p:txBody>
      </p:sp>
      <p:sp>
        <p:nvSpPr>
          <p:cNvPr id="5"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6"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3B49D893-1923-4668-A68A-1458A7FA1B2E}" type="datetime1">
              <a:rPr lang="en-AU"/>
              <a:pPr>
                <a:defRPr/>
              </a:pPr>
              <a:t>21/07/2017</a:t>
            </a:fld>
            <a:endParaRPr lang="en-AU" dirty="0"/>
          </a:p>
        </p:txBody>
      </p:sp>
    </p:spTree>
    <p:extLst>
      <p:ext uri="{BB962C8B-B14F-4D97-AF65-F5344CB8AC3E}">
        <p14:creationId xmlns:p14="http://schemas.microsoft.com/office/powerpoint/2010/main" val="166617413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F9B46D1C-AC28-4DDA-A505-89A69712AAF2}" type="slidenum">
              <a:rPr lang="en-AU"/>
              <a:pPr>
                <a:defRPr/>
              </a:pPr>
              <a:t>‹#›</a:t>
            </a:fld>
            <a:endParaRPr lang="en-AU" dirty="0"/>
          </a:p>
        </p:txBody>
      </p:sp>
      <p:sp>
        <p:nvSpPr>
          <p:cNvPr id="5"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6"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6A610506-1A59-4236-A897-A5337F92348A}" type="datetime1">
              <a:rPr lang="en-AU"/>
              <a:pPr>
                <a:defRPr/>
              </a:pPr>
              <a:t>21/07/2017</a:t>
            </a:fld>
            <a:endParaRPr lang="en-AU" dirty="0"/>
          </a:p>
        </p:txBody>
      </p:sp>
    </p:spTree>
    <p:extLst>
      <p:ext uri="{BB962C8B-B14F-4D97-AF65-F5344CB8AC3E}">
        <p14:creationId xmlns:p14="http://schemas.microsoft.com/office/powerpoint/2010/main" val="17006234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Slide Number Placeholder 5"/>
          <p:cNvSpPr>
            <a:spLocks noGrp="1"/>
          </p:cNvSpPr>
          <p:nvPr>
            <p:ph type="sldNum" sz="quarter" idx="10"/>
          </p:nvPr>
        </p:nvSpPr>
        <p:spPr>
          <a:ln/>
        </p:spPr>
        <p:txBody>
          <a:bodyPr/>
          <a:lstStyle>
            <a:lvl1pPr>
              <a:defRPr/>
            </a:lvl1pPr>
          </a:lstStyle>
          <a:p>
            <a:pPr>
              <a:defRPr/>
            </a:pPr>
            <a:fld id="{4694CC83-8F1D-4BF0-901E-7AA1E54E5EAB}" type="slidenum">
              <a:rPr lang="en-AU"/>
              <a:pPr>
                <a:defRPr/>
              </a:pPr>
              <a:t>‹#›</a:t>
            </a:fld>
            <a:endParaRPr lang="en-AU" dirty="0"/>
          </a:p>
        </p:txBody>
      </p:sp>
      <p:sp>
        <p:nvSpPr>
          <p:cNvPr id="5"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6"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E9F718EB-5C9E-4840-8D77-A976CB41818C}" type="datetime1">
              <a:rPr lang="en-AU"/>
              <a:pPr>
                <a:defRPr/>
              </a:pPr>
              <a:t>21/07/2017</a:t>
            </a:fld>
            <a:endParaRPr lang="en-AU" dirty="0"/>
          </a:p>
        </p:txBody>
      </p:sp>
    </p:spTree>
    <p:extLst>
      <p:ext uri="{BB962C8B-B14F-4D97-AF65-F5344CB8AC3E}">
        <p14:creationId xmlns:p14="http://schemas.microsoft.com/office/powerpoint/2010/main" val="3209336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lide Number Placeholder 5"/>
          <p:cNvSpPr>
            <a:spLocks noGrp="1"/>
          </p:cNvSpPr>
          <p:nvPr>
            <p:ph type="sldNum" sz="quarter" idx="10"/>
          </p:nvPr>
        </p:nvSpPr>
        <p:spPr>
          <a:ln/>
        </p:spPr>
        <p:txBody>
          <a:bodyPr/>
          <a:lstStyle>
            <a:lvl1pPr>
              <a:defRPr/>
            </a:lvl1pPr>
          </a:lstStyle>
          <a:p>
            <a:pPr>
              <a:defRPr/>
            </a:pPr>
            <a:fld id="{DAFC1EC0-10D1-41B8-A3C3-C2EEE66CFCBC}" type="slidenum">
              <a:rPr lang="en-AU"/>
              <a:pPr>
                <a:defRPr/>
              </a:pPr>
              <a:t>‹#›</a:t>
            </a:fld>
            <a:endParaRPr lang="en-AU" dirty="0"/>
          </a:p>
        </p:txBody>
      </p:sp>
      <p:sp>
        <p:nvSpPr>
          <p:cNvPr id="6"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7"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CC2B162B-6EBB-4BB1-8C16-FF12FA263796}" type="datetime1">
              <a:rPr lang="en-AU"/>
              <a:pPr>
                <a:defRPr/>
              </a:pPr>
              <a:t>21/07/2017</a:t>
            </a:fld>
            <a:endParaRPr lang="en-AU" dirty="0"/>
          </a:p>
        </p:txBody>
      </p:sp>
    </p:spTree>
    <p:extLst>
      <p:ext uri="{BB962C8B-B14F-4D97-AF65-F5344CB8AC3E}">
        <p14:creationId xmlns:p14="http://schemas.microsoft.com/office/powerpoint/2010/main" val="156415521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5"/>
          <p:cNvSpPr>
            <a:spLocks noGrp="1"/>
          </p:cNvSpPr>
          <p:nvPr>
            <p:ph type="sldNum" sz="quarter" idx="10"/>
          </p:nvPr>
        </p:nvSpPr>
        <p:spPr>
          <a:ln/>
        </p:spPr>
        <p:txBody>
          <a:bodyPr/>
          <a:lstStyle>
            <a:lvl1pPr>
              <a:defRPr/>
            </a:lvl1pPr>
          </a:lstStyle>
          <a:p>
            <a:pPr>
              <a:defRPr/>
            </a:pPr>
            <a:fld id="{07BE8F7E-D05C-4FFD-A26E-D972C968A14F}" type="slidenum">
              <a:rPr lang="en-AU"/>
              <a:pPr>
                <a:defRPr/>
              </a:pPr>
              <a:t>‹#›</a:t>
            </a:fld>
            <a:endParaRPr lang="en-AU" dirty="0"/>
          </a:p>
        </p:txBody>
      </p:sp>
      <p:sp>
        <p:nvSpPr>
          <p:cNvPr id="8"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9"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4E26DBDF-EC57-422D-A008-FF445C06192D}" type="datetime1">
              <a:rPr lang="en-AU"/>
              <a:pPr>
                <a:defRPr/>
              </a:pPr>
              <a:t>21/07/2017</a:t>
            </a:fld>
            <a:endParaRPr lang="en-AU" dirty="0"/>
          </a:p>
        </p:txBody>
      </p:sp>
    </p:spTree>
    <p:extLst>
      <p:ext uri="{BB962C8B-B14F-4D97-AF65-F5344CB8AC3E}">
        <p14:creationId xmlns:p14="http://schemas.microsoft.com/office/powerpoint/2010/main" val="965171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5"/>
          <p:cNvSpPr>
            <a:spLocks noGrp="1"/>
          </p:cNvSpPr>
          <p:nvPr>
            <p:ph type="sldNum" sz="quarter" idx="10"/>
          </p:nvPr>
        </p:nvSpPr>
        <p:spPr>
          <a:ln/>
        </p:spPr>
        <p:txBody>
          <a:bodyPr/>
          <a:lstStyle>
            <a:lvl1pPr>
              <a:defRPr/>
            </a:lvl1pPr>
          </a:lstStyle>
          <a:p>
            <a:pPr>
              <a:defRPr/>
            </a:pPr>
            <a:fld id="{B67DC803-A8E6-4733-9944-3BBD504DD518}" type="slidenum">
              <a:rPr lang="en-AU"/>
              <a:pPr>
                <a:defRPr/>
              </a:pPr>
              <a:t>‹#›</a:t>
            </a:fld>
            <a:endParaRPr lang="en-AU" dirty="0"/>
          </a:p>
        </p:txBody>
      </p:sp>
      <p:sp>
        <p:nvSpPr>
          <p:cNvPr id="4"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5"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ECB9606F-93E9-4BEA-AF31-2E43E1C61E50}" type="datetime1">
              <a:rPr lang="en-AU"/>
              <a:pPr>
                <a:defRPr/>
              </a:pPr>
              <a:t>21/07/2017</a:t>
            </a:fld>
            <a:endParaRPr lang="en-AU" dirty="0"/>
          </a:p>
        </p:txBody>
      </p:sp>
    </p:spTree>
    <p:extLst>
      <p:ext uri="{BB962C8B-B14F-4D97-AF65-F5344CB8AC3E}">
        <p14:creationId xmlns:p14="http://schemas.microsoft.com/office/powerpoint/2010/main" val="3331439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pPr>
              <a:defRPr/>
            </a:pPr>
            <a:fld id="{1E7F3004-6203-426E-B312-222C76413F8D}" type="slidenum">
              <a:rPr lang="en-AU"/>
              <a:pPr>
                <a:defRPr/>
              </a:pPr>
              <a:t>‹#›</a:t>
            </a:fld>
            <a:endParaRPr lang="en-AU" dirty="0"/>
          </a:p>
        </p:txBody>
      </p:sp>
      <p:sp>
        <p:nvSpPr>
          <p:cNvPr id="3"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4"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8B4B7B9C-1056-443D-85C2-EA480D9C7067}" type="datetime1">
              <a:rPr lang="en-AU"/>
              <a:pPr>
                <a:defRPr/>
              </a:pPr>
              <a:t>21/07/2017</a:t>
            </a:fld>
            <a:endParaRPr lang="en-AU" dirty="0"/>
          </a:p>
        </p:txBody>
      </p:sp>
    </p:spTree>
    <p:extLst>
      <p:ext uri="{BB962C8B-B14F-4D97-AF65-F5344CB8AC3E}">
        <p14:creationId xmlns:p14="http://schemas.microsoft.com/office/powerpoint/2010/main" val="2352612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5"/>
          <p:cNvSpPr>
            <a:spLocks noGrp="1"/>
          </p:cNvSpPr>
          <p:nvPr>
            <p:ph type="sldNum" sz="quarter" idx="14"/>
          </p:nvPr>
        </p:nvSpPr>
        <p:spPr>
          <a:ln/>
        </p:spPr>
        <p:txBody>
          <a:bodyPr/>
          <a:lstStyle>
            <a:lvl1pPr>
              <a:defRPr/>
            </a:lvl1pPr>
          </a:lstStyle>
          <a:p>
            <a:pPr>
              <a:defRPr/>
            </a:pPr>
            <a:fld id="{A50BBC88-34E2-44E9-B520-C990090E49A1}" type="slidenum">
              <a:rPr lang="en-AU"/>
              <a:pPr>
                <a:defRPr/>
              </a:pPr>
              <a:t>‹#›</a:t>
            </a:fld>
            <a:endParaRPr lang="en-AU" dirty="0"/>
          </a:p>
        </p:txBody>
      </p:sp>
      <p:sp>
        <p:nvSpPr>
          <p:cNvPr id="6" name="Footer Placeholder 4"/>
          <p:cNvSpPr>
            <a:spLocks noGrp="1"/>
          </p:cNvSpPr>
          <p:nvPr>
            <p:ph type="ftr" sz="quarter" idx="15"/>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7" name="Date Placeholder 3"/>
          <p:cNvSpPr>
            <a:spLocks noGrp="1"/>
          </p:cNvSpPr>
          <p:nvPr>
            <p:ph type="dt" sz="half" idx="16"/>
          </p:nvPr>
        </p:nvSpPr>
        <p:spPr>
          <a:xfrm rot="16200000">
            <a:off x="7551738" y="1646237"/>
            <a:ext cx="2438400" cy="365125"/>
          </a:xfrm>
          <a:prstGeom prst="rect">
            <a:avLst/>
          </a:prstGeom>
        </p:spPr>
        <p:txBody>
          <a:bodyPr/>
          <a:lstStyle>
            <a:lvl1pPr>
              <a:defRPr/>
            </a:lvl1pPr>
          </a:lstStyle>
          <a:p>
            <a:pPr>
              <a:defRPr/>
            </a:pPr>
            <a:fld id="{A4756792-B130-40F3-B2B5-BDAFE4EEEF37}" type="datetime1">
              <a:rPr lang="en-AU"/>
              <a:pPr>
                <a:defRPr/>
              </a:pPr>
              <a:t>21/07/2017</a:t>
            </a:fld>
            <a:endParaRPr lang="en-AU" dirty="0"/>
          </a:p>
        </p:txBody>
      </p:sp>
    </p:spTree>
    <p:extLst>
      <p:ext uri="{BB962C8B-B14F-4D97-AF65-F5344CB8AC3E}">
        <p14:creationId xmlns:p14="http://schemas.microsoft.com/office/powerpoint/2010/main" val="421027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5"/>
          <p:cNvSpPr>
            <a:spLocks noGrp="1"/>
          </p:cNvSpPr>
          <p:nvPr>
            <p:ph type="sldNum" sz="quarter" idx="10"/>
          </p:nvPr>
        </p:nvSpPr>
        <p:spPr>
          <a:ln/>
        </p:spPr>
        <p:txBody>
          <a:bodyPr/>
          <a:lstStyle>
            <a:lvl1pPr>
              <a:defRPr/>
            </a:lvl1pPr>
          </a:lstStyle>
          <a:p>
            <a:pPr>
              <a:defRPr/>
            </a:pPr>
            <a:fld id="{28D19A38-537F-4E68-BDC8-64B8C1470B55}" type="slidenum">
              <a:rPr lang="en-AU"/>
              <a:pPr>
                <a:defRPr/>
              </a:pPr>
              <a:t>‹#›</a:t>
            </a:fld>
            <a:endParaRPr lang="en-AU" dirty="0"/>
          </a:p>
        </p:txBody>
      </p:sp>
      <p:sp>
        <p:nvSpPr>
          <p:cNvPr id="6"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7"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5993403A-9D6F-4CDD-A332-1D1174D8A152}" type="datetime1">
              <a:rPr lang="en-AU"/>
              <a:pPr>
                <a:defRPr/>
              </a:pPr>
              <a:t>21/07/2017</a:t>
            </a:fld>
            <a:endParaRPr lang="en-AU" dirty="0"/>
          </a:p>
        </p:txBody>
      </p:sp>
    </p:spTree>
    <p:extLst>
      <p:ext uri="{BB962C8B-B14F-4D97-AF65-F5344CB8AC3E}">
        <p14:creationId xmlns:p14="http://schemas.microsoft.com/office/powerpoint/2010/main" val="336443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1DC809BC-377E-44E8-8E7C-0B84FC61D324}" type="slidenum">
              <a:rPr lang="en-AU"/>
              <a:pPr>
                <a:defRPr/>
              </a:pPr>
              <a:t>‹#›</a:t>
            </a:fld>
            <a:endParaRPr lang="en-AU" dirty="0"/>
          </a:p>
        </p:txBody>
      </p:sp>
      <p:sp>
        <p:nvSpPr>
          <p:cNvPr id="5"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6"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85BCF1AA-7A7D-4511-9DD6-7E8C9B468F02}" type="datetime1">
              <a:rPr lang="en-AU"/>
              <a:pPr>
                <a:defRPr/>
              </a:pPr>
              <a:t>21/07/2017</a:t>
            </a:fld>
            <a:endParaRPr lang="en-AU" dirty="0"/>
          </a:p>
        </p:txBody>
      </p:sp>
    </p:spTree>
    <p:extLst>
      <p:ext uri="{BB962C8B-B14F-4D97-AF65-F5344CB8AC3E}">
        <p14:creationId xmlns:p14="http://schemas.microsoft.com/office/powerpoint/2010/main" val="421853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5"/>
          <p:cNvSpPr>
            <a:spLocks noGrp="1"/>
          </p:cNvSpPr>
          <p:nvPr>
            <p:ph type="sldNum" sz="quarter" idx="10"/>
          </p:nvPr>
        </p:nvSpPr>
        <p:spPr>
          <a:ln/>
        </p:spPr>
        <p:txBody>
          <a:bodyPr/>
          <a:lstStyle>
            <a:lvl1pPr>
              <a:defRPr/>
            </a:lvl1pPr>
          </a:lstStyle>
          <a:p>
            <a:pPr>
              <a:defRPr/>
            </a:pPr>
            <a:fld id="{E5B319A4-DC93-4A6B-9985-BA6CC200071E}" type="slidenum">
              <a:rPr lang="en-AU"/>
              <a:pPr>
                <a:defRPr/>
              </a:pPr>
              <a:t>‹#›</a:t>
            </a:fld>
            <a:endParaRPr lang="en-AU" dirty="0"/>
          </a:p>
        </p:txBody>
      </p:sp>
      <p:sp>
        <p:nvSpPr>
          <p:cNvPr id="5" name="Footer Placeholder 4"/>
          <p:cNvSpPr>
            <a:spLocks noGrp="1"/>
          </p:cNvSpPr>
          <p:nvPr>
            <p:ph type="ftr" sz="quarter" idx="11"/>
          </p:nvPr>
        </p:nvSpPr>
        <p:spPr>
          <a:xfrm rot="16200000">
            <a:off x="7587456" y="4048919"/>
            <a:ext cx="2366963" cy="365125"/>
          </a:xfrm>
          <a:prstGeom prst="rect">
            <a:avLst/>
          </a:prstGeom>
        </p:spPr>
        <p:txBody>
          <a:bodyPr/>
          <a:lstStyle>
            <a:lvl1pPr>
              <a:defRPr/>
            </a:lvl1pPr>
          </a:lstStyle>
          <a:p>
            <a:pPr>
              <a:defRPr/>
            </a:pPr>
            <a:r>
              <a:rPr lang="en-AU" dirty="0"/>
              <a:t>His_Y06_U1_SS_PoliticalCartoons</a:t>
            </a:r>
          </a:p>
        </p:txBody>
      </p:sp>
      <p:sp>
        <p:nvSpPr>
          <p:cNvPr id="6" name="Date Placeholder 3"/>
          <p:cNvSpPr>
            <a:spLocks noGrp="1"/>
          </p:cNvSpPr>
          <p:nvPr>
            <p:ph type="dt" sz="half" idx="12"/>
          </p:nvPr>
        </p:nvSpPr>
        <p:spPr>
          <a:xfrm rot="16200000">
            <a:off x="7551738" y="1646237"/>
            <a:ext cx="2438400" cy="365125"/>
          </a:xfrm>
          <a:prstGeom prst="rect">
            <a:avLst/>
          </a:prstGeom>
        </p:spPr>
        <p:txBody>
          <a:bodyPr/>
          <a:lstStyle>
            <a:lvl1pPr>
              <a:defRPr/>
            </a:lvl1pPr>
          </a:lstStyle>
          <a:p>
            <a:pPr>
              <a:defRPr/>
            </a:pPr>
            <a:fld id="{00EA397F-9BDE-497E-9D0E-89EA3E3B1FB3}" type="datetime1">
              <a:rPr lang="en-AU"/>
              <a:pPr>
                <a:defRPr/>
              </a:pPr>
              <a:t>21/07/2017</a:t>
            </a:fld>
            <a:endParaRPr lang="en-AU" dirty="0"/>
          </a:p>
        </p:txBody>
      </p:sp>
    </p:spTree>
    <p:extLst>
      <p:ext uri="{BB962C8B-B14F-4D97-AF65-F5344CB8AC3E}">
        <p14:creationId xmlns:p14="http://schemas.microsoft.com/office/powerpoint/2010/main" val="68744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1027" name="Text Placeholder 2"/>
          <p:cNvSpPr>
            <a:spLocks noGrp="1"/>
          </p:cNvSpPr>
          <p:nvPr>
            <p:ph type="body" idx="1"/>
          </p:nvPr>
        </p:nvSpPr>
        <p:spPr bwMode="auto">
          <a:xfrm>
            <a:off x="457200" y="1600200"/>
            <a:ext cx="7620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a:t>
            </a:r>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p:cNvSpPr>
            <a:spLocks noGrp="1"/>
          </p:cNvSpPr>
          <p:nvPr>
            <p:ph type="sldNum" sz="quarter" idx="4"/>
          </p:nvPr>
        </p:nvSpPr>
        <p:spPr>
          <a:xfrm>
            <a:off x="8531225" y="5648325"/>
            <a:ext cx="549275" cy="396875"/>
          </a:xfrm>
          <a:prstGeom prst="bracketPair">
            <a:avLst>
              <a:gd name="adj" fmla="val 17949"/>
            </a:avLst>
          </a:prstGeom>
          <a:ln w="19050">
            <a:solidFill>
              <a:srgbClr val="FFFFFF"/>
            </a:solidFill>
          </a:ln>
        </p:spPr>
        <p:txBody>
          <a:bodyPr vert="horz" lIns="0" tIns="0" rIns="0" bIns="0" rtlCol="0" anchor="ctr"/>
          <a:lstStyle>
            <a:lvl1pPr algn="ctr" fontAlgn="auto">
              <a:spcBef>
                <a:spcPts val="0"/>
              </a:spcBef>
              <a:spcAft>
                <a:spcPts val="0"/>
              </a:spcAft>
              <a:defRPr sz="1800">
                <a:solidFill>
                  <a:srgbClr val="FFFFFF"/>
                </a:solidFill>
                <a:latin typeface="+mn-lt"/>
                <a:cs typeface="+mn-cs"/>
              </a:defRPr>
            </a:lvl1pPr>
          </a:lstStyle>
          <a:p>
            <a:pPr>
              <a:defRPr/>
            </a:pPr>
            <a:fld id="{BE044414-A4AB-4154-9897-F359D74C5984}" type="slidenum">
              <a:rPr lang="en-AU"/>
              <a:pPr>
                <a:defRPr/>
              </a:pPr>
              <a:t>‹#›</a:t>
            </a:fld>
            <a:endParaRPr lang="en-AU" dirty="0"/>
          </a:p>
        </p:txBody>
      </p:sp>
      <p:sp>
        <p:nvSpPr>
          <p:cNvPr id="17" name="Rectangle 16"/>
          <p:cNvSpPr/>
          <p:nvPr userDrawn="1"/>
        </p:nvSpPr>
        <p:spPr>
          <a:xfrm>
            <a:off x="0" y="6704929"/>
            <a:ext cx="1940280" cy="169277"/>
          </a:xfrm>
          <a:prstGeom prst="rect">
            <a:avLst/>
          </a:prstGeom>
        </p:spPr>
        <p:txBody>
          <a:bodyPr wrap="square">
            <a:spAutoFit/>
          </a:bodyPr>
          <a:lstStyle/>
          <a:p>
            <a:pPr algn="l" rtl="0"/>
            <a:r>
              <a:rPr lang="en-US" sz="500" b="0" i="0" u="none" strike="noStrike" kern="1200" baseline="0" dirty="0" smtClean="0">
                <a:solidFill>
                  <a:srgbClr val="000000"/>
                </a:solidFill>
                <a:latin typeface="Arial"/>
                <a:ea typeface="+mn-ea"/>
                <a:cs typeface="Arial"/>
              </a:rPr>
              <a:t>His_Y06_U1_SS_IdentPointsOfViewInThePast</a:t>
            </a:r>
          </a:p>
        </p:txBody>
      </p:sp>
      <p:pic>
        <p:nvPicPr>
          <p:cNvPr id="18" name="Picture 17" descr="C2CIcon.png"/>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76144" y="6520911"/>
            <a:ext cx="424150" cy="184018"/>
          </a:xfrm>
          <a:prstGeom prst="rect">
            <a:avLst/>
          </a:prstGeom>
        </p:spPr>
      </p:pic>
      <p:pic>
        <p:nvPicPr>
          <p:cNvPr id="19" name="Picture 18" descr="Qld-CoA-1LS-S-mono-webTRANS.png"/>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753964" y="6575577"/>
            <a:ext cx="1313166" cy="227142"/>
          </a:xfrm>
          <a:prstGeom prst="rect">
            <a:avLst/>
          </a:prstGeom>
        </p:spPr>
      </p:pic>
      <p:pic>
        <p:nvPicPr>
          <p:cNvPr id="10" name="Picture 9" descr="../../../../../../../../Volumes/Data/Coredata/DevArea/C2C/ePublishing/Templates/logos/20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563888" y="6605324"/>
            <a:ext cx="1719220" cy="208052"/>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dt="0"/>
  <p:txStyles>
    <p:title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p:titleStyle>
    <p:bodyStyle>
      <a:lvl1pPr marL="342900" indent="-228600" algn="l" rtl="0" eaLnBrk="0" fontAlgn="base" hangingPunct="0">
        <a:spcBef>
          <a:spcPct val="20000"/>
        </a:spcBef>
        <a:spcAft>
          <a:spcPct val="0"/>
        </a:spcAft>
        <a:buClr>
          <a:schemeClr val="accent1"/>
        </a:buClr>
        <a:buFont typeface="Arial" charset="0"/>
        <a:buChar char="•"/>
        <a:defRPr sz="2200" kern="1200">
          <a:solidFill>
            <a:schemeClr val="tx1"/>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charset="0"/>
        <a:buChar char="•"/>
        <a:defRPr sz="2000" kern="1200">
          <a:solidFill>
            <a:schemeClr val="tx1"/>
          </a:solidFill>
          <a:latin typeface="+mn-lt"/>
          <a:ea typeface="+mn-ea"/>
          <a:cs typeface="+mn-cs"/>
        </a:defRPr>
      </a:lvl2pPr>
      <a:lvl3pPr marL="1004888" indent="-228600" algn="l" rtl="0" eaLnBrk="0" fontAlgn="base" hangingPunct="0">
        <a:spcBef>
          <a:spcPct val="20000"/>
        </a:spcBef>
        <a:spcAft>
          <a:spcPct val="0"/>
        </a:spcAft>
        <a:buClr>
          <a:srgbClr val="D2CB6C"/>
        </a:buClr>
        <a:buFont typeface="Arial" charset="0"/>
        <a:buChar char="•"/>
        <a:defRPr kern="1200">
          <a:solidFill>
            <a:schemeClr val="tx1"/>
          </a:solidFill>
          <a:latin typeface="+mn-lt"/>
          <a:ea typeface="+mn-ea"/>
          <a:cs typeface="+mn-cs"/>
        </a:defRPr>
      </a:lvl3pPr>
      <a:lvl4pPr marL="1279525" indent="-228600" algn="l" rtl="0" eaLnBrk="0" fontAlgn="base" hangingPunct="0">
        <a:spcBef>
          <a:spcPct val="20000"/>
        </a:spcBef>
        <a:spcAft>
          <a:spcPct val="0"/>
        </a:spcAft>
        <a:buClr>
          <a:srgbClr val="95A39D"/>
        </a:buClr>
        <a:buFont typeface="Arial" charset="0"/>
        <a:buChar char="•"/>
        <a:defRPr sz="1600" kern="1200">
          <a:solidFill>
            <a:schemeClr val="tx1"/>
          </a:solidFill>
          <a:latin typeface="+mn-lt"/>
          <a:ea typeface="+mn-ea"/>
          <a:cs typeface="+mn-cs"/>
        </a:defRPr>
      </a:lvl4pPr>
      <a:lvl5pPr marL="1554163" indent="-228600" algn="l" rtl="0" eaLnBrk="0" fontAlgn="base" hangingPunct="0">
        <a:spcBef>
          <a:spcPct val="20000"/>
        </a:spcBef>
        <a:spcAft>
          <a:spcPct val="0"/>
        </a:spcAft>
        <a:buClr>
          <a:srgbClr val="C89F5D"/>
        </a:buClr>
        <a:buFont typeface="Arial"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884696" y="620687"/>
            <a:ext cx="7359712" cy="2016225"/>
          </a:xfrm>
        </p:spPr>
        <p:txBody>
          <a:bodyPr/>
          <a:lstStyle/>
          <a:p>
            <a:pPr algn="ctr" eaLnBrk="1" fontAlgn="auto" hangingPunct="1">
              <a:spcAft>
                <a:spcPts val="0"/>
              </a:spcAft>
              <a:defRPr/>
            </a:pPr>
            <a:r>
              <a:rPr lang="en-AU" sz="4800" b="1" dirty="0" smtClean="0"/>
              <a:t>Identifying points of view in the past</a:t>
            </a:r>
            <a:br>
              <a:rPr lang="en-AU" sz="4800" b="1" dirty="0" smtClean="0"/>
            </a:br>
            <a:endParaRPr lang="en-AU" sz="4800" b="1"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2688" y="2316958"/>
            <a:ext cx="3492098" cy="3185229"/>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9736" y="2316958"/>
            <a:ext cx="3622013" cy="3185229"/>
          </a:xfrm>
          <a:prstGeom prst="rect">
            <a:avLst/>
          </a:prstGeom>
          <a:ln>
            <a:noFill/>
          </a:ln>
          <a:effectLst>
            <a:outerShdw blurRad="292100" dist="139700" dir="2700000" algn="tl" rotWithShape="0">
              <a:srgbClr val="333333">
                <a:alpha val="65000"/>
              </a:srgbClr>
            </a:outerShdw>
          </a:effectLst>
        </p:spPr>
      </p:pic>
      <p:sp>
        <p:nvSpPr>
          <p:cNvPr id="6" name="Rectangle 5"/>
          <p:cNvSpPr/>
          <p:nvPr/>
        </p:nvSpPr>
        <p:spPr>
          <a:xfrm>
            <a:off x="812687" y="5512397"/>
            <a:ext cx="7569061" cy="261610"/>
          </a:xfrm>
          <a:prstGeom prst="rect">
            <a:avLst/>
          </a:prstGeom>
        </p:spPr>
        <p:txBody>
          <a:bodyPr wrap="square">
            <a:spAutoFit/>
          </a:bodyPr>
          <a:lstStyle/>
          <a:p>
            <a:pPr algn="ctr"/>
            <a:r>
              <a:rPr lang="en-AU" altLang="en-US" sz="1100" i="1" dirty="0" smtClean="0">
                <a:latin typeface="Arial" charset="0"/>
              </a:rPr>
              <a:t>The </a:t>
            </a:r>
            <a:r>
              <a:rPr lang="en-AU" altLang="en-US" sz="1100" i="1" dirty="0">
                <a:latin typeface="Arial" charset="0"/>
              </a:rPr>
              <a:t>Argus</a:t>
            </a:r>
            <a:r>
              <a:rPr lang="en-AU" altLang="en-US" sz="1100" dirty="0">
                <a:latin typeface="Arial" charset="0"/>
              </a:rPr>
              <a:t> (Melbourne),1 June 1898</a:t>
            </a:r>
          </a:p>
        </p:txBody>
      </p:sp>
      <p:sp>
        <p:nvSpPr>
          <p:cNvPr id="7" name="TextBox 6"/>
          <p:cNvSpPr txBox="1"/>
          <p:nvPr/>
        </p:nvSpPr>
        <p:spPr>
          <a:xfrm>
            <a:off x="0" y="5714879"/>
            <a:ext cx="1346479" cy="522433"/>
          </a:xfrm>
          <a:prstGeom prst="rect">
            <a:avLst/>
          </a:prstGeom>
          <a:solidFill>
            <a:srgbClr val="C00000"/>
          </a:solidFill>
          <a:ln>
            <a:noFill/>
          </a:ln>
          <a:effectLst/>
        </p:spPr>
        <p:style>
          <a:lnRef idx="2">
            <a:schemeClr val="accent5"/>
          </a:lnRef>
          <a:fillRef idx="1">
            <a:schemeClr val="lt1"/>
          </a:fillRef>
          <a:effectRef idx="0">
            <a:schemeClr val="accent5"/>
          </a:effectRef>
          <a:fontRef idx="minor">
            <a:schemeClr val="dk1"/>
          </a:fontRef>
        </p:style>
        <p:txBody>
          <a:bodyPr wrap="square" lIns="108000" tIns="72000" rIns="108000" bIns="72000" rtlCol="0">
            <a:spAutoFit/>
          </a:bodyPr>
          <a:lstStyle/>
          <a:p>
            <a:pPr>
              <a:spcAft>
                <a:spcPts val="2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2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593" y="942678"/>
            <a:ext cx="2722563"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p:cNvSpPr txBox="1">
            <a:spLocks/>
          </p:cNvSpPr>
          <p:nvPr/>
        </p:nvSpPr>
        <p:spPr>
          <a:xfrm>
            <a:off x="0" y="44624"/>
            <a:ext cx="9144000" cy="777875"/>
          </a:xfrm>
          <a:prstGeom prst="rect">
            <a:avLst/>
          </a:prstGeom>
        </p:spPr>
        <p:txBody>
          <a:bodyPr/>
          <a:lstStyle>
            <a:lvl1pPr algn="l" rtl="0" eaLnBrk="0" fontAlgn="base" hangingPunct="0">
              <a:spcBef>
                <a:spcPct val="0"/>
              </a:spcBef>
              <a:spcAft>
                <a:spcPct val="0"/>
              </a:spcAft>
              <a:defRPr sz="4600" kern="1200" spc="-100">
                <a:solidFill>
                  <a:schemeClr val="tx2"/>
                </a:solidFill>
                <a:latin typeface="+mj-lt"/>
                <a:ea typeface="+mj-ea"/>
                <a:cs typeface="+mj-cs"/>
              </a:defRPr>
            </a:lvl1pPr>
            <a:lvl2pPr algn="l" rtl="0" eaLnBrk="0" fontAlgn="base" hangingPunct="0">
              <a:spcBef>
                <a:spcPct val="0"/>
              </a:spcBef>
              <a:spcAft>
                <a:spcPct val="0"/>
              </a:spcAft>
              <a:defRPr sz="4600">
                <a:solidFill>
                  <a:schemeClr val="tx2"/>
                </a:solidFill>
                <a:latin typeface="Cambria" pitchFamily="18" charset="0"/>
              </a:defRPr>
            </a:lvl2pPr>
            <a:lvl3pPr algn="l" rtl="0" eaLnBrk="0" fontAlgn="base" hangingPunct="0">
              <a:spcBef>
                <a:spcPct val="0"/>
              </a:spcBef>
              <a:spcAft>
                <a:spcPct val="0"/>
              </a:spcAft>
              <a:defRPr sz="4600">
                <a:solidFill>
                  <a:schemeClr val="tx2"/>
                </a:solidFill>
                <a:latin typeface="Cambria" pitchFamily="18" charset="0"/>
              </a:defRPr>
            </a:lvl3pPr>
            <a:lvl4pPr algn="l" rtl="0" eaLnBrk="0" fontAlgn="base" hangingPunct="0">
              <a:spcBef>
                <a:spcPct val="0"/>
              </a:spcBef>
              <a:spcAft>
                <a:spcPct val="0"/>
              </a:spcAft>
              <a:defRPr sz="4600">
                <a:solidFill>
                  <a:schemeClr val="tx2"/>
                </a:solidFill>
                <a:latin typeface="Cambria" pitchFamily="18" charset="0"/>
              </a:defRPr>
            </a:lvl4pPr>
            <a:lvl5pPr algn="l" rtl="0" eaLnBrk="0" fontAlgn="base" hangingPunct="0">
              <a:spcBef>
                <a:spcPct val="0"/>
              </a:spcBef>
              <a:spcAft>
                <a:spcPct val="0"/>
              </a:spcAft>
              <a:defRPr sz="4600">
                <a:solidFill>
                  <a:schemeClr val="tx2"/>
                </a:solidFill>
                <a:latin typeface="Cambria" pitchFamily="18" charset="0"/>
              </a:defRPr>
            </a:lvl5pPr>
            <a:lvl6pPr marL="457200" algn="l" rtl="0" fontAlgn="base">
              <a:spcBef>
                <a:spcPct val="0"/>
              </a:spcBef>
              <a:spcAft>
                <a:spcPct val="0"/>
              </a:spcAft>
              <a:defRPr sz="4600">
                <a:solidFill>
                  <a:schemeClr val="tx2"/>
                </a:solidFill>
                <a:latin typeface="Cambria" pitchFamily="18" charset="0"/>
              </a:defRPr>
            </a:lvl6pPr>
            <a:lvl7pPr marL="914400" algn="l" rtl="0" fontAlgn="base">
              <a:spcBef>
                <a:spcPct val="0"/>
              </a:spcBef>
              <a:spcAft>
                <a:spcPct val="0"/>
              </a:spcAft>
              <a:defRPr sz="4600">
                <a:solidFill>
                  <a:schemeClr val="tx2"/>
                </a:solidFill>
                <a:latin typeface="Cambria" pitchFamily="18" charset="0"/>
              </a:defRPr>
            </a:lvl7pPr>
            <a:lvl8pPr marL="1371600" algn="l" rtl="0" fontAlgn="base">
              <a:spcBef>
                <a:spcPct val="0"/>
              </a:spcBef>
              <a:spcAft>
                <a:spcPct val="0"/>
              </a:spcAft>
              <a:defRPr sz="4600">
                <a:solidFill>
                  <a:schemeClr val="tx2"/>
                </a:solidFill>
                <a:latin typeface="Cambria" pitchFamily="18" charset="0"/>
              </a:defRPr>
            </a:lvl8pPr>
            <a:lvl9pPr marL="1828800" algn="l" rtl="0" fontAlgn="base">
              <a:spcBef>
                <a:spcPct val="0"/>
              </a:spcBef>
              <a:spcAft>
                <a:spcPct val="0"/>
              </a:spcAft>
              <a:defRPr sz="4600">
                <a:solidFill>
                  <a:schemeClr val="tx2"/>
                </a:solidFill>
                <a:latin typeface="Cambria" pitchFamily="18" charset="0"/>
              </a:defRPr>
            </a:lvl9pPr>
          </a:lstStyle>
          <a:p>
            <a:pPr algn="ctr" eaLnBrk="1" fontAlgn="auto" hangingPunct="1">
              <a:spcAft>
                <a:spcPts val="0"/>
              </a:spcAft>
              <a:defRPr/>
            </a:pPr>
            <a:r>
              <a:rPr lang="en-AU" sz="4000" b="1" dirty="0" smtClean="0"/>
              <a:t>A cartoon from the past</a:t>
            </a:r>
            <a:endParaRPr lang="en-AU" sz="4000" b="1" dirty="0"/>
          </a:p>
        </p:txBody>
      </p:sp>
      <p:sp>
        <p:nvSpPr>
          <p:cNvPr id="3076" name="TextBox 4"/>
          <p:cNvSpPr txBox="1">
            <a:spLocks noChangeArrowheads="1"/>
          </p:cNvSpPr>
          <p:nvPr/>
        </p:nvSpPr>
        <p:spPr bwMode="auto">
          <a:xfrm>
            <a:off x="395288" y="1700213"/>
            <a:ext cx="4537075" cy="3108543"/>
          </a:xfrm>
          <a:prstGeom prst="rect">
            <a:avLst/>
          </a:prstGeom>
          <a:ln/>
          <a:extLst/>
        </p:spPr>
        <p:style>
          <a:lnRef idx="1">
            <a:schemeClr val="accent3"/>
          </a:lnRef>
          <a:fillRef idx="2">
            <a:schemeClr val="accent3"/>
          </a:fillRef>
          <a:effectRef idx="1">
            <a:schemeClr val="accent3"/>
          </a:effectRef>
          <a:fontRef idx="minor">
            <a:schemeClr val="dk1"/>
          </a:fontRef>
        </p:style>
        <p:txBody>
          <a:bodyPr>
            <a:spAutoFit/>
          </a:bodyPr>
          <a:lstStyle>
            <a:lvl1pPr marL="457200" indent="-457200"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buFont typeface="Arial" charset="0"/>
              <a:buChar char="•"/>
            </a:pPr>
            <a:r>
              <a:rPr lang="en-AU" altLang="en-US" sz="2800" dirty="0"/>
              <a:t>A political cartoon is a historical </a:t>
            </a:r>
            <a:r>
              <a:rPr lang="en-AU" altLang="en-US" sz="2800" dirty="0" smtClean="0"/>
              <a:t>source.</a:t>
            </a:r>
            <a:endParaRPr lang="en-AU" altLang="en-US" sz="2800" dirty="0"/>
          </a:p>
          <a:p>
            <a:pPr eaLnBrk="1" hangingPunct="1">
              <a:buFont typeface="Arial" charset="0"/>
              <a:buChar char="•"/>
            </a:pPr>
            <a:endParaRPr lang="en-AU" altLang="en-US" sz="2800" dirty="0"/>
          </a:p>
          <a:p>
            <a:pPr eaLnBrk="1" hangingPunct="1">
              <a:buFont typeface="Arial" charset="0"/>
              <a:buChar char="•"/>
            </a:pPr>
            <a:r>
              <a:rPr lang="en-AU" altLang="en-US" sz="2800" dirty="0"/>
              <a:t>The cartoonist presents his/her point of view about an event, person or development at the </a:t>
            </a:r>
            <a:r>
              <a:rPr lang="en-AU" altLang="en-US" sz="2800" dirty="0" smtClean="0"/>
              <a:t>time.</a:t>
            </a:r>
            <a:endParaRPr lang="en-AU" altLang="en-US" sz="2800" dirty="0"/>
          </a:p>
        </p:txBody>
      </p:sp>
      <p:sp>
        <p:nvSpPr>
          <p:cNvPr id="3077" name="TextBox 5"/>
          <p:cNvSpPr txBox="1">
            <a:spLocks noChangeArrowheads="1"/>
          </p:cNvSpPr>
          <p:nvPr/>
        </p:nvSpPr>
        <p:spPr bwMode="auto">
          <a:xfrm>
            <a:off x="5220593" y="5927428"/>
            <a:ext cx="28077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AU" altLang="en-US" sz="1200" i="1" dirty="0">
                <a:latin typeface="Arial" charset="0"/>
              </a:rPr>
              <a:t>The Argus</a:t>
            </a:r>
            <a:r>
              <a:rPr lang="en-AU" altLang="en-US" sz="1200" dirty="0">
                <a:latin typeface="Arial" charset="0"/>
              </a:rPr>
              <a:t> (Melbourne), 1 </a:t>
            </a:r>
            <a:r>
              <a:rPr lang="en-AU" altLang="en-US" sz="1200" dirty="0" smtClean="0">
                <a:latin typeface="Arial" charset="0"/>
              </a:rPr>
              <a:t>June, </a:t>
            </a:r>
            <a:r>
              <a:rPr lang="en-AU" altLang="en-US" sz="1200" dirty="0">
                <a:latin typeface="Arial" charset="0"/>
              </a:rPr>
              <a:t>1898</a:t>
            </a:r>
            <a:endParaRPr lang="en-AU" altLang="en-US" sz="1200" dirty="0"/>
          </a:p>
        </p:txBody>
      </p:sp>
      <p:sp>
        <p:nvSpPr>
          <p:cNvPr id="2" name="Oval 1"/>
          <p:cNvSpPr/>
          <p:nvPr/>
        </p:nvSpPr>
        <p:spPr>
          <a:xfrm>
            <a:off x="4932040" y="5881812"/>
            <a:ext cx="3456384" cy="42750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lstStyle/>
          <a:p>
            <a:pPr algn="ctr" eaLnBrk="1" fontAlgn="auto" hangingPunct="1">
              <a:spcAft>
                <a:spcPts val="0"/>
              </a:spcAft>
              <a:defRPr/>
            </a:pPr>
            <a:r>
              <a:rPr lang="en-AU" sz="4000" b="1" dirty="0" smtClean="0"/>
              <a:t>What was happening at that time?</a:t>
            </a:r>
            <a:endParaRPr lang="en-AU" sz="4000" b="1" dirty="0"/>
          </a:p>
        </p:txBody>
      </p:sp>
      <p:sp>
        <p:nvSpPr>
          <p:cNvPr id="3" name="Content Placeholder 2"/>
          <p:cNvSpPr>
            <a:spLocks noGrp="1"/>
          </p:cNvSpPr>
          <p:nvPr>
            <p:ph idx="1"/>
          </p:nvPr>
        </p:nvSpPr>
        <p:spPr>
          <a:xfrm>
            <a:off x="1979712" y="1556792"/>
            <a:ext cx="4968552" cy="432048"/>
          </a:xfrm>
          <a:solidFill>
            <a:schemeClr val="accent3">
              <a:lumMod val="40000"/>
              <a:lumOff val="60000"/>
            </a:schemeClr>
          </a:solidFill>
          <a:ln>
            <a:solidFill>
              <a:schemeClr val="accent3"/>
            </a:solidFill>
          </a:ln>
        </p:spPr>
        <p:style>
          <a:lnRef idx="2">
            <a:schemeClr val="accent3"/>
          </a:lnRef>
          <a:fillRef idx="1">
            <a:schemeClr val="lt1"/>
          </a:fillRef>
          <a:effectRef idx="0">
            <a:schemeClr val="accent3"/>
          </a:effectRef>
          <a:fontRef idx="minor">
            <a:schemeClr val="dk1"/>
          </a:fontRef>
        </p:style>
        <p:txBody>
          <a:bodyPr rtlCol="0">
            <a:normAutofit/>
          </a:bodyPr>
          <a:lstStyle/>
          <a:p>
            <a:pPr marL="114300" indent="0" algn="ctr" eaLnBrk="1" fontAlgn="auto" hangingPunct="1">
              <a:spcAft>
                <a:spcPts val="0"/>
              </a:spcAft>
              <a:buFont typeface="Arial" charset="0"/>
              <a:buNone/>
              <a:defRPr/>
            </a:pPr>
            <a:r>
              <a:rPr lang="en-AU" dirty="0" smtClean="0"/>
              <a:t>The date of the cartoon is 1 June, 1898.</a:t>
            </a:r>
          </a:p>
          <a:p>
            <a:pPr algn="ctr" eaLnBrk="1" fontAlgn="auto" hangingPunct="1">
              <a:spcAft>
                <a:spcPts val="0"/>
              </a:spcAft>
              <a:buFont typeface="Arial" pitchFamily="34" charset="0"/>
              <a:buChar char="•"/>
              <a:defRPr/>
            </a:pPr>
            <a:endParaRPr lang="en-AU" dirty="0"/>
          </a:p>
          <a:p>
            <a:pPr marL="640080" lvl="1" algn="ctr" eaLnBrk="1" fontAlgn="auto" hangingPunct="1">
              <a:spcAft>
                <a:spcPts val="0"/>
              </a:spcAft>
              <a:buFont typeface="Arial" pitchFamily="34" charset="0"/>
              <a:buChar char="•"/>
              <a:defRPr/>
            </a:pPr>
            <a:endParaRPr lang="en-AU" b="1" dirty="0" smtClean="0"/>
          </a:p>
        </p:txBody>
      </p:sp>
      <p:sp>
        <p:nvSpPr>
          <p:cNvPr id="8" name="Rectangular Callout 7"/>
          <p:cNvSpPr/>
          <p:nvPr/>
        </p:nvSpPr>
        <p:spPr>
          <a:xfrm>
            <a:off x="1979712" y="2276872"/>
            <a:ext cx="4968552" cy="1440160"/>
          </a:xfrm>
          <a:prstGeom prst="wedgeRectCallout">
            <a:avLst>
              <a:gd name="adj1" fmla="val -20833"/>
              <a:gd name="adj2" fmla="val 499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600" dirty="0" smtClean="0"/>
              <a:t>What </a:t>
            </a:r>
            <a:r>
              <a:rPr lang="en-AU" sz="3600" dirty="0"/>
              <a:t>was happening in the colonies at this time? </a:t>
            </a:r>
          </a:p>
        </p:txBody>
      </p:sp>
      <p:sp>
        <p:nvSpPr>
          <p:cNvPr id="9" name="Rectangular Callout 8"/>
          <p:cNvSpPr/>
          <p:nvPr/>
        </p:nvSpPr>
        <p:spPr>
          <a:xfrm>
            <a:off x="1979712" y="4005064"/>
            <a:ext cx="4968552" cy="2016224"/>
          </a:xfrm>
          <a:prstGeom prst="wedgeRectCallout">
            <a:avLst>
              <a:gd name="adj1" fmla="val -20641"/>
              <a:gd name="adj2" fmla="val 49745"/>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3200" dirty="0">
                <a:solidFill>
                  <a:schemeClr val="tx1"/>
                </a:solidFill>
              </a:rPr>
              <a:t>There were problems in the colonies and Federation was being considered as a solution.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0306"/>
            <a:ext cx="9144000" cy="850900"/>
          </a:xfrm>
        </p:spPr>
        <p:txBody>
          <a:bodyPr/>
          <a:lstStyle/>
          <a:p>
            <a:pPr algn="ctr" eaLnBrk="1" fontAlgn="auto" hangingPunct="1">
              <a:spcAft>
                <a:spcPts val="0"/>
              </a:spcAft>
              <a:defRPr/>
            </a:pPr>
            <a:r>
              <a:rPr lang="en-AU" sz="4000" b="1" dirty="0" smtClean="0"/>
              <a:t>Describing a cartoon</a:t>
            </a:r>
            <a:endParaRPr lang="en-AU" sz="4000" b="1" dirty="0"/>
          </a:p>
        </p:txBody>
      </p:sp>
      <p:sp>
        <p:nvSpPr>
          <p:cNvPr id="5123" name="TextBox 5"/>
          <p:cNvSpPr txBox="1">
            <a:spLocks noChangeArrowheads="1"/>
          </p:cNvSpPr>
          <p:nvPr/>
        </p:nvSpPr>
        <p:spPr bwMode="auto">
          <a:xfrm>
            <a:off x="5508105" y="6049963"/>
            <a:ext cx="272308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algn="ctr" hangingPunct="1">
              <a:spcBef>
                <a:spcPct val="0"/>
              </a:spcBef>
              <a:buClrTx/>
              <a:buFontTx/>
              <a:buNone/>
            </a:pPr>
            <a:r>
              <a:rPr lang="en-AU" altLang="en-US" sz="800" i="1" dirty="0">
                <a:latin typeface="Arial" charset="0"/>
              </a:rPr>
              <a:t>The Argus</a:t>
            </a:r>
            <a:r>
              <a:rPr lang="en-AU" altLang="en-US" sz="800" dirty="0">
                <a:latin typeface="Arial" charset="0"/>
              </a:rPr>
              <a:t> (Melbourne), 1 June 1898</a:t>
            </a:r>
          </a:p>
        </p:txBody>
      </p:sp>
      <p:pic>
        <p:nvPicPr>
          <p:cNvPr id="512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1052513"/>
            <a:ext cx="2722563" cy="497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Box 3"/>
          <p:cNvSpPr txBox="1">
            <a:spLocks noChangeArrowheads="1"/>
          </p:cNvSpPr>
          <p:nvPr/>
        </p:nvSpPr>
        <p:spPr bwMode="auto">
          <a:xfrm>
            <a:off x="393700" y="2276475"/>
            <a:ext cx="4608513" cy="2677656"/>
          </a:xfrm>
          <a:prstGeom prst="rect">
            <a:avLst/>
          </a:prstGeom>
          <a:ln/>
          <a:extLst/>
        </p:spPr>
        <p:style>
          <a:lnRef idx="1">
            <a:schemeClr val="accent1"/>
          </a:lnRef>
          <a:fillRef idx="2">
            <a:schemeClr val="accent1"/>
          </a:fillRef>
          <a:effectRef idx="1">
            <a:schemeClr val="accent1"/>
          </a:effectRef>
          <a:fontRef idx="minor">
            <a:schemeClr val="dk1"/>
          </a:fontRef>
        </p:style>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marL="514350" indent="-514350" eaLnBrk="1" hangingPunct="1">
              <a:buAutoNum type="arabicPeriod"/>
            </a:pPr>
            <a:r>
              <a:rPr lang="en-AU" altLang="en-US" sz="2800" dirty="0" smtClean="0"/>
              <a:t>Describe the </a:t>
            </a:r>
            <a:r>
              <a:rPr lang="en-AU" altLang="en-US" sz="2800" b="1" dirty="0" smtClean="0">
                <a:solidFill>
                  <a:srgbClr val="FF0000"/>
                </a:solidFill>
                <a:effectLst>
                  <a:outerShdw blurRad="38100" dist="38100" dir="2700000" algn="tl">
                    <a:srgbClr val="000000">
                      <a:alpha val="43137"/>
                    </a:srgbClr>
                  </a:outerShdw>
                </a:effectLst>
              </a:rPr>
              <a:t>visual language features </a:t>
            </a:r>
            <a:r>
              <a:rPr lang="en-AU" altLang="en-US" sz="2800" dirty="0" smtClean="0"/>
              <a:t>– the images and symbols. </a:t>
            </a:r>
          </a:p>
          <a:p>
            <a:pPr marL="514350" indent="-514350" eaLnBrk="1" hangingPunct="1">
              <a:buAutoNum type="arabicPeriod"/>
            </a:pPr>
            <a:r>
              <a:rPr lang="en-AU" altLang="en-US" sz="2800" dirty="0" smtClean="0"/>
              <a:t>Describe the </a:t>
            </a:r>
            <a:r>
              <a:rPr lang="en-AU" altLang="en-US" sz="2800" b="1" dirty="0" smtClean="0">
                <a:solidFill>
                  <a:srgbClr val="00B050"/>
                </a:solidFill>
                <a:effectLst>
                  <a:outerShdw blurRad="38100" dist="38100" dir="2700000" algn="tl">
                    <a:srgbClr val="000000">
                      <a:alpha val="43137"/>
                    </a:srgbClr>
                  </a:outerShdw>
                </a:effectLst>
              </a:rPr>
              <a:t>written language features </a:t>
            </a:r>
            <a:r>
              <a:rPr lang="en-AU" altLang="en-US" sz="2800" dirty="0" smtClean="0"/>
              <a:t>– the words or text. </a:t>
            </a:r>
          </a:p>
        </p:txBody>
      </p:sp>
      <p:grpSp>
        <p:nvGrpSpPr>
          <p:cNvPr id="4" name="Group 3"/>
          <p:cNvGrpSpPr/>
          <p:nvPr/>
        </p:nvGrpSpPr>
        <p:grpSpPr>
          <a:xfrm>
            <a:off x="5508623" y="1640676"/>
            <a:ext cx="2722564" cy="4236595"/>
            <a:chOff x="5508623" y="1640676"/>
            <a:chExt cx="2722564" cy="4236595"/>
          </a:xfrm>
        </p:grpSpPr>
        <p:sp>
          <p:nvSpPr>
            <p:cNvPr id="3" name="Rectangle 2"/>
            <p:cNvSpPr/>
            <p:nvPr/>
          </p:nvSpPr>
          <p:spPr>
            <a:xfrm>
              <a:off x="5508624" y="3615302"/>
              <a:ext cx="2722563" cy="22619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noFill/>
              </a:endParaRPr>
            </a:p>
          </p:txBody>
        </p:sp>
        <p:sp>
          <p:nvSpPr>
            <p:cNvPr id="9" name="Rectangle 8"/>
            <p:cNvSpPr/>
            <p:nvPr/>
          </p:nvSpPr>
          <p:spPr>
            <a:xfrm>
              <a:off x="5508623" y="1640676"/>
              <a:ext cx="2722563" cy="1800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noFill/>
              </a:endParaRPr>
            </a:p>
          </p:txBody>
        </p:sp>
      </p:grpSp>
      <p:grpSp>
        <p:nvGrpSpPr>
          <p:cNvPr id="10" name="Group 9"/>
          <p:cNvGrpSpPr/>
          <p:nvPr/>
        </p:nvGrpSpPr>
        <p:grpSpPr>
          <a:xfrm>
            <a:off x="5508104" y="1280635"/>
            <a:ext cx="2808312" cy="4745515"/>
            <a:chOff x="5508104" y="1280635"/>
            <a:chExt cx="2808312" cy="4745515"/>
          </a:xfrm>
        </p:grpSpPr>
        <p:sp>
          <p:nvSpPr>
            <p:cNvPr id="6" name="Oval 5"/>
            <p:cNvSpPr/>
            <p:nvPr/>
          </p:nvSpPr>
          <p:spPr>
            <a:xfrm>
              <a:off x="5508104" y="1280635"/>
              <a:ext cx="2808312" cy="420173"/>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n>
                  <a:solidFill>
                    <a:srgbClr val="92D050"/>
                  </a:solidFill>
                </a:ln>
                <a:noFill/>
              </a:endParaRPr>
            </a:p>
          </p:txBody>
        </p:sp>
        <p:sp>
          <p:nvSpPr>
            <p:cNvPr id="13" name="Oval 12"/>
            <p:cNvSpPr/>
            <p:nvPr/>
          </p:nvSpPr>
          <p:spPr>
            <a:xfrm>
              <a:off x="5868540" y="3353373"/>
              <a:ext cx="2240421" cy="275295"/>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n>
                  <a:solidFill>
                    <a:srgbClr val="92D050"/>
                  </a:solidFill>
                </a:ln>
                <a:noFill/>
              </a:endParaRPr>
            </a:p>
          </p:txBody>
        </p:sp>
        <p:sp>
          <p:nvSpPr>
            <p:cNvPr id="14" name="Oval 13"/>
            <p:cNvSpPr/>
            <p:nvPr/>
          </p:nvSpPr>
          <p:spPr>
            <a:xfrm>
              <a:off x="5868541" y="5750855"/>
              <a:ext cx="2159843" cy="275295"/>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ln>
                  <a:solidFill>
                    <a:srgbClr val="92D050"/>
                  </a:solidFill>
                </a:ln>
                <a:no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6" presetClass="emph" presetSubtype="0" repeatCount="2000" fill="hold" nodeType="afterEffect">
                                  <p:stCondLst>
                                    <p:cond delay="0"/>
                                  </p:stCondLst>
                                  <p:childTnLst>
                                    <p:animEffect transition="out" filter="fade">
                                      <p:cBhvr>
                                        <p:cTn id="10" dur="500" tmFilter="0, 0; .2, .5; .8, .5; 1, 0"/>
                                        <p:tgtEl>
                                          <p:spTgt spid="4"/>
                                        </p:tgtEl>
                                      </p:cBhvr>
                                    </p:animEffect>
                                    <p:animScale>
                                      <p:cBhvr>
                                        <p:cTn id="11" dur="250" autoRev="1" fill="hold"/>
                                        <p:tgtEl>
                                          <p:spTgt spid="4"/>
                                        </p:tgtEl>
                                      </p:cBhvr>
                                      <p:by x="105000" y="105000"/>
                                    </p:animScale>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26" presetClass="emph" presetSubtype="0" repeatCount="2000" fill="hold" nodeType="afterEffect">
                                  <p:stCondLst>
                                    <p:cond delay="0"/>
                                  </p:stCondLst>
                                  <p:childTnLst>
                                    <p:animEffect transition="out" filter="fade">
                                      <p:cBhvr>
                                        <p:cTn id="19" dur="1000" tmFilter="0, 0; .2, .5; .8, .5; 1, 0"/>
                                        <p:tgtEl>
                                          <p:spTgt spid="10"/>
                                        </p:tgtEl>
                                      </p:cBhvr>
                                    </p:animEffect>
                                    <p:animScale>
                                      <p:cBhvr>
                                        <p:cTn id="20" dur="500" autoRev="1" fill="hold"/>
                                        <p:tgtEl>
                                          <p:spTgt spid="10"/>
                                        </p:tgtEl>
                                      </p:cBhvr>
                                      <p:by x="105000" y="105000"/>
                                    </p:animScale>
                                  </p:childTnLst>
                                  <p:subTnLst>
                                    <p:set>
                                      <p:cBhvr override="childStyle">
                                        <p:cTn dur="1" fill="hold" display="0" masterRel="sameClick" afterEffect="1">
                                          <p:stCondLst>
                                            <p:cond evt="end" delay="0">
                                              <p:tn val="18"/>
                                            </p:cond>
                                          </p:stCondLst>
                                        </p:cTn>
                                        <p:tgtEl>
                                          <p:spTgt spid="1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1"/>
            <a:ext cx="9144000" cy="908720"/>
          </a:xfrm>
        </p:spPr>
        <p:txBody>
          <a:bodyPr/>
          <a:lstStyle/>
          <a:p>
            <a:pPr algn="ctr" eaLnBrk="1" fontAlgn="auto" hangingPunct="1">
              <a:spcAft>
                <a:spcPts val="0"/>
              </a:spcAft>
              <a:defRPr/>
            </a:pPr>
            <a:r>
              <a:rPr lang="en-AU" sz="4000" b="1" dirty="0" smtClean="0"/>
              <a:t>What</a:t>
            </a:r>
            <a:r>
              <a:rPr lang="en-AU" sz="6000" b="1" dirty="0" smtClean="0"/>
              <a:t> </a:t>
            </a:r>
            <a:r>
              <a:rPr lang="en-AU" sz="4000" b="1" dirty="0" smtClean="0"/>
              <a:t>do </a:t>
            </a:r>
            <a:r>
              <a:rPr lang="en-AU" sz="4000" b="1" dirty="0"/>
              <a:t>you </a:t>
            </a:r>
            <a:r>
              <a:rPr lang="en-AU" sz="4000" b="1" dirty="0" smtClean="0"/>
              <a:t>see in the top half?</a:t>
            </a:r>
            <a:endParaRPr lang="en-AU" sz="4000" b="1" dirty="0"/>
          </a:p>
        </p:txBody>
      </p:sp>
      <p:sp>
        <p:nvSpPr>
          <p:cNvPr id="4100" name="Content Placeholder 5"/>
          <p:cNvSpPr>
            <a:spLocks noGrp="1"/>
          </p:cNvSpPr>
          <p:nvPr>
            <p:ph sz="half" idx="2"/>
          </p:nvPr>
        </p:nvSpPr>
        <p:spPr>
          <a:xfrm>
            <a:off x="4932040" y="1196752"/>
            <a:ext cx="4104853" cy="4536504"/>
          </a:xfrm>
        </p:spPr>
        <p:style>
          <a:lnRef idx="1">
            <a:schemeClr val="accent2"/>
          </a:lnRef>
          <a:fillRef idx="2">
            <a:schemeClr val="accent2"/>
          </a:fillRef>
          <a:effectRef idx="1">
            <a:schemeClr val="accent2"/>
          </a:effectRef>
          <a:fontRef idx="minor">
            <a:schemeClr val="dk1"/>
          </a:fontRef>
        </p:style>
        <p:txBody>
          <a:bodyPr/>
          <a:lstStyle/>
          <a:p>
            <a:pPr marL="114300" indent="0" eaLnBrk="1" hangingPunct="1">
              <a:buFont typeface="Arial" charset="0"/>
              <a:buNone/>
              <a:defRPr/>
            </a:pPr>
            <a:r>
              <a:rPr lang="en-AU" altLang="en-US" sz="2200" dirty="0" smtClean="0"/>
              <a:t>Top half:</a:t>
            </a:r>
          </a:p>
          <a:p>
            <a:pPr eaLnBrk="1" hangingPunct="1">
              <a:defRPr/>
            </a:pPr>
            <a:r>
              <a:rPr lang="en-AU" altLang="en-US" sz="2200" dirty="0" smtClean="0"/>
              <a:t>Map of Australia</a:t>
            </a:r>
          </a:p>
          <a:p>
            <a:pPr eaLnBrk="1" hangingPunct="1">
              <a:defRPr/>
            </a:pPr>
            <a:r>
              <a:rPr lang="en-AU" altLang="en-US" sz="2200" dirty="0" smtClean="0"/>
              <a:t>Barriers/walls/fences</a:t>
            </a:r>
          </a:p>
          <a:p>
            <a:pPr eaLnBrk="1" hangingPunct="1">
              <a:defRPr/>
            </a:pPr>
            <a:r>
              <a:rPr lang="en-AU" altLang="en-US" sz="2200" dirty="0" smtClean="0"/>
              <a:t>Six male figures next to a flag with each colony’s name</a:t>
            </a:r>
          </a:p>
          <a:p>
            <a:pPr eaLnBrk="1" hangingPunct="1">
              <a:defRPr/>
            </a:pPr>
            <a:r>
              <a:rPr lang="en-AU" altLang="en-US" sz="2200" dirty="0" smtClean="0"/>
              <a:t>All the men are turned away from each other</a:t>
            </a:r>
          </a:p>
          <a:p>
            <a:pPr eaLnBrk="1" hangingPunct="1">
              <a:defRPr/>
            </a:pPr>
            <a:r>
              <a:rPr lang="en-AU" altLang="en-US" sz="2200" dirty="0" smtClean="0"/>
              <a:t>Title is </a:t>
            </a:r>
            <a:r>
              <a:rPr lang="en-AU" altLang="en-US" sz="2200" dirty="0"/>
              <a:t>‘Barriers between brothers </a:t>
            </a:r>
            <a:r>
              <a:rPr lang="en-AU" sz="2400" dirty="0">
                <a:solidFill>
                  <a:schemeClr val="tx1"/>
                </a:solidFill>
              </a:rPr>
              <a:t>—</a:t>
            </a:r>
            <a:r>
              <a:rPr lang="en-AU" altLang="en-US" sz="2200" dirty="0" smtClean="0"/>
              <a:t> </a:t>
            </a:r>
            <a:r>
              <a:rPr lang="en-AU" altLang="en-US" sz="2200" dirty="0"/>
              <a:t>shall they remain</a:t>
            </a:r>
            <a:r>
              <a:rPr lang="en-AU" altLang="en-US" sz="2200" dirty="0" smtClean="0"/>
              <a:t>?’</a:t>
            </a:r>
          </a:p>
          <a:p>
            <a:pPr eaLnBrk="1" hangingPunct="1">
              <a:defRPr/>
            </a:pPr>
            <a:r>
              <a:rPr lang="en-AU" sz="2200" dirty="0" smtClean="0"/>
              <a:t>Caption </a:t>
            </a:r>
            <a:r>
              <a:rPr lang="en-AU" sz="2200" dirty="0"/>
              <a:t>below the </a:t>
            </a:r>
            <a:r>
              <a:rPr lang="en-AU" sz="2200" dirty="0" smtClean="0"/>
              <a:t>image: ‘Look </a:t>
            </a:r>
            <a:r>
              <a:rPr lang="en-AU" sz="2200" dirty="0"/>
              <a:t>upon this </a:t>
            </a:r>
            <a:r>
              <a:rPr lang="en-AU" sz="2200" dirty="0" smtClean="0"/>
              <a:t>picture.’</a:t>
            </a:r>
            <a:endParaRPr lang="en-AU" altLang="en-US" sz="2200" dirty="0"/>
          </a:p>
          <a:p>
            <a:pPr eaLnBrk="1" hangingPunct="1">
              <a:defRPr/>
            </a:pPr>
            <a:endParaRPr lang="en-AU" altLang="en-US" sz="2000" dirty="0" smtClean="0"/>
          </a:p>
          <a:p>
            <a:pPr eaLnBrk="1" hangingPunct="1">
              <a:defRPr/>
            </a:pPr>
            <a:endParaRPr lang="en-AU" altLang="en-US" sz="1800" dirty="0" smtClean="0"/>
          </a:p>
        </p:txBody>
      </p:sp>
      <p:sp>
        <p:nvSpPr>
          <p:cNvPr id="6149" name="TextBox 5"/>
          <p:cNvSpPr txBox="1">
            <a:spLocks noChangeArrowheads="1"/>
          </p:cNvSpPr>
          <p:nvPr/>
        </p:nvSpPr>
        <p:spPr bwMode="auto">
          <a:xfrm>
            <a:off x="1187624" y="5738019"/>
            <a:ext cx="280831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algn="ctr" hangingPunct="1">
              <a:spcBef>
                <a:spcPct val="0"/>
              </a:spcBef>
              <a:buClrTx/>
              <a:buFontTx/>
              <a:buNone/>
            </a:pPr>
            <a:r>
              <a:rPr lang="en-AU" altLang="en-US" sz="800" i="1" dirty="0" smtClean="0">
                <a:latin typeface="Arial" charset="0"/>
              </a:rPr>
              <a:t>The </a:t>
            </a:r>
            <a:r>
              <a:rPr lang="en-AU" altLang="en-US" sz="800" i="1" dirty="0">
                <a:latin typeface="Arial" charset="0"/>
              </a:rPr>
              <a:t>Argus</a:t>
            </a:r>
            <a:r>
              <a:rPr lang="en-AU" altLang="en-US" sz="800" dirty="0">
                <a:latin typeface="Arial" charset="0"/>
              </a:rPr>
              <a:t> (Melbourne),1 June 1898</a:t>
            </a:r>
          </a:p>
        </p:txBody>
      </p:sp>
      <p:pic>
        <p:nvPicPr>
          <p:cNvPr id="6150"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7207" y="1214591"/>
            <a:ext cx="4934443" cy="4500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0">
                                            <p:bg/>
                                          </p:spTgt>
                                        </p:tgtEl>
                                        <p:attrNameLst>
                                          <p:attrName>style.visibility</p:attrName>
                                        </p:attrNameLst>
                                      </p:cBhvr>
                                      <p:to>
                                        <p:strVal val="visible"/>
                                      </p:to>
                                    </p:set>
                                    <p:anim calcmode="lin" valueType="num">
                                      <p:cBhvr additive="base">
                                        <p:cTn id="7" dur="500" fill="hold"/>
                                        <p:tgtEl>
                                          <p:spTgt spid="4100">
                                            <p:bg/>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00">
                                            <p:txEl>
                                              <p:pRg st="0" end="0"/>
                                            </p:txEl>
                                          </p:spTgt>
                                        </p:tgtEl>
                                        <p:attrNameLst>
                                          <p:attrName>style.visibility</p:attrName>
                                        </p:attrNameLst>
                                      </p:cBhvr>
                                      <p:to>
                                        <p:strVal val="visible"/>
                                      </p:to>
                                    </p:set>
                                    <p:anim calcmode="lin" valueType="num">
                                      <p:cBhvr additive="base">
                                        <p:cTn id="11" dur="500" fill="hold"/>
                                        <p:tgtEl>
                                          <p:spTgt spid="4100">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00">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100">
                                            <p:txEl>
                                              <p:pRg st="1" end="1"/>
                                            </p:txEl>
                                          </p:spTgt>
                                        </p:tgtEl>
                                        <p:attrNameLst>
                                          <p:attrName>style.visibility</p:attrName>
                                        </p:attrNameLst>
                                      </p:cBhvr>
                                      <p:to>
                                        <p:strVal val="visible"/>
                                      </p:to>
                                    </p:set>
                                    <p:anim calcmode="lin" valueType="num">
                                      <p:cBhvr additive="base">
                                        <p:cTn id="15"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100">
                                            <p:txEl>
                                              <p:pRg st="2" end="2"/>
                                            </p:txEl>
                                          </p:spTgt>
                                        </p:tgtEl>
                                        <p:attrNameLst>
                                          <p:attrName>style.visibility</p:attrName>
                                        </p:attrNameLst>
                                      </p:cBhvr>
                                      <p:to>
                                        <p:strVal val="visible"/>
                                      </p:to>
                                    </p:set>
                                    <p:anim calcmode="lin" valueType="num">
                                      <p:cBhvr additive="base">
                                        <p:cTn id="21" dur="500" fill="hold"/>
                                        <p:tgtEl>
                                          <p:spTgt spid="4100">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10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100">
                                            <p:txEl>
                                              <p:pRg st="3" end="3"/>
                                            </p:txEl>
                                          </p:spTgt>
                                        </p:tgtEl>
                                        <p:attrNameLst>
                                          <p:attrName>style.visibility</p:attrName>
                                        </p:attrNameLst>
                                      </p:cBhvr>
                                      <p:to>
                                        <p:strVal val="visible"/>
                                      </p:to>
                                    </p:set>
                                    <p:anim calcmode="lin" valueType="num">
                                      <p:cBhvr additive="base">
                                        <p:cTn id="27" dur="500" fill="hold"/>
                                        <p:tgtEl>
                                          <p:spTgt spid="4100">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10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100">
                                            <p:txEl>
                                              <p:pRg st="4" end="4"/>
                                            </p:txEl>
                                          </p:spTgt>
                                        </p:tgtEl>
                                        <p:attrNameLst>
                                          <p:attrName>style.visibility</p:attrName>
                                        </p:attrNameLst>
                                      </p:cBhvr>
                                      <p:to>
                                        <p:strVal val="visible"/>
                                      </p:to>
                                    </p:set>
                                    <p:anim calcmode="lin" valueType="num">
                                      <p:cBhvr additive="base">
                                        <p:cTn id="33" dur="500" fill="hold"/>
                                        <p:tgtEl>
                                          <p:spTgt spid="410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1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100">
                                            <p:txEl>
                                              <p:pRg st="5" end="5"/>
                                            </p:txEl>
                                          </p:spTgt>
                                        </p:tgtEl>
                                        <p:attrNameLst>
                                          <p:attrName>style.visibility</p:attrName>
                                        </p:attrNameLst>
                                      </p:cBhvr>
                                      <p:to>
                                        <p:strVal val="visible"/>
                                      </p:to>
                                    </p:set>
                                    <p:anim calcmode="lin" valueType="num">
                                      <p:cBhvr additive="base">
                                        <p:cTn id="39" dur="500" fill="hold"/>
                                        <p:tgtEl>
                                          <p:spTgt spid="4100">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10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4100">
                                            <p:txEl>
                                              <p:pRg st="6" end="6"/>
                                            </p:txEl>
                                          </p:spTgt>
                                        </p:tgtEl>
                                        <p:attrNameLst>
                                          <p:attrName>style.visibility</p:attrName>
                                        </p:attrNameLst>
                                      </p:cBhvr>
                                      <p:to>
                                        <p:strVal val="visible"/>
                                      </p:to>
                                    </p:set>
                                    <p:anim calcmode="lin" valueType="num">
                                      <p:cBhvr additive="base">
                                        <p:cTn id="45" dur="500" fill="hold"/>
                                        <p:tgtEl>
                                          <p:spTgt spid="4100">
                                            <p:txEl>
                                              <p:pRg st="6" end="6"/>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10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0" y="0"/>
            <a:ext cx="9144000" cy="1052736"/>
          </a:xfrm>
        </p:spPr>
        <p:txBody>
          <a:bodyPr/>
          <a:lstStyle/>
          <a:p>
            <a:pPr algn="ctr"/>
            <a:r>
              <a:rPr lang="en-AU" sz="4000" b="1" dirty="0" smtClean="0"/>
              <a:t>What do you see in the bottom half?</a:t>
            </a:r>
            <a:endParaRPr lang="en-AU" sz="4000" b="1" dirty="0"/>
          </a:p>
        </p:txBody>
      </p:sp>
      <p:sp>
        <p:nvSpPr>
          <p:cNvPr id="14" name="Content Placeholder 13"/>
          <p:cNvSpPr txBox="1">
            <a:spLocks noGrp="1"/>
          </p:cNvSpPr>
          <p:nvPr>
            <p:ph idx="1"/>
          </p:nvPr>
        </p:nvSpPr>
        <p:spPr>
          <a:xfrm>
            <a:off x="5148064" y="1556792"/>
            <a:ext cx="3744416" cy="415498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114300" indent="0">
              <a:spcBef>
                <a:spcPct val="20000"/>
              </a:spcBef>
              <a:buClr>
                <a:schemeClr val="accent1"/>
              </a:buClr>
              <a:buNone/>
              <a:defRPr/>
            </a:pPr>
            <a:r>
              <a:rPr lang="en-AU" altLang="en-US" dirty="0" smtClean="0"/>
              <a:t>Bottom half:</a:t>
            </a:r>
          </a:p>
          <a:p>
            <a:pPr>
              <a:defRPr/>
            </a:pPr>
            <a:r>
              <a:rPr lang="en-AU" altLang="en-US" dirty="0" smtClean="0"/>
              <a:t>Map </a:t>
            </a:r>
            <a:r>
              <a:rPr lang="en-AU" altLang="en-US" dirty="0"/>
              <a:t>of Australia</a:t>
            </a:r>
          </a:p>
          <a:p>
            <a:pPr marL="342900" indent="-228600">
              <a:spcBef>
                <a:spcPct val="20000"/>
              </a:spcBef>
              <a:buClr>
                <a:schemeClr val="accent1"/>
              </a:buClr>
              <a:buFont typeface="Arial" charset="0"/>
              <a:buChar char="•"/>
              <a:defRPr/>
            </a:pPr>
            <a:r>
              <a:rPr lang="en-AU" altLang="en-US" dirty="0"/>
              <a:t>One flag pole </a:t>
            </a:r>
            <a:r>
              <a:rPr lang="en-AU" altLang="en-US" dirty="0" smtClean="0"/>
              <a:t>labelled ‘Australia’ with flags naming each colony beneath</a:t>
            </a:r>
            <a:endParaRPr lang="en-AU" altLang="en-US" dirty="0"/>
          </a:p>
          <a:p>
            <a:pPr marL="342900" indent="-228600">
              <a:spcBef>
                <a:spcPct val="20000"/>
              </a:spcBef>
              <a:buClr>
                <a:schemeClr val="accent1"/>
              </a:buClr>
              <a:buFont typeface="Arial" charset="0"/>
              <a:buChar char="•"/>
              <a:defRPr/>
            </a:pPr>
            <a:r>
              <a:rPr lang="en-AU" altLang="en-US" dirty="0" smtClean="0"/>
              <a:t>Six </a:t>
            </a:r>
            <a:r>
              <a:rPr lang="en-AU" altLang="en-US" dirty="0"/>
              <a:t>male figures all facing the </a:t>
            </a:r>
            <a:r>
              <a:rPr lang="en-AU" altLang="en-US" dirty="0" smtClean="0"/>
              <a:t>flag </a:t>
            </a:r>
            <a:r>
              <a:rPr lang="en-AU" altLang="en-US" dirty="0"/>
              <a:t>pole</a:t>
            </a:r>
          </a:p>
          <a:p>
            <a:pPr marL="342900" indent="-228600">
              <a:spcBef>
                <a:spcPct val="20000"/>
              </a:spcBef>
              <a:buClr>
                <a:schemeClr val="accent1"/>
              </a:buClr>
              <a:buFont typeface="Arial" charset="0"/>
              <a:buChar char="•"/>
              <a:defRPr/>
            </a:pPr>
            <a:r>
              <a:rPr lang="en-AU" altLang="en-US" dirty="0"/>
              <a:t>Figures hold </a:t>
            </a:r>
            <a:r>
              <a:rPr lang="en-AU" altLang="en-US" dirty="0" smtClean="0"/>
              <a:t>ropes linking them to the flag pole</a:t>
            </a:r>
          </a:p>
          <a:p>
            <a:pPr>
              <a:defRPr/>
            </a:pPr>
            <a:r>
              <a:rPr lang="en-AU" dirty="0" smtClean="0"/>
              <a:t>Caption </a:t>
            </a:r>
            <a:r>
              <a:rPr lang="en-AU" dirty="0"/>
              <a:t>below the </a:t>
            </a:r>
            <a:r>
              <a:rPr lang="en-AU" dirty="0" smtClean="0"/>
              <a:t>bottom image: ‘And </a:t>
            </a:r>
            <a:r>
              <a:rPr lang="en-AU" dirty="0"/>
              <a:t>on this</a:t>
            </a:r>
            <a:r>
              <a:rPr lang="en-AU" dirty="0" smtClean="0"/>
              <a:t>.’</a:t>
            </a:r>
            <a:endParaRPr lang="en-AU"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9087" y="1556792"/>
            <a:ext cx="4870482" cy="4283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5"/>
          <p:cNvSpPr txBox="1">
            <a:spLocks noChangeArrowheads="1"/>
          </p:cNvSpPr>
          <p:nvPr/>
        </p:nvSpPr>
        <p:spPr bwMode="auto">
          <a:xfrm>
            <a:off x="251520" y="5838554"/>
            <a:ext cx="484708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algn="ctr" hangingPunct="1">
              <a:spcBef>
                <a:spcPct val="0"/>
              </a:spcBef>
              <a:buClrTx/>
              <a:buFontTx/>
              <a:buNone/>
            </a:pPr>
            <a:r>
              <a:rPr lang="en-AU" altLang="en-US" sz="800" i="1" dirty="0" smtClean="0">
                <a:latin typeface="Arial" charset="0"/>
              </a:rPr>
              <a:t>The </a:t>
            </a:r>
            <a:r>
              <a:rPr lang="en-AU" altLang="en-US" sz="800" i="1" dirty="0">
                <a:latin typeface="Arial" charset="0"/>
              </a:rPr>
              <a:t>Argus</a:t>
            </a:r>
            <a:r>
              <a:rPr lang="en-AU" altLang="en-US" sz="800" dirty="0">
                <a:latin typeface="Arial" charset="0"/>
              </a:rPr>
              <a:t> (Melbourne),1 June 1898</a:t>
            </a:r>
          </a:p>
        </p:txBody>
      </p:sp>
    </p:spTree>
    <p:extLst>
      <p:ext uri="{BB962C8B-B14F-4D97-AF65-F5344CB8AC3E}">
        <p14:creationId xmlns:p14="http://schemas.microsoft.com/office/powerpoint/2010/main" val="235420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anim calcmode="lin" valueType="num">
                                      <p:cBhvr additive="base">
                                        <p:cTn id="7" dur="500" fill="hold"/>
                                        <p:tgtEl>
                                          <p:spTgt spid="14">
                                            <p:bg/>
                                          </p:spTgt>
                                        </p:tgtEl>
                                        <p:attrNameLst>
                                          <p:attrName>ppt_x</p:attrName>
                                        </p:attrNameLst>
                                      </p:cBhvr>
                                      <p:tavLst>
                                        <p:tav tm="0">
                                          <p:val>
                                            <p:strVal val="#ppt_x"/>
                                          </p:val>
                                        </p:tav>
                                        <p:tav tm="100000">
                                          <p:val>
                                            <p:strVal val="#ppt_x"/>
                                          </p:val>
                                        </p:tav>
                                      </p:tavLst>
                                    </p:anim>
                                    <p:anim calcmode="lin" valueType="num">
                                      <p:cBhvr additive="base">
                                        <p:cTn id="8" dur="500" fill="hold"/>
                                        <p:tgtEl>
                                          <p:spTgt spid="14">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 calcmode="lin" valueType="num">
                                      <p:cBhvr additive="base">
                                        <p:cTn id="15"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 calcmode="lin" valueType="num">
                                      <p:cBhvr additive="base">
                                        <p:cTn id="21"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anim calcmode="lin" valueType="num">
                                      <p:cBhvr additive="base">
                                        <p:cTn id="27"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 calcmode="lin" valueType="num">
                                      <p:cBhvr additive="base">
                                        <p:cTn id="33"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4">
                                            <p:txEl>
                                              <p:pRg st="5" end="5"/>
                                            </p:txEl>
                                          </p:spTgt>
                                        </p:tgtEl>
                                        <p:attrNameLst>
                                          <p:attrName>style.visibility</p:attrName>
                                        </p:attrNameLst>
                                      </p:cBhvr>
                                      <p:to>
                                        <p:strVal val="visible"/>
                                      </p:to>
                                    </p:set>
                                    <p:anim calcmode="lin" valueType="num">
                                      <p:cBhvr additive="base">
                                        <p:cTn id="39"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AU" sz="4000" b="1" dirty="0" smtClean="0"/>
              <a:t>Interpreting visual and written language</a:t>
            </a:r>
            <a:endParaRPr lang="en-AU" sz="4000" b="1" dirty="0"/>
          </a:p>
        </p:txBody>
      </p:sp>
      <p:sp>
        <p:nvSpPr>
          <p:cNvPr id="7172" name="TextBox 5"/>
          <p:cNvSpPr txBox="1">
            <a:spLocks noChangeArrowheads="1"/>
          </p:cNvSpPr>
          <p:nvPr/>
        </p:nvSpPr>
        <p:spPr bwMode="auto">
          <a:xfrm>
            <a:off x="3743851" y="6167507"/>
            <a:ext cx="19605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hangingPunct="1">
              <a:spcBef>
                <a:spcPct val="0"/>
              </a:spcBef>
              <a:buClrTx/>
              <a:buFontTx/>
              <a:buNone/>
            </a:pPr>
            <a:r>
              <a:rPr lang="en-AU" altLang="en-US" sz="800" i="1" dirty="0">
                <a:latin typeface="Arial" charset="0"/>
              </a:rPr>
              <a:t>The Argus</a:t>
            </a:r>
            <a:r>
              <a:rPr lang="en-AU" altLang="en-US" sz="800" dirty="0">
                <a:latin typeface="Arial" charset="0"/>
              </a:rPr>
              <a:t> (Melbourne), 1 June 1898</a:t>
            </a:r>
          </a:p>
        </p:txBody>
      </p:sp>
      <p:pic>
        <p:nvPicPr>
          <p:cNvPr id="717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848" y="1154012"/>
            <a:ext cx="272415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480796" y="2564904"/>
            <a:ext cx="2218996" cy="1815882"/>
          </a:xfrm>
          <a:prstGeom prst="rect">
            <a:avLst/>
          </a:prstGeom>
          <a:solidFill>
            <a:schemeClr val="accent3">
              <a:lumMod val="40000"/>
              <a:lumOff val="60000"/>
            </a:schemeClr>
          </a:solidFill>
          <a:ln>
            <a:solidFill>
              <a:schemeClr val="accent3"/>
            </a:solidFill>
          </a:ln>
        </p:spPr>
        <p:txBody>
          <a:bodyPr wrap="square">
            <a:spAutoFit/>
          </a:bodyPr>
          <a:lstStyle/>
          <a:p>
            <a:pPr algn="ctr"/>
            <a:r>
              <a:rPr lang="en-AU" sz="2800" dirty="0" smtClean="0"/>
              <a:t>‘Interpret</a:t>
            </a:r>
            <a:r>
              <a:rPr lang="en-AU" sz="2800" dirty="0"/>
              <a:t>’ means ‘to explain the meaning</a:t>
            </a:r>
            <a:r>
              <a:rPr lang="en-AU" sz="2800" dirty="0" smtClean="0"/>
              <a:t>’.</a:t>
            </a:r>
            <a:endParaRPr lang="en-AU" sz="2800" dirty="0"/>
          </a:p>
        </p:txBody>
      </p:sp>
      <p:sp>
        <p:nvSpPr>
          <p:cNvPr id="5" name="Rectangle 4"/>
          <p:cNvSpPr/>
          <p:nvPr/>
        </p:nvSpPr>
        <p:spPr>
          <a:xfrm>
            <a:off x="6156176" y="1703130"/>
            <a:ext cx="2664296" cy="3539430"/>
          </a:xfrm>
          <a:prstGeom prst="rect">
            <a:avLst/>
          </a:prstGeom>
          <a:solidFill>
            <a:schemeClr val="tx2">
              <a:lumMod val="40000"/>
              <a:lumOff val="60000"/>
            </a:schemeClr>
          </a:solidFill>
          <a:ln>
            <a:solidFill>
              <a:schemeClr val="accent5">
                <a:lumMod val="75000"/>
              </a:schemeClr>
            </a:solidFill>
          </a:ln>
        </p:spPr>
        <p:txBody>
          <a:bodyPr wrap="square">
            <a:spAutoFit/>
          </a:bodyPr>
          <a:lstStyle/>
          <a:p>
            <a:r>
              <a:rPr lang="en-AU" sz="2800" dirty="0"/>
              <a:t>You need to think about what you see in the cartoon and relate it to the events happening at that time.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688" y="115888"/>
            <a:ext cx="7620000" cy="1080864"/>
          </a:xfrm>
        </p:spPr>
        <p:txBody>
          <a:bodyPr/>
          <a:lstStyle/>
          <a:p>
            <a:pPr eaLnBrk="1" fontAlgn="auto" hangingPunct="1">
              <a:spcAft>
                <a:spcPts val="0"/>
              </a:spcAft>
              <a:defRPr/>
            </a:pPr>
            <a:r>
              <a:rPr lang="en-AU" sz="4000" b="1" dirty="0" smtClean="0"/>
              <a:t>Interpreting visual and written language</a:t>
            </a:r>
            <a:endParaRPr lang="en-AU" sz="4000" b="1" dirty="0"/>
          </a:p>
        </p:txBody>
      </p:sp>
      <p:sp>
        <p:nvSpPr>
          <p:cNvPr id="8196" name="TextBox 5"/>
          <p:cNvSpPr txBox="1">
            <a:spLocks noChangeArrowheads="1"/>
          </p:cNvSpPr>
          <p:nvPr/>
        </p:nvSpPr>
        <p:spPr bwMode="auto">
          <a:xfrm>
            <a:off x="3524994" y="5892800"/>
            <a:ext cx="19621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hangingPunct="1">
              <a:spcBef>
                <a:spcPct val="0"/>
              </a:spcBef>
              <a:buClrTx/>
              <a:buFontTx/>
              <a:buNone/>
            </a:pPr>
            <a:r>
              <a:rPr lang="en-AU" altLang="en-US" sz="800" i="1" dirty="0">
                <a:latin typeface="Arial" charset="0"/>
              </a:rPr>
              <a:t>The Argus</a:t>
            </a:r>
            <a:r>
              <a:rPr lang="en-AU" altLang="en-US" sz="800" dirty="0">
                <a:latin typeface="Arial" charset="0"/>
              </a:rPr>
              <a:t> (Melbourne), 1 June 1898</a:t>
            </a:r>
          </a:p>
        </p:txBody>
      </p:sp>
      <p:pic>
        <p:nvPicPr>
          <p:cNvPr id="819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994" y="908050"/>
            <a:ext cx="272415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ine Callout 1 2"/>
          <p:cNvSpPr/>
          <p:nvPr/>
        </p:nvSpPr>
        <p:spPr>
          <a:xfrm>
            <a:off x="6194821" y="2062931"/>
            <a:ext cx="2487737" cy="830758"/>
          </a:xfrm>
          <a:prstGeom prst="borderCallout1">
            <a:avLst>
              <a:gd name="adj1" fmla="val 51819"/>
              <a:gd name="adj2" fmla="val -617"/>
              <a:gd name="adj3" fmla="val 22273"/>
              <a:gd name="adj4" fmla="val -28346"/>
            </a:avLst>
          </a:prstGeom>
          <a:ln w="28575"/>
        </p:spPr>
        <p:style>
          <a:lnRef idx="1">
            <a:schemeClr val="accent2"/>
          </a:lnRef>
          <a:fillRef idx="2">
            <a:schemeClr val="accent2"/>
          </a:fillRef>
          <a:effectRef idx="1">
            <a:schemeClr val="accent2"/>
          </a:effectRef>
          <a:fontRef idx="minor">
            <a:schemeClr val="dk1"/>
          </a:fontRef>
        </p:style>
        <p:txBody>
          <a:bodyPr rtlCol="0" anchor="ctr"/>
          <a:lstStyle/>
          <a:p>
            <a:pPr algn="ctr"/>
            <a:r>
              <a:rPr lang="en-AU" sz="1400" dirty="0" smtClean="0"/>
              <a:t>There are six men leaning on flagpoles flying flags showing the name of the colony.</a:t>
            </a:r>
            <a:endParaRPr lang="en-AU" sz="1400" dirty="0"/>
          </a:p>
        </p:txBody>
      </p:sp>
      <p:sp>
        <p:nvSpPr>
          <p:cNvPr id="4" name="Line Callout 1 3"/>
          <p:cNvSpPr/>
          <p:nvPr/>
        </p:nvSpPr>
        <p:spPr>
          <a:xfrm flipH="1">
            <a:off x="274910" y="1556792"/>
            <a:ext cx="2582654" cy="864096"/>
          </a:xfrm>
          <a:prstGeom prst="borderCallout1">
            <a:avLst>
              <a:gd name="adj1" fmla="val 53684"/>
              <a:gd name="adj2" fmla="val -229"/>
              <a:gd name="adj3" fmla="val 75081"/>
              <a:gd name="adj4" fmla="val -26805"/>
            </a:avLst>
          </a:prstGeom>
          <a:ln w="28575"/>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400" dirty="0" smtClean="0"/>
              <a:t>The men are turned away because they don’t want to co-operate with the other colonies.</a:t>
            </a:r>
            <a:endParaRPr lang="en-AU" sz="1400" dirty="0"/>
          </a:p>
        </p:txBody>
      </p:sp>
      <p:sp>
        <p:nvSpPr>
          <p:cNvPr id="5" name="Line Callout 1 4"/>
          <p:cNvSpPr/>
          <p:nvPr/>
        </p:nvSpPr>
        <p:spPr>
          <a:xfrm>
            <a:off x="6179616" y="3140968"/>
            <a:ext cx="2496840" cy="1220014"/>
          </a:xfrm>
          <a:prstGeom prst="borderCallout1">
            <a:avLst>
              <a:gd name="adj1" fmla="val 49193"/>
              <a:gd name="adj2" fmla="val -519"/>
              <a:gd name="adj3" fmla="val 42625"/>
              <a:gd name="adj4" fmla="val -63408"/>
            </a:avLst>
          </a:prstGeom>
          <a:ln w="19050"/>
        </p:spPr>
        <p:style>
          <a:lnRef idx="1">
            <a:schemeClr val="dk1"/>
          </a:lnRef>
          <a:fillRef idx="2">
            <a:schemeClr val="dk1"/>
          </a:fillRef>
          <a:effectRef idx="1">
            <a:schemeClr val="dk1"/>
          </a:effectRef>
          <a:fontRef idx="minor">
            <a:schemeClr val="dk1"/>
          </a:fontRef>
        </p:style>
        <p:txBody>
          <a:bodyPr rtlCol="0" anchor="ctr"/>
          <a:lstStyle/>
          <a:p>
            <a:pPr eaLnBrk="1" fontAlgn="t" hangingPunct="1"/>
            <a:r>
              <a:rPr lang="en-AU" altLang="en-US" sz="1400" dirty="0" smtClean="0"/>
              <a:t>The large flag with ‘Australia’ written on it means that there </a:t>
            </a:r>
            <a:r>
              <a:rPr lang="en-AU" altLang="en-US" sz="1400" dirty="0"/>
              <a:t>are no longer six divided colonies but one country with one purpose. </a:t>
            </a:r>
            <a:endParaRPr lang="en-AU" sz="1400" dirty="0"/>
          </a:p>
        </p:txBody>
      </p:sp>
      <p:sp>
        <p:nvSpPr>
          <p:cNvPr id="6" name="Line Callout 1 5"/>
          <p:cNvSpPr/>
          <p:nvPr/>
        </p:nvSpPr>
        <p:spPr>
          <a:xfrm flipH="1">
            <a:off x="274910" y="2708920"/>
            <a:ext cx="2582654" cy="1296144"/>
          </a:xfrm>
          <a:prstGeom prst="borderCallout1">
            <a:avLst>
              <a:gd name="adj1" fmla="val 48753"/>
              <a:gd name="adj2" fmla="val -188"/>
              <a:gd name="adj3" fmla="val 108123"/>
              <a:gd name="adj4" fmla="val -62433"/>
            </a:avLst>
          </a:prstGeom>
          <a:ln w="28575"/>
        </p:spPr>
        <p:style>
          <a:lnRef idx="1">
            <a:schemeClr val="accent5"/>
          </a:lnRef>
          <a:fillRef idx="2">
            <a:schemeClr val="accent5"/>
          </a:fillRef>
          <a:effectRef idx="1">
            <a:schemeClr val="accent5"/>
          </a:effectRef>
          <a:fontRef idx="minor">
            <a:schemeClr val="dk1"/>
          </a:fontRef>
        </p:style>
        <p:txBody>
          <a:bodyPr rtlCol="0" anchor="ctr"/>
          <a:lstStyle/>
          <a:p>
            <a:pPr algn="ctr"/>
            <a:r>
              <a:rPr lang="en-AU" altLang="en-US" sz="1400" dirty="0" smtClean="0"/>
              <a:t>The six flags with the names of the colonies still fly from the one flag pole, which suggests they still have their </a:t>
            </a:r>
            <a:r>
              <a:rPr lang="en-AU" altLang="en-US" sz="1400" dirty="0"/>
              <a:t>own identities but these </a:t>
            </a:r>
            <a:r>
              <a:rPr lang="en-AU" altLang="en-US" sz="1400" dirty="0" smtClean="0"/>
              <a:t>are </a:t>
            </a:r>
            <a:r>
              <a:rPr lang="en-AU" altLang="en-US" sz="1400" dirty="0"/>
              <a:t>no longer obstacles</a:t>
            </a:r>
            <a:r>
              <a:rPr lang="en-AU" altLang="en-US" sz="1400" dirty="0" smtClean="0"/>
              <a:t>.</a:t>
            </a:r>
            <a:endParaRPr lang="en-AU" sz="1400" dirty="0"/>
          </a:p>
        </p:txBody>
      </p:sp>
      <p:sp>
        <p:nvSpPr>
          <p:cNvPr id="7" name="Line Callout 1 6"/>
          <p:cNvSpPr/>
          <p:nvPr/>
        </p:nvSpPr>
        <p:spPr>
          <a:xfrm>
            <a:off x="6194821" y="4569300"/>
            <a:ext cx="2496840" cy="972145"/>
          </a:xfrm>
          <a:prstGeom prst="borderCallout1">
            <a:avLst>
              <a:gd name="adj1" fmla="val 44176"/>
              <a:gd name="adj2" fmla="val -213"/>
              <a:gd name="adj3" fmla="val 13629"/>
              <a:gd name="adj4" fmla="val -26364"/>
            </a:avLst>
          </a:prstGeom>
          <a:ln w="28575"/>
        </p:spPr>
        <p:style>
          <a:lnRef idx="1">
            <a:schemeClr val="accent3"/>
          </a:lnRef>
          <a:fillRef idx="2">
            <a:schemeClr val="accent3"/>
          </a:fillRef>
          <a:effectRef idx="1">
            <a:schemeClr val="accent3"/>
          </a:effectRef>
          <a:fontRef idx="minor">
            <a:schemeClr val="dk1"/>
          </a:fontRef>
        </p:style>
        <p:txBody>
          <a:bodyPr rtlCol="0" anchor="ctr"/>
          <a:lstStyle/>
          <a:p>
            <a:pPr eaLnBrk="1" fontAlgn="t" hangingPunct="1"/>
            <a:r>
              <a:rPr lang="en-AU" altLang="en-US" sz="1400" dirty="0"/>
              <a:t>The </a:t>
            </a:r>
            <a:r>
              <a:rPr lang="en-AU" altLang="en-US" sz="1400" dirty="0" smtClean="0"/>
              <a:t>six </a:t>
            </a:r>
            <a:r>
              <a:rPr lang="en-AU" altLang="en-US" sz="1400" dirty="0"/>
              <a:t>men are all now facing each </a:t>
            </a:r>
            <a:r>
              <a:rPr lang="en-AU" altLang="en-US" sz="1400" dirty="0" smtClean="0"/>
              <a:t>other, suggesting they </a:t>
            </a:r>
            <a:r>
              <a:rPr lang="en-AU" altLang="en-US" sz="1400" dirty="0"/>
              <a:t>are all </a:t>
            </a:r>
            <a:r>
              <a:rPr lang="en-AU" altLang="en-US" sz="1400" dirty="0" smtClean="0"/>
              <a:t>co-operating </a:t>
            </a:r>
            <a:r>
              <a:rPr lang="en-AU" altLang="en-US" sz="1400" dirty="0"/>
              <a:t>with one another</a:t>
            </a:r>
            <a:r>
              <a:rPr lang="en-AU" altLang="en-US" sz="1400" dirty="0" smtClean="0"/>
              <a:t>.</a:t>
            </a:r>
            <a:endParaRPr lang="en-AU" altLang="en-US" sz="1400" dirty="0"/>
          </a:p>
        </p:txBody>
      </p:sp>
      <p:sp>
        <p:nvSpPr>
          <p:cNvPr id="11" name="Line Callout 1 10"/>
          <p:cNvSpPr/>
          <p:nvPr/>
        </p:nvSpPr>
        <p:spPr>
          <a:xfrm flipH="1">
            <a:off x="275580" y="4221088"/>
            <a:ext cx="2571530" cy="984858"/>
          </a:xfrm>
          <a:prstGeom prst="borderCallout1">
            <a:avLst>
              <a:gd name="adj1" fmla="val 51226"/>
              <a:gd name="adj2" fmla="val -259"/>
              <a:gd name="adj3" fmla="val 4261"/>
              <a:gd name="adj4" fmla="val -51860"/>
            </a:avLst>
          </a:prstGeom>
          <a:ln w="28575"/>
        </p:spPr>
        <p:style>
          <a:lnRef idx="1">
            <a:schemeClr val="accent6"/>
          </a:lnRef>
          <a:fillRef idx="2">
            <a:schemeClr val="accent6"/>
          </a:fillRef>
          <a:effectRef idx="1">
            <a:schemeClr val="accent6"/>
          </a:effectRef>
          <a:fontRef idx="minor">
            <a:schemeClr val="dk1"/>
          </a:fontRef>
        </p:style>
        <p:txBody>
          <a:bodyPr rtlCol="0" anchor="ctr"/>
          <a:lstStyle/>
          <a:p>
            <a:pPr algn="ctr" eaLnBrk="1" fontAlgn="t" hangingPunct="1"/>
            <a:endParaRPr lang="en-AU" altLang="en-US" sz="1400" dirty="0" smtClean="0"/>
          </a:p>
          <a:p>
            <a:pPr algn="ctr" eaLnBrk="1" fontAlgn="t" hangingPunct="1"/>
            <a:r>
              <a:rPr lang="en-AU" altLang="en-US" sz="1400" dirty="0" smtClean="0"/>
              <a:t>The six </a:t>
            </a:r>
            <a:r>
              <a:rPr lang="en-AU" altLang="en-US" sz="1400" dirty="0"/>
              <a:t>men are holding ropes linked to the </a:t>
            </a:r>
            <a:r>
              <a:rPr lang="en-AU" altLang="en-US" sz="1400" dirty="0" smtClean="0"/>
              <a:t>pole, </a:t>
            </a:r>
            <a:r>
              <a:rPr lang="en-AU" altLang="en-US" sz="1400" dirty="0"/>
              <a:t>which </a:t>
            </a:r>
            <a:r>
              <a:rPr lang="en-AU" altLang="en-US" sz="1400" dirty="0" smtClean="0"/>
              <a:t>means they are all </a:t>
            </a:r>
            <a:r>
              <a:rPr lang="en-AU" altLang="en-US" sz="1400" dirty="0"/>
              <a:t>still individual but linked by a common cause.</a:t>
            </a:r>
          </a:p>
          <a:p>
            <a:pPr algn="ctr"/>
            <a:endParaRPr lang="en-AU" sz="1400" dirty="0"/>
          </a:p>
        </p:txBody>
      </p:sp>
      <p:sp>
        <p:nvSpPr>
          <p:cNvPr id="8" name="Line Callout 1 7"/>
          <p:cNvSpPr/>
          <p:nvPr/>
        </p:nvSpPr>
        <p:spPr>
          <a:xfrm>
            <a:off x="6214329" y="826693"/>
            <a:ext cx="2448719" cy="1008112"/>
          </a:xfrm>
          <a:prstGeom prst="borderCallout1">
            <a:avLst>
              <a:gd name="adj1" fmla="val 49496"/>
              <a:gd name="adj2" fmla="val 13"/>
              <a:gd name="adj3" fmla="val 58150"/>
              <a:gd name="adj4" fmla="val -25503"/>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AU" sz="1400" dirty="0" smtClean="0"/>
          </a:p>
          <a:p>
            <a:pPr algn="ctr"/>
            <a:r>
              <a:rPr lang="en-AU" sz="1400" dirty="0" smtClean="0"/>
              <a:t>The title refers to the barriers between the colonies and the question of whether they should federate.</a:t>
            </a:r>
          </a:p>
          <a:p>
            <a:pPr algn="ctr"/>
            <a:r>
              <a:rPr lang="en-AU" sz="1400" dirty="0" smtClean="0"/>
              <a:t> </a:t>
            </a:r>
            <a:endParaRPr lang="en-AU" sz="1400" dirty="0"/>
          </a:p>
        </p:txBody>
      </p:sp>
      <p:sp>
        <p:nvSpPr>
          <p:cNvPr id="10" name="TextBox 9"/>
          <p:cNvSpPr txBox="1"/>
          <p:nvPr/>
        </p:nvSpPr>
        <p:spPr>
          <a:xfrm>
            <a:off x="3185269" y="1146083"/>
            <a:ext cx="2682875" cy="369332"/>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AU" dirty="0"/>
          </a:p>
        </p:txBody>
      </p:sp>
      <p:grpSp>
        <p:nvGrpSpPr>
          <p:cNvPr id="16" name="Group 15"/>
          <p:cNvGrpSpPr/>
          <p:nvPr/>
        </p:nvGrpSpPr>
        <p:grpSpPr>
          <a:xfrm>
            <a:off x="3185269" y="3210996"/>
            <a:ext cx="2682875" cy="2699782"/>
            <a:chOff x="3185269" y="3210996"/>
            <a:chExt cx="2682875" cy="2699782"/>
          </a:xfrm>
        </p:grpSpPr>
        <p:sp>
          <p:nvSpPr>
            <p:cNvPr id="18" name="TextBox 17"/>
            <p:cNvSpPr txBox="1"/>
            <p:nvPr/>
          </p:nvSpPr>
          <p:spPr>
            <a:xfrm>
              <a:off x="3185269" y="3210996"/>
              <a:ext cx="2682875" cy="369332"/>
            </a:xfrm>
            <a:prstGeom prst="rect">
              <a:avLst/>
            </a:prstGeom>
            <a:noFill/>
            <a:ln w="38100">
              <a:solidFill>
                <a:srgbClr val="00B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AU" dirty="0"/>
            </a:p>
          </p:txBody>
        </p:sp>
        <p:sp>
          <p:nvSpPr>
            <p:cNvPr id="19" name="TextBox 18"/>
            <p:cNvSpPr txBox="1"/>
            <p:nvPr/>
          </p:nvSpPr>
          <p:spPr>
            <a:xfrm>
              <a:off x="3185269" y="5541446"/>
              <a:ext cx="2682875" cy="369332"/>
            </a:xfrm>
            <a:prstGeom prst="rect">
              <a:avLst/>
            </a:prstGeom>
            <a:noFill/>
            <a:ln w="38100">
              <a:solidFill>
                <a:srgbClr val="00B05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AU" dirty="0"/>
            </a:p>
          </p:txBody>
        </p:sp>
      </p:grpSp>
      <p:grpSp>
        <p:nvGrpSpPr>
          <p:cNvPr id="17" name="Group 16"/>
          <p:cNvGrpSpPr/>
          <p:nvPr/>
        </p:nvGrpSpPr>
        <p:grpSpPr>
          <a:xfrm>
            <a:off x="275578" y="3591440"/>
            <a:ext cx="3249416" cy="2766161"/>
            <a:chOff x="275578" y="3580328"/>
            <a:chExt cx="3249416" cy="2766161"/>
          </a:xfrm>
        </p:grpSpPr>
        <p:sp>
          <p:nvSpPr>
            <p:cNvPr id="9" name="Line Callout 1 8"/>
            <p:cNvSpPr/>
            <p:nvPr/>
          </p:nvSpPr>
          <p:spPr>
            <a:xfrm flipH="1">
              <a:off x="275578" y="5413374"/>
              <a:ext cx="2581985" cy="933115"/>
            </a:xfrm>
            <a:prstGeom prst="borderCallout1">
              <a:avLst>
                <a:gd name="adj1" fmla="val 20634"/>
                <a:gd name="adj2" fmla="val -12549"/>
                <a:gd name="adj3" fmla="val 52416"/>
                <a:gd name="adj4" fmla="val 125"/>
              </a:avLst>
            </a:prstGeom>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AU" altLang="en-US" sz="1400" dirty="0"/>
                <a:t>The </a:t>
              </a:r>
              <a:r>
                <a:rPr lang="en-AU" altLang="en-US" sz="1400" dirty="0" smtClean="0"/>
                <a:t>caption highlights what </a:t>
              </a:r>
              <a:r>
                <a:rPr lang="en-AU" altLang="en-US" sz="1400" dirty="0"/>
                <a:t>can be achieved if things change because of Federation</a:t>
              </a:r>
              <a:r>
                <a:rPr lang="en-AU" altLang="en-US" sz="1400" dirty="0" smtClean="0"/>
                <a:t>.</a:t>
              </a:r>
              <a:endParaRPr lang="en-AU" dirty="0"/>
            </a:p>
          </p:txBody>
        </p:sp>
        <p:cxnSp>
          <p:nvCxnSpPr>
            <p:cNvPr id="15" name="Straight Connector 14"/>
            <p:cNvCxnSpPr>
              <a:stCxn id="9" idx="2"/>
            </p:cNvCxnSpPr>
            <p:nvPr/>
          </p:nvCxnSpPr>
          <p:spPr>
            <a:xfrm flipV="1">
              <a:off x="2857563" y="3580328"/>
              <a:ext cx="667431" cy="2299604"/>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11"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688" y="109538"/>
            <a:ext cx="8471792" cy="777875"/>
          </a:xfrm>
        </p:spPr>
        <p:txBody>
          <a:bodyPr/>
          <a:lstStyle/>
          <a:p>
            <a:pPr eaLnBrk="1" fontAlgn="auto" hangingPunct="1">
              <a:spcAft>
                <a:spcPts val="0"/>
              </a:spcAft>
              <a:defRPr/>
            </a:pPr>
            <a:r>
              <a:rPr lang="en-AU" sz="4000" b="1" dirty="0" smtClean="0"/>
              <a:t>What is the main idea of the cartoon? </a:t>
            </a:r>
            <a:endParaRPr lang="en-AU" sz="4000" b="1" dirty="0"/>
          </a:p>
        </p:txBody>
      </p:sp>
      <p:sp>
        <p:nvSpPr>
          <p:cNvPr id="9220" name="TextBox 5"/>
          <p:cNvSpPr txBox="1">
            <a:spLocks noChangeArrowheads="1"/>
          </p:cNvSpPr>
          <p:nvPr/>
        </p:nvSpPr>
        <p:spPr bwMode="auto">
          <a:xfrm>
            <a:off x="4815359" y="5883275"/>
            <a:ext cx="19446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hangingPunct="1">
              <a:spcBef>
                <a:spcPct val="0"/>
              </a:spcBef>
              <a:buClrTx/>
              <a:buFontTx/>
              <a:buNone/>
            </a:pPr>
            <a:r>
              <a:rPr lang="en-AU" altLang="en-US" sz="800" i="1" dirty="0">
                <a:latin typeface="Arial" charset="0"/>
              </a:rPr>
              <a:t>The Argus</a:t>
            </a:r>
            <a:r>
              <a:rPr lang="en-AU" altLang="en-US" sz="800" dirty="0">
                <a:latin typeface="Arial" charset="0"/>
              </a:rPr>
              <a:t> (Melbourne), 1 June 1898</a:t>
            </a:r>
          </a:p>
        </p:txBody>
      </p:sp>
      <p:pic>
        <p:nvPicPr>
          <p:cNvPr id="92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2146" y="908050"/>
            <a:ext cx="272415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755576" y="2364610"/>
            <a:ext cx="3168352" cy="2062103"/>
          </a:xfrm>
          <a:prstGeom prst="rect">
            <a:avLst/>
          </a:prstGeom>
          <a:solidFill>
            <a:schemeClr val="bg2"/>
          </a:solidFill>
          <a:ln w="38100">
            <a:solidFill>
              <a:schemeClr val="accent5"/>
            </a:solidFill>
          </a:ln>
        </p:spPr>
        <p:txBody>
          <a:bodyPr wrap="square">
            <a:spAutoFit/>
          </a:bodyPr>
          <a:lstStyle/>
          <a:p>
            <a:pPr algn="ctr"/>
            <a:r>
              <a:rPr lang="en-AU" sz="3200" dirty="0">
                <a:cs typeface="Arial" panose="020B0604020202020204" pitchFamily="34" charset="0"/>
              </a:rPr>
              <a:t>What is the overall message that is being expressed?</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546" y="12998"/>
            <a:ext cx="8147248" cy="895722"/>
          </a:xfrm>
        </p:spPr>
        <p:txBody>
          <a:bodyPr/>
          <a:lstStyle/>
          <a:p>
            <a:pPr algn="ctr" eaLnBrk="1" fontAlgn="auto" hangingPunct="1">
              <a:spcAft>
                <a:spcPts val="0"/>
              </a:spcAft>
              <a:defRPr/>
            </a:pPr>
            <a:r>
              <a:rPr lang="en-AU" sz="4000" b="1" dirty="0" smtClean="0"/>
              <a:t>The main idea</a:t>
            </a:r>
            <a:endParaRPr lang="en-AU" sz="4000" b="1" dirty="0"/>
          </a:p>
        </p:txBody>
      </p:sp>
      <p:sp>
        <p:nvSpPr>
          <p:cNvPr id="9" name="Content Placeholder 8"/>
          <p:cNvSpPr>
            <a:spLocks noGrp="1"/>
          </p:cNvSpPr>
          <p:nvPr>
            <p:ph sz="half" idx="2"/>
          </p:nvPr>
        </p:nvSpPr>
        <p:spPr>
          <a:xfrm>
            <a:off x="390706" y="908720"/>
            <a:ext cx="8352928" cy="597945"/>
          </a:xfrm>
        </p:spPr>
        <p:style>
          <a:lnRef idx="1">
            <a:schemeClr val="accent2"/>
          </a:lnRef>
          <a:fillRef idx="2">
            <a:schemeClr val="accent2"/>
          </a:fillRef>
          <a:effectRef idx="1">
            <a:schemeClr val="accent2"/>
          </a:effectRef>
          <a:fontRef idx="minor">
            <a:schemeClr val="dk1"/>
          </a:fontRef>
        </p:style>
        <p:txBody>
          <a:bodyPr/>
          <a:lstStyle/>
          <a:p>
            <a:pPr marL="114300" indent="0" algn="ctr">
              <a:buNone/>
            </a:pPr>
            <a:r>
              <a:rPr lang="en-AU" altLang="en-US" sz="3200" b="1" dirty="0" smtClean="0">
                <a:effectLst>
                  <a:outerShdw blurRad="38100" dist="38100" dir="2700000" algn="tl">
                    <a:srgbClr val="000000">
                      <a:alpha val="43137"/>
                    </a:srgbClr>
                  </a:outerShdw>
                </a:effectLst>
              </a:rPr>
              <a:t>A united Australia is a better Australia.</a:t>
            </a:r>
            <a:endParaRPr lang="en-AU" altLang="en-US" sz="3200" b="1" dirty="0">
              <a:effectLst>
                <a:outerShdw blurRad="38100" dist="38100" dir="2700000" algn="tl">
                  <a:srgbClr val="000000">
                    <a:alpha val="43137"/>
                  </a:srgbClr>
                </a:outerShdw>
              </a:effectLst>
            </a:endParaRPr>
          </a:p>
          <a:p>
            <a:endParaRPr lang="en-AU" dirty="0"/>
          </a:p>
        </p:txBody>
      </p:sp>
      <p:grpSp>
        <p:nvGrpSpPr>
          <p:cNvPr id="3" name="Group 2"/>
          <p:cNvGrpSpPr/>
          <p:nvPr/>
        </p:nvGrpSpPr>
        <p:grpSpPr>
          <a:xfrm>
            <a:off x="3327058" y="1628800"/>
            <a:ext cx="2613093" cy="4895964"/>
            <a:chOff x="3331252" y="1794904"/>
            <a:chExt cx="2476030" cy="4729860"/>
          </a:xfrm>
        </p:grpSpPr>
        <p:sp>
          <p:nvSpPr>
            <p:cNvPr id="10244" name="TextBox 5"/>
            <p:cNvSpPr txBox="1">
              <a:spLocks noChangeArrowheads="1"/>
            </p:cNvSpPr>
            <p:nvPr/>
          </p:nvSpPr>
          <p:spPr bwMode="auto">
            <a:xfrm>
              <a:off x="3658692" y="6309320"/>
              <a:ext cx="214859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hangingPunct="1">
                <a:spcBef>
                  <a:spcPct val="0"/>
                </a:spcBef>
                <a:buClrTx/>
                <a:buFontTx/>
                <a:buNone/>
              </a:pPr>
              <a:r>
                <a:rPr lang="en-AU" altLang="en-US" sz="800" i="1" dirty="0">
                  <a:latin typeface="Arial" charset="0"/>
                </a:rPr>
                <a:t>The Argus</a:t>
              </a:r>
              <a:r>
                <a:rPr lang="en-AU" altLang="en-US" sz="800" dirty="0">
                  <a:latin typeface="Arial" charset="0"/>
                </a:rPr>
                <a:t> (Melbourne), 1 June 1898</a:t>
              </a:r>
            </a:p>
          </p:txBody>
        </p:sp>
        <p:pic>
          <p:nvPicPr>
            <p:cNvPr id="1024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1252" y="1794904"/>
              <a:ext cx="2471837" cy="4514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500"/>
                                        <p:tgtEl>
                                          <p:spTgt spid="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49386"/>
          </a:xfrm>
        </p:spPr>
        <p:txBody>
          <a:bodyPr/>
          <a:lstStyle/>
          <a:p>
            <a:pPr algn="ctr" eaLnBrk="1" fontAlgn="auto" hangingPunct="1">
              <a:spcAft>
                <a:spcPts val="0"/>
              </a:spcAft>
              <a:defRPr/>
            </a:pPr>
            <a:r>
              <a:rPr lang="en-AU" sz="4000" b="1" dirty="0" smtClean="0"/>
              <a:t>Identify the point of view</a:t>
            </a:r>
            <a:endParaRPr lang="en-AU" sz="4000" b="1" dirty="0"/>
          </a:p>
        </p:txBody>
      </p:sp>
      <p:sp>
        <p:nvSpPr>
          <p:cNvPr id="11268" name="TextBox 5"/>
          <p:cNvSpPr txBox="1">
            <a:spLocks noChangeArrowheads="1"/>
          </p:cNvSpPr>
          <p:nvPr/>
        </p:nvSpPr>
        <p:spPr bwMode="auto">
          <a:xfrm>
            <a:off x="3347864" y="5157316"/>
            <a:ext cx="2376264"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1"/>
              </a:buClr>
              <a:buFont typeface="Arial"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charset="0"/>
              <a:buChar char="•"/>
              <a:defRPr>
                <a:solidFill>
                  <a:schemeClr val="tx1"/>
                </a:solidFill>
                <a:latin typeface="Calibri" pitchFamily="34" charset="0"/>
              </a:defRPr>
            </a:lvl3pPr>
            <a:lvl4pPr marL="1600200" indent="-228600" eaLnBrk="0" hangingPunct="0">
              <a:spcBef>
                <a:spcPct val="20000"/>
              </a:spcBef>
              <a:buClr>
                <a:srgbClr val="95A39D"/>
              </a:buClr>
              <a:buFont typeface="Arial"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charset="0"/>
              <a:buChar char="•"/>
              <a:defRPr sz="1400">
                <a:solidFill>
                  <a:schemeClr val="tx1"/>
                </a:solidFill>
                <a:latin typeface="Calibri" pitchFamily="34" charset="0"/>
              </a:defRPr>
            </a:lvl9pPr>
          </a:lstStyle>
          <a:p>
            <a:pPr algn="ctr" hangingPunct="1">
              <a:spcBef>
                <a:spcPct val="0"/>
              </a:spcBef>
              <a:buClrTx/>
              <a:buFontTx/>
              <a:buNone/>
            </a:pPr>
            <a:r>
              <a:rPr lang="en-AU" altLang="en-US" sz="800" i="1" dirty="0" smtClean="0">
                <a:latin typeface="Arial" charset="0"/>
              </a:rPr>
              <a:t>The </a:t>
            </a:r>
            <a:r>
              <a:rPr lang="en-AU" altLang="en-US" sz="800" i="1" dirty="0">
                <a:latin typeface="Arial" charset="0"/>
              </a:rPr>
              <a:t>Argus</a:t>
            </a:r>
            <a:r>
              <a:rPr lang="en-AU" altLang="en-US" sz="800" dirty="0">
                <a:latin typeface="Arial" charset="0"/>
              </a:rPr>
              <a:t> (Melbourne),1 June 1898</a:t>
            </a:r>
          </a:p>
        </p:txBody>
      </p:sp>
      <p:pic>
        <p:nvPicPr>
          <p:cNvPr id="1126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849386"/>
            <a:ext cx="2376264" cy="4338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TextBox 3"/>
          <p:cNvSpPr txBox="1">
            <a:spLocks noChangeArrowheads="1"/>
          </p:cNvSpPr>
          <p:nvPr/>
        </p:nvSpPr>
        <p:spPr bwMode="auto">
          <a:xfrm>
            <a:off x="0" y="5373216"/>
            <a:ext cx="9143999" cy="830997"/>
          </a:xfrm>
          <a:prstGeom prst="rect">
            <a:avLst/>
          </a:prstGeom>
          <a:ln/>
          <a:extLst/>
        </p:spPr>
        <p:style>
          <a:lnRef idx="1">
            <a:schemeClr val="accent5"/>
          </a:lnRef>
          <a:fillRef idx="2">
            <a:schemeClr val="accent5"/>
          </a:fillRef>
          <a:effectRef idx="1">
            <a:schemeClr val="accent5"/>
          </a:effectRef>
          <a:fontRef idx="minor">
            <a:schemeClr val="dk1"/>
          </a:fontRef>
        </p:style>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AU" altLang="en-US" sz="2400" dirty="0" smtClean="0"/>
              <a:t>The cartoonist’s point of view is that Federation would be </a:t>
            </a:r>
            <a:r>
              <a:rPr lang="en-AU" altLang="en-US" sz="2400" dirty="0"/>
              <a:t>good for </a:t>
            </a:r>
            <a:r>
              <a:rPr lang="en-AU" altLang="en-US" sz="2400" dirty="0" smtClean="0"/>
              <a:t>Australia, </a:t>
            </a:r>
            <a:r>
              <a:rPr lang="en-AU" altLang="en-US" sz="2400" dirty="0"/>
              <a:t>as it </a:t>
            </a:r>
            <a:r>
              <a:rPr lang="en-AU" altLang="en-US" sz="2400" dirty="0" smtClean="0"/>
              <a:t>would remove </a:t>
            </a:r>
            <a:r>
              <a:rPr lang="en-AU" altLang="en-US" sz="2400" dirty="0"/>
              <a:t>the barriers to progress.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animEffect transition="in" filter="fade">
                                      <p:cBhvr>
                                        <p:cTn id="7" dur="500"/>
                                        <p:tgtEl>
                                          <p:spTgt spid="11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1600" b="1" spc="0" dirty="0" smtClean="0">
                <a:latin typeface="Arial" panose="020B0604020202020204" pitchFamily="34" charset="0"/>
                <a:cs typeface="Arial" panose="020B0604020202020204" pitchFamily="34" charset="0"/>
              </a:rPr>
              <a:t>Attributions</a:t>
            </a:r>
            <a:endParaRPr lang="en-AU" sz="1600" b="1" spc="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23528" y="1196752"/>
            <a:ext cx="8424936" cy="4800600"/>
          </a:xfrm>
        </p:spPr>
        <p:txBody>
          <a:bodyPr/>
          <a:lstStyle/>
          <a:p>
            <a:pPr marL="114300" indent="0">
              <a:buNone/>
            </a:pPr>
            <a:r>
              <a:rPr lang="en-AU" altLang="en-US" sz="1100" dirty="0">
                <a:latin typeface="Arial" panose="020B0604020202020204" pitchFamily="34" charset="0"/>
                <a:cs typeface="Arial" panose="020B0604020202020204" pitchFamily="34" charset="0"/>
              </a:rPr>
              <a:t>‘The great work for Friday’ in </a:t>
            </a:r>
            <a:r>
              <a:rPr lang="en-AU" altLang="en-US" sz="1100" i="1" dirty="0">
                <a:latin typeface="Arial" panose="020B0604020202020204" pitchFamily="34" charset="0"/>
                <a:cs typeface="Arial" panose="020B0604020202020204" pitchFamily="34" charset="0"/>
              </a:rPr>
              <a:t>The Argus </a:t>
            </a:r>
            <a:r>
              <a:rPr lang="en-AU" altLang="en-US" sz="1100" dirty="0">
                <a:latin typeface="Arial" panose="020B0604020202020204" pitchFamily="34" charset="0"/>
                <a:cs typeface="Arial" panose="020B0604020202020204" pitchFamily="34" charset="0"/>
              </a:rPr>
              <a:t>(Melbourne), 1 June 1898, p.5, </a:t>
            </a:r>
            <a:r>
              <a:rPr lang="en-AU" altLang="en-US" sz="1100" dirty="0">
                <a:solidFill>
                  <a:schemeClr val="bg1">
                    <a:lumMod val="65000"/>
                  </a:schemeClr>
                </a:solidFill>
                <a:latin typeface="Arial" panose="020B0604020202020204" pitchFamily="34" charset="0"/>
                <a:cs typeface="Arial" panose="020B0604020202020204" pitchFamily="34" charset="0"/>
              </a:rPr>
              <a:t>http://trove.nla.gov.au/ndp/del/page/310001</a:t>
            </a:r>
            <a:endParaRPr lang="en-AU" sz="1100" dirty="0">
              <a:solidFill>
                <a:schemeClr val="bg1">
                  <a:lumMod val="65000"/>
                </a:schemeClr>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2238</TotalTime>
  <Words>1804</Words>
  <Application>Microsoft Office PowerPoint</Application>
  <PresentationFormat>On-screen Show (4:3)</PresentationFormat>
  <Paragraphs>111</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Adjacency</vt:lpstr>
      <vt:lpstr>Identifying points of view in the past </vt:lpstr>
      <vt:lpstr>PowerPoint Presentation</vt:lpstr>
      <vt:lpstr>What was happening at that time?</vt:lpstr>
      <vt:lpstr>Describing a cartoon</vt:lpstr>
      <vt:lpstr>What do you see in the top half?</vt:lpstr>
      <vt:lpstr>What do you see in the bottom half?</vt:lpstr>
      <vt:lpstr>Interpreting visual and written language</vt:lpstr>
      <vt:lpstr>Interpreting visual and written language</vt:lpstr>
      <vt:lpstr>What is the main idea of the cartoon? </vt:lpstr>
      <vt:lpstr>The main idea</vt:lpstr>
      <vt:lpstr>Identify the point of view</vt:lpstr>
      <vt:lpstr>Attributions</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Political Cartoons</dc:title>
  <dc:creator>CURTIS, Elizabeth</dc:creator>
  <cp:lastModifiedBy>SEEARY, Adam</cp:lastModifiedBy>
  <cp:revision>179</cp:revision>
  <cp:lastPrinted>2012-10-31T04:23:02Z</cp:lastPrinted>
  <dcterms:created xsi:type="dcterms:W3CDTF">2012-08-20T00:21:20Z</dcterms:created>
  <dcterms:modified xsi:type="dcterms:W3CDTF">2017-07-21T02:51:42Z</dcterms:modified>
</cp:coreProperties>
</file>