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2"/>
  </p:notesMasterIdLst>
  <p:sldIdLst>
    <p:sldId id="256" r:id="rId2"/>
    <p:sldId id="257" r:id="rId3"/>
    <p:sldId id="258" r:id="rId4"/>
    <p:sldId id="273" r:id="rId5"/>
    <p:sldId id="260" r:id="rId6"/>
    <p:sldId id="261" r:id="rId7"/>
    <p:sldId id="262" r:id="rId8"/>
    <p:sldId id="264" r:id="rId9"/>
    <p:sldId id="275" r:id="rId10"/>
    <p:sldId id="274" r:id="rId11"/>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516" autoAdjust="0"/>
  </p:normalViewPr>
  <p:slideViewPr>
    <p:cSldViewPr>
      <p:cViewPr varScale="1">
        <p:scale>
          <a:sx n="101" d="100"/>
          <a:sy n="101" d="100"/>
        </p:scale>
        <p:origin x="-191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smtClean="0"/>
            </a:lvl1pPr>
          </a:lstStyle>
          <a:p>
            <a:pPr>
              <a:defRPr/>
            </a:pPr>
            <a:endParaRPr lang="en-AU" dirty="0"/>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smtClean="0"/>
            </a:lvl1pPr>
          </a:lstStyle>
          <a:p>
            <a:pPr>
              <a:defRPr/>
            </a:pPr>
            <a:fld id="{85BF20D1-C5F8-42DB-9217-A6096110E9EC}" type="datetimeFigureOut">
              <a:rPr lang="en-AU"/>
              <a:pPr>
                <a:defRPr/>
              </a:pPr>
              <a:t>21/07/2017</a:t>
            </a:fld>
            <a:endParaRPr lang="en-AU" dirty="0"/>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AU" noProof="0" dirty="0" smtClean="0"/>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AU" noProof="0" smtClean="0"/>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smtClean="0"/>
            </a:lvl1pPr>
          </a:lstStyle>
          <a:p>
            <a:pPr>
              <a:defRPr/>
            </a:pPr>
            <a:endParaRPr lang="en-AU" dirty="0"/>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smtClean="0"/>
            </a:lvl1pPr>
          </a:lstStyle>
          <a:p>
            <a:pPr>
              <a:defRPr/>
            </a:pPr>
            <a:fld id="{BBEF8936-69CC-4469-85D2-2AC95B9A0B99}" type="slidenum">
              <a:rPr lang="en-AU"/>
              <a:pPr>
                <a:defRPr/>
              </a:pPr>
              <a:t>‹#›</a:t>
            </a:fld>
            <a:endParaRPr lang="en-AU" dirty="0"/>
          </a:p>
        </p:txBody>
      </p:sp>
    </p:spTree>
    <p:extLst>
      <p:ext uri="{BB962C8B-B14F-4D97-AF65-F5344CB8AC3E}">
        <p14:creationId xmlns:p14="http://schemas.microsoft.com/office/powerpoint/2010/main" val="53763547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Let’s look at a type of cartoon</a:t>
            </a:r>
            <a:r>
              <a:rPr lang="en-AU" baseline="0" dirty="0" smtClean="0"/>
              <a:t> called a ‘Political cartoon’. </a:t>
            </a:r>
            <a:endParaRPr lang="en-AU" dirty="0" smtClean="0"/>
          </a:p>
        </p:txBody>
      </p:sp>
      <p:sp>
        <p:nvSpPr>
          <p:cNvPr id="4" name="Slide Number Placeholder 3"/>
          <p:cNvSpPr>
            <a:spLocks noGrp="1"/>
          </p:cNvSpPr>
          <p:nvPr>
            <p:ph type="sldNum" sz="quarter" idx="10"/>
          </p:nvPr>
        </p:nvSpPr>
        <p:spPr/>
        <p:txBody>
          <a:bodyPr/>
          <a:lstStyle/>
          <a:p>
            <a:pPr>
              <a:defRPr/>
            </a:pPr>
            <a:fld id="{BBEF8936-69CC-4469-85D2-2AC95B9A0B99}" type="slidenum">
              <a:rPr lang="en-AU" smtClean="0"/>
              <a:pPr>
                <a:defRPr/>
              </a:pPr>
              <a:t>1</a:t>
            </a:fld>
            <a:endParaRPr lang="en-AU" dirty="0"/>
          </a:p>
        </p:txBody>
      </p:sp>
    </p:spTree>
    <p:extLst>
      <p:ext uri="{BB962C8B-B14F-4D97-AF65-F5344CB8AC3E}">
        <p14:creationId xmlns:p14="http://schemas.microsoft.com/office/powerpoint/2010/main" val="516137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aseline="0" dirty="0" smtClean="0"/>
              <a:t>The word ‘political’ actually comes from a Greek word, ‘politikos’ meaning ‘of’ or ‘for’ the citizens. </a:t>
            </a:r>
            <a:r>
              <a:rPr lang="en-AU" b="1" baseline="0" dirty="0" smtClean="0"/>
              <a:t>(Click) </a:t>
            </a:r>
            <a:r>
              <a:rPr lang="en-AU" baseline="0" dirty="0" smtClean="0"/>
              <a:t>So a political cartoon is a cartoon with a political or social message that is often drawn in a humorous  or funny way. </a:t>
            </a:r>
            <a:r>
              <a:rPr lang="en-AU" b="1" baseline="0" dirty="0" smtClean="0"/>
              <a:t>(Click) </a:t>
            </a:r>
            <a:r>
              <a:rPr lang="en-AU" baseline="0" dirty="0" smtClean="0"/>
              <a:t>Political cartoons are found in newspapers and magazines and were around even in colonial times.</a:t>
            </a:r>
          </a:p>
          <a:p>
            <a:pPr marL="0" marR="0" indent="0" algn="l" defTabSz="914400" rtl="0" eaLnBrk="1" fontAlgn="base" latinLnBrk="0" hangingPunct="1">
              <a:lnSpc>
                <a:spcPct val="100000"/>
              </a:lnSpc>
              <a:spcBef>
                <a:spcPct val="30000"/>
              </a:spcBef>
              <a:spcAft>
                <a:spcPct val="0"/>
              </a:spcAft>
              <a:buClrTx/>
              <a:buSzTx/>
              <a:buFontTx/>
              <a:buNone/>
              <a:tabLst/>
              <a:defRPr/>
            </a:pPr>
            <a:endParaRPr lang="en-AU" b="1" baseline="0"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AU" b="1" baseline="0" dirty="0" smtClean="0"/>
              <a:t>(Click) </a:t>
            </a:r>
            <a:r>
              <a:rPr lang="en-AU" b="0" strike="noStrike" baseline="0" dirty="0" smtClean="0"/>
              <a:t>P</a:t>
            </a:r>
            <a:r>
              <a:rPr lang="en-AU" baseline="0" dirty="0" smtClean="0"/>
              <a:t>olitical cartoons are most often created to make a comment about what is happening at a given time. They tell us about people or events of the time - the things that were in the news.</a:t>
            </a:r>
          </a:p>
          <a:p>
            <a:endParaRPr lang="en-AU" dirty="0"/>
          </a:p>
        </p:txBody>
      </p:sp>
      <p:sp>
        <p:nvSpPr>
          <p:cNvPr id="4" name="Slide Number Placeholder 3"/>
          <p:cNvSpPr>
            <a:spLocks noGrp="1"/>
          </p:cNvSpPr>
          <p:nvPr>
            <p:ph type="sldNum" sz="quarter" idx="10"/>
          </p:nvPr>
        </p:nvSpPr>
        <p:spPr/>
        <p:txBody>
          <a:bodyPr/>
          <a:lstStyle/>
          <a:p>
            <a:pPr>
              <a:defRPr/>
            </a:pPr>
            <a:fld id="{BBEF8936-69CC-4469-85D2-2AC95B9A0B99}" type="slidenum">
              <a:rPr lang="en-AU" smtClean="0"/>
              <a:pPr>
                <a:defRPr/>
              </a:pPr>
              <a:t>2</a:t>
            </a:fld>
            <a:endParaRPr lang="en-AU" dirty="0"/>
          </a:p>
        </p:txBody>
      </p:sp>
    </p:spTree>
    <p:extLst>
      <p:ext uri="{BB962C8B-B14F-4D97-AF65-F5344CB8AC3E}">
        <p14:creationId xmlns:p14="http://schemas.microsoft.com/office/powerpoint/2010/main" val="4064813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AU" b="0" dirty="0" smtClean="0"/>
              <a:t>This is a cartoon from an event that was in the news a few years ago —</a:t>
            </a:r>
            <a:r>
              <a:rPr lang="en-AU" dirty="0" smtClean="0"/>
              <a:t> a political cartoon created in 2012.  We</a:t>
            </a:r>
            <a:r>
              <a:rPr lang="en-AU" baseline="0" dirty="0" smtClean="0"/>
              <a:t> are going to learn how to interpret this cartoon.</a:t>
            </a:r>
          </a:p>
          <a:p>
            <a:pPr marL="0" marR="0" indent="0" algn="l" defTabSz="914400" rtl="0" eaLnBrk="1" fontAlgn="base" latinLnBrk="0" hangingPunct="1">
              <a:lnSpc>
                <a:spcPct val="100000"/>
              </a:lnSpc>
              <a:spcBef>
                <a:spcPct val="30000"/>
              </a:spcBef>
              <a:spcAft>
                <a:spcPct val="0"/>
              </a:spcAft>
              <a:buClrTx/>
              <a:buSzTx/>
              <a:buFontTx/>
              <a:buNone/>
              <a:tabLst/>
              <a:defRPr/>
            </a:pPr>
            <a:r>
              <a:rPr lang="en-AU" b="1" baseline="0" dirty="0" smtClean="0"/>
              <a:t>(Click) </a:t>
            </a:r>
            <a:r>
              <a:rPr lang="en-AU" baseline="0" dirty="0" smtClean="0"/>
              <a:t>What do you see? </a:t>
            </a:r>
          </a:p>
          <a:p>
            <a:pPr marL="0" marR="0" indent="0" algn="l" defTabSz="914400" rtl="0" eaLnBrk="1" fontAlgn="base" latinLnBrk="0" hangingPunct="1">
              <a:lnSpc>
                <a:spcPct val="100000"/>
              </a:lnSpc>
              <a:spcBef>
                <a:spcPct val="30000"/>
              </a:spcBef>
              <a:spcAft>
                <a:spcPct val="0"/>
              </a:spcAft>
              <a:buClrTx/>
              <a:buSzTx/>
              <a:buFontTx/>
              <a:buNone/>
              <a:tabLst/>
              <a:defRPr/>
            </a:pPr>
            <a:r>
              <a:rPr lang="en-AU" b="1" dirty="0" smtClean="0"/>
              <a:t>(Click) </a:t>
            </a:r>
            <a:r>
              <a:rPr lang="en-AU" dirty="0" smtClean="0"/>
              <a:t>This cartoon has two obvious parts.</a:t>
            </a:r>
            <a:r>
              <a:rPr lang="en-AU" baseline="0" dirty="0" smtClean="0"/>
              <a:t> Let’s look at the top part first. </a:t>
            </a:r>
            <a:r>
              <a:rPr lang="en-AU" b="1" dirty="0" smtClean="0"/>
              <a:t>(Click) </a:t>
            </a:r>
            <a:r>
              <a:rPr lang="en-AU" sz="1200" dirty="0" smtClean="0"/>
              <a:t>A couple is hiding behind the couch peering</a:t>
            </a:r>
            <a:r>
              <a:rPr lang="en-AU" sz="1200" baseline="0" dirty="0" smtClean="0"/>
              <a:t> over the top to look at the television.</a:t>
            </a:r>
          </a:p>
          <a:p>
            <a:r>
              <a:rPr lang="en-AU" sz="1200" baseline="0" dirty="0" smtClean="0"/>
              <a:t>Compare that with the couple in the bottom drawing.</a:t>
            </a:r>
            <a:r>
              <a:rPr lang="en-AU" sz="1200" dirty="0" smtClean="0"/>
              <a:t> </a:t>
            </a:r>
            <a:r>
              <a:rPr lang="en-AU" b="1" dirty="0" smtClean="0"/>
              <a:t>(Click) </a:t>
            </a:r>
            <a:r>
              <a:rPr lang="en-AU" sz="1200" dirty="0" smtClean="0"/>
              <a:t>A couple in front of the television– happy faces, relaxed posture.</a:t>
            </a:r>
          </a:p>
          <a:p>
            <a:pPr marL="0" marR="0" indent="0" algn="l" defTabSz="914400" rtl="0" eaLnBrk="1" fontAlgn="base" latinLnBrk="0" hangingPunct="1">
              <a:lnSpc>
                <a:spcPct val="100000"/>
              </a:lnSpc>
              <a:spcBef>
                <a:spcPct val="30000"/>
              </a:spcBef>
              <a:spcAft>
                <a:spcPct val="0"/>
              </a:spcAft>
              <a:buClrTx/>
              <a:buSzTx/>
              <a:buFontTx/>
              <a:buNone/>
              <a:tabLst/>
              <a:defRPr/>
            </a:pPr>
            <a:r>
              <a:rPr lang="en-AU" sz="1200" dirty="0" smtClean="0"/>
              <a:t>Look at</a:t>
            </a:r>
            <a:r>
              <a:rPr lang="en-AU" sz="1200" baseline="0" dirty="0" smtClean="0"/>
              <a:t> the televisions. </a:t>
            </a:r>
            <a:endParaRPr lang="en-AU" sz="1200" i="1" baseline="0"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AU" b="1" dirty="0" smtClean="0"/>
              <a:t>(Click) </a:t>
            </a:r>
            <a:r>
              <a:rPr lang="en-AU" sz="1200" baseline="0" dirty="0" smtClean="0"/>
              <a:t>The television in the top part shows </a:t>
            </a:r>
            <a:r>
              <a:rPr lang="en-AU" sz="1200" dirty="0" smtClean="0"/>
              <a:t>smoke, bolts of lightning, skull and crossbones</a:t>
            </a:r>
            <a:r>
              <a:rPr lang="en-AU" sz="1200" baseline="0" dirty="0" smtClean="0"/>
              <a:t> and </a:t>
            </a:r>
            <a:r>
              <a:rPr lang="en-AU" sz="1200" dirty="0" smtClean="0"/>
              <a:t>fists. The television is jumping around the floor!</a:t>
            </a:r>
          </a:p>
          <a:p>
            <a:pPr marL="0" marR="0" indent="0" algn="l" defTabSz="914400" rtl="0" eaLnBrk="1" fontAlgn="base" latinLnBrk="0" hangingPunct="1">
              <a:lnSpc>
                <a:spcPct val="100000"/>
              </a:lnSpc>
              <a:spcBef>
                <a:spcPct val="30000"/>
              </a:spcBef>
              <a:spcAft>
                <a:spcPct val="0"/>
              </a:spcAft>
              <a:buClrTx/>
              <a:buSzTx/>
              <a:buFontTx/>
              <a:buNone/>
              <a:tabLst/>
              <a:defRPr/>
            </a:pPr>
            <a:r>
              <a:rPr lang="en-AU" sz="1200" dirty="0" smtClean="0"/>
              <a:t>Compare that with the television</a:t>
            </a:r>
            <a:r>
              <a:rPr lang="en-AU" sz="1200" baseline="0" dirty="0" smtClean="0"/>
              <a:t> in the bottom part. </a:t>
            </a:r>
          </a:p>
          <a:p>
            <a:pPr marL="0" marR="0" indent="0" algn="l" defTabSz="914400" rtl="0" eaLnBrk="1" fontAlgn="base" latinLnBrk="0" hangingPunct="1">
              <a:lnSpc>
                <a:spcPct val="100000"/>
              </a:lnSpc>
              <a:spcBef>
                <a:spcPct val="30000"/>
              </a:spcBef>
              <a:spcAft>
                <a:spcPct val="0"/>
              </a:spcAft>
              <a:buClrTx/>
              <a:buSzTx/>
              <a:buFontTx/>
              <a:buNone/>
              <a:tabLst/>
              <a:defRPr/>
            </a:pPr>
            <a:r>
              <a:rPr lang="en-AU" b="1" dirty="0" smtClean="0"/>
              <a:t>(Click) </a:t>
            </a:r>
            <a:r>
              <a:rPr lang="en-AU" sz="1200" baseline="0" dirty="0" smtClean="0"/>
              <a:t>We can see an Australian f</a:t>
            </a:r>
            <a:r>
              <a:rPr lang="en-AU" sz="1200" dirty="0" smtClean="0"/>
              <a:t>lag; the Olympic rings and a pink line that looks like a mouth. The television almost</a:t>
            </a:r>
            <a:r>
              <a:rPr lang="en-AU" sz="1200" baseline="0" dirty="0" smtClean="0"/>
              <a:t> looks as though it’s smiling!</a:t>
            </a:r>
          </a:p>
          <a:p>
            <a:pPr marL="0" marR="0" indent="0" algn="l" defTabSz="914400" rtl="0" eaLnBrk="1" fontAlgn="base" latinLnBrk="0" hangingPunct="1">
              <a:lnSpc>
                <a:spcPct val="100000"/>
              </a:lnSpc>
              <a:spcBef>
                <a:spcPct val="30000"/>
              </a:spcBef>
              <a:spcAft>
                <a:spcPct val="0"/>
              </a:spcAft>
              <a:buClrTx/>
              <a:buSzTx/>
              <a:buFontTx/>
              <a:buNone/>
              <a:tabLst/>
              <a:defRPr/>
            </a:pPr>
            <a:r>
              <a:rPr lang="en-AU" sz="1200" baseline="0" dirty="0" smtClean="0"/>
              <a:t>This television is sitting flat on the floor – it’s not moving like the one above. </a:t>
            </a:r>
          </a:p>
          <a:p>
            <a:pPr marL="0" marR="0" indent="0" algn="l" defTabSz="914400" rtl="0" eaLnBrk="1" fontAlgn="base" latinLnBrk="0" hangingPunct="1">
              <a:lnSpc>
                <a:spcPct val="100000"/>
              </a:lnSpc>
              <a:spcBef>
                <a:spcPct val="30000"/>
              </a:spcBef>
              <a:spcAft>
                <a:spcPct val="0"/>
              </a:spcAft>
              <a:buClrTx/>
              <a:buSzTx/>
              <a:buFontTx/>
              <a:buNone/>
              <a:tabLst/>
              <a:defRPr/>
            </a:pPr>
            <a:r>
              <a:rPr lang="en-AU" sz="1200" baseline="0" dirty="0" smtClean="0"/>
              <a:t>Look at the difference between the television cord going into the electrical socket in both parts. </a:t>
            </a:r>
          </a:p>
          <a:p>
            <a:pPr marL="0" marR="0" indent="0" algn="l" defTabSz="914400" rtl="0" eaLnBrk="1" fontAlgn="base" latinLnBrk="0" hangingPunct="1">
              <a:lnSpc>
                <a:spcPct val="100000"/>
              </a:lnSpc>
              <a:spcBef>
                <a:spcPct val="30000"/>
              </a:spcBef>
              <a:spcAft>
                <a:spcPct val="0"/>
              </a:spcAft>
              <a:buClrTx/>
              <a:buSzTx/>
              <a:buFontTx/>
              <a:buNone/>
              <a:tabLst/>
              <a:defRPr/>
            </a:pPr>
            <a:r>
              <a:rPr lang="en-AU" sz="1200" baseline="0" dirty="0" smtClean="0"/>
              <a:t>This cartoon has words as well. </a:t>
            </a:r>
            <a:r>
              <a:rPr lang="en-AU" b="1" dirty="0" smtClean="0"/>
              <a:t>(Click) </a:t>
            </a:r>
            <a:r>
              <a:rPr lang="en-AU" sz="1200" baseline="0" dirty="0" smtClean="0"/>
              <a:t>Look at the words in the top part </a:t>
            </a:r>
            <a:r>
              <a:rPr lang="en-AU" b="0" dirty="0" smtClean="0"/>
              <a:t>—</a:t>
            </a:r>
            <a:r>
              <a:rPr lang="en-AU" sz="1200" dirty="0" smtClean="0"/>
              <a:t> climate change, Greece, politics, economic meltdown, unemployment, famine.</a:t>
            </a:r>
          </a:p>
          <a:p>
            <a:pPr marL="0" marR="0" indent="0" algn="l" defTabSz="914400" rtl="0" eaLnBrk="1" fontAlgn="base" latinLnBrk="0" hangingPunct="1">
              <a:lnSpc>
                <a:spcPct val="100000"/>
              </a:lnSpc>
              <a:spcBef>
                <a:spcPct val="30000"/>
              </a:spcBef>
              <a:spcAft>
                <a:spcPct val="0"/>
              </a:spcAft>
              <a:buClrTx/>
              <a:buSzTx/>
              <a:buFontTx/>
              <a:buNone/>
              <a:tabLst/>
              <a:defRPr/>
            </a:pPr>
            <a:r>
              <a:rPr lang="en-AU" sz="1200" dirty="0" smtClean="0"/>
              <a:t>Compare this with the caption for the bottom part of the cartoon. </a:t>
            </a:r>
            <a:r>
              <a:rPr lang="en-AU" b="1" dirty="0" smtClean="0"/>
              <a:t>(Click) </a:t>
            </a:r>
            <a:r>
              <a:rPr lang="en-AU" sz="1200" dirty="0" smtClean="0"/>
              <a:t>The 2012 Olympics, bringing relief</a:t>
            </a:r>
            <a:r>
              <a:rPr lang="en-AU" sz="1200" baseline="0" dirty="0" smtClean="0"/>
              <a:t> to TVs around Australia.</a:t>
            </a:r>
            <a:endParaRPr lang="en-AU" sz="1200" dirty="0" smtClean="0"/>
          </a:p>
        </p:txBody>
      </p:sp>
      <p:sp>
        <p:nvSpPr>
          <p:cNvPr id="4" name="Slide Number Placeholder 3"/>
          <p:cNvSpPr>
            <a:spLocks noGrp="1"/>
          </p:cNvSpPr>
          <p:nvPr>
            <p:ph type="sldNum" sz="quarter" idx="10"/>
          </p:nvPr>
        </p:nvSpPr>
        <p:spPr/>
        <p:txBody>
          <a:bodyPr/>
          <a:lstStyle/>
          <a:p>
            <a:pPr>
              <a:defRPr/>
            </a:pPr>
            <a:fld id="{BBEF8936-69CC-4469-85D2-2AC95B9A0B99}" type="slidenum">
              <a:rPr lang="en-AU" smtClean="0"/>
              <a:pPr>
                <a:defRPr/>
              </a:pPr>
              <a:t>3</a:t>
            </a:fld>
            <a:endParaRPr lang="en-AU" dirty="0"/>
          </a:p>
        </p:txBody>
      </p:sp>
    </p:spTree>
    <p:extLst>
      <p:ext uri="{BB962C8B-B14F-4D97-AF65-F5344CB8AC3E}">
        <p14:creationId xmlns:p14="http://schemas.microsoft.com/office/powerpoint/2010/main" val="2657868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ct val="30000"/>
              </a:spcBef>
              <a:spcAft>
                <a:spcPts val="0"/>
              </a:spcAft>
              <a:buClrTx/>
              <a:buSzTx/>
              <a:buFont typeface="Arial" pitchFamily="34" charset="0"/>
              <a:buNone/>
              <a:tabLst/>
              <a:defRPr/>
            </a:pPr>
            <a:r>
              <a:rPr lang="en-AU" b="1" dirty="0" smtClean="0"/>
              <a:t>(Click) </a:t>
            </a:r>
            <a:r>
              <a:rPr lang="en-AU" b="0" dirty="0" smtClean="0"/>
              <a:t>What</a:t>
            </a:r>
            <a:r>
              <a:rPr lang="en-AU" b="0" baseline="0" dirty="0" smtClean="0"/>
              <a:t> was happening at that time? How does it relate to events of the time? We need to think about things that were happening in the world at the time this cartoon was published. </a:t>
            </a:r>
          </a:p>
          <a:p>
            <a:pPr marL="0" marR="0" indent="0" algn="l" defTabSz="914400" rtl="0" eaLnBrk="1" fontAlgn="auto" latinLnBrk="0" hangingPunct="1">
              <a:lnSpc>
                <a:spcPct val="100000"/>
              </a:lnSpc>
              <a:spcBef>
                <a:spcPct val="30000"/>
              </a:spcBef>
              <a:spcAft>
                <a:spcPts val="0"/>
              </a:spcAft>
              <a:buClrTx/>
              <a:buSzTx/>
              <a:buFont typeface="Arial" pitchFamily="34" charset="0"/>
              <a:buNone/>
              <a:tabLst/>
              <a:defRPr/>
            </a:pPr>
            <a:r>
              <a:rPr lang="en-AU" b="1" baseline="0" dirty="0" smtClean="0"/>
              <a:t>(Click) </a:t>
            </a:r>
            <a:r>
              <a:rPr lang="en-AU" b="0" baseline="0" dirty="0" smtClean="0"/>
              <a:t>The top part of this cartoon refers to world events that were happening in 2012; for example, discussions about climate change, economic problems in Greece and high unemployment.</a:t>
            </a:r>
          </a:p>
          <a:p>
            <a:pPr marL="0" marR="0" indent="0" algn="l" defTabSz="914400" rtl="0" eaLnBrk="1" fontAlgn="auto" latinLnBrk="0" hangingPunct="1">
              <a:lnSpc>
                <a:spcPct val="100000"/>
              </a:lnSpc>
              <a:spcBef>
                <a:spcPct val="30000"/>
              </a:spcBef>
              <a:spcAft>
                <a:spcPts val="0"/>
              </a:spcAft>
              <a:buClrTx/>
              <a:buSzTx/>
              <a:buFont typeface="Arial" pitchFamily="34" charset="0"/>
              <a:buNone/>
              <a:tabLst/>
              <a:defRPr/>
            </a:pPr>
            <a:r>
              <a:rPr lang="en-AU" b="0" baseline="0" dirty="0" smtClean="0"/>
              <a:t>The bottom part of the cartoon refers to the 2012 London Olympic Games.</a:t>
            </a:r>
            <a:endParaRPr lang="en-AU" b="0" dirty="0" smtClean="0"/>
          </a:p>
        </p:txBody>
      </p:sp>
      <p:sp>
        <p:nvSpPr>
          <p:cNvPr id="4" name="Slide Number Placeholder 3"/>
          <p:cNvSpPr>
            <a:spLocks noGrp="1"/>
          </p:cNvSpPr>
          <p:nvPr>
            <p:ph type="sldNum" sz="quarter" idx="10"/>
          </p:nvPr>
        </p:nvSpPr>
        <p:spPr/>
        <p:txBody>
          <a:bodyPr/>
          <a:lstStyle/>
          <a:p>
            <a:pPr>
              <a:defRPr/>
            </a:pPr>
            <a:fld id="{BBEF8936-69CC-4469-85D2-2AC95B9A0B99}" type="slidenum">
              <a:rPr lang="en-AU" smtClean="0"/>
              <a:pPr>
                <a:defRPr/>
              </a:pPr>
              <a:t>4</a:t>
            </a:fld>
            <a:endParaRPr lang="en-AU" dirty="0"/>
          </a:p>
        </p:txBody>
      </p:sp>
    </p:spTree>
    <p:extLst>
      <p:ext uri="{BB962C8B-B14F-4D97-AF65-F5344CB8AC3E}">
        <p14:creationId xmlns:p14="http://schemas.microsoft.com/office/powerpoint/2010/main" val="3175999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smtClean="0"/>
              <a:t>(Click) </a:t>
            </a:r>
            <a:r>
              <a:rPr lang="en-AU" dirty="0" smtClean="0"/>
              <a:t>Cartoons usually</a:t>
            </a:r>
            <a:r>
              <a:rPr lang="en-AU" baseline="0" dirty="0" smtClean="0"/>
              <a:t> have words (written language) and images (the visual language). They make up the cartoon and we can ‘read’ them to work out the meaning. </a:t>
            </a:r>
            <a:r>
              <a:rPr lang="en-AU" b="1" baseline="0" dirty="0" smtClean="0"/>
              <a:t>(Click)</a:t>
            </a:r>
          </a:p>
          <a:p>
            <a:pPr marL="0" marR="0" indent="0" algn="l" defTabSz="914400" rtl="0" eaLnBrk="1" fontAlgn="base" latinLnBrk="0" hangingPunct="1">
              <a:lnSpc>
                <a:spcPct val="100000"/>
              </a:lnSpc>
              <a:spcBef>
                <a:spcPct val="30000"/>
              </a:spcBef>
              <a:spcAft>
                <a:spcPct val="0"/>
              </a:spcAft>
              <a:buClrTx/>
              <a:buSzTx/>
              <a:buFontTx/>
              <a:buNone/>
              <a:tabLst/>
              <a:defRPr/>
            </a:pPr>
            <a:r>
              <a:rPr lang="en-AU" baseline="0" dirty="0" smtClean="0"/>
              <a:t>Look at the visual language </a:t>
            </a:r>
            <a:r>
              <a:rPr lang="en-AU" b="0" dirty="0" smtClean="0"/>
              <a:t>—</a:t>
            </a:r>
            <a:r>
              <a:rPr lang="en-AU" baseline="0" dirty="0" smtClean="0"/>
              <a:t> the images and symbols used in the cartoon. </a:t>
            </a:r>
            <a:r>
              <a:rPr lang="en-AU" dirty="0" smtClean="0"/>
              <a:t>Look at the written language </a:t>
            </a:r>
            <a:r>
              <a:rPr lang="en-AU" b="0" dirty="0" smtClean="0"/>
              <a:t>—</a:t>
            </a:r>
            <a:r>
              <a:rPr lang="en-AU" dirty="0" smtClean="0"/>
              <a:t> the words.</a:t>
            </a:r>
            <a:r>
              <a:rPr lang="en-AU" baseline="0" dirty="0" smtClean="0"/>
              <a:t> The written language includes captions, the title and possibly speech bubbles. Together, the visual and written language gives a message. When someone wants to give a message, they want to give their </a:t>
            </a:r>
            <a:r>
              <a:rPr lang="en-AU" b="1" baseline="0" dirty="0" smtClean="0"/>
              <a:t>point of view</a:t>
            </a:r>
            <a:r>
              <a:rPr lang="en-AU" baseline="0" dirty="0" smtClean="0"/>
              <a:t>.</a:t>
            </a:r>
            <a:endParaRPr lang="en-AU" b="0" baseline="0" dirty="0" smtClean="0"/>
          </a:p>
          <a:p>
            <a:endParaRPr lang="en-AU" dirty="0"/>
          </a:p>
        </p:txBody>
      </p:sp>
      <p:sp>
        <p:nvSpPr>
          <p:cNvPr id="4" name="Slide Number Placeholder 3"/>
          <p:cNvSpPr>
            <a:spLocks noGrp="1"/>
          </p:cNvSpPr>
          <p:nvPr>
            <p:ph type="sldNum" sz="quarter" idx="10"/>
          </p:nvPr>
        </p:nvSpPr>
        <p:spPr/>
        <p:txBody>
          <a:bodyPr/>
          <a:lstStyle/>
          <a:p>
            <a:pPr>
              <a:defRPr/>
            </a:pPr>
            <a:fld id="{BBEF8936-69CC-4469-85D2-2AC95B9A0B99}" type="slidenum">
              <a:rPr lang="en-AU" smtClean="0"/>
              <a:pPr>
                <a:defRPr/>
              </a:pPr>
              <a:t>5</a:t>
            </a:fld>
            <a:endParaRPr lang="en-AU" dirty="0"/>
          </a:p>
        </p:txBody>
      </p:sp>
    </p:spTree>
    <p:extLst>
      <p:ext uri="{BB962C8B-B14F-4D97-AF65-F5344CB8AC3E}">
        <p14:creationId xmlns:p14="http://schemas.microsoft.com/office/powerpoint/2010/main" val="25682045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When we interpret the images and words, we interpret what we see; that is, we describe what is in the cartoon and what we </a:t>
            </a:r>
            <a:r>
              <a:rPr lang="en-AU" b="1" u="none" dirty="0" smtClean="0"/>
              <a:t>think</a:t>
            </a:r>
            <a:r>
              <a:rPr lang="en-AU" dirty="0" smtClean="0"/>
              <a:t> about what we see. </a:t>
            </a:r>
          </a:p>
          <a:p>
            <a:r>
              <a:rPr lang="en-AU" dirty="0" smtClean="0"/>
              <a:t>Firstly, we look at the different postures of the people </a:t>
            </a:r>
            <a:r>
              <a:rPr lang="en-AU" b="0" dirty="0" smtClean="0"/>
              <a:t>—</a:t>
            </a:r>
            <a:r>
              <a:rPr lang="en-AU" dirty="0" smtClean="0"/>
              <a:t> the way their bodies</a:t>
            </a:r>
            <a:r>
              <a:rPr lang="en-AU" baseline="0" dirty="0" smtClean="0"/>
              <a:t> are positioned</a:t>
            </a:r>
            <a:r>
              <a:rPr lang="en-AU" dirty="0" smtClean="0"/>
              <a:t>.</a:t>
            </a:r>
            <a:r>
              <a:rPr lang="en-AU" baseline="0" dirty="0" smtClean="0"/>
              <a:t> We can interpret the different postures like this:</a:t>
            </a:r>
          </a:p>
          <a:p>
            <a:r>
              <a:rPr lang="en-AU" sz="1200" dirty="0" smtClean="0"/>
              <a:t>- In the top part,</a:t>
            </a:r>
            <a:r>
              <a:rPr lang="en-AU" sz="1200" baseline="0" dirty="0" smtClean="0"/>
              <a:t> the people’s faces look frightened. </a:t>
            </a:r>
            <a:r>
              <a:rPr lang="en-AU" b="1" dirty="0" smtClean="0"/>
              <a:t>(Click) </a:t>
            </a:r>
            <a:r>
              <a:rPr lang="en-AU" sz="1200" baseline="0" dirty="0" smtClean="0"/>
              <a:t>They are scared and are crouched behind the couch. </a:t>
            </a:r>
          </a:p>
          <a:p>
            <a:r>
              <a:rPr lang="en-AU" sz="1200" baseline="0" dirty="0" smtClean="0"/>
              <a:t>- In the bottom part, the people’s bodies look relaxed and their faces look happy. </a:t>
            </a:r>
            <a:r>
              <a:rPr lang="en-AU" b="1" dirty="0" smtClean="0"/>
              <a:t>(Click) </a:t>
            </a:r>
            <a:r>
              <a:rPr lang="en-AU" sz="1200" baseline="0" dirty="0" smtClean="0"/>
              <a:t>They are enjoying themselves.</a:t>
            </a:r>
            <a:endParaRPr lang="en-AU" sz="1200" dirty="0" smtClean="0"/>
          </a:p>
          <a:p>
            <a:pPr marL="0" marR="0" indent="0" algn="l" defTabSz="914400" rtl="0" eaLnBrk="1" fontAlgn="base" latinLnBrk="0" hangingPunct="1">
              <a:lnSpc>
                <a:spcPct val="100000"/>
              </a:lnSpc>
              <a:spcBef>
                <a:spcPct val="30000"/>
              </a:spcBef>
              <a:spcAft>
                <a:spcPct val="0"/>
              </a:spcAft>
              <a:buClrTx/>
              <a:buSzTx/>
              <a:buFontTx/>
              <a:buNone/>
              <a:tabLst/>
              <a:defRPr/>
            </a:pPr>
            <a:endParaRPr lang="en-AU" sz="1200"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AU" sz="1200" dirty="0" smtClean="0"/>
              <a:t>Look at the top television.</a:t>
            </a:r>
            <a:r>
              <a:rPr lang="en-AU" sz="1200" baseline="0" dirty="0" smtClean="0"/>
              <a:t> The</a:t>
            </a:r>
            <a:r>
              <a:rPr lang="en-AU" sz="1200" dirty="0" smtClean="0"/>
              <a:t> television is jumping around and coming from the TV are fists, skulls and crossbones, guns and smoke. </a:t>
            </a:r>
            <a:r>
              <a:rPr lang="en-AU" b="1" dirty="0" smtClean="0"/>
              <a:t>(Click) </a:t>
            </a:r>
            <a:r>
              <a:rPr lang="en-AU" sz="1200" dirty="0" smtClean="0"/>
              <a:t>This could mean bad things happening in the world like war</a:t>
            </a:r>
            <a:r>
              <a:rPr lang="en-AU" sz="1200" baseline="0" dirty="0" smtClean="0"/>
              <a:t> and other crises </a:t>
            </a:r>
            <a:r>
              <a:rPr lang="en-AU" b="0" dirty="0" smtClean="0"/>
              <a:t>—</a:t>
            </a:r>
            <a:r>
              <a:rPr lang="en-AU" sz="1200" baseline="0" dirty="0" smtClean="0"/>
              <a:t> the world is in trouble. Now look at the bottom television. The TV is s</a:t>
            </a:r>
            <a:r>
              <a:rPr lang="en-AU" sz="1200" dirty="0" smtClean="0"/>
              <a:t>taying still and it</a:t>
            </a:r>
            <a:r>
              <a:rPr lang="en-AU" sz="1200" baseline="0" dirty="0" smtClean="0"/>
              <a:t> portrays a smiling face which makes us think of happiness </a:t>
            </a:r>
            <a:r>
              <a:rPr lang="en-AU" b="1" dirty="0" smtClean="0"/>
              <a:t>(Click) </a:t>
            </a:r>
            <a:r>
              <a:rPr lang="en-AU" sz="1200" baseline="0" dirty="0" smtClean="0"/>
              <a:t>and the waving flag gives a sense of national pride. </a:t>
            </a:r>
          </a:p>
          <a:p>
            <a:pPr marL="0" marR="0" indent="0" algn="l" defTabSz="914400" rtl="0" eaLnBrk="1" fontAlgn="base" latinLnBrk="0" hangingPunct="1">
              <a:lnSpc>
                <a:spcPct val="100000"/>
              </a:lnSpc>
              <a:spcBef>
                <a:spcPct val="30000"/>
              </a:spcBef>
              <a:spcAft>
                <a:spcPct val="0"/>
              </a:spcAft>
              <a:buClrTx/>
              <a:buSzTx/>
              <a:buFontTx/>
              <a:buNone/>
              <a:tabLst/>
              <a:defRPr/>
            </a:pPr>
            <a:endParaRPr lang="en-AU" sz="1200" baseline="0"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AU" sz="1200" dirty="0" smtClean="0"/>
              <a:t>Finally, let’s look at the written language: ‘The 2012 Olympics, bringing relief</a:t>
            </a:r>
            <a:r>
              <a:rPr lang="en-AU" sz="1200" baseline="0" dirty="0" smtClean="0"/>
              <a:t> to TVs around Australia.’ </a:t>
            </a:r>
            <a:r>
              <a:rPr lang="en-AU" b="1" dirty="0" smtClean="0"/>
              <a:t>(Click) </a:t>
            </a:r>
            <a:r>
              <a:rPr lang="en-AU" sz="1200" baseline="0" dirty="0" smtClean="0"/>
              <a:t>This could be interpreted to mean that t</a:t>
            </a:r>
            <a:r>
              <a:rPr lang="en-AU" sz="1200" dirty="0" smtClean="0"/>
              <a:t>he Olympic Games is a pleasant and welcome relief from the problems happening in the world at the time.</a:t>
            </a:r>
          </a:p>
          <a:p>
            <a:pPr marL="0" marR="0" indent="0" algn="l" defTabSz="914400" rtl="0" eaLnBrk="1" fontAlgn="base" latinLnBrk="0" hangingPunct="1">
              <a:lnSpc>
                <a:spcPct val="100000"/>
              </a:lnSpc>
              <a:spcBef>
                <a:spcPct val="30000"/>
              </a:spcBef>
              <a:spcAft>
                <a:spcPct val="0"/>
              </a:spcAft>
              <a:buClrTx/>
              <a:buSzTx/>
              <a:buFontTx/>
              <a:buNone/>
              <a:tabLst/>
              <a:defRPr/>
            </a:pPr>
            <a:endParaRPr lang="en-AU" sz="1200" dirty="0" smtClean="0"/>
          </a:p>
          <a:p>
            <a:pPr marL="0" marR="0" indent="0" algn="l" defTabSz="914400" rtl="0" eaLnBrk="1" fontAlgn="base" latinLnBrk="0" hangingPunct="1">
              <a:lnSpc>
                <a:spcPct val="100000"/>
              </a:lnSpc>
              <a:spcBef>
                <a:spcPct val="30000"/>
              </a:spcBef>
              <a:spcAft>
                <a:spcPct val="0"/>
              </a:spcAft>
              <a:buClrTx/>
              <a:buSzTx/>
              <a:buFontTx/>
              <a:buNone/>
              <a:tabLst/>
              <a:defRPr/>
            </a:pPr>
            <a:endParaRPr lang="en-AU" sz="1200" dirty="0" smtClean="0"/>
          </a:p>
          <a:p>
            <a:pPr marL="0" marR="0" indent="0" algn="l" defTabSz="914400" rtl="0" eaLnBrk="1" fontAlgn="base" latinLnBrk="0" hangingPunct="1">
              <a:lnSpc>
                <a:spcPct val="100000"/>
              </a:lnSpc>
              <a:spcBef>
                <a:spcPct val="30000"/>
              </a:spcBef>
              <a:spcAft>
                <a:spcPct val="0"/>
              </a:spcAft>
              <a:buClrTx/>
              <a:buSzTx/>
              <a:buFontTx/>
              <a:buNone/>
              <a:tabLst/>
              <a:defRPr/>
            </a:pPr>
            <a:endParaRPr lang="en-AU" sz="1200" dirty="0" smtClean="0"/>
          </a:p>
          <a:p>
            <a:pPr marL="0" marR="0" indent="0" algn="l" defTabSz="914400" rtl="0" eaLnBrk="1" fontAlgn="base" latinLnBrk="0" hangingPunct="1">
              <a:lnSpc>
                <a:spcPct val="100000"/>
              </a:lnSpc>
              <a:spcBef>
                <a:spcPct val="30000"/>
              </a:spcBef>
              <a:spcAft>
                <a:spcPct val="0"/>
              </a:spcAft>
              <a:buClrTx/>
              <a:buSzTx/>
              <a:buFontTx/>
              <a:buNone/>
              <a:tabLst/>
              <a:defRPr/>
            </a:pPr>
            <a:endParaRPr lang="en-AU" sz="1200" dirty="0" smtClean="0"/>
          </a:p>
          <a:p>
            <a:pPr marL="0" marR="0" indent="0" algn="l" defTabSz="914400" rtl="0" eaLnBrk="1" fontAlgn="base" latinLnBrk="0" hangingPunct="1">
              <a:lnSpc>
                <a:spcPct val="100000"/>
              </a:lnSpc>
              <a:spcBef>
                <a:spcPct val="30000"/>
              </a:spcBef>
              <a:spcAft>
                <a:spcPct val="0"/>
              </a:spcAft>
              <a:buClrTx/>
              <a:buSzTx/>
              <a:buFontTx/>
              <a:buNone/>
              <a:tabLst/>
              <a:defRPr/>
            </a:pPr>
            <a:endParaRPr lang="en-AU" sz="1200" dirty="0" smtClean="0"/>
          </a:p>
          <a:p>
            <a:endParaRPr lang="en-AU" sz="1200" dirty="0" smtClean="0"/>
          </a:p>
          <a:p>
            <a:endParaRPr lang="en-AU" dirty="0"/>
          </a:p>
        </p:txBody>
      </p:sp>
      <p:sp>
        <p:nvSpPr>
          <p:cNvPr id="4" name="Slide Number Placeholder 3"/>
          <p:cNvSpPr>
            <a:spLocks noGrp="1"/>
          </p:cNvSpPr>
          <p:nvPr>
            <p:ph type="sldNum" sz="quarter" idx="10"/>
          </p:nvPr>
        </p:nvSpPr>
        <p:spPr/>
        <p:txBody>
          <a:bodyPr/>
          <a:lstStyle/>
          <a:p>
            <a:pPr>
              <a:defRPr/>
            </a:pPr>
            <a:fld id="{BBEF8936-69CC-4469-85D2-2AC95B9A0B99}" type="slidenum">
              <a:rPr lang="en-AU" smtClean="0"/>
              <a:pPr>
                <a:defRPr/>
              </a:pPr>
              <a:t>6</a:t>
            </a:fld>
            <a:endParaRPr lang="en-AU" dirty="0"/>
          </a:p>
        </p:txBody>
      </p:sp>
    </p:spTree>
    <p:extLst>
      <p:ext uri="{BB962C8B-B14F-4D97-AF65-F5344CB8AC3E}">
        <p14:creationId xmlns:p14="http://schemas.microsoft.com/office/powerpoint/2010/main" val="1953602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AU" b="1" dirty="0" smtClean="0"/>
              <a:t>(Click) </a:t>
            </a:r>
            <a:r>
              <a:rPr lang="en-AU" dirty="0" smtClean="0"/>
              <a:t>So what’s the main idea of this cartoon? </a:t>
            </a:r>
            <a:r>
              <a:rPr lang="en-AU" b="1" dirty="0" smtClean="0"/>
              <a:t>(Click) </a:t>
            </a:r>
            <a:r>
              <a:rPr lang="en-AU" dirty="0" smtClean="0"/>
              <a:t>It could be that the 2012 London Olympic Games were a welcome distraction from the many problems the world was facing at the time. You must </a:t>
            </a:r>
            <a:r>
              <a:rPr lang="en-AU" baseline="0" dirty="0" smtClean="0"/>
              <a:t>back up your conclusion with evidence and you would do this by referring to the visual and written language in the cartoon.</a:t>
            </a:r>
            <a:endParaRPr lang="en-AU" dirty="0" smtClean="0"/>
          </a:p>
        </p:txBody>
      </p:sp>
      <p:sp>
        <p:nvSpPr>
          <p:cNvPr id="4" name="Slide Number Placeholder 3"/>
          <p:cNvSpPr>
            <a:spLocks noGrp="1"/>
          </p:cNvSpPr>
          <p:nvPr>
            <p:ph type="sldNum" sz="quarter" idx="10"/>
          </p:nvPr>
        </p:nvSpPr>
        <p:spPr/>
        <p:txBody>
          <a:bodyPr/>
          <a:lstStyle/>
          <a:p>
            <a:pPr>
              <a:defRPr/>
            </a:pPr>
            <a:fld id="{BBEF8936-69CC-4469-85D2-2AC95B9A0B99}" type="slidenum">
              <a:rPr lang="en-AU" smtClean="0"/>
              <a:pPr>
                <a:defRPr/>
              </a:pPr>
              <a:t>7</a:t>
            </a:fld>
            <a:endParaRPr lang="en-AU" dirty="0"/>
          </a:p>
        </p:txBody>
      </p:sp>
    </p:spTree>
    <p:extLst>
      <p:ext uri="{BB962C8B-B14F-4D97-AF65-F5344CB8AC3E}">
        <p14:creationId xmlns:p14="http://schemas.microsoft.com/office/powerpoint/2010/main" val="1677732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AU" b="1" dirty="0" smtClean="0"/>
              <a:t>(Click) </a:t>
            </a:r>
            <a:r>
              <a:rPr lang="en-AU" dirty="0" smtClean="0"/>
              <a:t>A point of view is the opinion or stance a person has about an event, development or issue. </a:t>
            </a:r>
            <a:r>
              <a:rPr lang="en-AU" b="1" dirty="0" smtClean="0"/>
              <a:t>(Click) </a:t>
            </a:r>
            <a:r>
              <a:rPr lang="en-AU" dirty="0" smtClean="0"/>
              <a:t>It</a:t>
            </a:r>
            <a:r>
              <a:rPr lang="en-AU" baseline="0" dirty="0" smtClean="0"/>
              <a:t> appears that this cartoonist’s point of view was that the </a:t>
            </a:r>
            <a:r>
              <a:rPr lang="en-AU" dirty="0" smtClean="0"/>
              <a:t>world was able to have a rest from its problems while the 2012 London Olympic Games were happening. </a:t>
            </a:r>
          </a:p>
        </p:txBody>
      </p:sp>
      <p:sp>
        <p:nvSpPr>
          <p:cNvPr id="4" name="Slide Number Placeholder 3"/>
          <p:cNvSpPr>
            <a:spLocks noGrp="1"/>
          </p:cNvSpPr>
          <p:nvPr>
            <p:ph type="sldNum" sz="quarter" idx="10"/>
          </p:nvPr>
        </p:nvSpPr>
        <p:spPr/>
        <p:txBody>
          <a:bodyPr/>
          <a:lstStyle/>
          <a:p>
            <a:pPr>
              <a:defRPr/>
            </a:pPr>
            <a:fld id="{BBEF8936-69CC-4469-85D2-2AC95B9A0B99}" type="slidenum">
              <a:rPr lang="en-AU" smtClean="0"/>
              <a:pPr>
                <a:defRPr/>
              </a:pPr>
              <a:t>8</a:t>
            </a:fld>
            <a:endParaRPr lang="en-AU" dirty="0"/>
          </a:p>
        </p:txBody>
      </p:sp>
    </p:spTree>
    <p:extLst>
      <p:ext uri="{BB962C8B-B14F-4D97-AF65-F5344CB8AC3E}">
        <p14:creationId xmlns:p14="http://schemas.microsoft.com/office/powerpoint/2010/main" val="347778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What is the main purpose of this cartoon?</a:t>
            </a:r>
            <a:r>
              <a:rPr lang="en-AU" baseline="0" dirty="0" smtClean="0"/>
              <a:t> Do you think it is to </a:t>
            </a:r>
            <a:r>
              <a:rPr lang="en-AU" b="1" baseline="0" dirty="0" smtClean="0"/>
              <a:t>(Click) </a:t>
            </a:r>
            <a:r>
              <a:rPr lang="en-AU" baseline="0" dirty="0" smtClean="0"/>
              <a:t>inform or educate an audience about events and issues? Perhaps the main purpose is to </a:t>
            </a:r>
            <a:r>
              <a:rPr lang="en-AU" b="1" baseline="0" dirty="0" smtClean="0"/>
              <a:t>(Click) </a:t>
            </a:r>
            <a:r>
              <a:rPr lang="en-AU" baseline="0" dirty="0" smtClean="0"/>
              <a:t>persuade others to watch the 2012 London Olympic Games. Is the main purpose of the cartoon to </a:t>
            </a:r>
            <a:r>
              <a:rPr lang="en-AU" b="1" baseline="0" dirty="0" smtClean="0"/>
              <a:t>(Click) </a:t>
            </a:r>
            <a:r>
              <a:rPr lang="en-AU" baseline="0" dirty="0" smtClean="0"/>
              <a:t>praise or criticise people, events or developments at the time it was created? </a:t>
            </a:r>
          </a:p>
          <a:p>
            <a:endParaRPr lang="en-AU" baseline="0" dirty="0" smtClean="0"/>
          </a:p>
          <a:p>
            <a:r>
              <a:rPr lang="en-AU" baseline="0" dirty="0" smtClean="0"/>
              <a:t>After interpreting the visual and language features of the cartoon and identifying the main idea, we could say that the main purpose of the cartoon is to criticise societal stresses and problems, and to praise the 2012 Olympic Games for bringing people relief from these stresses and problems. What aspects of the cartoon help us to come to this conclusion?  </a:t>
            </a:r>
            <a:endParaRPr lang="en-AU" dirty="0"/>
          </a:p>
        </p:txBody>
      </p:sp>
      <p:sp>
        <p:nvSpPr>
          <p:cNvPr id="4" name="Slide Number Placeholder 3"/>
          <p:cNvSpPr>
            <a:spLocks noGrp="1"/>
          </p:cNvSpPr>
          <p:nvPr>
            <p:ph type="sldNum" sz="quarter" idx="10"/>
          </p:nvPr>
        </p:nvSpPr>
        <p:spPr/>
        <p:txBody>
          <a:bodyPr/>
          <a:lstStyle/>
          <a:p>
            <a:pPr>
              <a:defRPr/>
            </a:pPr>
            <a:fld id="{BBEF8936-69CC-4469-85D2-2AC95B9A0B99}" type="slidenum">
              <a:rPr lang="en-AU" smtClean="0"/>
              <a:pPr>
                <a:defRPr/>
              </a:pPr>
              <a:t>9</a:t>
            </a:fld>
            <a:endParaRPr lang="en-AU" dirty="0"/>
          </a:p>
        </p:txBody>
      </p:sp>
    </p:spTree>
    <p:extLst>
      <p:ext uri="{BB962C8B-B14F-4D97-AF65-F5344CB8AC3E}">
        <p14:creationId xmlns:p14="http://schemas.microsoft.com/office/powerpoint/2010/main" val="2528489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AU" dirty="0" smtClean="0"/>
              <a:t>When</a:t>
            </a:r>
            <a:r>
              <a:rPr lang="en-AU" baseline="0" dirty="0" smtClean="0"/>
              <a:t> interpreting a political cartoon, remember to look carefully at the visual and written language </a:t>
            </a:r>
            <a:r>
              <a:rPr lang="en-AU" b="0" dirty="0" smtClean="0"/>
              <a:t>—</a:t>
            </a:r>
            <a:r>
              <a:rPr lang="en-AU" baseline="0" dirty="0" smtClean="0"/>
              <a:t> images, symbols and words. </a:t>
            </a:r>
          </a:p>
          <a:p>
            <a:pPr marL="0" marR="0" indent="0" algn="l" defTabSz="914400" rtl="0" eaLnBrk="1" fontAlgn="base" latinLnBrk="0" hangingPunct="1">
              <a:lnSpc>
                <a:spcPct val="100000"/>
              </a:lnSpc>
              <a:spcBef>
                <a:spcPct val="30000"/>
              </a:spcBef>
              <a:spcAft>
                <a:spcPct val="0"/>
              </a:spcAft>
              <a:buClrTx/>
              <a:buSzTx/>
              <a:buFontTx/>
              <a:buNone/>
              <a:tabLst/>
              <a:defRPr/>
            </a:pPr>
            <a:r>
              <a:rPr lang="en-AU" baseline="0" dirty="0" smtClean="0"/>
              <a:t>Think about what was happening at that time. </a:t>
            </a:r>
          </a:p>
          <a:p>
            <a:pPr marL="0" marR="0" indent="0" algn="l" defTabSz="914400" rtl="0" eaLnBrk="1" fontAlgn="base" latinLnBrk="0" hangingPunct="1">
              <a:lnSpc>
                <a:spcPct val="100000"/>
              </a:lnSpc>
              <a:spcBef>
                <a:spcPct val="30000"/>
              </a:spcBef>
              <a:spcAft>
                <a:spcPct val="0"/>
              </a:spcAft>
              <a:buClrTx/>
              <a:buSzTx/>
              <a:buFontTx/>
              <a:buNone/>
              <a:tabLst/>
              <a:defRPr/>
            </a:pPr>
            <a:r>
              <a:rPr lang="en-AU" baseline="0" dirty="0" smtClean="0"/>
              <a:t>Identify the main idea of the cartoon, using evidence from the visual and written language as evidence. </a:t>
            </a:r>
          </a:p>
          <a:p>
            <a:pPr marL="0" marR="0" indent="0" algn="l" defTabSz="914400" rtl="0" eaLnBrk="1" fontAlgn="base" latinLnBrk="0" hangingPunct="1">
              <a:lnSpc>
                <a:spcPct val="100000"/>
              </a:lnSpc>
              <a:spcBef>
                <a:spcPct val="30000"/>
              </a:spcBef>
              <a:spcAft>
                <a:spcPct val="0"/>
              </a:spcAft>
              <a:buClrTx/>
              <a:buSzTx/>
              <a:buFontTx/>
              <a:buNone/>
              <a:tabLst/>
              <a:defRPr/>
            </a:pPr>
            <a:r>
              <a:rPr lang="en-AU" baseline="0" dirty="0" smtClean="0"/>
              <a:t>Think about the cartoonist’s point of view. What is he or she trying to tell us? </a:t>
            </a:r>
          </a:p>
          <a:p>
            <a:pPr marL="0" marR="0" indent="0" algn="l" defTabSz="914400" rtl="0" eaLnBrk="1" fontAlgn="base" latinLnBrk="0" hangingPunct="1">
              <a:lnSpc>
                <a:spcPct val="100000"/>
              </a:lnSpc>
              <a:spcBef>
                <a:spcPct val="30000"/>
              </a:spcBef>
              <a:spcAft>
                <a:spcPct val="0"/>
              </a:spcAft>
              <a:buClrTx/>
              <a:buSzTx/>
              <a:buFontTx/>
              <a:buNone/>
              <a:tabLst/>
              <a:defRPr/>
            </a:pPr>
            <a:r>
              <a:rPr lang="en-AU" baseline="0" dirty="0" smtClean="0"/>
              <a:t>And finally, identify the purpose of the cartoon. Why was the cartoon created?</a:t>
            </a:r>
          </a:p>
        </p:txBody>
      </p:sp>
      <p:sp>
        <p:nvSpPr>
          <p:cNvPr id="4" name="Slide Number Placeholder 3"/>
          <p:cNvSpPr>
            <a:spLocks noGrp="1"/>
          </p:cNvSpPr>
          <p:nvPr>
            <p:ph type="sldNum" sz="quarter" idx="10"/>
          </p:nvPr>
        </p:nvSpPr>
        <p:spPr/>
        <p:txBody>
          <a:bodyPr/>
          <a:lstStyle/>
          <a:p>
            <a:pPr>
              <a:defRPr/>
            </a:pPr>
            <a:fld id="{BBEF8936-69CC-4469-85D2-2AC95B9A0B99}" type="slidenum">
              <a:rPr lang="en-AU" smtClean="0"/>
              <a:pPr>
                <a:defRPr/>
              </a:pPr>
              <a:t>10</a:t>
            </a:fld>
            <a:endParaRPr lang="en-AU" dirty="0"/>
          </a:p>
        </p:txBody>
      </p:sp>
    </p:spTree>
    <p:extLst>
      <p:ext uri="{BB962C8B-B14F-4D97-AF65-F5344CB8AC3E}">
        <p14:creationId xmlns:p14="http://schemas.microsoft.com/office/powerpoint/2010/main" val="3487595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B64655CC-09C1-4E6F-9070-5BCD60C4EEE5}" type="datetimeFigureOut">
              <a:rPr lang="en-AU" smtClean="0"/>
              <a:t>21/07/2017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F335712-1098-4548-AF1B-56EF65509150}" type="slidenum">
              <a:rPr lang="en-AU" smtClean="0"/>
              <a:t>‹#›</a:t>
            </a:fld>
            <a:endParaRPr lang="en-AU"/>
          </a:p>
        </p:txBody>
      </p:sp>
    </p:spTree>
    <p:extLst>
      <p:ext uri="{BB962C8B-B14F-4D97-AF65-F5344CB8AC3E}">
        <p14:creationId xmlns:p14="http://schemas.microsoft.com/office/powerpoint/2010/main" val="1404959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pPr>
              <a:defRPr/>
            </a:pPr>
            <a:fld id="{EEFC8293-4CC5-45A1-969A-F89AFB20A698}" type="datetime1">
              <a:rPr lang="en-AU" smtClean="0"/>
              <a:pPr>
                <a:defRPr/>
              </a:pPr>
              <a:t>21/07/2017</a:t>
            </a:fld>
            <a:endParaRPr lang="en-AU" dirty="0"/>
          </a:p>
        </p:txBody>
      </p:sp>
      <p:sp>
        <p:nvSpPr>
          <p:cNvPr id="5" name="Footer Placeholder 4"/>
          <p:cNvSpPr>
            <a:spLocks noGrp="1"/>
          </p:cNvSpPr>
          <p:nvPr>
            <p:ph type="ftr" sz="quarter" idx="11"/>
          </p:nvPr>
        </p:nvSpPr>
        <p:spPr/>
        <p:txBody>
          <a:bodyPr/>
          <a:lstStyle/>
          <a:p>
            <a:pPr>
              <a:defRPr/>
            </a:pPr>
            <a:r>
              <a:rPr lang="en-AU" smtClean="0"/>
              <a:t>His_Y06_U1_SS_PoliticalCartoons</a:t>
            </a:r>
            <a:endParaRPr lang="en-AU" dirty="0"/>
          </a:p>
        </p:txBody>
      </p:sp>
      <p:sp>
        <p:nvSpPr>
          <p:cNvPr id="6" name="Slide Number Placeholder 5"/>
          <p:cNvSpPr>
            <a:spLocks noGrp="1"/>
          </p:cNvSpPr>
          <p:nvPr>
            <p:ph type="sldNum" sz="quarter" idx="12"/>
          </p:nvPr>
        </p:nvSpPr>
        <p:spPr/>
        <p:txBody>
          <a:bodyPr/>
          <a:lstStyle/>
          <a:p>
            <a:pPr>
              <a:defRPr/>
            </a:pPr>
            <a:fld id="{35502CC5-2C0C-462D-A185-C86CCFF07201}" type="slidenum">
              <a:rPr lang="en-AU" smtClean="0"/>
              <a:pPr>
                <a:defRPr/>
              </a:pPr>
              <a:t>‹#›</a:t>
            </a:fld>
            <a:endParaRPr lang="en-AU" dirty="0"/>
          </a:p>
        </p:txBody>
      </p:sp>
    </p:spTree>
    <p:extLst>
      <p:ext uri="{BB962C8B-B14F-4D97-AF65-F5344CB8AC3E}">
        <p14:creationId xmlns:p14="http://schemas.microsoft.com/office/powerpoint/2010/main" val="212275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E50E5BC1-67C1-412A-9503-5543125DE8CB}" type="datetime1">
              <a:rPr lang="en-AU" smtClean="0"/>
              <a:pPr>
                <a:defRPr/>
              </a:pPr>
              <a:t>21/07/2017</a:t>
            </a:fld>
            <a:endParaRPr lang="en-AU" dirty="0"/>
          </a:p>
        </p:txBody>
      </p:sp>
      <p:sp>
        <p:nvSpPr>
          <p:cNvPr id="5" name="Footer Placeholder 4"/>
          <p:cNvSpPr>
            <a:spLocks noGrp="1"/>
          </p:cNvSpPr>
          <p:nvPr>
            <p:ph type="ftr" sz="quarter" idx="11"/>
          </p:nvPr>
        </p:nvSpPr>
        <p:spPr/>
        <p:txBody>
          <a:bodyPr/>
          <a:lstStyle/>
          <a:p>
            <a:pPr>
              <a:defRPr/>
            </a:pPr>
            <a:r>
              <a:rPr lang="en-AU" smtClean="0"/>
              <a:t>His_Y06_U1_SS_PoliticalCartoons</a:t>
            </a:r>
            <a:endParaRPr lang="en-AU" dirty="0"/>
          </a:p>
        </p:txBody>
      </p:sp>
      <p:sp>
        <p:nvSpPr>
          <p:cNvPr id="6" name="Slide Number Placeholder 5"/>
          <p:cNvSpPr>
            <a:spLocks noGrp="1"/>
          </p:cNvSpPr>
          <p:nvPr>
            <p:ph type="sldNum" sz="quarter" idx="12"/>
          </p:nvPr>
        </p:nvSpPr>
        <p:spPr/>
        <p:txBody>
          <a:bodyPr/>
          <a:lstStyle/>
          <a:p>
            <a:pPr>
              <a:defRPr/>
            </a:pPr>
            <a:fld id="{460892E2-DB37-45D2-9E9F-C61F32FC1853}" type="slidenum">
              <a:rPr lang="en-AU" smtClean="0"/>
              <a:pPr>
                <a:defRPr/>
              </a:pPr>
              <a:t>‹#›</a:t>
            </a:fld>
            <a:endParaRPr lang="en-AU" dirty="0"/>
          </a:p>
        </p:txBody>
      </p:sp>
    </p:spTree>
    <p:extLst>
      <p:ext uri="{BB962C8B-B14F-4D97-AF65-F5344CB8AC3E}">
        <p14:creationId xmlns:p14="http://schemas.microsoft.com/office/powerpoint/2010/main" val="2069182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pPr>
              <a:defRPr/>
            </a:pPr>
            <a:fld id="{E6ACB8C6-368F-432F-B475-1E7E28CD4C3A}" type="datetime1">
              <a:rPr lang="en-AU" smtClean="0"/>
              <a:pPr>
                <a:defRPr/>
              </a:pPr>
              <a:t>21/07/2017</a:t>
            </a:fld>
            <a:endParaRPr lang="en-AU" dirty="0"/>
          </a:p>
        </p:txBody>
      </p:sp>
      <p:sp>
        <p:nvSpPr>
          <p:cNvPr id="6" name="Footer Placeholder 5"/>
          <p:cNvSpPr>
            <a:spLocks noGrp="1"/>
          </p:cNvSpPr>
          <p:nvPr>
            <p:ph type="ftr" sz="quarter" idx="11"/>
          </p:nvPr>
        </p:nvSpPr>
        <p:spPr/>
        <p:txBody>
          <a:bodyPr/>
          <a:lstStyle/>
          <a:p>
            <a:pPr>
              <a:defRPr/>
            </a:pPr>
            <a:r>
              <a:rPr lang="en-AU" smtClean="0"/>
              <a:t>His_Y06_U1_SS_PoliticalCartoons</a:t>
            </a:r>
            <a:endParaRPr lang="en-AU" dirty="0"/>
          </a:p>
        </p:txBody>
      </p:sp>
      <p:sp>
        <p:nvSpPr>
          <p:cNvPr id="7" name="Slide Number Placeholder 6"/>
          <p:cNvSpPr>
            <a:spLocks noGrp="1"/>
          </p:cNvSpPr>
          <p:nvPr>
            <p:ph type="sldNum" sz="quarter" idx="12"/>
          </p:nvPr>
        </p:nvSpPr>
        <p:spPr/>
        <p:txBody>
          <a:bodyPr/>
          <a:lstStyle/>
          <a:p>
            <a:pPr>
              <a:defRPr/>
            </a:pPr>
            <a:fld id="{042688FC-D11E-4F44-9BC6-11239ECB3A30}" type="slidenum">
              <a:rPr lang="en-AU" smtClean="0"/>
              <a:pPr>
                <a:defRPr/>
              </a:pPr>
              <a:t>‹#›</a:t>
            </a:fld>
            <a:endParaRPr lang="en-AU" dirty="0"/>
          </a:p>
        </p:txBody>
      </p:sp>
    </p:spTree>
    <p:extLst>
      <p:ext uri="{BB962C8B-B14F-4D97-AF65-F5344CB8AC3E}">
        <p14:creationId xmlns:p14="http://schemas.microsoft.com/office/powerpoint/2010/main" val="580508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pPr>
              <a:defRPr/>
            </a:pPr>
            <a:fld id="{49B34C27-2F60-4130-B22A-AEE58C2204B8}" type="datetime1">
              <a:rPr lang="en-AU" smtClean="0"/>
              <a:pPr>
                <a:defRPr/>
              </a:pPr>
              <a:t>21/07/2017</a:t>
            </a:fld>
            <a:endParaRPr lang="en-AU" dirty="0"/>
          </a:p>
        </p:txBody>
      </p:sp>
      <p:sp>
        <p:nvSpPr>
          <p:cNvPr id="8" name="Footer Placeholder 7"/>
          <p:cNvSpPr>
            <a:spLocks noGrp="1"/>
          </p:cNvSpPr>
          <p:nvPr>
            <p:ph type="ftr" sz="quarter" idx="11"/>
          </p:nvPr>
        </p:nvSpPr>
        <p:spPr/>
        <p:txBody>
          <a:bodyPr/>
          <a:lstStyle/>
          <a:p>
            <a:pPr>
              <a:defRPr/>
            </a:pPr>
            <a:r>
              <a:rPr lang="en-AU" smtClean="0"/>
              <a:t>His_Y06_U1_SS_PoliticalCartoons</a:t>
            </a:r>
            <a:endParaRPr lang="en-AU" dirty="0"/>
          </a:p>
        </p:txBody>
      </p:sp>
      <p:sp>
        <p:nvSpPr>
          <p:cNvPr id="9" name="Slide Number Placeholder 8"/>
          <p:cNvSpPr>
            <a:spLocks noGrp="1"/>
          </p:cNvSpPr>
          <p:nvPr>
            <p:ph type="sldNum" sz="quarter" idx="12"/>
          </p:nvPr>
        </p:nvSpPr>
        <p:spPr/>
        <p:txBody>
          <a:bodyPr/>
          <a:lstStyle/>
          <a:p>
            <a:pPr>
              <a:defRPr/>
            </a:pPr>
            <a:fld id="{1F47E2B9-ABB9-4448-B961-989DD053685D}" type="slidenum">
              <a:rPr lang="en-AU" smtClean="0"/>
              <a:pPr>
                <a:defRPr/>
              </a:pPr>
              <a:t>‹#›</a:t>
            </a:fld>
            <a:endParaRPr lang="en-AU" dirty="0"/>
          </a:p>
        </p:txBody>
      </p:sp>
    </p:spTree>
    <p:extLst>
      <p:ext uri="{BB962C8B-B14F-4D97-AF65-F5344CB8AC3E}">
        <p14:creationId xmlns:p14="http://schemas.microsoft.com/office/powerpoint/2010/main" val="180431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pPr>
              <a:defRPr/>
            </a:pPr>
            <a:fld id="{66F8DFFD-464D-4CA6-B2AA-A8F9F058AE67}" type="datetime1">
              <a:rPr lang="en-AU" smtClean="0"/>
              <a:pPr>
                <a:defRPr/>
              </a:pPr>
              <a:t>21/07/2017</a:t>
            </a:fld>
            <a:endParaRPr lang="en-AU" dirty="0"/>
          </a:p>
        </p:txBody>
      </p:sp>
      <p:sp>
        <p:nvSpPr>
          <p:cNvPr id="4" name="Footer Placeholder 3"/>
          <p:cNvSpPr>
            <a:spLocks noGrp="1"/>
          </p:cNvSpPr>
          <p:nvPr>
            <p:ph type="ftr" sz="quarter" idx="11"/>
          </p:nvPr>
        </p:nvSpPr>
        <p:spPr/>
        <p:txBody>
          <a:bodyPr/>
          <a:lstStyle/>
          <a:p>
            <a:pPr>
              <a:defRPr/>
            </a:pPr>
            <a:r>
              <a:rPr lang="en-AU" smtClean="0"/>
              <a:t>His_Y06_U1_SS_PoliticalCartoons</a:t>
            </a:r>
            <a:endParaRPr lang="en-AU" dirty="0"/>
          </a:p>
        </p:txBody>
      </p:sp>
      <p:sp>
        <p:nvSpPr>
          <p:cNvPr id="5" name="Slide Number Placeholder 4"/>
          <p:cNvSpPr>
            <a:spLocks noGrp="1"/>
          </p:cNvSpPr>
          <p:nvPr>
            <p:ph type="sldNum" sz="quarter" idx="12"/>
          </p:nvPr>
        </p:nvSpPr>
        <p:spPr/>
        <p:txBody>
          <a:bodyPr/>
          <a:lstStyle/>
          <a:p>
            <a:pPr>
              <a:defRPr/>
            </a:pPr>
            <a:fld id="{EDDA62B8-45B2-499E-B9E5-A5C22EE11C3E}" type="slidenum">
              <a:rPr lang="en-AU" smtClean="0"/>
              <a:pPr>
                <a:defRPr/>
              </a:pPr>
              <a:t>‹#›</a:t>
            </a:fld>
            <a:endParaRPr lang="en-AU" dirty="0"/>
          </a:p>
        </p:txBody>
      </p:sp>
    </p:spTree>
    <p:extLst>
      <p:ext uri="{BB962C8B-B14F-4D97-AF65-F5344CB8AC3E}">
        <p14:creationId xmlns:p14="http://schemas.microsoft.com/office/powerpoint/2010/main" val="3639895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3451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097A2EB9-3CB4-4C5F-8CD3-DF7FB4267C7F}" type="datetime1">
              <a:rPr lang="en-AU" smtClean="0"/>
              <a:pPr>
                <a:defRPr/>
              </a:pPr>
              <a:t>21/07/2017</a:t>
            </a:fld>
            <a:endParaRPr lang="en-AU" dirty="0"/>
          </a:p>
        </p:txBody>
      </p:sp>
      <p:sp>
        <p:nvSpPr>
          <p:cNvPr id="6" name="Footer Placeholder 5"/>
          <p:cNvSpPr>
            <a:spLocks noGrp="1"/>
          </p:cNvSpPr>
          <p:nvPr>
            <p:ph type="ftr" sz="quarter" idx="11"/>
          </p:nvPr>
        </p:nvSpPr>
        <p:spPr/>
        <p:txBody>
          <a:bodyPr/>
          <a:lstStyle/>
          <a:p>
            <a:pPr>
              <a:defRPr/>
            </a:pPr>
            <a:r>
              <a:rPr lang="en-AU" smtClean="0"/>
              <a:t>His_Y06_U1_SS_PoliticalCartoons</a:t>
            </a:r>
            <a:endParaRPr lang="en-AU" dirty="0"/>
          </a:p>
        </p:txBody>
      </p:sp>
      <p:sp>
        <p:nvSpPr>
          <p:cNvPr id="7" name="Slide Number Placeholder 6"/>
          <p:cNvSpPr>
            <a:spLocks noGrp="1"/>
          </p:cNvSpPr>
          <p:nvPr>
            <p:ph type="sldNum" sz="quarter" idx="12"/>
          </p:nvPr>
        </p:nvSpPr>
        <p:spPr/>
        <p:txBody>
          <a:bodyPr/>
          <a:lstStyle/>
          <a:p>
            <a:pPr>
              <a:defRPr/>
            </a:pPr>
            <a:fld id="{33A15C22-549F-42A8-A8E8-DA0D75ADDD67}" type="slidenum">
              <a:rPr lang="en-AU" smtClean="0"/>
              <a:pPr>
                <a:defRPr/>
              </a:pPr>
              <a:t>‹#›</a:t>
            </a:fld>
            <a:endParaRPr lang="en-AU" dirty="0"/>
          </a:p>
        </p:txBody>
      </p:sp>
    </p:spTree>
    <p:extLst>
      <p:ext uri="{BB962C8B-B14F-4D97-AF65-F5344CB8AC3E}">
        <p14:creationId xmlns:p14="http://schemas.microsoft.com/office/powerpoint/2010/main" val="3106097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17D88417-1C7F-4364-8372-C67947CE6F4C}" type="datetime1">
              <a:rPr lang="en-AU" smtClean="0"/>
              <a:pPr>
                <a:defRPr/>
              </a:pPr>
              <a:t>21/07/2017</a:t>
            </a:fld>
            <a:endParaRPr lang="en-AU" dirty="0"/>
          </a:p>
        </p:txBody>
      </p:sp>
      <p:sp>
        <p:nvSpPr>
          <p:cNvPr id="6" name="Footer Placeholder 5"/>
          <p:cNvSpPr>
            <a:spLocks noGrp="1"/>
          </p:cNvSpPr>
          <p:nvPr>
            <p:ph type="ftr" sz="quarter" idx="11"/>
          </p:nvPr>
        </p:nvSpPr>
        <p:spPr/>
        <p:txBody>
          <a:bodyPr/>
          <a:lstStyle/>
          <a:p>
            <a:pPr>
              <a:defRPr/>
            </a:pPr>
            <a:r>
              <a:rPr lang="en-AU" smtClean="0"/>
              <a:t>His_Y06_U1_SS_PoliticalCartoons</a:t>
            </a:r>
            <a:endParaRPr lang="en-AU" dirty="0"/>
          </a:p>
        </p:txBody>
      </p:sp>
      <p:sp>
        <p:nvSpPr>
          <p:cNvPr id="7" name="Slide Number Placeholder 6"/>
          <p:cNvSpPr>
            <a:spLocks noGrp="1"/>
          </p:cNvSpPr>
          <p:nvPr>
            <p:ph type="sldNum" sz="quarter" idx="12"/>
          </p:nvPr>
        </p:nvSpPr>
        <p:spPr/>
        <p:txBody>
          <a:bodyPr/>
          <a:lstStyle/>
          <a:p>
            <a:pPr>
              <a:defRPr/>
            </a:pPr>
            <a:fld id="{CDA373F2-512C-4251-87A8-D6E8150D8DA7}" type="slidenum">
              <a:rPr lang="en-AU" smtClean="0"/>
              <a:pPr>
                <a:defRPr/>
              </a:pPr>
              <a:t>‹#›</a:t>
            </a:fld>
            <a:endParaRPr lang="en-AU" dirty="0"/>
          </a:p>
        </p:txBody>
      </p:sp>
    </p:spTree>
    <p:extLst>
      <p:ext uri="{BB962C8B-B14F-4D97-AF65-F5344CB8AC3E}">
        <p14:creationId xmlns:p14="http://schemas.microsoft.com/office/powerpoint/2010/main" val="237802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pPr>
              <a:defRPr/>
            </a:pPr>
            <a:fld id="{761D39A2-CE78-41C5-B9A0-D3237E8A6775}" type="datetime1">
              <a:rPr lang="en-AU" smtClean="0"/>
              <a:pPr>
                <a:defRPr/>
              </a:pPr>
              <a:t>21/07/2017</a:t>
            </a:fld>
            <a:endParaRPr lang="en-AU" dirty="0"/>
          </a:p>
        </p:txBody>
      </p:sp>
      <p:sp>
        <p:nvSpPr>
          <p:cNvPr id="5" name="Footer Placeholder 4"/>
          <p:cNvSpPr>
            <a:spLocks noGrp="1"/>
          </p:cNvSpPr>
          <p:nvPr>
            <p:ph type="ftr" sz="quarter" idx="11"/>
          </p:nvPr>
        </p:nvSpPr>
        <p:spPr/>
        <p:txBody>
          <a:bodyPr/>
          <a:lstStyle/>
          <a:p>
            <a:pPr>
              <a:defRPr/>
            </a:pPr>
            <a:r>
              <a:rPr lang="en-AU" smtClean="0"/>
              <a:t>His_Y06_U1_SS_PoliticalCartoons</a:t>
            </a:r>
            <a:endParaRPr lang="en-AU" dirty="0"/>
          </a:p>
        </p:txBody>
      </p:sp>
      <p:sp>
        <p:nvSpPr>
          <p:cNvPr id="6" name="Slide Number Placeholder 5"/>
          <p:cNvSpPr>
            <a:spLocks noGrp="1"/>
          </p:cNvSpPr>
          <p:nvPr>
            <p:ph type="sldNum" sz="quarter" idx="12"/>
          </p:nvPr>
        </p:nvSpPr>
        <p:spPr/>
        <p:txBody>
          <a:bodyPr/>
          <a:lstStyle/>
          <a:p>
            <a:pPr>
              <a:defRPr/>
            </a:pPr>
            <a:fld id="{29867212-DFB9-4886-8DAD-6AD3B2581044}" type="slidenum">
              <a:rPr lang="en-AU" smtClean="0"/>
              <a:pPr>
                <a:defRPr/>
              </a:pPr>
              <a:t>‹#›</a:t>
            </a:fld>
            <a:endParaRPr lang="en-AU" dirty="0"/>
          </a:p>
        </p:txBody>
      </p:sp>
    </p:spTree>
    <p:extLst>
      <p:ext uri="{BB962C8B-B14F-4D97-AF65-F5344CB8AC3E}">
        <p14:creationId xmlns:p14="http://schemas.microsoft.com/office/powerpoint/2010/main" val="1272764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pPr>
              <a:defRPr/>
            </a:pPr>
            <a:fld id="{882CEED0-9665-4759-9EE6-0952F09BED20}" type="datetime1">
              <a:rPr lang="en-AU" smtClean="0"/>
              <a:pPr>
                <a:defRPr/>
              </a:pPr>
              <a:t>21/07/2017</a:t>
            </a:fld>
            <a:endParaRPr lang="en-AU" dirty="0"/>
          </a:p>
        </p:txBody>
      </p:sp>
      <p:sp>
        <p:nvSpPr>
          <p:cNvPr id="5" name="Footer Placeholder 4"/>
          <p:cNvSpPr>
            <a:spLocks noGrp="1"/>
          </p:cNvSpPr>
          <p:nvPr>
            <p:ph type="ftr" sz="quarter" idx="11"/>
          </p:nvPr>
        </p:nvSpPr>
        <p:spPr/>
        <p:txBody>
          <a:bodyPr/>
          <a:lstStyle/>
          <a:p>
            <a:pPr>
              <a:defRPr/>
            </a:pPr>
            <a:r>
              <a:rPr lang="en-AU" smtClean="0"/>
              <a:t>His_Y06_U1_SS_PoliticalCartoons</a:t>
            </a:r>
            <a:endParaRPr lang="en-AU" dirty="0"/>
          </a:p>
        </p:txBody>
      </p:sp>
      <p:sp>
        <p:nvSpPr>
          <p:cNvPr id="6" name="Slide Number Placeholder 5"/>
          <p:cNvSpPr>
            <a:spLocks noGrp="1"/>
          </p:cNvSpPr>
          <p:nvPr>
            <p:ph type="sldNum" sz="quarter" idx="12"/>
          </p:nvPr>
        </p:nvSpPr>
        <p:spPr/>
        <p:txBody>
          <a:bodyPr/>
          <a:lstStyle/>
          <a:p>
            <a:pPr>
              <a:defRPr/>
            </a:pPr>
            <a:fld id="{C07D4616-807B-4999-BAF0-77D36782B9F9}" type="slidenum">
              <a:rPr lang="en-AU" smtClean="0"/>
              <a:pPr>
                <a:defRPr/>
              </a:pPr>
              <a:t>‹#›</a:t>
            </a:fld>
            <a:endParaRPr lang="en-AU" dirty="0"/>
          </a:p>
        </p:txBody>
      </p:sp>
    </p:spTree>
    <p:extLst>
      <p:ext uri="{BB962C8B-B14F-4D97-AF65-F5344CB8AC3E}">
        <p14:creationId xmlns:p14="http://schemas.microsoft.com/office/powerpoint/2010/main" val="2487618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1" name="Rectangle 10"/>
          <p:cNvSpPr/>
          <p:nvPr userDrawn="1"/>
        </p:nvSpPr>
        <p:spPr>
          <a:xfrm>
            <a:off x="0" y="6381328"/>
            <a:ext cx="9144000" cy="47667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4655CC-09C1-4E6F-9070-5BCD60C4EEE5}" type="datetimeFigureOut">
              <a:rPr lang="en-AU" smtClean="0"/>
              <a:t>21/07/2017</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335712-1098-4548-AF1B-56EF65509150}" type="slidenum">
              <a:rPr lang="en-AU" smtClean="0"/>
              <a:t>‹#›</a:t>
            </a:fld>
            <a:endParaRPr lang="en-AU"/>
          </a:p>
        </p:txBody>
      </p:sp>
      <p:sp>
        <p:nvSpPr>
          <p:cNvPr id="7" name="Rectangle 6"/>
          <p:cNvSpPr/>
          <p:nvPr userDrawn="1"/>
        </p:nvSpPr>
        <p:spPr>
          <a:xfrm>
            <a:off x="500294" y="6621136"/>
            <a:ext cx="1940280" cy="184666"/>
          </a:xfrm>
          <a:prstGeom prst="rect">
            <a:avLst/>
          </a:prstGeom>
        </p:spPr>
        <p:txBody>
          <a:bodyPr wrap="square">
            <a:spAutoFit/>
          </a:bodyPr>
          <a:lstStyle/>
          <a:p>
            <a:pPr algn="l" rtl="0">
              <a:spcAft>
                <a:spcPts val="200"/>
              </a:spcAft>
            </a:pPr>
            <a:r>
              <a:rPr lang="en-US" sz="600" b="0" i="0" u="none" strike="noStrike" kern="1200" baseline="0" dirty="0" smtClean="0">
                <a:solidFill>
                  <a:srgbClr val="000000"/>
                </a:solidFill>
                <a:latin typeface="Arial"/>
                <a:ea typeface="+mn-ea"/>
                <a:cs typeface="Arial"/>
              </a:rPr>
              <a:t>His_Y06_U1_SS_PoliticalCartoons</a:t>
            </a:r>
          </a:p>
        </p:txBody>
      </p:sp>
      <p:pic>
        <p:nvPicPr>
          <p:cNvPr id="8" name="Picture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17239" y="6503155"/>
            <a:ext cx="1356360" cy="236220"/>
          </a:xfrm>
          <a:prstGeom prst="rect">
            <a:avLst/>
          </a:prstGeom>
        </p:spPr>
      </p:pic>
      <p:pic>
        <p:nvPicPr>
          <p:cNvPr id="9" name="Picture 8" descr="C2CIcon.png"/>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76144" y="6562469"/>
            <a:ext cx="424150" cy="184018"/>
          </a:xfrm>
          <a:prstGeom prst="rect">
            <a:avLst/>
          </a:prstGeom>
        </p:spPr>
      </p:pic>
      <p:pic>
        <p:nvPicPr>
          <p:cNvPr id="10" name="Picture 9" descr="../../../../../../../../Volumes/Data/Coredata/DevArea/C2C/ePublishing/Templates/logos/20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3541005" y="6597750"/>
            <a:ext cx="1719220" cy="208052"/>
          </a:xfrm>
          <a:prstGeom prst="rect">
            <a:avLst/>
          </a:prstGeom>
          <a:noFill/>
          <a:ln>
            <a:noFill/>
          </a:ln>
        </p:spPr>
      </p:pic>
    </p:spTree>
    <p:extLst>
      <p:ext uri="{BB962C8B-B14F-4D97-AF65-F5344CB8AC3E}">
        <p14:creationId xmlns:p14="http://schemas.microsoft.com/office/powerpoint/2010/main" val="286318180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18394" y="332656"/>
            <a:ext cx="7704856" cy="1323439"/>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8000" b="1" spc="50" dirty="0" smtClean="0">
                <a:ln w="11430"/>
                <a:gradFill>
                  <a:gsLst>
                    <a:gs pos="25000">
                      <a:schemeClr val="accent2">
                        <a:satMod val="155000"/>
                      </a:schemeClr>
                    </a:gs>
                    <a:gs pos="100000">
                      <a:schemeClr val="accent2">
                        <a:shade val="45000"/>
                        <a:satMod val="165000"/>
                      </a:schemeClr>
                    </a:gs>
                  </a:gsLst>
                  <a:lin ang="5400000"/>
                </a:gradFill>
              </a:rPr>
              <a:t>Political cartoons</a:t>
            </a:r>
            <a:endParaRPr lang="en-US" sz="8000" b="1" spc="50" dirty="0">
              <a:ln w="11430"/>
              <a:gradFill>
                <a:gsLst>
                  <a:gs pos="25000">
                    <a:schemeClr val="accent2">
                      <a:satMod val="155000"/>
                    </a:schemeClr>
                  </a:gs>
                  <a:gs pos="100000">
                    <a:schemeClr val="accent2">
                      <a:shade val="45000"/>
                      <a:satMod val="165000"/>
                    </a:schemeClr>
                  </a:gs>
                </a:gsLst>
                <a:lin ang="5400000"/>
              </a:gradFill>
            </a:endParaRPr>
          </a:p>
        </p:txBody>
      </p:sp>
      <p:pic>
        <p:nvPicPr>
          <p:cNvPr id="10" name="Picture 2" descr="C:\Users\mjrou0\AppData\Local\Microsoft\Windows\Temporary Internet Files\Content.Outlook\HXTGGS2O\His_Y6_U1_L3_PoliticalCarto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1658700"/>
            <a:ext cx="4249352" cy="41764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0" y="5788400"/>
            <a:ext cx="1346479" cy="522433"/>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72000" tIns="72000" rIns="72000" bIns="72000" rtlCol="0">
            <a:spAutoFit/>
          </a:bodyPr>
          <a:lstStyle/>
          <a:p>
            <a:pPr>
              <a:spcAft>
                <a:spcPts val="300"/>
              </a:spcAft>
            </a:pPr>
            <a:r>
              <a:rPr lang="en-AU" sz="1200" dirty="0">
                <a:solidFill>
                  <a:srgbClr val="FFFFCC"/>
                </a:solidFill>
                <a:latin typeface="Calibri" panose="020F0502020204030204" pitchFamily="34" charset="0"/>
                <a:cs typeface="Arial" panose="020B0604020202020204" pitchFamily="34" charset="0"/>
              </a:rPr>
              <a:t>Teacher Tip</a:t>
            </a:r>
          </a:p>
          <a:p>
            <a:pPr>
              <a:spcAft>
                <a:spcPts val="300"/>
              </a:spcAft>
            </a:pPr>
            <a:r>
              <a:rPr lang="en-AU" sz="1000" dirty="0" smtClean="0">
                <a:solidFill>
                  <a:srgbClr val="FFFFCC"/>
                </a:solidFill>
                <a:latin typeface="Calibri" panose="020F0502020204030204" pitchFamily="34" charset="0"/>
                <a:cs typeface="Arial" panose="020B0604020202020204" pitchFamily="34" charset="0"/>
              </a:rPr>
              <a:t>Use </a:t>
            </a:r>
            <a:r>
              <a:rPr lang="en-AU" sz="1000" dirty="0">
                <a:solidFill>
                  <a:srgbClr val="FFFFCC"/>
                </a:solidFill>
                <a:latin typeface="Calibri" panose="020F0502020204030204" pitchFamily="34" charset="0"/>
                <a:cs typeface="Arial" panose="020B0604020202020204" pitchFamily="34" charset="0"/>
              </a:rPr>
              <a:t>slideshow </a:t>
            </a:r>
            <a:r>
              <a:rPr lang="en-AU" sz="1000" dirty="0" smtClean="0">
                <a:solidFill>
                  <a:srgbClr val="FFFFCC"/>
                </a:solidFill>
                <a:latin typeface="Calibri" panose="020F0502020204030204" pitchFamily="34" charset="0"/>
                <a:cs typeface="Arial" panose="020B0604020202020204" pitchFamily="34" charset="0"/>
              </a:rPr>
              <a:t>mode.</a:t>
            </a:r>
            <a:endParaRPr lang="en-AU" sz="1000" dirty="0">
              <a:solidFill>
                <a:srgbClr val="FFFFCC"/>
              </a:solidFill>
              <a:latin typeface="Calibri" panose="020F050202020403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5800"/>
            <a:ext cx="8229600" cy="710952"/>
          </a:xfrm>
        </p:spPr>
        <p:txBody>
          <a:bodyPr>
            <a:noAutofit/>
          </a:bodyPr>
          <a:lstStyle/>
          <a:p>
            <a:pPr eaLnBrk="1" fontAlgn="auto" hangingPunct="1">
              <a:spcAft>
                <a:spcPts val="0"/>
              </a:spcAft>
              <a:defRPr/>
            </a:pPr>
            <a:r>
              <a:rPr lang="en-AU" b="1" dirty="0" smtClean="0">
                <a:solidFill>
                  <a:srgbClr val="C00000"/>
                </a:solidFill>
              </a:rPr>
              <a:t>What are </a:t>
            </a:r>
            <a:r>
              <a:rPr lang="en-AU" b="1" dirty="0">
                <a:solidFill>
                  <a:srgbClr val="C00000"/>
                </a:solidFill>
              </a:rPr>
              <a:t>p</a:t>
            </a:r>
            <a:r>
              <a:rPr lang="en-AU" b="1" dirty="0" smtClean="0">
                <a:solidFill>
                  <a:srgbClr val="C00000"/>
                </a:solidFill>
              </a:rPr>
              <a:t>olitical cartoons?</a:t>
            </a:r>
            <a:endParaRPr lang="en-AU" b="1" dirty="0">
              <a:solidFill>
                <a:srgbClr val="C00000"/>
              </a:solidFill>
            </a:endParaRPr>
          </a:p>
        </p:txBody>
      </p:sp>
      <p:sp>
        <p:nvSpPr>
          <p:cNvPr id="3" name="Content Placeholder 2"/>
          <p:cNvSpPr>
            <a:spLocks noGrp="1"/>
          </p:cNvSpPr>
          <p:nvPr>
            <p:ph idx="1"/>
          </p:nvPr>
        </p:nvSpPr>
        <p:spPr>
          <a:xfrm>
            <a:off x="611560" y="1700808"/>
            <a:ext cx="7920880" cy="3528392"/>
          </a:xfrm>
        </p:spPr>
        <p:txBody>
          <a:bodyPr rtlCol="0">
            <a:normAutofit/>
          </a:bodyPr>
          <a:lstStyle/>
          <a:p>
            <a:pPr marL="0" indent="0" eaLnBrk="1" fontAlgn="auto" hangingPunct="1">
              <a:spcAft>
                <a:spcPts val="0"/>
              </a:spcAft>
              <a:buNone/>
              <a:defRPr/>
            </a:pPr>
            <a:r>
              <a:rPr lang="en-AU" dirty="0" smtClean="0"/>
              <a:t>Political cartoons:</a:t>
            </a:r>
          </a:p>
          <a:p>
            <a:pPr eaLnBrk="1" fontAlgn="auto" hangingPunct="1">
              <a:spcAft>
                <a:spcPts val="0"/>
              </a:spcAft>
              <a:buFont typeface="Arial" pitchFamily="34" charset="0"/>
              <a:buChar char="•"/>
              <a:defRPr/>
            </a:pPr>
            <a:r>
              <a:rPr lang="en-AU" dirty="0" smtClean="0"/>
              <a:t>express a political or social message in a funny way</a:t>
            </a:r>
          </a:p>
          <a:p>
            <a:pPr eaLnBrk="1" fontAlgn="auto" hangingPunct="1">
              <a:spcAft>
                <a:spcPts val="0"/>
              </a:spcAft>
              <a:buFont typeface="Arial" pitchFamily="34" charset="0"/>
              <a:buChar char="•"/>
              <a:defRPr/>
            </a:pPr>
            <a:r>
              <a:rPr lang="en-AU" dirty="0" smtClean="0"/>
              <a:t>are found in newspapers and magazines</a:t>
            </a:r>
          </a:p>
          <a:p>
            <a:pPr eaLnBrk="1" fontAlgn="auto" hangingPunct="1">
              <a:spcAft>
                <a:spcPts val="0"/>
              </a:spcAft>
              <a:buFont typeface="Arial" pitchFamily="34" charset="0"/>
              <a:buChar char="•"/>
              <a:defRPr/>
            </a:pPr>
            <a:r>
              <a:rPr lang="en-AU" dirty="0" smtClean="0"/>
              <a:t>are created to make a comment about people or events at that 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jrou0\AppData\Local\Microsoft\Windows\Temporary Internet Files\Content.Outlook\HXTGGS2O\His_Y6_U1_L3_PoliticalCarto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522069"/>
            <a:ext cx="5622267" cy="5525830"/>
          </a:xfrm>
          <a:prstGeom prst="rect">
            <a:avLst/>
          </a:prstGeom>
          <a:noFill/>
          <a:ln>
            <a:solidFill>
              <a:srgbClr val="0070C0"/>
            </a:solidFill>
          </a:ln>
          <a:extLst>
            <a:ext uri="{909E8E84-426E-40DD-AFC4-6F175D3DCCD1}">
              <a14:hiddenFill xmlns:a14="http://schemas.microsoft.com/office/drawing/2010/main">
                <a:solidFill>
                  <a:srgbClr val="FFFFFF"/>
                </a:solidFill>
              </a14:hiddenFill>
            </a:ext>
          </a:extLst>
        </p:spPr>
      </p:pic>
      <p:sp>
        <p:nvSpPr>
          <p:cNvPr id="3" name="Cloud 2"/>
          <p:cNvSpPr/>
          <p:nvPr/>
        </p:nvSpPr>
        <p:spPr>
          <a:xfrm>
            <a:off x="106183" y="90021"/>
            <a:ext cx="3093778" cy="1250747"/>
          </a:xfrm>
          <a:prstGeom prst="cloud">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dirty="0" smtClean="0"/>
              <a:t>What do </a:t>
            </a:r>
            <a:br>
              <a:rPr lang="en-AU" sz="3200" dirty="0" smtClean="0"/>
            </a:br>
            <a:r>
              <a:rPr lang="en-AU" sz="3200" dirty="0" smtClean="0"/>
              <a:t>you see? </a:t>
            </a:r>
            <a:endParaRPr lang="en-AU" sz="3200" dirty="0"/>
          </a:p>
        </p:txBody>
      </p:sp>
      <p:sp>
        <p:nvSpPr>
          <p:cNvPr id="2" name="Oval 1"/>
          <p:cNvSpPr/>
          <p:nvPr/>
        </p:nvSpPr>
        <p:spPr>
          <a:xfrm>
            <a:off x="2257187" y="908720"/>
            <a:ext cx="1728192" cy="864096"/>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Oval 4"/>
          <p:cNvSpPr/>
          <p:nvPr/>
        </p:nvSpPr>
        <p:spPr>
          <a:xfrm>
            <a:off x="2339752" y="3573016"/>
            <a:ext cx="1728192" cy="864096"/>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 name="Left Arrow 3"/>
          <p:cNvSpPr/>
          <p:nvPr/>
        </p:nvSpPr>
        <p:spPr>
          <a:xfrm>
            <a:off x="6501034" y="1924382"/>
            <a:ext cx="504057" cy="432048"/>
          </a:xfrm>
          <a:prstGeom prst="leftArrow">
            <a:avLst/>
          </a:prstGeom>
          <a:solidFill>
            <a:schemeClr val="accent6">
              <a:lumMod val="75000"/>
            </a:schemeClr>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AU" dirty="0"/>
          </a:p>
        </p:txBody>
      </p:sp>
      <p:sp>
        <p:nvSpPr>
          <p:cNvPr id="7" name="Left Arrow 6"/>
          <p:cNvSpPr/>
          <p:nvPr/>
        </p:nvSpPr>
        <p:spPr>
          <a:xfrm>
            <a:off x="6372199" y="4797152"/>
            <a:ext cx="504057" cy="432048"/>
          </a:xfrm>
          <a:prstGeom prst="leftArrow">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dirty="0"/>
          </a:p>
        </p:txBody>
      </p:sp>
      <p:sp>
        <p:nvSpPr>
          <p:cNvPr id="8" name="TextBox 7"/>
          <p:cNvSpPr txBox="1"/>
          <p:nvPr/>
        </p:nvSpPr>
        <p:spPr>
          <a:xfrm>
            <a:off x="7092280" y="1124743"/>
            <a:ext cx="1728192" cy="2031325"/>
          </a:xfrm>
          <a:prstGeom prst="rect">
            <a:avLst/>
          </a:prstGeom>
          <a:ln>
            <a:solidFill>
              <a:schemeClr val="accent6">
                <a:lumMod val="75000"/>
              </a:schemeClr>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pPr marL="82550" indent="-82550">
              <a:buFont typeface="Arial" panose="020B0604020202020204" pitchFamily="34" charset="0"/>
              <a:buChar char="•"/>
            </a:pPr>
            <a:r>
              <a:rPr lang="en-AU" dirty="0" smtClean="0"/>
              <a:t>climate change</a:t>
            </a:r>
          </a:p>
          <a:p>
            <a:pPr marL="82550" indent="-82550">
              <a:buFont typeface="Arial" panose="020B0604020202020204" pitchFamily="34" charset="0"/>
              <a:buChar char="•"/>
            </a:pPr>
            <a:r>
              <a:rPr lang="en-AU" dirty="0" smtClean="0"/>
              <a:t>Greece</a:t>
            </a:r>
          </a:p>
          <a:p>
            <a:pPr marL="82550" indent="-82550">
              <a:buFont typeface="Arial" panose="020B0604020202020204" pitchFamily="34" charset="0"/>
              <a:buChar char="•"/>
            </a:pPr>
            <a:r>
              <a:rPr lang="en-AU" dirty="0" smtClean="0"/>
              <a:t>politics</a:t>
            </a:r>
          </a:p>
          <a:p>
            <a:pPr marL="82550" indent="-82550">
              <a:buFont typeface="Arial" panose="020B0604020202020204" pitchFamily="34" charset="0"/>
              <a:buChar char="•"/>
            </a:pPr>
            <a:r>
              <a:rPr lang="en-AU" dirty="0" smtClean="0"/>
              <a:t>economic meltdown</a:t>
            </a:r>
          </a:p>
          <a:p>
            <a:pPr marL="82550" indent="-82550">
              <a:buFont typeface="Arial" panose="020B0604020202020204" pitchFamily="34" charset="0"/>
              <a:buChar char="•"/>
            </a:pPr>
            <a:r>
              <a:rPr lang="en-AU" dirty="0" smtClean="0"/>
              <a:t>unemployment</a:t>
            </a:r>
          </a:p>
          <a:p>
            <a:pPr marL="82550" indent="-82550">
              <a:buFont typeface="Arial" panose="020B0604020202020204" pitchFamily="34" charset="0"/>
              <a:buChar char="•"/>
            </a:pPr>
            <a:r>
              <a:rPr lang="en-AU" dirty="0" smtClean="0"/>
              <a:t>famine</a:t>
            </a:r>
            <a:endParaRPr lang="en-AU" dirty="0"/>
          </a:p>
        </p:txBody>
      </p:sp>
      <p:sp>
        <p:nvSpPr>
          <p:cNvPr id="11" name="Rectangle 10"/>
          <p:cNvSpPr/>
          <p:nvPr/>
        </p:nvSpPr>
        <p:spPr>
          <a:xfrm>
            <a:off x="2108547" y="3156069"/>
            <a:ext cx="4644516" cy="488955"/>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3"/>
                                        </p:tgtEl>
                                      </p:cBhvr>
                                    </p:animEffect>
                                    <p:set>
                                      <p:cBhvr>
                                        <p:cTn id="15" dur="1" fill="hold">
                                          <p:stCondLst>
                                            <p:cond delay="499"/>
                                          </p:stCondLst>
                                        </p:cTn>
                                        <p:tgtEl>
                                          <p:spTgt spid="3"/>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heel(1)">
                                      <p:cBhvr>
                                        <p:cTn id="20" dur="20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heel(1)">
                                      <p:cBhvr>
                                        <p:cTn id="25" dur="20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1+#ppt_w/2"/>
                                          </p:val>
                                        </p:tav>
                                        <p:tav tm="100000">
                                          <p:val>
                                            <p:strVal val="#ppt_x"/>
                                          </p:val>
                                        </p:tav>
                                      </p:tavLst>
                                    </p:anim>
                                    <p:anim calcmode="lin" valueType="num">
                                      <p:cBhvr additive="base">
                                        <p:cTn id="31" dur="500" fill="hold"/>
                                        <p:tgtEl>
                                          <p:spTgt spid="4"/>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1+#ppt_w/2"/>
                                          </p:val>
                                        </p:tav>
                                        <p:tav tm="100000">
                                          <p:val>
                                            <p:strVal val="#ppt_x"/>
                                          </p:val>
                                        </p:tav>
                                      </p:tavLst>
                                    </p:anim>
                                    <p:anim calcmode="lin" valueType="num">
                                      <p:cBhvr additive="base">
                                        <p:cTn id="37" dur="500" fill="hold"/>
                                        <p:tgtEl>
                                          <p:spTgt spid="7"/>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1" nodeType="click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additive="base">
                                        <p:cTn id="42" dur="500" fill="hold"/>
                                        <p:tgtEl>
                                          <p:spTgt spid="8"/>
                                        </p:tgtEl>
                                        <p:attrNameLst>
                                          <p:attrName>ppt_x</p:attrName>
                                        </p:attrNameLst>
                                      </p:cBhvr>
                                      <p:tavLst>
                                        <p:tav tm="0">
                                          <p:val>
                                            <p:strVal val="#ppt_x"/>
                                          </p:val>
                                        </p:tav>
                                        <p:tav tm="100000">
                                          <p:val>
                                            <p:strVal val="#ppt_x"/>
                                          </p:val>
                                        </p:tav>
                                      </p:tavLst>
                                    </p:anim>
                                    <p:anim calcmode="lin" valueType="num">
                                      <p:cBhvr additive="base">
                                        <p:cTn id="4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down)">
                                      <p:cBhvr>
                                        <p:cTn id="4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2" grpId="0" animBg="1"/>
      <p:bldP spid="5" grpId="0" animBg="1"/>
      <p:bldP spid="4" grpId="0" animBg="1"/>
      <p:bldP spid="7" grpId="0" animBg="1"/>
      <p:bldP spid="8" grpId="1"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C:\Users\mjrou0\AppData\Local\Microsoft\Windows\Temporary Internet Files\Content.Outlook\HXTGGS2O\His_Y6_U1_L3_PoliticalCarto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548680"/>
            <a:ext cx="5622267" cy="5525830"/>
          </a:xfrm>
          <a:prstGeom prst="rect">
            <a:avLst/>
          </a:prstGeom>
          <a:noFill/>
          <a:extLst>
            <a:ext uri="{909E8E84-426E-40DD-AFC4-6F175D3DCCD1}">
              <a14:hiddenFill xmlns:a14="http://schemas.microsoft.com/office/drawing/2010/main">
                <a:solidFill>
                  <a:srgbClr val="FFFFFF"/>
                </a:solidFill>
              </a14:hiddenFill>
            </a:ext>
          </a:extLst>
        </p:spPr>
      </p:pic>
      <p:sp>
        <p:nvSpPr>
          <p:cNvPr id="10" name="Cloud 9"/>
          <p:cNvSpPr/>
          <p:nvPr/>
        </p:nvSpPr>
        <p:spPr>
          <a:xfrm>
            <a:off x="0" y="1"/>
            <a:ext cx="3707904" cy="2060847"/>
          </a:xfrm>
          <a:prstGeom prst="cloud">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dirty="0" smtClean="0"/>
              <a:t>What was happening at </a:t>
            </a:r>
            <a:br>
              <a:rPr lang="en-AU" sz="3200" dirty="0" smtClean="0"/>
            </a:br>
            <a:r>
              <a:rPr lang="en-AU" sz="3200" dirty="0" smtClean="0"/>
              <a:t>that time?</a:t>
            </a:r>
            <a:endParaRPr lang="en-AU"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 calcmode="lin" valueType="num">
                                      <p:cBhvr>
                                        <p:cTn id="9" dur="1000" fill="hold"/>
                                        <p:tgtEl>
                                          <p:spTgt spid="10"/>
                                        </p:tgtEl>
                                        <p:attrNameLst>
                                          <p:attrName>style.rotation</p:attrName>
                                        </p:attrNameLst>
                                      </p:cBhvr>
                                      <p:tavLst>
                                        <p:tav tm="0">
                                          <p:val>
                                            <p:fltVal val="90"/>
                                          </p:val>
                                        </p:tav>
                                        <p:tav tm="100000">
                                          <p:val>
                                            <p:fltVal val="0"/>
                                          </p:val>
                                        </p:tav>
                                      </p:tavLst>
                                    </p:anim>
                                    <p:animEffect transition="in" filter="fade">
                                      <p:cBhvr>
                                        <p:cTn id="10" dur="10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10"/>
                                        </p:tgtEl>
                                      </p:cBhvr>
                                    </p:animEffect>
                                    <p:set>
                                      <p:cBhvr>
                                        <p:cTn id="15"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C:\Users\mjrou0\AppData\Local\Microsoft\Windows\Temporary Internet Files\Content.Outlook\HXTGGS2O\His_Y6_U1_L3_PoliticalCarto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1071522"/>
            <a:ext cx="5402473" cy="530980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288460" y="188640"/>
            <a:ext cx="8640960" cy="720080"/>
          </a:xfrm>
        </p:spPr>
        <p:txBody>
          <a:bodyPr>
            <a:noAutofit/>
          </a:bodyPr>
          <a:lstStyle/>
          <a:p>
            <a:pPr eaLnBrk="1" fontAlgn="auto" hangingPunct="1">
              <a:spcAft>
                <a:spcPts val="0"/>
              </a:spcAft>
              <a:defRPr/>
            </a:pPr>
            <a:r>
              <a:rPr lang="en-AU" b="1" dirty="0" smtClean="0">
                <a:solidFill>
                  <a:srgbClr val="C00000"/>
                </a:solidFill>
              </a:rPr>
              <a:t> </a:t>
            </a:r>
            <a:br>
              <a:rPr lang="en-AU" b="1" dirty="0" smtClean="0">
                <a:solidFill>
                  <a:srgbClr val="C00000"/>
                </a:solidFill>
              </a:rPr>
            </a:br>
            <a:r>
              <a:rPr lang="en-AU" b="1" dirty="0" smtClean="0">
                <a:solidFill>
                  <a:srgbClr val="C00000"/>
                </a:solidFill>
              </a:rPr>
              <a:t>Visual </a:t>
            </a:r>
            <a:r>
              <a:rPr lang="en-AU" b="1" dirty="0">
                <a:solidFill>
                  <a:srgbClr val="C00000"/>
                </a:solidFill>
              </a:rPr>
              <a:t>and written </a:t>
            </a:r>
            <a:r>
              <a:rPr lang="en-AU" b="1" dirty="0" smtClean="0">
                <a:solidFill>
                  <a:srgbClr val="C00000"/>
                </a:solidFill>
              </a:rPr>
              <a:t>language </a:t>
            </a:r>
            <a:br>
              <a:rPr lang="en-AU" b="1" dirty="0" smtClean="0">
                <a:solidFill>
                  <a:srgbClr val="C00000"/>
                </a:solidFill>
              </a:rPr>
            </a:br>
            <a:endParaRPr lang="en-AU" b="1" dirty="0">
              <a:solidFill>
                <a:srgbClr val="C00000"/>
              </a:solidFill>
            </a:endParaRPr>
          </a:p>
        </p:txBody>
      </p:sp>
      <p:sp>
        <p:nvSpPr>
          <p:cNvPr id="5" name="Cloud 4"/>
          <p:cNvSpPr/>
          <p:nvPr/>
        </p:nvSpPr>
        <p:spPr>
          <a:xfrm>
            <a:off x="1763688" y="2636912"/>
            <a:ext cx="5834521" cy="1512168"/>
          </a:xfrm>
          <a:prstGeom prst="cloud">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dirty="0" smtClean="0"/>
              <a:t>What do the words and images tell us? </a:t>
            </a:r>
            <a:endParaRPr lang="en-AU"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ers\mjrou0\AppData\Local\Microsoft\Windows\Temporary Internet Files\Content.Outlook\HXTGGS2O\His_Y6_U1_L3_PoliticalCarto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999514"/>
            <a:ext cx="5475738" cy="538181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253085" y="30986"/>
            <a:ext cx="8640960" cy="936104"/>
          </a:xfrm>
        </p:spPr>
        <p:txBody>
          <a:bodyPr>
            <a:normAutofit/>
          </a:bodyPr>
          <a:lstStyle/>
          <a:p>
            <a:pPr eaLnBrk="1" fontAlgn="auto" hangingPunct="1">
              <a:spcAft>
                <a:spcPts val="0"/>
              </a:spcAft>
              <a:defRPr/>
            </a:pPr>
            <a:r>
              <a:rPr lang="en-AU" b="1" dirty="0" smtClean="0">
                <a:solidFill>
                  <a:srgbClr val="C00000"/>
                </a:solidFill>
              </a:rPr>
              <a:t>Interpreting the language</a:t>
            </a:r>
            <a:endParaRPr lang="en-AU" b="1" dirty="0">
              <a:solidFill>
                <a:srgbClr val="C00000"/>
              </a:solidFill>
            </a:endParaRPr>
          </a:p>
        </p:txBody>
      </p:sp>
      <p:sp>
        <p:nvSpPr>
          <p:cNvPr id="4" name="Line Callout 1 3"/>
          <p:cNvSpPr/>
          <p:nvPr/>
        </p:nvSpPr>
        <p:spPr>
          <a:xfrm flipH="1">
            <a:off x="467544" y="1412776"/>
            <a:ext cx="1224136" cy="1224136"/>
          </a:xfrm>
          <a:prstGeom prst="borderCallout1">
            <a:avLst>
              <a:gd name="adj1" fmla="val 18750"/>
              <a:gd name="adj2" fmla="val -8333"/>
              <a:gd name="adj3" fmla="val 33996"/>
              <a:gd name="adj4" fmla="val -86506"/>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AU" sz="2000" dirty="0" smtClean="0"/>
              <a:t>These people seem scared.</a:t>
            </a:r>
            <a:endParaRPr lang="en-AU" sz="2000" dirty="0"/>
          </a:p>
        </p:txBody>
      </p:sp>
      <p:sp>
        <p:nvSpPr>
          <p:cNvPr id="6" name="Line Callout 1 5"/>
          <p:cNvSpPr/>
          <p:nvPr/>
        </p:nvSpPr>
        <p:spPr>
          <a:xfrm flipH="1">
            <a:off x="323528" y="4149080"/>
            <a:ext cx="1512168" cy="1368152"/>
          </a:xfrm>
          <a:prstGeom prst="borderCallout1">
            <a:avLst>
              <a:gd name="adj1" fmla="val 18750"/>
              <a:gd name="adj2" fmla="val -8333"/>
              <a:gd name="adj3" fmla="val 27820"/>
              <a:gd name="adj4" fmla="val -6005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AU" sz="2000" dirty="0" smtClean="0"/>
              <a:t>These people are enjoying themselves.</a:t>
            </a:r>
            <a:endParaRPr lang="en-AU" sz="2000" dirty="0"/>
          </a:p>
        </p:txBody>
      </p:sp>
      <p:sp>
        <p:nvSpPr>
          <p:cNvPr id="8" name="Line Callout 1 7"/>
          <p:cNvSpPr/>
          <p:nvPr/>
        </p:nvSpPr>
        <p:spPr>
          <a:xfrm flipH="1">
            <a:off x="7516525" y="1348444"/>
            <a:ext cx="1224136" cy="1224136"/>
          </a:xfrm>
          <a:prstGeom prst="borderCallout1">
            <a:avLst>
              <a:gd name="adj1" fmla="val 38861"/>
              <a:gd name="adj2" fmla="val 101798"/>
              <a:gd name="adj3" fmla="val 50744"/>
              <a:gd name="adj4" fmla="val 146340"/>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AU" sz="2000" dirty="0" smtClean="0"/>
              <a:t>The world is in trouble.</a:t>
            </a:r>
            <a:endParaRPr lang="en-AU" sz="2000" dirty="0"/>
          </a:p>
        </p:txBody>
      </p:sp>
      <p:sp>
        <p:nvSpPr>
          <p:cNvPr id="9" name="Line Callout 1 8"/>
          <p:cNvSpPr/>
          <p:nvPr/>
        </p:nvSpPr>
        <p:spPr>
          <a:xfrm flipH="1">
            <a:off x="7309510" y="3212976"/>
            <a:ext cx="1603076" cy="1620180"/>
          </a:xfrm>
          <a:prstGeom prst="borderCallout1">
            <a:avLst>
              <a:gd name="adj1" fmla="val 49361"/>
              <a:gd name="adj2" fmla="val 103124"/>
              <a:gd name="adj3" fmla="val 42027"/>
              <a:gd name="adj4" fmla="val 137276"/>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AU" sz="2000" dirty="0" smtClean="0"/>
              <a:t>The Olympics is a welcome relief from global problems.</a:t>
            </a:r>
            <a:endParaRPr lang="en-AU" sz="2000" dirty="0"/>
          </a:p>
        </p:txBody>
      </p:sp>
      <p:sp>
        <p:nvSpPr>
          <p:cNvPr id="10" name="Line Callout 1 9"/>
          <p:cNvSpPr/>
          <p:nvPr/>
        </p:nvSpPr>
        <p:spPr>
          <a:xfrm flipH="1">
            <a:off x="7309510" y="5013176"/>
            <a:ext cx="1512168" cy="1368152"/>
          </a:xfrm>
          <a:prstGeom prst="borderCallout1">
            <a:avLst>
              <a:gd name="adj1" fmla="val 38861"/>
              <a:gd name="adj2" fmla="val 101798"/>
              <a:gd name="adj3" fmla="val 37017"/>
              <a:gd name="adj4" fmla="val 201206"/>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AU" sz="2000" dirty="0" smtClean="0"/>
              <a:t>The smile portrays happiness and pride.</a:t>
            </a:r>
            <a:endParaRPr lang="en-AU"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1+#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9"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ers\mjrou0\AppData\Local\Microsoft\Windows\Temporary Internet Files\Content.Outlook\HXTGGS2O\His_Y6_U1_L3_PoliticalCarto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692696"/>
            <a:ext cx="5622267" cy="5525830"/>
          </a:xfrm>
          <a:prstGeom prst="rect">
            <a:avLst/>
          </a:prstGeom>
          <a:noFill/>
          <a:extLst>
            <a:ext uri="{909E8E84-426E-40DD-AFC4-6F175D3DCCD1}">
              <a14:hiddenFill xmlns:a14="http://schemas.microsoft.com/office/drawing/2010/main">
                <a:solidFill>
                  <a:srgbClr val="FFFFFF"/>
                </a:solidFill>
              </a14:hiddenFill>
            </a:ext>
          </a:extLst>
        </p:spPr>
      </p:pic>
      <p:sp>
        <p:nvSpPr>
          <p:cNvPr id="10" name="Cloud 9"/>
          <p:cNvSpPr/>
          <p:nvPr/>
        </p:nvSpPr>
        <p:spPr>
          <a:xfrm>
            <a:off x="6067529" y="3068960"/>
            <a:ext cx="3076471" cy="1944216"/>
          </a:xfrm>
          <a:prstGeom prst="cloud">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dirty="0" smtClean="0"/>
              <a:t>What is the main idea? </a:t>
            </a:r>
            <a:endParaRPr lang="en-AU" sz="3200" dirty="0"/>
          </a:p>
        </p:txBody>
      </p:sp>
      <p:sp>
        <p:nvSpPr>
          <p:cNvPr id="4" name="Title 1"/>
          <p:cNvSpPr>
            <a:spLocks noGrp="1"/>
          </p:cNvSpPr>
          <p:nvPr>
            <p:ph type="title"/>
          </p:nvPr>
        </p:nvSpPr>
        <p:spPr>
          <a:xfrm>
            <a:off x="251520" y="74160"/>
            <a:ext cx="8640960" cy="648072"/>
          </a:xfrm>
        </p:spPr>
        <p:txBody>
          <a:bodyPr>
            <a:noAutofit/>
          </a:bodyPr>
          <a:lstStyle/>
          <a:p>
            <a:pPr eaLnBrk="1" fontAlgn="auto" hangingPunct="1">
              <a:spcAft>
                <a:spcPts val="0"/>
              </a:spcAft>
              <a:defRPr/>
            </a:pPr>
            <a:r>
              <a:rPr lang="en-AU" b="1" dirty="0" smtClean="0">
                <a:solidFill>
                  <a:srgbClr val="C00000"/>
                </a:solidFill>
              </a:rPr>
              <a:t>Main idea</a:t>
            </a:r>
            <a:endParaRPr lang="en-AU"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 calcmode="lin" valueType="num">
                                      <p:cBhvr>
                                        <p:cTn id="9" dur="1000" fill="hold"/>
                                        <p:tgtEl>
                                          <p:spTgt spid="10"/>
                                        </p:tgtEl>
                                        <p:attrNameLst>
                                          <p:attrName>style.rotation</p:attrName>
                                        </p:attrNameLst>
                                      </p:cBhvr>
                                      <p:tavLst>
                                        <p:tav tm="0">
                                          <p:val>
                                            <p:fltVal val="90"/>
                                          </p:val>
                                        </p:tav>
                                        <p:tav tm="100000">
                                          <p:val>
                                            <p:fltVal val="0"/>
                                          </p:val>
                                        </p:tav>
                                      </p:tavLst>
                                    </p:anim>
                                    <p:animEffect transition="in" filter="fade">
                                      <p:cBhvr>
                                        <p:cTn id="10" dur="10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10"/>
                                        </p:tgtEl>
                                      </p:cBhvr>
                                    </p:animEffect>
                                    <p:set>
                                      <p:cBhvr>
                                        <p:cTn id="15"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mjrou0\AppData\Local\Microsoft\Windows\Temporary Internet Files\Content.Outlook\HXTGGS2O\His_Y6_U1_L3_PoliticalCarto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9378" y="764704"/>
            <a:ext cx="5475738" cy="538181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226767" y="44624"/>
            <a:ext cx="8640960" cy="648072"/>
          </a:xfrm>
        </p:spPr>
        <p:txBody>
          <a:bodyPr>
            <a:noAutofit/>
          </a:bodyPr>
          <a:lstStyle/>
          <a:p>
            <a:pPr eaLnBrk="1" fontAlgn="auto" hangingPunct="1">
              <a:spcAft>
                <a:spcPts val="0"/>
              </a:spcAft>
              <a:defRPr/>
            </a:pPr>
            <a:r>
              <a:rPr lang="en-AU" b="1" dirty="0">
                <a:solidFill>
                  <a:srgbClr val="C00000"/>
                </a:solidFill>
              </a:rPr>
              <a:t>P</a:t>
            </a:r>
            <a:r>
              <a:rPr lang="en-AU" b="1" dirty="0" smtClean="0">
                <a:solidFill>
                  <a:srgbClr val="C00000"/>
                </a:solidFill>
              </a:rPr>
              <a:t>oint of view</a:t>
            </a:r>
            <a:endParaRPr lang="en-AU" b="1" dirty="0">
              <a:solidFill>
                <a:srgbClr val="C00000"/>
              </a:solidFill>
            </a:endParaRPr>
          </a:p>
        </p:txBody>
      </p:sp>
      <p:sp>
        <p:nvSpPr>
          <p:cNvPr id="5" name="Cloud 4"/>
          <p:cNvSpPr/>
          <p:nvPr/>
        </p:nvSpPr>
        <p:spPr>
          <a:xfrm>
            <a:off x="1259632" y="5035624"/>
            <a:ext cx="6264696" cy="1440160"/>
          </a:xfrm>
          <a:prstGeom prst="cloud">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dirty="0" smtClean="0"/>
              <a:t>What is the cartoonist’s point of view? </a:t>
            </a:r>
            <a:endParaRPr lang="en-AU"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jrou0\AppData\Local\Microsoft\Windows\Temporary Internet Files\Content.Outlook\HXTGGS2O\His_Y6_U1_L3_PoliticalCarto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022" y="764704"/>
            <a:ext cx="5475738" cy="5381814"/>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p:cNvSpPr>
            <a:spLocks noGrp="1"/>
          </p:cNvSpPr>
          <p:nvPr>
            <p:ph type="title"/>
          </p:nvPr>
        </p:nvSpPr>
        <p:spPr>
          <a:xfrm>
            <a:off x="319588" y="64112"/>
            <a:ext cx="8640960" cy="648072"/>
          </a:xfrm>
        </p:spPr>
        <p:txBody>
          <a:bodyPr>
            <a:noAutofit/>
          </a:bodyPr>
          <a:lstStyle/>
          <a:p>
            <a:pPr eaLnBrk="1" fontAlgn="auto" hangingPunct="1">
              <a:spcAft>
                <a:spcPts val="0"/>
              </a:spcAft>
              <a:defRPr/>
            </a:pPr>
            <a:r>
              <a:rPr lang="en-AU" b="1" dirty="0" smtClean="0">
                <a:solidFill>
                  <a:srgbClr val="C00000"/>
                </a:solidFill>
              </a:rPr>
              <a:t>Purpose</a:t>
            </a:r>
            <a:endParaRPr lang="en-AU" b="1" dirty="0">
              <a:solidFill>
                <a:srgbClr val="C00000"/>
              </a:solidFill>
            </a:endParaRPr>
          </a:p>
        </p:txBody>
      </p:sp>
      <p:sp>
        <p:nvSpPr>
          <p:cNvPr id="8" name="Cloud 7"/>
          <p:cNvSpPr/>
          <p:nvPr/>
        </p:nvSpPr>
        <p:spPr>
          <a:xfrm>
            <a:off x="6004398" y="188640"/>
            <a:ext cx="3076471" cy="1944216"/>
          </a:xfrm>
          <a:prstGeom prst="cloud">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dirty="0" smtClean="0"/>
              <a:t>inform or educate</a:t>
            </a:r>
            <a:endParaRPr lang="en-AU" sz="3200" dirty="0"/>
          </a:p>
        </p:txBody>
      </p:sp>
      <p:sp>
        <p:nvSpPr>
          <p:cNvPr id="9" name="Cloud 8"/>
          <p:cNvSpPr/>
          <p:nvPr/>
        </p:nvSpPr>
        <p:spPr>
          <a:xfrm>
            <a:off x="5992913" y="2276872"/>
            <a:ext cx="3076471" cy="1944216"/>
          </a:xfrm>
          <a:prstGeom prst="cloud">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dirty="0" smtClean="0"/>
              <a:t>persuade</a:t>
            </a:r>
            <a:endParaRPr lang="en-AU" sz="3200" dirty="0"/>
          </a:p>
        </p:txBody>
      </p:sp>
      <p:sp>
        <p:nvSpPr>
          <p:cNvPr id="10" name="Cloud 9"/>
          <p:cNvSpPr/>
          <p:nvPr/>
        </p:nvSpPr>
        <p:spPr>
          <a:xfrm>
            <a:off x="5915798" y="4403948"/>
            <a:ext cx="3076471" cy="1944216"/>
          </a:xfrm>
          <a:prstGeom prst="cloud">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dirty="0" smtClean="0"/>
              <a:t>criticise or praise</a:t>
            </a:r>
            <a:endParaRPr lang="en-AU" sz="3200" dirty="0"/>
          </a:p>
        </p:txBody>
      </p:sp>
    </p:spTree>
    <p:extLst>
      <p:ext uri="{BB962C8B-B14F-4D97-AF65-F5344CB8AC3E}">
        <p14:creationId xmlns:p14="http://schemas.microsoft.com/office/powerpoint/2010/main" val="2276791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1000" fill="hold"/>
                                        <p:tgtEl>
                                          <p:spTgt spid="9"/>
                                        </p:tgtEl>
                                        <p:attrNameLst>
                                          <p:attrName>ppt_w</p:attrName>
                                        </p:attrNameLst>
                                      </p:cBhvr>
                                      <p:tavLst>
                                        <p:tav tm="0">
                                          <p:val>
                                            <p:fltVal val="0"/>
                                          </p:val>
                                        </p:tav>
                                        <p:tav tm="100000">
                                          <p:val>
                                            <p:strVal val="#ppt_w"/>
                                          </p:val>
                                        </p:tav>
                                      </p:tavLst>
                                    </p:anim>
                                    <p:anim calcmode="lin" valueType="num">
                                      <p:cBhvr>
                                        <p:cTn id="16" dur="1000" fill="hold"/>
                                        <p:tgtEl>
                                          <p:spTgt spid="9"/>
                                        </p:tgtEl>
                                        <p:attrNameLst>
                                          <p:attrName>ppt_h</p:attrName>
                                        </p:attrNameLst>
                                      </p:cBhvr>
                                      <p:tavLst>
                                        <p:tav tm="0">
                                          <p:val>
                                            <p:fltVal val="0"/>
                                          </p:val>
                                        </p:tav>
                                        <p:tav tm="100000">
                                          <p:val>
                                            <p:strVal val="#ppt_h"/>
                                          </p:val>
                                        </p:tav>
                                      </p:tavLst>
                                    </p:anim>
                                    <p:anim calcmode="lin" valueType="num">
                                      <p:cBhvr>
                                        <p:cTn id="17" dur="1000" fill="hold"/>
                                        <p:tgtEl>
                                          <p:spTgt spid="9"/>
                                        </p:tgtEl>
                                        <p:attrNameLst>
                                          <p:attrName>style.rotation</p:attrName>
                                        </p:attrNameLst>
                                      </p:cBhvr>
                                      <p:tavLst>
                                        <p:tav tm="0">
                                          <p:val>
                                            <p:fltVal val="90"/>
                                          </p:val>
                                        </p:tav>
                                        <p:tav tm="100000">
                                          <p:val>
                                            <p:fltVal val="0"/>
                                          </p:val>
                                        </p:tav>
                                      </p:tavLst>
                                    </p:anim>
                                    <p:animEffect transition="in" filter="fade">
                                      <p:cBhvr>
                                        <p:cTn id="18" dur="10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p:cTn id="23" dur="1000" fill="hold"/>
                                        <p:tgtEl>
                                          <p:spTgt spid="10"/>
                                        </p:tgtEl>
                                        <p:attrNameLst>
                                          <p:attrName>ppt_w</p:attrName>
                                        </p:attrNameLst>
                                      </p:cBhvr>
                                      <p:tavLst>
                                        <p:tav tm="0">
                                          <p:val>
                                            <p:fltVal val="0"/>
                                          </p:val>
                                        </p:tav>
                                        <p:tav tm="100000">
                                          <p:val>
                                            <p:strVal val="#ppt_w"/>
                                          </p:val>
                                        </p:tav>
                                      </p:tavLst>
                                    </p:anim>
                                    <p:anim calcmode="lin" valueType="num">
                                      <p:cBhvr>
                                        <p:cTn id="24" dur="1000" fill="hold"/>
                                        <p:tgtEl>
                                          <p:spTgt spid="10"/>
                                        </p:tgtEl>
                                        <p:attrNameLst>
                                          <p:attrName>ppt_h</p:attrName>
                                        </p:attrNameLst>
                                      </p:cBhvr>
                                      <p:tavLst>
                                        <p:tav tm="0">
                                          <p:val>
                                            <p:fltVal val="0"/>
                                          </p:val>
                                        </p:tav>
                                        <p:tav tm="100000">
                                          <p:val>
                                            <p:strVal val="#ppt_h"/>
                                          </p:val>
                                        </p:tav>
                                      </p:tavLst>
                                    </p:anim>
                                    <p:anim calcmode="lin" valueType="num">
                                      <p:cBhvr>
                                        <p:cTn id="25" dur="1000" fill="hold"/>
                                        <p:tgtEl>
                                          <p:spTgt spid="10"/>
                                        </p:tgtEl>
                                        <p:attrNameLst>
                                          <p:attrName>style.rotation</p:attrName>
                                        </p:attrNameLst>
                                      </p:cBhvr>
                                      <p:tavLst>
                                        <p:tav tm="0">
                                          <p:val>
                                            <p:fltVal val="90"/>
                                          </p:val>
                                        </p:tav>
                                        <p:tav tm="100000">
                                          <p:val>
                                            <p:fltVal val="0"/>
                                          </p:val>
                                        </p:tav>
                                      </p:tavLst>
                                    </p:anim>
                                    <p:animEffect transition="in" filter="fade">
                                      <p:cBhvr>
                                        <p:cTn id="2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0" y="740346"/>
            <a:ext cx="8229600" cy="100811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endParaRPr lang="en-AU" b="1" dirty="0"/>
          </a:p>
        </p:txBody>
      </p:sp>
      <p:sp>
        <p:nvSpPr>
          <p:cNvPr id="10" name="Title 9"/>
          <p:cNvSpPr>
            <a:spLocks noGrp="1"/>
          </p:cNvSpPr>
          <p:nvPr>
            <p:ph type="title"/>
          </p:nvPr>
        </p:nvSpPr>
        <p:spPr>
          <a:xfrm>
            <a:off x="467544" y="29536"/>
            <a:ext cx="8229600" cy="1143000"/>
          </a:xfrm>
        </p:spPr>
        <p:txBody>
          <a:bodyPr>
            <a:normAutofit/>
          </a:bodyPr>
          <a:lstStyle/>
          <a:p>
            <a:pPr>
              <a:defRPr/>
            </a:pPr>
            <a:r>
              <a:rPr lang="en-AU" b="1" dirty="0">
                <a:solidFill>
                  <a:srgbClr val="C00000"/>
                </a:solidFill>
              </a:rPr>
              <a:t>Interpret a political cartoon</a:t>
            </a:r>
          </a:p>
        </p:txBody>
      </p:sp>
      <p:sp>
        <p:nvSpPr>
          <p:cNvPr id="11" name="Content Placeholder 10"/>
          <p:cNvSpPr>
            <a:spLocks noGrp="1"/>
          </p:cNvSpPr>
          <p:nvPr>
            <p:ph idx="1"/>
          </p:nvPr>
        </p:nvSpPr>
        <p:spPr>
          <a:xfrm>
            <a:off x="827584" y="1484784"/>
            <a:ext cx="7632848" cy="4032448"/>
          </a:xfrm>
        </p:spPr>
        <p:txBody>
          <a:bodyPr/>
          <a:lstStyle/>
          <a:p>
            <a:r>
              <a:rPr lang="en-AU" dirty="0"/>
              <a:t>What do you see? </a:t>
            </a:r>
          </a:p>
          <a:p>
            <a:r>
              <a:rPr lang="en-AU" dirty="0"/>
              <a:t>What was happening at that </a:t>
            </a:r>
            <a:r>
              <a:rPr lang="en-AU" dirty="0" smtClean="0"/>
              <a:t>time?</a:t>
            </a:r>
          </a:p>
          <a:p>
            <a:r>
              <a:rPr lang="en-AU" dirty="0"/>
              <a:t>What does the visual and written language tell us?</a:t>
            </a:r>
          </a:p>
          <a:p>
            <a:r>
              <a:rPr lang="en-AU" dirty="0"/>
              <a:t>What is the main idea?</a:t>
            </a:r>
          </a:p>
          <a:p>
            <a:r>
              <a:rPr lang="en-AU" dirty="0"/>
              <a:t>What is the cartoonist’s point of view</a:t>
            </a:r>
            <a:r>
              <a:rPr lang="en-AU" dirty="0" smtClean="0"/>
              <a:t>?</a:t>
            </a:r>
          </a:p>
          <a:p>
            <a:r>
              <a:rPr lang="en-AU" dirty="0" smtClean="0"/>
              <a:t>What is the purpose of the cartoon?</a:t>
            </a:r>
            <a:endParaRPr lang="en-AU" dirty="0"/>
          </a:p>
          <a:p>
            <a:pPr marL="0" indent="0">
              <a:buNone/>
            </a:pPr>
            <a:endParaRPr lang="en-AU" dirty="0"/>
          </a:p>
        </p:txBody>
      </p:sp>
    </p:spTree>
    <p:extLst>
      <p:ext uri="{BB962C8B-B14F-4D97-AF65-F5344CB8AC3E}">
        <p14:creationId xmlns:p14="http://schemas.microsoft.com/office/powerpoint/2010/main" val="172038112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1091</TotalTime>
  <Words>1384</Words>
  <Application>Microsoft Office PowerPoint</Application>
  <PresentationFormat>On-screen Show (4:3)</PresentationFormat>
  <Paragraphs>93</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What are political cartoons?</vt:lpstr>
      <vt:lpstr>PowerPoint Presentation</vt:lpstr>
      <vt:lpstr>PowerPoint Presentation</vt:lpstr>
      <vt:lpstr>  Visual and written language  </vt:lpstr>
      <vt:lpstr>Interpreting the language</vt:lpstr>
      <vt:lpstr>Main idea</vt:lpstr>
      <vt:lpstr>Point of view</vt:lpstr>
      <vt:lpstr>Purpose</vt:lpstr>
      <vt:lpstr>Interpret a political cartoon</vt:lpstr>
    </vt:vector>
  </TitlesOfParts>
  <Company>Queensland Government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Political Cartoons</dc:title>
  <dc:creator>CURTIS, Elizabeth</dc:creator>
  <cp:lastModifiedBy>SEEARY, Adam</cp:lastModifiedBy>
  <cp:revision>104</cp:revision>
  <cp:lastPrinted>2012-10-31T04:14:39Z</cp:lastPrinted>
  <dcterms:created xsi:type="dcterms:W3CDTF">2012-08-20T00:21:20Z</dcterms:created>
  <dcterms:modified xsi:type="dcterms:W3CDTF">2017-07-21T02:54:50Z</dcterms:modified>
</cp:coreProperties>
</file>