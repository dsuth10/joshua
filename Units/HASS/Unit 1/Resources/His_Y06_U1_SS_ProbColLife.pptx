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7" r:id="rId3"/>
    <p:sldId id="258" r:id="rId4"/>
    <p:sldId id="267" r:id="rId5"/>
    <p:sldId id="264" r:id="rId6"/>
    <p:sldId id="260" r:id="rId7"/>
    <p:sldId id="261" r:id="rId8"/>
    <p:sldId id="266" r:id="rId9"/>
    <p:sldId id="268" r:id="rId10"/>
    <p:sldId id="262" r:id="rId11"/>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Calibri" pitchFamily="34" charset="0"/>
        <a:ea typeface="+mn-ea"/>
        <a:cs typeface="Arial" charset="0"/>
      </a:defRPr>
    </a:lvl1pPr>
    <a:lvl2pPr marL="457200" algn="l" rtl="0" fontAlgn="base">
      <a:spcBef>
        <a:spcPct val="0"/>
      </a:spcBef>
      <a:spcAft>
        <a:spcPct val="0"/>
      </a:spcAft>
      <a:defRPr kern="1200">
        <a:solidFill>
          <a:schemeClr val="tx1"/>
        </a:solidFill>
        <a:latin typeface="Calibri" pitchFamily="34" charset="0"/>
        <a:ea typeface="+mn-ea"/>
        <a:cs typeface="Arial" charset="0"/>
      </a:defRPr>
    </a:lvl2pPr>
    <a:lvl3pPr marL="914400" algn="l" rtl="0" fontAlgn="base">
      <a:spcBef>
        <a:spcPct val="0"/>
      </a:spcBef>
      <a:spcAft>
        <a:spcPct val="0"/>
      </a:spcAft>
      <a:defRPr kern="1200">
        <a:solidFill>
          <a:schemeClr val="tx1"/>
        </a:solidFill>
        <a:latin typeface="Calibri" pitchFamily="34" charset="0"/>
        <a:ea typeface="+mn-ea"/>
        <a:cs typeface="Arial" charset="0"/>
      </a:defRPr>
    </a:lvl3pPr>
    <a:lvl4pPr marL="1371600" algn="l" rtl="0" fontAlgn="base">
      <a:spcBef>
        <a:spcPct val="0"/>
      </a:spcBef>
      <a:spcAft>
        <a:spcPct val="0"/>
      </a:spcAft>
      <a:defRPr kern="1200">
        <a:solidFill>
          <a:schemeClr val="tx1"/>
        </a:solidFill>
        <a:latin typeface="Calibri" pitchFamily="34" charset="0"/>
        <a:ea typeface="+mn-ea"/>
        <a:cs typeface="Arial" charset="0"/>
      </a:defRPr>
    </a:lvl4pPr>
    <a:lvl5pPr marL="1828800" algn="l" rtl="0" fontAlgn="base">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CC"/>
    <a:srgbClr val="FFFFFF"/>
    <a:srgbClr val="FFCCFF"/>
    <a:srgbClr val="FFFF99"/>
    <a:srgbClr val="35BBB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43" autoAdjust="0"/>
    <p:restoredTop sz="85084" autoAdjust="0"/>
  </p:normalViewPr>
  <p:slideViewPr>
    <p:cSldViewPr>
      <p:cViewPr>
        <p:scale>
          <a:sx n="90" d="100"/>
          <a:sy n="90" d="100"/>
        </p:scale>
        <p:origin x="-2244" y="-300"/>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AU"/>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B44734D7-2DE4-428F-B4DF-AB4C52BB6057}" type="datetimeFigureOut">
              <a:rPr lang="en-AU"/>
              <a:pPr>
                <a:defRPr/>
              </a:pPr>
              <a:t>21/07/2017</a:t>
            </a:fld>
            <a:endParaRPr lang="en-AU"/>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AU" noProof="0" smtClean="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AU" noProof="0" smtClean="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AU"/>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cs typeface="+mn-cs"/>
              </a:defRPr>
            </a:lvl1pPr>
          </a:lstStyle>
          <a:p>
            <a:pPr>
              <a:defRPr/>
            </a:pPr>
            <a:fld id="{9F3AA948-FE4A-46F6-8B7F-F694830E61D7}" type="slidenum">
              <a:rPr lang="en-AU"/>
              <a:pPr>
                <a:defRPr/>
              </a:pPr>
              <a:t>‹#›</a:t>
            </a:fld>
            <a:endParaRPr lang="en-AU"/>
          </a:p>
        </p:txBody>
      </p:sp>
    </p:spTree>
    <p:extLst>
      <p:ext uri="{BB962C8B-B14F-4D97-AF65-F5344CB8AC3E}">
        <p14:creationId xmlns:p14="http://schemas.microsoft.com/office/powerpoint/2010/main" val="24519258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AU" altLang="en-US" dirty="0" smtClean="0"/>
              <a:t>During the 1800s, many significant events occurred in the Australian colonies that brought about</a:t>
            </a:r>
            <a:r>
              <a:rPr lang="en-AU" altLang="en-US" baseline="0" dirty="0" smtClean="0"/>
              <a:t> </a:t>
            </a:r>
            <a:r>
              <a:rPr lang="en-AU" altLang="en-US" dirty="0" smtClean="0"/>
              <a:t>changes to society. The colonies were ready to grow and develop but there were still many problems or barriers standing in the way of progress. Let’s have a look at the problems of the colonial system.  </a:t>
            </a:r>
          </a:p>
        </p:txBody>
      </p:sp>
      <p:sp>
        <p:nvSpPr>
          <p:cNvPr id="9220" name="Slide Number Placeholder 3"/>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fontAlgn="base">
              <a:spcBef>
                <a:spcPct val="0"/>
              </a:spcBef>
              <a:spcAft>
                <a:spcPct val="0"/>
              </a:spcAft>
              <a:defRPr/>
            </a:pPr>
            <a:fld id="{FF1C1C07-E9C0-4C33-B532-D3E507B66493}" type="slidenum">
              <a:rPr lang="en-AU" smtClean="0"/>
              <a:pPr fontAlgn="base">
                <a:spcBef>
                  <a:spcPct val="0"/>
                </a:spcBef>
                <a:spcAft>
                  <a:spcPct val="0"/>
                </a:spcAft>
                <a:defRPr/>
              </a:pPr>
              <a:t>1</a:t>
            </a:fld>
            <a:endParaRPr lang="en-AU" smtClean="0"/>
          </a:p>
        </p:txBody>
      </p:sp>
    </p:spTree>
    <p:extLst>
      <p:ext uri="{BB962C8B-B14F-4D97-AF65-F5344CB8AC3E}">
        <p14:creationId xmlns:p14="http://schemas.microsoft.com/office/powerpoint/2010/main" val="28024970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AU" altLang="en-US" dirty="0" smtClean="0"/>
              <a:t>By the late 1800s, the word ‘Australia’ was used but it described the continent, not a nation.</a:t>
            </a:r>
            <a:r>
              <a:rPr lang="en-AU" altLang="en-US" b="1" dirty="0" smtClean="0"/>
              <a:t> </a:t>
            </a:r>
            <a:r>
              <a:rPr lang="en-AU" altLang="en-US" dirty="0" smtClean="0"/>
              <a:t>There were six distinct colonies and each considered itself to be separate and different from the others. Each colony had its own written constitution, parliament and laws, but Britain could reject any laws the colonies made and could itself make laws for the colonies. Of course, Britain was a very long way away from Australia and colonists increasingly came to see their parliaments as important and capable of making their own decisions. </a:t>
            </a:r>
            <a:r>
              <a:rPr lang="en-AU" altLang="en-US" b="1" dirty="0" smtClean="0"/>
              <a:t>(Click) </a:t>
            </a:r>
            <a:r>
              <a:rPr lang="en-AU" altLang="en-US" dirty="0" smtClean="0"/>
              <a:t>In this age of high-speed internet, could you imagine waiting </a:t>
            </a:r>
            <a:r>
              <a:rPr lang="en-AU" altLang="en-US" b="1" dirty="0" smtClean="0"/>
              <a:t>months </a:t>
            </a:r>
            <a:r>
              <a:rPr lang="en-AU" altLang="en-US" dirty="0" smtClean="0"/>
              <a:t>for news from Britain or paying almost a week’s wages to use the telegraph system to send someone a message? </a:t>
            </a:r>
          </a:p>
          <a:p>
            <a:pPr eaLnBrk="1" hangingPunct="1">
              <a:spcBef>
                <a:spcPct val="0"/>
              </a:spcBef>
            </a:pPr>
            <a:endParaRPr lang="en-AU" altLang="en-US" dirty="0" smtClean="0"/>
          </a:p>
        </p:txBody>
      </p:sp>
      <p:sp>
        <p:nvSpPr>
          <p:cNvPr id="10244" name="Slide Number Placeholder 3"/>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fontAlgn="base">
              <a:spcBef>
                <a:spcPct val="0"/>
              </a:spcBef>
              <a:spcAft>
                <a:spcPct val="0"/>
              </a:spcAft>
              <a:defRPr/>
            </a:pPr>
            <a:fld id="{85EFC08F-68F7-4975-8715-6C6F5B5E9F30}" type="slidenum">
              <a:rPr lang="en-AU" smtClean="0"/>
              <a:pPr fontAlgn="base">
                <a:spcBef>
                  <a:spcPct val="0"/>
                </a:spcBef>
                <a:spcAft>
                  <a:spcPct val="0"/>
                </a:spcAft>
                <a:defRPr/>
              </a:pPr>
              <a:t>2</a:t>
            </a:fld>
            <a:endParaRPr lang="en-AU" smtClean="0"/>
          </a:p>
        </p:txBody>
      </p:sp>
    </p:spTree>
    <p:extLst>
      <p:ext uri="{BB962C8B-B14F-4D97-AF65-F5344CB8AC3E}">
        <p14:creationId xmlns:p14="http://schemas.microsoft.com/office/powerpoint/2010/main" val="41683406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662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AU" altLang="en-US" dirty="0" smtClean="0"/>
              <a:t>Many people had a British heritage and considered Britain ‘home’</a:t>
            </a:r>
            <a:r>
              <a:rPr lang="en-AU" altLang="en-US" baseline="0" dirty="0" smtClean="0"/>
              <a:t> ...</a:t>
            </a:r>
            <a:r>
              <a:rPr lang="en-AU" altLang="en-US" dirty="0" smtClean="0"/>
              <a:t> but the population was changing.  </a:t>
            </a:r>
          </a:p>
          <a:p>
            <a:pPr eaLnBrk="1" hangingPunct="1">
              <a:spcBef>
                <a:spcPct val="0"/>
              </a:spcBef>
            </a:pPr>
            <a:r>
              <a:rPr lang="en-AU" altLang="en-US" b="1" dirty="0" smtClean="0"/>
              <a:t>(Click) </a:t>
            </a:r>
            <a:r>
              <a:rPr lang="en-AU" altLang="en-US" dirty="0" smtClean="0"/>
              <a:t>Many migrants had come to Australia from China during the gold rushes in the mid-1800s to work in the goldfields.</a:t>
            </a:r>
          </a:p>
          <a:p>
            <a:pPr eaLnBrk="1" hangingPunct="1">
              <a:spcBef>
                <a:spcPct val="0"/>
              </a:spcBef>
            </a:pPr>
            <a:r>
              <a:rPr lang="en-AU" altLang="en-US" b="1" dirty="0" smtClean="0"/>
              <a:t>(Click) </a:t>
            </a:r>
            <a:r>
              <a:rPr lang="en-AU" altLang="en-US" dirty="0" smtClean="0"/>
              <a:t>The opening up of cane farms in North Queensland also brought many South Sea Islanders to the colony as workers.</a:t>
            </a:r>
          </a:p>
          <a:p>
            <a:pPr eaLnBrk="1" hangingPunct="1">
              <a:spcBef>
                <a:spcPct val="0"/>
              </a:spcBef>
            </a:pPr>
            <a:r>
              <a:rPr lang="en-AU" altLang="en-US" dirty="0" smtClean="0"/>
              <a:t>The Chinese and South Sea Islanders worked very hard and usually got paid much less than the colonists. Although the migrant workers had no other choice but to accept the lower pay, </a:t>
            </a:r>
            <a:r>
              <a:rPr lang="en-AU" altLang="en-US" b="1" dirty="0" smtClean="0"/>
              <a:t>(Click) </a:t>
            </a:r>
            <a:r>
              <a:rPr lang="en-AU" altLang="en-US" b="0" dirty="0" smtClean="0"/>
              <a:t>established</a:t>
            </a:r>
            <a:r>
              <a:rPr lang="en-AU" altLang="en-US" b="1" dirty="0" smtClean="0"/>
              <a:t> </a:t>
            </a:r>
            <a:r>
              <a:rPr lang="en-AU" altLang="en-US" dirty="0" smtClean="0"/>
              <a:t>colonists became angry when they couldn’t get work but migrant workers could. This caused a lot of tension between established colonists and migrant</a:t>
            </a:r>
            <a:r>
              <a:rPr lang="en-AU" altLang="en-US" baseline="0" dirty="0" smtClean="0"/>
              <a:t> workers</a:t>
            </a:r>
            <a:r>
              <a:rPr lang="en-AU" altLang="en-US" dirty="0" smtClean="0"/>
              <a:t>. </a:t>
            </a:r>
          </a:p>
        </p:txBody>
      </p:sp>
      <p:sp>
        <p:nvSpPr>
          <p:cNvPr id="11268" name="Slide Number Placeholder 3"/>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fontAlgn="base">
              <a:spcBef>
                <a:spcPct val="0"/>
              </a:spcBef>
              <a:spcAft>
                <a:spcPct val="0"/>
              </a:spcAft>
              <a:defRPr/>
            </a:pPr>
            <a:fld id="{2FDDEBE7-0F8C-4FE9-9E6B-E77993C85B6F}" type="slidenum">
              <a:rPr lang="en-AU" smtClean="0"/>
              <a:pPr fontAlgn="base">
                <a:spcBef>
                  <a:spcPct val="0"/>
                </a:spcBef>
                <a:spcAft>
                  <a:spcPct val="0"/>
                </a:spcAft>
                <a:defRPr/>
              </a:pPr>
              <a:t>3</a:t>
            </a:fld>
            <a:endParaRPr lang="en-AU" smtClean="0"/>
          </a:p>
        </p:txBody>
      </p:sp>
    </p:spTree>
    <p:extLst>
      <p:ext uri="{BB962C8B-B14F-4D97-AF65-F5344CB8AC3E}">
        <p14:creationId xmlns:p14="http://schemas.microsoft.com/office/powerpoint/2010/main" val="24209407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AU" altLang="en-US" dirty="0" smtClean="0"/>
              <a:t>Some colonies were wealthier than others. </a:t>
            </a:r>
            <a:r>
              <a:rPr lang="en-AU" altLang="en-US" b="1" dirty="0" smtClean="0"/>
              <a:t>(Click) </a:t>
            </a:r>
            <a:r>
              <a:rPr lang="en-AU" altLang="en-US" dirty="0" smtClean="0"/>
              <a:t>Their fertile farmlands and the </a:t>
            </a:r>
            <a:r>
              <a:rPr lang="en-AU" altLang="en-US" b="1" dirty="0" smtClean="0"/>
              <a:t>(Click) </a:t>
            </a:r>
            <a:r>
              <a:rPr lang="en-AU" altLang="en-US" dirty="0" smtClean="0"/>
              <a:t>discovery of gold in Victoria and New South Wales was an advantage for some colonies. This caused rivalry between the colonies, as some colonies believed they were more important and deserved more power because of their greater wealth. </a:t>
            </a:r>
          </a:p>
        </p:txBody>
      </p:sp>
      <p:sp>
        <p:nvSpPr>
          <p:cNvPr id="4" name="Slide Number Placeholder 3"/>
          <p:cNvSpPr>
            <a:spLocks noGrp="1"/>
          </p:cNvSpPr>
          <p:nvPr>
            <p:ph type="sldNum" sz="quarter" idx="5"/>
          </p:nvPr>
        </p:nvSpPr>
        <p:spPr/>
        <p:txBody>
          <a:bodyPr/>
          <a:lstStyle/>
          <a:p>
            <a:pPr>
              <a:defRPr/>
            </a:pPr>
            <a:fld id="{01F60C3F-EDAE-4883-9105-6AD03E1581F8}" type="slidenum">
              <a:rPr lang="en-AU" smtClean="0"/>
              <a:pPr>
                <a:defRPr/>
              </a:pPr>
              <a:t>4</a:t>
            </a:fld>
            <a:endParaRPr lang="en-AU"/>
          </a:p>
        </p:txBody>
      </p:sp>
    </p:spTree>
    <p:extLst>
      <p:ext uri="{BB962C8B-B14F-4D97-AF65-F5344CB8AC3E}">
        <p14:creationId xmlns:p14="http://schemas.microsoft.com/office/powerpoint/2010/main" val="37928254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67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AU" altLang="en-US" dirty="0" smtClean="0"/>
              <a:t>The transportation of people and goods between colonies was very inefficient and difficult. </a:t>
            </a:r>
            <a:r>
              <a:rPr lang="en-AU" altLang="en-US" b="1" dirty="0" smtClean="0"/>
              <a:t>(Click) </a:t>
            </a:r>
            <a:r>
              <a:rPr lang="en-AU" altLang="en-US" dirty="0" smtClean="0"/>
              <a:t>People generally travelled around the colonies in buggies or on horseback, but around the 1850s, the colonies began building railways. </a:t>
            </a:r>
            <a:r>
              <a:rPr lang="en-AU" altLang="en-US" b="1" dirty="0" smtClean="0"/>
              <a:t>(Click) </a:t>
            </a:r>
            <a:r>
              <a:rPr lang="en-AU" altLang="en-US" dirty="0" smtClean="0"/>
              <a:t>The railways were mostly built by private companies so different track widths, </a:t>
            </a:r>
            <a:r>
              <a:rPr lang="en-AU" altLang="en-US" b="1" dirty="0" smtClean="0"/>
              <a:t>(Click) </a:t>
            </a:r>
            <a:r>
              <a:rPr lang="en-AU" altLang="en-US" dirty="0" smtClean="0"/>
              <a:t>called gauges, were used. In fact, three different gauges were used across the continent.  </a:t>
            </a:r>
          </a:p>
          <a:p>
            <a:pPr eaLnBrk="1" hangingPunct="1">
              <a:spcBef>
                <a:spcPct val="0"/>
              </a:spcBef>
            </a:pPr>
            <a:r>
              <a:rPr lang="en-AU" altLang="en-US" dirty="0" smtClean="0"/>
              <a:t>This meant that </a:t>
            </a:r>
            <a:r>
              <a:rPr lang="en-AU" altLang="en-US" b="1" dirty="0" smtClean="0"/>
              <a:t>(Click) </a:t>
            </a:r>
            <a:r>
              <a:rPr lang="en-AU" altLang="en-US" dirty="0" smtClean="0"/>
              <a:t>people and goods travelling from one colony to another had to change trains at the border to complete their journey, sometimes in the middle of the night! </a:t>
            </a:r>
          </a:p>
        </p:txBody>
      </p:sp>
      <p:sp>
        <p:nvSpPr>
          <p:cNvPr id="12292" name="Slide Number Placeholder 3"/>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fontAlgn="base">
              <a:spcBef>
                <a:spcPct val="0"/>
              </a:spcBef>
              <a:spcAft>
                <a:spcPct val="0"/>
              </a:spcAft>
              <a:defRPr/>
            </a:pPr>
            <a:fld id="{247B5B37-7283-4DF3-B6A9-401331DB016F}" type="slidenum">
              <a:rPr lang="en-AU" smtClean="0"/>
              <a:pPr fontAlgn="base">
                <a:spcBef>
                  <a:spcPct val="0"/>
                </a:spcBef>
                <a:spcAft>
                  <a:spcPct val="0"/>
                </a:spcAft>
                <a:defRPr/>
              </a:pPr>
              <a:t>5</a:t>
            </a:fld>
            <a:endParaRPr lang="en-AU" smtClean="0"/>
          </a:p>
        </p:txBody>
      </p:sp>
    </p:spTree>
    <p:extLst>
      <p:ext uri="{BB962C8B-B14F-4D97-AF65-F5344CB8AC3E}">
        <p14:creationId xmlns:p14="http://schemas.microsoft.com/office/powerpoint/2010/main" val="16236338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69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AU" altLang="en-US" dirty="0" smtClean="0"/>
              <a:t>Tariffs were applied to goods that crossed the borders between colonies. </a:t>
            </a:r>
            <a:r>
              <a:rPr lang="en-AU" altLang="en-US" b="1" dirty="0" smtClean="0"/>
              <a:t>(Click) </a:t>
            </a:r>
            <a:r>
              <a:rPr lang="en-AU" altLang="en-US" dirty="0" smtClean="0"/>
              <a:t>A tariff was a tax or duty that had to be paid on an item when it left one colony and went into another.  Customs was the official government department that collected the tariffs. </a:t>
            </a:r>
            <a:r>
              <a:rPr lang="en-AU" altLang="en-US" b="1" dirty="0" smtClean="0"/>
              <a:t>(Click) </a:t>
            </a:r>
            <a:r>
              <a:rPr lang="en-AU" altLang="en-US" dirty="0" smtClean="0"/>
              <a:t>This picture is of Customs House in Brisbane, where ships arriving had to pay tariffs on the goods they were carrying. </a:t>
            </a:r>
          </a:p>
          <a:p>
            <a:pPr eaLnBrk="1" hangingPunct="1">
              <a:spcBef>
                <a:spcPct val="0"/>
              </a:spcBef>
            </a:pPr>
            <a:r>
              <a:rPr lang="en-AU" altLang="en-US" dirty="0" smtClean="0"/>
              <a:t>Tariffs were applied to goods to make those coming from outside the colony more expensive. This protected the businesses inside the colony. </a:t>
            </a:r>
            <a:r>
              <a:rPr lang="en-AU" altLang="en-US" b="1" dirty="0" smtClean="0"/>
              <a:t>(Click) </a:t>
            </a:r>
            <a:r>
              <a:rPr lang="en-AU" altLang="en-US" dirty="0" smtClean="0"/>
              <a:t>Not all colonies charged tariffs. Some colonies had free trade and these different trade rules led to rivalry and suspicion between colonies. </a:t>
            </a:r>
          </a:p>
          <a:p>
            <a:pPr eaLnBrk="1" hangingPunct="1">
              <a:spcBef>
                <a:spcPct val="0"/>
              </a:spcBef>
            </a:pPr>
            <a:endParaRPr lang="en-AU" altLang="en-US" dirty="0" smtClean="0"/>
          </a:p>
        </p:txBody>
      </p:sp>
      <p:sp>
        <p:nvSpPr>
          <p:cNvPr id="13316" name="Slide Number Placeholder 3"/>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fontAlgn="base">
              <a:spcBef>
                <a:spcPct val="0"/>
              </a:spcBef>
              <a:spcAft>
                <a:spcPct val="0"/>
              </a:spcAft>
              <a:defRPr/>
            </a:pPr>
            <a:fld id="{8A7F60D4-ED10-402A-911F-F6DEF7D6F91B}" type="slidenum">
              <a:rPr lang="en-AU" smtClean="0"/>
              <a:pPr fontAlgn="base">
                <a:spcBef>
                  <a:spcPct val="0"/>
                </a:spcBef>
                <a:spcAft>
                  <a:spcPct val="0"/>
                </a:spcAft>
                <a:defRPr/>
              </a:pPr>
              <a:t>6</a:t>
            </a:fld>
            <a:endParaRPr lang="en-AU" smtClean="0"/>
          </a:p>
        </p:txBody>
      </p:sp>
    </p:spTree>
    <p:extLst>
      <p:ext uri="{BB962C8B-B14F-4D97-AF65-F5344CB8AC3E}">
        <p14:creationId xmlns:p14="http://schemas.microsoft.com/office/powerpoint/2010/main" val="29399205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2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AU" altLang="en-US" dirty="0" smtClean="0"/>
              <a:t>In 1868, convict transportation from England to Australia ended, and this was when Britain removed its military forces from the colonies. Each colony then became responsible for its own defence force. </a:t>
            </a:r>
            <a:r>
              <a:rPr lang="en-AU" altLang="en-US" b="1" dirty="0" smtClean="0"/>
              <a:t>(Click) </a:t>
            </a:r>
            <a:r>
              <a:rPr lang="en-AU" altLang="en-US" dirty="0" smtClean="0"/>
              <a:t>There wasn’t enough money for every colony to have a well-supplied army, so there were </a:t>
            </a:r>
            <a:r>
              <a:rPr lang="en-AU" altLang="en-US" b="1" dirty="0" smtClean="0"/>
              <a:t>(Click) </a:t>
            </a:r>
            <a:r>
              <a:rPr lang="en-AU" altLang="en-US" dirty="0" smtClean="0"/>
              <a:t>differences in training, experience, uniforms and duties between the colonies. </a:t>
            </a:r>
          </a:p>
          <a:p>
            <a:pPr eaLnBrk="1" hangingPunct="1">
              <a:spcBef>
                <a:spcPct val="0"/>
              </a:spcBef>
            </a:pPr>
            <a:r>
              <a:rPr lang="en-AU" altLang="en-US" b="1" dirty="0" smtClean="0"/>
              <a:t>(Click) </a:t>
            </a:r>
            <a:r>
              <a:rPr lang="en-AU" altLang="en-US" b="0" dirty="0" smtClean="0"/>
              <a:t>M</a:t>
            </a:r>
            <a:r>
              <a:rPr lang="en-AU" altLang="en-US" dirty="0" smtClean="0"/>
              <a:t>any colonies were worried about being attacked or invaded by another country, as there was no navy responsible for protecting Australia’s coastline.</a:t>
            </a:r>
          </a:p>
        </p:txBody>
      </p:sp>
      <p:sp>
        <p:nvSpPr>
          <p:cNvPr id="14340" name="Slide Number Placeholder 3"/>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fontAlgn="base">
              <a:spcBef>
                <a:spcPct val="0"/>
              </a:spcBef>
              <a:spcAft>
                <a:spcPct val="0"/>
              </a:spcAft>
              <a:defRPr/>
            </a:pPr>
            <a:fld id="{05BF0AF8-29E6-4359-90B8-9F2CBF696251}" type="slidenum">
              <a:rPr lang="en-AU" smtClean="0"/>
              <a:pPr fontAlgn="base">
                <a:spcBef>
                  <a:spcPct val="0"/>
                </a:spcBef>
                <a:spcAft>
                  <a:spcPct val="0"/>
                </a:spcAft>
                <a:defRPr/>
              </a:pPr>
              <a:t>7</a:t>
            </a:fld>
            <a:endParaRPr lang="en-AU" smtClean="0"/>
          </a:p>
        </p:txBody>
      </p:sp>
    </p:spTree>
    <p:extLst>
      <p:ext uri="{BB962C8B-B14F-4D97-AF65-F5344CB8AC3E}">
        <p14:creationId xmlns:p14="http://schemas.microsoft.com/office/powerpoint/2010/main" val="39266770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AU" altLang="en-US" dirty="0" smtClean="0"/>
              <a:t>There were many problems of colonial life that prevented Australia’s progress.  It was these issues that led people to start thinking about ways to </a:t>
            </a:r>
            <a:r>
              <a:rPr lang="en-AU" altLang="en-US" b="1" dirty="0" smtClean="0"/>
              <a:t>(Click) </a:t>
            </a:r>
            <a:r>
              <a:rPr lang="en-AU" altLang="en-US" dirty="0" smtClean="0"/>
              <a:t>solve problems or remove these colonial barriers. </a:t>
            </a:r>
          </a:p>
        </p:txBody>
      </p:sp>
      <p:sp>
        <p:nvSpPr>
          <p:cNvPr id="9220" name="Slide Number Placeholder 3"/>
          <p:cNvSpPr>
            <a:spLocks noGrp="1"/>
          </p:cNvSpPr>
          <p:nvPr>
            <p:ph type="sldNum" sz="quarter" idx="5"/>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defRPr/>
            </a:pPr>
            <a:fld id="{1EF64C19-E71B-460A-865C-9CB48CF29A70}" type="slidenum">
              <a:rPr lang="en-AU" smtClean="0">
                <a:solidFill>
                  <a:prstClr val="black"/>
                </a:solidFill>
              </a:rPr>
              <a:pPr>
                <a:defRPr/>
              </a:pPr>
              <a:t>8</a:t>
            </a:fld>
            <a:endParaRPr lang="en-AU" smtClean="0">
              <a:solidFill>
                <a:prstClr val="black"/>
              </a:solidFill>
            </a:endParaRPr>
          </a:p>
        </p:txBody>
      </p:sp>
    </p:spTree>
    <p:extLst>
      <p:ext uri="{BB962C8B-B14F-4D97-AF65-F5344CB8AC3E}">
        <p14:creationId xmlns:p14="http://schemas.microsoft.com/office/powerpoint/2010/main" val="40846815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AU" altLang="en-US" b="1" dirty="0" smtClean="0"/>
              <a:t>(Click) </a:t>
            </a:r>
            <a:r>
              <a:rPr lang="en-AU" altLang="en-US" dirty="0" smtClean="0"/>
              <a:t>This was the beginning of a long debate that eventually led to Australia’s Federation. </a:t>
            </a:r>
          </a:p>
          <a:p>
            <a:endParaRPr lang="en-AU" dirty="0"/>
          </a:p>
        </p:txBody>
      </p:sp>
      <p:sp>
        <p:nvSpPr>
          <p:cNvPr id="4" name="Slide Number Placeholder 3"/>
          <p:cNvSpPr>
            <a:spLocks noGrp="1"/>
          </p:cNvSpPr>
          <p:nvPr>
            <p:ph type="sldNum" sz="quarter" idx="10"/>
          </p:nvPr>
        </p:nvSpPr>
        <p:spPr/>
        <p:txBody>
          <a:bodyPr/>
          <a:lstStyle/>
          <a:p>
            <a:pPr>
              <a:defRPr/>
            </a:pPr>
            <a:fld id="{9F3AA948-FE4A-46F6-8B7F-F694830E61D7}" type="slidenum">
              <a:rPr lang="en-AU" smtClean="0"/>
              <a:pPr>
                <a:defRPr/>
              </a:pPr>
              <a:t>9</a:t>
            </a:fld>
            <a:endParaRPr lang="en-AU"/>
          </a:p>
        </p:txBody>
      </p:sp>
    </p:spTree>
    <p:extLst>
      <p:ext uri="{BB962C8B-B14F-4D97-AF65-F5344CB8AC3E}">
        <p14:creationId xmlns:p14="http://schemas.microsoft.com/office/powerpoint/2010/main" val="25815726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AU" altLang="en-US" smtClean="0"/>
          </a:p>
        </p:txBody>
      </p:sp>
      <p:sp>
        <p:nvSpPr>
          <p:cNvPr id="4" name="Slide Number Placeholder 3"/>
          <p:cNvSpPr>
            <a:spLocks noGrp="1"/>
          </p:cNvSpPr>
          <p:nvPr>
            <p:ph type="sldNum" sz="quarter" idx="5"/>
          </p:nvPr>
        </p:nvSpPr>
        <p:spPr/>
        <p:txBody>
          <a:bodyPr/>
          <a:lstStyle/>
          <a:p>
            <a:pPr>
              <a:defRPr/>
            </a:pPr>
            <a:fld id="{64DDE8AC-DCA5-4E0B-AC78-C951B0026A84}" type="slidenum">
              <a:rPr lang="en-AU" smtClean="0"/>
              <a:pPr>
                <a:defRPr/>
              </a:pPr>
              <a:t>10</a:t>
            </a:fld>
            <a:endParaRPr lang="en-AU"/>
          </a:p>
        </p:txBody>
      </p:sp>
    </p:spTree>
    <p:extLst>
      <p:ext uri="{BB962C8B-B14F-4D97-AF65-F5344CB8AC3E}">
        <p14:creationId xmlns:p14="http://schemas.microsoft.com/office/powerpoint/2010/main" val="28021303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smtClean="0"/>
              <a:t>Click to edit Master title style</a:t>
            </a:r>
            <a:endParaRPr lang="en-AU"/>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AU"/>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fld id="{84D3E6BA-48FF-4314-8854-55892ACF300B}" type="datetimeFigureOut">
              <a:rPr lang="en-AU"/>
              <a:pPr>
                <a:defRPr/>
              </a:pPr>
              <a:t>21/07/2017</a:t>
            </a:fld>
            <a:endParaRPr lang="en-AU"/>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AU" dirty="0"/>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E0FD7A08-6248-4B67-9C57-5D4C92EF952F}" type="slidenum">
              <a:rPr lang="en-AU"/>
              <a:pPr>
                <a:defRPr/>
              </a:pPr>
              <a:t>‹#›</a:t>
            </a:fld>
            <a:endParaRPr lang="en-AU"/>
          </a:p>
        </p:txBody>
      </p:sp>
    </p:spTree>
    <p:extLst>
      <p:ext uri="{BB962C8B-B14F-4D97-AF65-F5344CB8AC3E}">
        <p14:creationId xmlns:p14="http://schemas.microsoft.com/office/powerpoint/2010/main" val="2869278157"/>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6632"/>
            <a:ext cx="8229600" cy="922114"/>
          </a:xfrm>
          <a:prstGeom prst="rect">
            <a:avLst/>
          </a:prstGeom>
        </p:spPr>
        <p:txBody>
          <a:bodyPr/>
          <a:lstStyle/>
          <a:p>
            <a:r>
              <a:rPr lang="en-US" dirty="0" smtClean="0"/>
              <a:t>Click to edit Master title style</a:t>
            </a:r>
            <a:endParaRPr lang="en-AU" dirty="0"/>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fld id="{48CA9345-379D-4C27-9CAB-70166932A269}" type="datetimeFigureOut">
              <a:rPr lang="en-AU"/>
              <a:pPr>
                <a:defRPr/>
              </a:pPr>
              <a:t>21/07/2017</a:t>
            </a:fld>
            <a:endParaRPr lang="en-AU"/>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AU"/>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A5EC2495-5242-49A8-9EA2-F4D1977E7B88}" type="slidenum">
              <a:rPr lang="en-AU"/>
              <a:pPr>
                <a:defRPr/>
              </a:pPr>
              <a:t>‹#›</a:t>
            </a:fld>
            <a:endParaRPr lang="en-AU"/>
          </a:p>
        </p:txBody>
      </p:sp>
    </p:spTree>
    <p:extLst>
      <p:ext uri="{BB962C8B-B14F-4D97-AF65-F5344CB8AC3E}">
        <p14:creationId xmlns:p14="http://schemas.microsoft.com/office/powerpoint/2010/main" val="3343908862"/>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smtClean="0"/>
              <a:t>Click to edit Master title style</a:t>
            </a:r>
            <a:endParaRPr lang="en-AU"/>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fld id="{4449107D-F00F-4AA4-9B6D-41CC8FA89C07}" type="datetimeFigureOut">
              <a:rPr lang="en-AU"/>
              <a:pPr>
                <a:defRPr/>
              </a:pPr>
              <a:t>21/07/2017</a:t>
            </a:fld>
            <a:endParaRPr lang="en-AU"/>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AU"/>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7354DB9F-AE6E-49CC-BC53-980F9BFBA147}" type="slidenum">
              <a:rPr lang="en-AU"/>
              <a:pPr>
                <a:defRPr/>
              </a:pPr>
              <a:t>‹#›</a:t>
            </a:fld>
            <a:endParaRPr lang="en-AU"/>
          </a:p>
        </p:txBody>
      </p:sp>
    </p:spTree>
    <p:extLst>
      <p:ext uri="{BB962C8B-B14F-4D97-AF65-F5344CB8AC3E}">
        <p14:creationId xmlns:p14="http://schemas.microsoft.com/office/powerpoint/2010/main" val="15983455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22337"/>
          </a:xfrm>
          <a:prstGeom prst="rect">
            <a:avLst/>
          </a:prstGeom>
        </p:spPr>
        <p:txBody>
          <a:bodyPr/>
          <a:lstStyle/>
          <a:p>
            <a:r>
              <a:rPr lang="en-US" smtClean="0"/>
              <a:t>Click to edit Master title style</a:t>
            </a:r>
            <a:endParaRPr lang="en-AU"/>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fld id="{62CECB43-A6D5-4C3D-BBEB-DEE425AF7A63}" type="datetimeFigureOut">
              <a:rPr lang="en-AU"/>
              <a:pPr>
                <a:defRPr/>
              </a:pPr>
              <a:t>21/07/2017</a:t>
            </a:fld>
            <a:endParaRPr lang="en-AU"/>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AU"/>
          </a:p>
        </p:txBody>
      </p:sp>
      <p:sp>
        <p:nvSpPr>
          <p:cNvPr id="7"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84C0547B-4BCC-4D7B-86CE-1DC63CF5726E}" type="slidenum">
              <a:rPr lang="en-AU"/>
              <a:pPr>
                <a:defRPr/>
              </a:pPr>
              <a:t>‹#›</a:t>
            </a:fld>
            <a:endParaRPr lang="en-AU"/>
          </a:p>
        </p:txBody>
      </p:sp>
    </p:spTree>
    <p:extLst>
      <p:ext uri="{BB962C8B-B14F-4D97-AF65-F5344CB8AC3E}">
        <p14:creationId xmlns:p14="http://schemas.microsoft.com/office/powerpoint/2010/main" val="26106170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22337"/>
          </a:xfrm>
          <a:prstGeom prst="rect">
            <a:avLst/>
          </a:prstGeom>
        </p:spPr>
        <p:txBody>
          <a:bodyPr/>
          <a:lstStyle>
            <a:lvl1pPr>
              <a:defRPr/>
            </a:lvl1pPr>
          </a:lstStyle>
          <a:p>
            <a:r>
              <a:rPr lang="en-US" smtClean="0"/>
              <a:t>Click to edit Master title style</a:t>
            </a:r>
            <a:endParaRPr lang="en-AU"/>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fld id="{319CA56E-2151-48B9-838A-316CF51F2A64}" type="datetimeFigureOut">
              <a:rPr lang="en-AU"/>
              <a:pPr>
                <a:defRPr/>
              </a:pPr>
              <a:t>21/07/2017</a:t>
            </a:fld>
            <a:endParaRPr lang="en-AU"/>
          </a:p>
        </p:txBody>
      </p:sp>
      <p:sp>
        <p:nvSpPr>
          <p:cNvPr id="8"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AU"/>
          </a:p>
        </p:txBody>
      </p:sp>
      <p:sp>
        <p:nvSpPr>
          <p:cNvPr id="9"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241B0A02-ED4F-429F-A666-AF6586B984B5}" type="slidenum">
              <a:rPr lang="en-AU"/>
              <a:pPr>
                <a:defRPr/>
              </a:pPr>
              <a:t>‹#›</a:t>
            </a:fld>
            <a:endParaRPr lang="en-AU"/>
          </a:p>
        </p:txBody>
      </p:sp>
    </p:spTree>
    <p:extLst>
      <p:ext uri="{BB962C8B-B14F-4D97-AF65-F5344CB8AC3E}">
        <p14:creationId xmlns:p14="http://schemas.microsoft.com/office/powerpoint/2010/main" val="24185703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22337"/>
          </a:xfrm>
          <a:prstGeom prst="rect">
            <a:avLst/>
          </a:prstGeom>
        </p:spPr>
        <p:txBody>
          <a:bodyPr/>
          <a:lstStyle/>
          <a:p>
            <a:r>
              <a:rPr lang="en-US" smtClean="0"/>
              <a:t>Click to edit Master title style</a:t>
            </a:r>
            <a:endParaRPr lang="en-AU"/>
          </a:p>
        </p:txBody>
      </p:sp>
      <p:sp>
        <p:nvSpPr>
          <p:cNvPr id="3"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fld id="{CC0189F0-1919-40A6-AD0E-BD9B95809E4E}" type="datetimeFigureOut">
              <a:rPr lang="en-AU"/>
              <a:pPr>
                <a:defRPr/>
              </a:pPr>
              <a:t>21/07/2017</a:t>
            </a:fld>
            <a:endParaRPr lang="en-AU"/>
          </a:p>
        </p:txBody>
      </p:sp>
      <p:sp>
        <p:nvSpPr>
          <p:cNvPr id="4"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AU"/>
          </a:p>
        </p:txBody>
      </p:sp>
      <p:sp>
        <p:nvSpPr>
          <p:cNvPr id="5"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B5C37713-FF21-4328-AFF2-60BB14D32D18}" type="slidenum">
              <a:rPr lang="en-AU"/>
              <a:pPr>
                <a:defRPr/>
              </a:pPr>
              <a:t>‹#›</a:t>
            </a:fld>
            <a:endParaRPr lang="en-AU"/>
          </a:p>
        </p:txBody>
      </p:sp>
    </p:spTree>
    <p:extLst>
      <p:ext uri="{BB962C8B-B14F-4D97-AF65-F5344CB8AC3E}">
        <p14:creationId xmlns:p14="http://schemas.microsoft.com/office/powerpoint/2010/main" val="19086261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fld id="{C042806D-103C-403A-8242-A70A116606CB}" type="datetimeFigureOut">
              <a:rPr lang="en-AU"/>
              <a:pPr>
                <a:defRPr/>
              </a:pPr>
              <a:t>21/07/2017</a:t>
            </a:fld>
            <a:endParaRPr lang="en-AU"/>
          </a:p>
        </p:txBody>
      </p:sp>
      <p:sp>
        <p:nvSpPr>
          <p:cNvPr id="3"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AU"/>
          </a:p>
        </p:txBody>
      </p:sp>
      <p:sp>
        <p:nvSpPr>
          <p:cNvPr id="4"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3908DBA5-55F7-4A14-B4E0-01AABFA75676}" type="slidenum">
              <a:rPr lang="en-AU"/>
              <a:pPr>
                <a:defRPr/>
              </a:pPr>
              <a:t>‹#›</a:t>
            </a:fld>
            <a:endParaRPr lang="en-AU"/>
          </a:p>
        </p:txBody>
      </p:sp>
    </p:spTree>
    <p:extLst>
      <p:ext uri="{BB962C8B-B14F-4D97-AF65-F5344CB8AC3E}">
        <p14:creationId xmlns:p14="http://schemas.microsoft.com/office/powerpoint/2010/main" val="18170738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smtClean="0"/>
              <a:t>Click to edit Master title style</a:t>
            </a:r>
            <a:endParaRPr lang="en-AU"/>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fld id="{B5858796-4F0C-43D0-B84D-DC274FEB5B20}" type="datetimeFigureOut">
              <a:rPr lang="en-AU"/>
              <a:pPr>
                <a:defRPr/>
              </a:pPr>
              <a:t>21/07/2017</a:t>
            </a:fld>
            <a:endParaRPr lang="en-AU"/>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AU"/>
          </a:p>
        </p:txBody>
      </p:sp>
      <p:sp>
        <p:nvSpPr>
          <p:cNvPr id="7"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1F050AEB-E3EA-4B4C-84C0-772B13D1DF20}" type="slidenum">
              <a:rPr lang="en-AU"/>
              <a:pPr>
                <a:defRPr/>
              </a:pPr>
              <a:t>‹#›</a:t>
            </a:fld>
            <a:endParaRPr lang="en-AU"/>
          </a:p>
        </p:txBody>
      </p:sp>
    </p:spTree>
    <p:extLst>
      <p:ext uri="{BB962C8B-B14F-4D97-AF65-F5344CB8AC3E}">
        <p14:creationId xmlns:p14="http://schemas.microsoft.com/office/powerpoint/2010/main" val="9213032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smtClean="0"/>
              <a:t>Click to edit Master title style</a:t>
            </a:r>
            <a:endParaRPr lang="en-AU"/>
          </a:p>
        </p:txBody>
      </p:sp>
      <p:sp>
        <p:nvSpPr>
          <p:cNvPr id="3" name="Picture Placeholder 2"/>
          <p:cNvSpPr>
            <a:spLocks noGrp="1"/>
          </p:cNvSpPr>
          <p:nvPr>
            <p:ph type="pic" idx="1"/>
          </p:nvPr>
        </p:nvSpPr>
        <p:spPr>
          <a:xfrm>
            <a:off x="1792288" y="612775"/>
            <a:ext cx="5486400" cy="4114800"/>
          </a:xfrm>
          <a:prstGeom prst="rect">
            <a:avLst/>
          </a:prstGeo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AU" noProof="0" smtClean="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fld id="{52FEBF04-1B09-4952-930E-8B2AF9852F3E}" type="datetimeFigureOut">
              <a:rPr lang="en-AU"/>
              <a:pPr>
                <a:defRPr/>
              </a:pPr>
              <a:t>21/07/2017</a:t>
            </a:fld>
            <a:endParaRPr lang="en-AU"/>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AU"/>
          </a:p>
        </p:txBody>
      </p:sp>
      <p:sp>
        <p:nvSpPr>
          <p:cNvPr id="7"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8A4DDEF4-7287-4195-A903-3E36CCB5DDEA}" type="slidenum">
              <a:rPr lang="en-AU"/>
              <a:pPr>
                <a:defRPr/>
              </a:pPr>
              <a:t>‹#›</a:t>
            </a:fld>
            <a:endParaRPr lang="en-AU"/>
          </a:p>
        </p:txBody>
      </p:sp>
    </p:spTree>
    <p:extLst>
      <p:ext uri="{BB962C8B-B14F-4D97-AF65-F5344CB8AC3E}">
        <p14:creationId xmlns:p14="http://schemas.microsoft.com/office/powerpoint/2010/main" val="40365471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22337"/>
          </a:xfrm>
          <a:prstGeom prst="rect">
            <a:avLst/>
          </a:prstGeom>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fld id="{B871F584-DA68-4A48-BAA9-F73450C8B2D5}" type="datetimeFigureOut">
              <a:rPr lang="en-AU"/>
              <a:pPr>
                <a:defRPr/>
              </a:pPr>
              <a:t>21/07/2017</a:t>
            </a:fld>
            <a:endParaRPr lang="en-AU"/>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AU"/>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8F535944-9F9E-4264-B79A-333906AB7817}" type="slidenum">
              <a:rPr lang="en-AU"/>
              <a:pPr>
                <a:defRPr/>
              </a:pPr>
              <a:t>‹#›</a:t>
            </a:fld>
            <a:endParaRPr lang="en-AU"/>
          </a:p>
        </p:txBody>
      </p:sp>
    </p:spTree>
    <p:extLst>
      <p:ext uri="{BB962C8B-B14F-4D97-AF65-F5344CB8AC3E}">
        <p14:creationId xmlns:p14="http://schemas.microsoft.com/office/powerpoint/2010/main" val="174119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fld id="{0098EF1F-357B-4E6B-B276-CA27CAF55B23}" type="datetimeFigureOut">
              <a:rPr lang="en-AU"/>
              <a:pPr>
                <a:defRPr/>
              </a:pPr>
              <a:t>21/07/2017</a:t>
            </a:fld>
            <a:endParaRPr lang="en-AU"/>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AU"/>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lvl1pPr>
              <a:defRPr/>
            </a:lvl1pPr>
          </a:lstStyle>
          <a:p>
            <a:pPr>
              <a:defRPr/>
            </a:pPr>
            <a:fld id="{D3FE0172-3025-4471-88CE-9401E1649A04}" type="slidenum">
              <a:rPr lang="en-AU"/>
              <a:pPr>
                <a:defRPr/>
              </a:pPr>
              <a:t>‹#›</a:t>
            </a:fld>
            <a:endParaRPr lang="en-AU"/>
          </a:p>
        </p:txBody>
      </p:sp>
    </p:spTree>
    <p:extLst>
      <p:ext uri="{BB962C8B-B14F-4D97-AF65-F5344CB8AC3E}">
        <p14:creationId xmlns:p14="http://schemas.microsoft.com/office/powerpoint/2010/main" val="87877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tileRect/>
        </a:gradFill>
        <a:effectLst/>
      </p:bgPr>
    </p:bg>
    <p:spTree>
      <p:nvGrpSpPr>
        <p:cNvPr id="1" name=""/>
        <p:cNvGrpSpPr/>
        <p:nvPr/>
      </p:nvGrpSpPr>
      <p:grpSpPr>
        <a:xfrm>
          <a:off x="0" y="0"/>
          <a:ext cx="0" cy="0"/>
          <a:chOff x="0" y="0"/>
          <a:chExt cx="0" cy="0"/>
        </a:xfrm>
      </p:grpSpPr>
      <p:sp>
        <p:nvSpPr>
          <p:cNvPr id="8" name="Rectangle 7"/>
          <p:cNvSpPr/>
          <p:nvPr userDrawn="1"/>
        </p:nvSpPr>
        <p:spPr>
          <a:xfrm>
            <a:off x="9938" y="6689882"/>
            <a:ext cx="1940280" cy="184666"/>
          </a:xfrm>
          <a:prstGeom prst="rect">
            <a:avLst/>
          </a:prstGeom>
        </p:spPr>
        <p:txBody>
          <a:bodyPr wrap="square">
            <a:spAutoFit/>
          </a:bodyPr>
          <a:lstStyle/>
          <a:p>
            <a:pPr algn="l" rtl="0">
              <a:spcAft>
                <a:spcPts val="200"/>
              </a:spcAft>
            </a:pPr>
            <a:r>
              <a:rPr lang="en-US" sz="600" b="0" i="0" u="none" strike="noStrike" kern="1200" baseline="0" dirty="0" smtClean="0">
                <a:solidFill>
                  <a:srgbClr val="000000"/>
                </a:solidFill>
                <a:latin typeface="Arial"/>
                <a:ea typeface="+mn-ea"/>
                <a:cs typeface="Arial"/>
              </a:rPr>
              <a:t>His_Y06_U1_SS_ProbCollLife</a:t>
            </a:r>
          </a:p>
        </p:txBody>
      </p:sp>
      <p:pic>
        <p:nvPicPr>
          <p:cNvPr id="9" name="Picture 8"/>
          <p:cNvPicPr>
            <a:picLocks noChangeAspect="1"/>
          </p:cNvPicPr>
          <p:nvPr userDrawn="1"/>
        </p:nvPicPr>
        <p:blipFill>
          <a:blip r:embed="rId13" cstate="email">
            <a:extLst>
              <a:ext uri="{28A0092B-C50C-407E-A947-70E740481C1C}">
                <a14:useLocalDpi xmlns:a14="http://schemas.microsoft.com/office/drawing/2010/main"/>
              </a:ext>
            </a:extLst>
          </a:blip>
          <a:stretch>
            <a:fillRect/>
          </a:stretch>
        </p:blipFill>
        <p:spPr>
          <a:xfrm>
            <a:off x="7717239" y="6503155"/>
            <a:ext cx="1356360" cy="236220"/>
          </a:xfrm>
          <a:prstGeom prst="rect">
            <a:avLst/>
          </a:prstGeom>
        </p:spPr>
      </p:pic>
      <p:pic>
        <p:nvPicPr>
          <p:cNvPr id="6" name="Picture 7" descr="C2CIcon.png"/>
          <p:cNvPicPr>
            <a:picLocks noChangeAspect="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114017" y="6505732"/>
            <a:ext cx="423863" cy="184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 descr="../../../../../../../../Volumes/Data/Coredata/DevArea/C2C/ePublishing/Templates/logos/20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3578508" y="6597352"/>
            <a:ext cx="1719220" cy="208052"/>
          </a:xfrm>
          <a:prstGeom prst="rect">
            <a:avLst/>
          </a:prstGeom>
          <a:noFill/>
          <a:ln>
            <a:noFill/>
          </a:ln>
        </p:spPr>
      </p:pic>
    </p:spTree>
  </p:cSld>
  <p:clrMap bg1="lt1" tx1="dk1" bg2="lt2" tx2="dk2" accent1="accent1" accent2="accent2" accent3="accent3" accent4="accent4" accent5="accent5" accent6="accent6" hlink="hlink" folHlink="folHlink"/>
  <p:sldLayoutIdLst>
    <p:sldLayoutId id="2147484035" r:id="rId1"/>
    <p:sldLayoutId id="2147484036" r:id="rId2"/>
    <p:sldLayoutId id="2147484037" r:id="rId3"/>
    <p:sldLayoutId id="2147484038" r:id="rId4"/>
    <p:sldLayoutId id="2147484039" r:id="rId5"/>
    <p:sldLayoutId id="2147484040" r:id="rId6"/>
    <p:sldLayoutId id="2147484041" r:id="rId7"/>
    <p:sldLayoutId id="2147484042" r:id="rId8"/>
    <p:sldLayoutId id="2147484043" r:id="rId9"/>
    <p:sldLayoutId id="2147484044" r:id="rId10"/>
    <p:sldLayoutId id="2147484045" r:id="rId11"/>
  </p:sldLayoutIdLst>
  <p:timing>
    <p:tnLst>
      <p:par>
        <p:cTn id="1" dur="indefinite" restart="never" nodeType="tmRoot"/>
      </p:par>
    </p:tnLst>
  </p:timing>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8.jpe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0.jpeg"/></Relationships>
</file>

<file path=ppt/slides/_rels/slide5.xml.rels><?xml version="1.0" encoding="UTF-8" standalone="yes"?>
<Relationships xmlns="http://schemas.openxmlformats.org/package/2006/relationships"><Relationship Id="rId3" Type="http://schemas.openxmlformats.org/officeDocument/2006/relationships/image" Target="../media/image11.jpeg"/><Relationship Id="rId7" Type="http://schemas.openxmlformats.org/officeDocument/2006/relationships/image" Target="../media/image15.jpe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7.jpeg"/></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20.jpeg"/><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Title 1"/>
          <p:cNvSpPr>
            <a:spLocks noGrp="1"/>
          </p:cNvSpPr>
          <p:nvPr>
            <p:ph type="ctrTitle"/>
          </p:nvPr>
        </p:nvSpPr>
        <p:spPr>
          <a:xfrm>
            <a:off x="-26318" y="0"/>
            <a:ext cx="9175601" cy="1224136"/>
          </a:xfrm>
          <a:extLst>
            <a:ext uri="{91240B29-F687-4F45-9708-019B960494DF}">
              <a14:hiddenLine xmlns:a14="http://schemas.microsoft.com/office/drawing/2010/main" w="57150">
                <a:solidFill>
                  <a:srgbClr val="000000"/>
                </a:solidFill>
                <a:miter lim="800000"/>
                <a:headEnd/>
                <a:tailEnd/>
              </a14:hiddenLine>
            </a:ext>
          </a:extLst>
        </p:spPr>
        <p:txBody>
          <a:bodyPr/>
          <a:lstStyle/>
          <a:p>
            <a:pPr eaLnBrk="1" hangingPunct="1"/>
            <a:r>
              <a:rPr lang="en-AU" altLang="en-US" sz="5400" b="1" dirty="0" smtClean="0">
                <a:solidFill>
                  <a:schemeClr val="bg1"/>
                </a:solidFill>
                <a:effectLst>
                  <a:outerShdw blurRad="38100" dist="38100" dir="2700000" algn="tl">
                    <a:srgbClr val="000000">
                      <a:alpha val="43137"/>
                    </a:srgbClr>
                  </a:outerShdw>
                </a:effectLst>
              </a:rPr>
              <a:t>Problems of colonial life</a:t>
            </a:r>
          </a:p>
        </p:txBody>
      </p:sp>
      <p:sp>
        <p:nvSpPr>
          <p:cNvPr id="3" name="Subtitle 2"/>
          <p:cNvSpPr>
            <a:spLocks noGrp="1"/>
          </p:cNvSpPr>
          <p:nvPr>
            <p:ph type="subTitle" idx="1"/>
          </p:nvPr>
        </p:nvSpPr>
        <p:spPr>
          <a:xfrm>
            <a:off x="0" y="5497339"/>
            <a:ext cx="9144000" cy="504056"/>
          </a:xfrm>
        </p:spPr>
        <p:txBody>
          <a:bodyPr/>
          <a:lstStyle/>
          <a:p>
            <a:pPr>
              <a:defRPr/>
            </a:pPr>
            <a:r>
              <a:rPr lang="en-AU" altLang="en-US" b="1" dirty="0">
                <a:solidFill>
                  <a:schemeClr val="tx1"/>
                </a:solidFill>
                <a:effectLst>
                  <a:outerShdw blurRad="38100" dist="38100" dir="2700000" algn="tl">
                    <a:srgbClr val="000000">
                      <a:alpha val="43137"/>
                    </a:srgbClr>
                  </a:outerShdw>
                </a:effectLst>
                <a:ea typeface="+mj-ea"/>
                <a:cs typeface="+mj-cs"/>
              </a:rPr>
              <a:t>Australia in the 19th century</a:t>
            </a:r>
            <a:endParaRPr lang="en-AU" b="1" dirty="0">
              <a:solidFill>
                <a:schemeClr val="tx1"/>
              </a:solidFill>
              <a:effectLst>
                <a:outerShdw blurRad="38100" dist="38100" dir="2700000" algn="tl">
                  <a:srgbClr val="000000">
                    <a:alpha val="43137"/>
                  </a:srgbClr>
                </a:outerShdw>
              </a:effectLst>
              <a:ea typeface="+mj-ea"/>
              <a:cs typeface="+mj-cs"/>
            </a:endParaRPr>
          </a:p>
        </p:txBody>
      </p:sp>
      <p:grpSp>
        <p:nvGrpSpPr>
          <p:cNvPr id="4" name="Group 3"/>
          <p:cNvGrpSpPr/>
          <p:nvPr/>
        </p:nvGrpSpPr>
        <p:grpSpPr>
          <a:xfrm>
            <a:off x="1763688" y="908720"/>
            <a:ext cx="5616624" cy="4525471"/>
            <a:chOff x="1763688" y="1268760"/>
            <a:chExt cx="5616624" cy="4525471"/>
          </a:xfrm>
        </p:grpSpPr>
        <p:pic>
          <p:nvPicPr>
            <p:cNvPr id="14341" name="Picture 4"/>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1926878" y="1268760"/>
              <a:ext cx="5370596" cy="4248472"/>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1763688" y="5517232"/>
              <a:ext cx="5616624" cy="276999"/>
            </a:xfrm>
            <a:prstGeom prst="rect">
              <a:avLst/>
            </a:prstGeom>
            <a:noFill/>
          </p:spPr>
          <p:txBody>
            <a:bodyPr wrap="square" rtlCol="0">
              <a:spAutoFit/>
            </a:bodyPr>
            <a:lstStyle/>
            <a:p>
              <a:pPr algn="ctr"/>
              <a:r>
                <a:rPr lang="en-AU" sz="1200" dirty="0" smtClean="0"/>
                <a:t>Political cartoon from </a:t>
              </a:r>
              <a:r>
                <a:rPr lang="en-AU" sz="1200" i="1" dirty="0" smtClean="0"/>
                <a:t>The Argus</a:t>
              </a:r>
              <a:r>
                <a:rPr lang="en-AU" sz="1200" dirty="0" smtClean="0"/>
                <a:t> newspaper, Melbourne, 1898</a:t>
              </a:r>
              <a:endParaRPr lang="en-AU" sz="1200" dirty="0"/>
            </a:p>
          </p:txBody>
        </p:sp>
      </p:grpSp>
      <p:sp>
        <p:nvSpPr>
          <p:cNvPr id="8" name="TextBox 7"/>
          <p:cNvSpPr txBox="1"/>
          <p:nvPr/>
        </p:nvSpPr>
        <p:spPr>
          <a:xfrm>
            <a:off x="0" y="5788400"/>
            <a:ext cx="1346479" cy="522433"/>
          </a:xfrm>
          <a:prstGeom prst="rect">
            <a:avLst/>
          </a:prstGeom>
          <a:solidFill>
            <a:srgbClr val="C00000"/>
          </a:solidFill>
          <a:ln>
            <a:noFill/>
          </a:ln>
          <a:effectLst>
            <a:outerShdw blurRad="50800" dist="38100" dir="8100000" algn="tr" rotWithShape="0">
              <a:prstClr val="black">
                <a:alpha val="40000"/>
              </a:prstClr>
            </a:outerShdw>
          </a:effectLst>
        </p:spPr>
        <p:style>
          <a:lnRef idx="2">
            <a:schemeClr val="accent5"/>
          </a:lnRef>
          <a:fillRef idx="1">
            <a:schemeClr val="lt1"/>
          </a:fillRef>
          <a:effectRef idx="0">
            <a:schemeClr val="accent5"/>
          </a:effectRef>
          <a:fontRef idx="minor">
            <a:schemeClr val="dk1"/>
          </a:fontRef>
        </p:style>
        <p:txBody>
          <a:bodyPr wrap="square" lIns="72000" tIns="72000" rIns="72000" bIns="72000" rtlCol="0">
            <a:spAutoFit/>
          </a:bodyPr>
          <a:lstStyle/>
          <a:p>
            <a:pPr>
              <a:spcAft>
                <a:spcPts val="300"/>
              </a:spcAft>
            </a:pPr>
            <a:r>
              <a:rPr lang="en-AU" sz="1200" dirty="0">
                <a:solidFill>
                  <a:srgbClr val="FFFFCC"/>
                </a:solidFill>
                <a:latin typeface="Calibri" panose="020F0502020204030204" pitchFamily="34" charset="0"/>
                <a:cs typeface="Arial" panose="020B0604020202020204" pitchFamily="34" charset="0"/>
              </a:rPr>
              <a:t>Teacher Tip</a:t>
            </a:r>
          </a:p>
          <a:p>
            <a:pPr>
              <a:spcAft>
                <a:spcPts val="300"/>
              </a:spcAft>
            </a:pPr>
            <a:r>
              <a:rPr lang="en-AU" sz="1000" dirty="0" smtClean="0">
                <a:solidFill>
                  <a:srgbClr val="FFFFCC"/>
                </a:solidFill>
                <a:latin typeface="Calibri" panose="020F0502020204030204" pitchFamily="34" charset="0"/>
                <a:cs typeface="Arial" panose="020B0604020202020204" pitchFamily="34" charset="0"/>
              </a:rPr>
              <a:t>Use </a:t>
            </a:r>
            <a:r>
              <a:rPr lang="en-AU" sz="1000" dirty="0">
                <a:solidFill>
                  <a:srgbClr val="FFFFCC"/>
                </a:solidFill>
                <a:latin typeface="Calibri" panose="020F0502020204030204" pitchFamily="34" charset="0"/>
                <a:cs typeface="Arial" panose="020B0604020202020204" pitchFamily="34" charset="0"/>
              </a:rPr>
              <a:t>slideshow </a:t>
            </a:r>
            <a:r>
              <a:rPr lang="en-AU" sz="1000" dirty="0" smtClean="0">
                <a:solidFill>
                  <a:srgbClr val="FFFFCC"/>
                </a:solidFill>
                <a:latin typeface="Calibri" panose="020F0502020204030204" pitchFamily="34" charset="0"/>
                <a:cs typeface="Arial" panose="020B0604020202020204" pitchFamily="34" charset="0"/>
              </a:rPr>
              <a:t>mode.</a:t>
            </a:r>
            <a:endParaRPr lang="en-AU" sz="1000" dirty="0">
              <a:solidFill>
                <a:srgbClr val="FFFFCC"/>
              </a:solidFill>
              <a:latin typeface="Calibri" panose="020F0502020204030204" pitchFamily="34" charset="0"/>
              <a:cs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xit"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p:cNvGrpSpPr>
            <a:grpSpLocks/>
          </p:cNvGrpSpPr>
          <p:nvPr/>
        </p:nvGrpSpPr>
        <p:grpSpPr bwMode="auto">
          <a:xfrm>
            <a:off x="4063435" y="968221"/>
            <a:ext cx="4617784" cy="4905196"/>
            <a:chOff x="3685421" y="775079"/>
            <a:chExt cx="4617226" cy="4905757"/>
          </a:xfrm>
        </p:grpSpPr>
        <p:pic>
          <p:nvPicPr>
            <p:cNvPr id="15366" name="Picture 2"/>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3685421" y="775079"/>
              <a:ext cx="4617226" cy="433739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6" name="TextBox 5"/>
            <p:cNvSpPr txBox="1"/>
            <p:nvPr/>
          </p:nvSpPr>
          <p:spPr>
            <a:xfrm>
              <a:off x="3689929" y="5157556"/>
              <a:ext cx="4612718" cy="523280"/>
            </a:xfrm>
            <a:prstGeom prst="rect">
              <a:avLst/>
            </a:prstGeom>
            <a:noFill/>
            <a:ln>
              <a:noFill/>
            </a:ln>
          </p:spPr>
          <p:style>
            <a:lnRef idx="2">
              <a:schemeClr val="accent4"/>
            </a:lnRef>
            <a:fillRef idx="1">
              <a:schemeClr val="lt1"/>
            </a:fillRef>
            <a:effectRef idx="0">
              <a:schemeClr val="accent4"/>
            </a:effectRef>
            <a:fontRef idx="minor">
              <a:schemeClr val="dk1"/>
            </a:fontRef>
          </p:style>
          <p:txBody>
            <a:bodyPr>
              <a:spAutoFit/>
            </a:bodyPr>
            <a:lstStyle/>
            <a:p>
              <a:pPr>
                <a:defRPr/>
              </a:pPr>
              <a:r>
                <a:rPr lang="en-AU" sz="1400" dirty="0"/>
                <a:t>The six separate colonies could have their laws </a:t>
              </a:r>
              <a:r>
                <a:rPr lang="en-AU" sz="1400" dirty="0" smtClean="0"/>
                <a:t>rejected</a:t>
              </a:r>
              <a:br>
                <a:rPr lang="en-AU" sz="1400" dirty="0" smtClean="0"/>
              </a:br>
              <a:r>
                <a:rPr lang="en-AU" sz="1400" dirty="0" smtClean="0"/>
                <a:t>by </a:t>
              </a:r>
              <a:r>
                <a:rPr lang="en-AU" sz="1400" dirty="0"/>
                <a:t>Britain.</a:t>
              </a:r>
            </a:p>
          </p:txBody>
        </p:sp>
      </p:grpSp>
      <p:sp>
        <p:nvSpPr>
          <p:cNvPr id="4" name="Title 3"/>
          <p:cNvSpPr>
            <a:spLocks noGrp="1"/>
          </p:cNvSpPr>
          <p:nvPr>
            <p:ph type="title"/>
          </p:nvPr>
        </p:nvSpPr>
        <p:spPr>
          <a:xfrm>
            <a:off x="0" y="193675"/>
            <a:ext cx="9144000" cy="768350"/>
          </a:xfrm>
          <a:noFill/>
          <a:ln>
            <a:noFill/>
          </a:ln>
        </p:spPr>
        <p:style>
          <a:lnRef idx="2">
            <a:schemeClr val="accent4"/>
          </a:lnRef>
          <a:fillRef idx="1">
            <a:schemeClr val="lt1"/>
          </a:fillRef>
          <a:effectRef idx="0">
            <a:schemeClr val="accent4"/>
          </a:effectRef>
          <a:fontRef idx="minor">
            <a:schemeClr val="dk1"/>
          </a:fontRef>
        </p:style>
        <p:txBody>
          <a:bodyPr wrap="square" rtlCol="0">
            <a:spAutoFit/>
          </a:bodyPr>
          <a:lstStyle/>
          <a:p>
            <a:r>
              <a:rPr lang="en-AU" b="1" dirty="0">
                <a:solidFill>
                  <a:schemeClr val="bg1"/>
                </a:solidFill>
                <a:effectLst>
                  <a:outerShdw blurRad="38100" dist="38100" dir="2700000" algn="tl">
                    <a:srgbClr val="000000">
                      <a:alpha val="43137"/>
                    </a:srgbClr>
                  </a:outerShdw>
                </a:effectLst>
              </a:rPr>
              <a:t>Government</a:t>
            </a:r>
          </a:p>
        </p:txBody>
      </p:sp>
      <p:sp>
        <p:nvSpPr>
          <p:cNvPr id="3" name="Rounded Rectangular Callout 2"/>
          <p:cNvSpPr/>
          <p:nvPr/>
        </p:nvSpPr>
        <p:spPr>
          <a:xfrm>
            <a:off x="266526" y="1700808"/>
            <a:ext cx="3455988" cy="2526709"/>
          </a:xfrm>
          <a:prstGeom prst="wedgeRoundRectCallout">
            <a:avLst>
              <a:gd name="adj1" fmla="val -3210"/>
              <a:gd name="adj2" fmla="val 50412"/>
              <a:gd name="adj3" fmla="val 16667"/>
            </a:avLst>
          </a:prstGeom>
        </p:spPr>
        <p:style>
          <a:lnRef idx="1">
            <a:schemeClr val="accent4"/>
          </a:lnRef>
          <a:fillRef idx="2">
            <a:schemeClr val="accent4"/>
          </a:fillRef>
          <a:effectRef idx="1">
            <a:schemeClr val="accent4"/>
          </a:effectRef>
          <a:fontRef idx="minor">
            <a:schemeClr val="dk1"/>
          </a:fontRef>
        </p:style>
        <p:txBody>
          <a:bodyPr anchor="ctr"/>
          <a:lstStyle/>
          <a:p>
            <a:pPr algn="ctr">
              <a:defRPr/>
            </a:pPr>
            <a:r>
              <a:rPr lang="en-AU" sz="2200" dirty="0"/>
              <a:t>In this age of high-speed internet, could you imagine waiting </a:t>
            </a:r>
            <a:r>
              <a:rPr lang="en-AU" sz="2200" b="1" dirty="0"/>
              <a:t>months </a:t>
            </a:r>
            <a:r>
              <a:rPr lang="en-AU" sz="2200" dirty="0"/>
              <a:t>for news from Britain or paying almost a week’s wages to use the telegraph system?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15" descr="Crown Clip Art"/>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2627784" y="1486049"/>
            <a:ext cx="3841750" cy="3714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1" y="193675"/>
            <a:ext cx="9144000" cy="768350"/>
          </a:xfrm>
          <a:noFill/>
          <a:ln>
            <a:noFill/>
          </a:ln>
        </p:spPr>
        <p:style>
          <a:lnRef idx="2">
            <a:schemeClr val="accent4"/>
          </a:lnRef>
          <a:fillRef idx="1">
            <a:schemeClr val="lt1"/>
          </a:fillRef>
          <a:effectRef idx="0">
            <a:schemeClr val="accent4"/>
          </a:effectRef>
          <a:fontRef idx="minor">
            <a:schemeClr val="dk1"/>
          </a:fontRef>
        </p:style>
        <p:txBody>
          <a:bodyPr wrap="square" rtlCol="0">
            <a:spAutoFit/>
          </a:bodyPr>
          <a:lstStyle/>
          <a:p>
            <a:r>
              <a:rPr lang="en-AU" b="1" dirty="0">
                <a:solidFill>
                  <a:schemeClr val="bg1"/>
                </a:solidFill>
                <a:effectLst>
                  <a:outerShdw blurRad="38100" dist="38100" dir="2700000" algn="tl">
                    <a:srgbClr val="000000">
                      <a:alpha val="43137"/>
                    </a:srgbClr>
                  </a:outerShdw>
                </a:effectLst>
              </a:rPr>
              <a:t>Employment of migrants</a:t>
            </a:r>
          </a:p>
        </p:txBody>
      </p:sp>
      <p:sp>
        <p:nvSpPr>
          <p:cNvPr id="5" name="Rounded Rectangular Callout 4"/>
          <p:cNvSpPr/>
          <p:nvPr/>
        </p:nvSpPr>
        <p:spPr>
          <a:xfrm>
            <a:off x="4489313" y="4687625"/>
            <a:ext cx="3960440" cy="1584176"/>
          </a:xfrm>
          <a:prstGeom prst="wedgeRoundRectCallout">
            <a:avLst>
              <a:gd name="adj1" fmla="val 48186"/>
              <a:gd name="adj2" fmla="val 1295"/>
              <a:gd name="adj3" fmla="val 16667"/>
            </a:avLst>
          </a:prstGeom>
        </p:spPr>
        <p:style>
          <a:lnRef idx="1">
            <a:schemeClr val="accent6"/>
          </a:lnRef>
          <a:fillRef idx="2">
            <a:schemeClr val="accent6"/>
          </a:fillRef>
          <a:effectRef idx="1">
            <a:schemeClr val="accent6"/>
          </a:effectRef>
          <a:fontRef idx="minor">
            <a:schemeClr val="dk1"/>
          </a:fontRef>
        </p:style>
        <p:txBody>
          <a:bodyPr anchor="ctr"/>
          <a:lstStyle/>
          <a:p>
            <a:pPr algn="ctr">
              <a:defRPr/>
            </a:pPr>
            <a:r>
              <a:rPr lang="en-AU" sz="2000" dirty="0"/>
              <a:t>There was tension between </a:t>
            </a:r>
            <a:r>
              <a:rPr lang="en-AU" sz="2000" dirty="0" smtClean="0"/>
              <a:t>established colonists </a:t>
            </a:r>
            <a:r>
              <a:rPr lang="en-AU" sz="2000" dirty="0"/>
              <a:t>and </a:t>
            </a:r>
            <a:r>
              <a:rPr lang="en-AU" sz="2000" dirty="0" smtClean="0"/>
              <a:t>migrant workers </a:t>
            </a:r>
            <a:r>
              <a:rPr lang="en-AU" sz="2000" dirty="0"/>
              <a:t>over access to jobs and working </a:t>
            </a:r>
            <a:r>
              <a:rPr lang="en-AU" sz="2000" dirty="0" smtClean="0"/>
              <a:t>conditions.</a:t>
            </a:r>
            <a:endParaRPr lang="en-AU" sz="2000" dirty="0"/>
          </a:p>
        </p:txBody>
      </p:sp>
      <p:grpSp>
        <p:nvGrpSpPr>
          <p:cNvPr id="7" name="Group 6"/>
          <p:cNvGrpSpPr>
            <a:grpSpLocks/>
          </p:cNvGrpSpPr>
          <p:nvPr/>
        </p:nvGrpSpPr>
        <p:grpSpPr bwMode="auto">
          <a:xfrm>
            <a:off x="364275" y="1052736"/>
            <a:ext cx="3555486" cy="4286250"/>
            <a:chOff x="151810" y="1517817"/>
            <a:chExt cx="3556094" cy="4286083"/>
          </a:xfrm>
        </p:grpSpPr>
        <p:pic>
          <p:nvPicPr>
            <p:cNvPr id="16394" name="Picture 3"/>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151810" y="1517817"/>
              <a:ext cx="3556094" cy="36399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5"/>
            <p:cNvSpPr txBox="1"/>
            <p:nvPr/>
          </p:nvSpPr>
          <p:spPr bwMode="auto">
            <a:xfrm>
              <a:off x="151810" y="5157813"/>
              <a:ext cx="3556094" cy="646087"/>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wrap="square">
              <a:spAutoFit/>
            </a:bodyPr>
            <a:lstStyle/>
            <a:p>
              <a:pPr>
                <a:defRPr/>
              </a:pPr>
              <a:r>
                <a:rPr lang="en-AU" dirty="0"/>
                <a:t>Many Chinese </a:t>
              </a:r>
              <a:r>
                <a:rPr lang="en-AU" dirty="0" smtClean="0"/>
                <a:t>migrants </a:t>
              </a:r>
              <a:r>
                <a:rPr lang="en-AU" dirty="0"/>
                <a:t>worked in the </a:t>
              </a:r>
              <a:r>
                <a:rPr lang="en-AU" dirty="0" smtClean="0"/>
                <a:t>goldfields</a:t>
              </a:r>
              <a:r>
                <a:rPr lang="en-AU" dirty="0"/>
                <a:t>.</a:t>
              </a:r>
            </a:p>
          </p:txBody>
        </p:sp>
      </p:grpSp>
      <p:grpSp>
        <p:nvGrpSpPr>
          <p:cNvPr id="4" name="Group 3"/>
          <p:cNvGrpSpPr>
            <a:grpSpLocks/>
          </p:cNvGrpSpPr>
          <p:nvPr/>
        </p:nvGrpSpPr>
        <p:grpSpPr bwMode="auto">
          <a:xfrm>
            <a:off x="4120034" y="1052736"/>
            <a:ext cx="4699000" cy="3355975"/>
            <a:chOff x="3426327" y="1249438"/>
            <a:chExt cx="4699244" cy="3356229"/>
          </a:xfrm>
        </p:grpSpPr>
        <p:pic>
          <p:nvPicPr>
            <p:cNvPr id="16392" name="Picture 14" descr=" Kanaka labourers on a Queensland pineapple plantation [picture]."/>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3426327" y="1249438"/>
              <a:ext cx="4699243" cy="27098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11"/>
            <p:cNvSpPr txBox="1"/>
            <p:nvPr/>
          </p:nvSpPr>
          <p:spPr bwMode="auto">
            <a:xfrm>
              <a:off x="3445378" y="3959505"/>
              <a:ext cx="4680193" cy="646162"/>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a:spAutoFit/>
            </a:bodyPr>
            <a:lstStyle/>
            <a:p>
              <a:pPr>
                <a:defRPr/>
              </a:pPr>
              <a:r>
                <a:rPr lang="en-AU" dirty="0"/>
                <a:t>South Sea Islanders worked on the plantations  in North Queensland.</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xit" presetSubtype="0" fill="hold" nodeType="withEffect">
                                  <p:stCondLst>
                                    <p:cond delay="0"/>
                                  </p:stCondLst>
                                  <p:childTnLst>
                                    <p:animEffect transition="out" filter="fade">
                                      <p:cBhvr>
                                        <p:cTn id="9" dur="500"/>
                                        <p:tgtEl>
                                          <p:spTgt spid="16386"/>
                                        </p:tgtEl>
                                      </p:cBhvr>
                                    </p:animEffect>
                                    <p:set>
                                      <p:cBhvr>
                                        <p:cTn id="10" dur="1" fill="hold">
                                          <p:stCondLst>
                                            <p:cond delay="499"/>
                                          </p:stCondLst>
                                        </p:cTn>
                                        <p:tgtEl>
                                          <p:spTgt spid="16386"/>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93675"/>
            <a:ext cx="9144000" cy="768350"/>
          </a:xfrm>
          <a:noFill/>
          <a:ln>
            <a:noFill/>
          </a:ln>
        </p:spPr>
        <p:style>
          <a:lnRef idx="2">
            <a:schemeClr val="accent4"/>
          </a:lnRef>
          <a:fillRef idx="1">
            <a:schemeClr val="lt1"/>
          </a:fillRef>
          <a:effectRef idx="0">
            <a:schemeClr val="accent4"/>
          </a:effectRef>
          <a:fontRef idx="minor">
            <a:schemeClr val="dk1"/>
          </a:fontRef>
        </p:style>
        <p:txBody>
          <a:bodyPr wrap="square" rtlCol="0">
            <a:spAutoFit/>
          </a:bodyPr>
          <a:lstStyle/>
          <a:p>
            <a:r>
              <a:rPr lang="en-AU" b="1" dirty="0">
                <a:solidFill>
                  <a:schemeClr val="bg1"/>
                </a:solidFill>
                <a:effectLst>
                  <a:outerShdw blurRad="38100" dist="38100" dir="2700000" algn="tl">
                    <a:srgbClr val="000000">
                      <a:alpha val="43137"/>
                    </a:srgbClr>
                  </a:outerShdw>
                </a:effectLst>
              </a:rPr>
              <a:t>Power</a:t>
            </a:r>
          </a:p>
        </p:txBody>
      </p:sp>
      <p:grpSp>
        <p:nvGrpSpPr>
          <p:cNvPr id="10" name="Group 9"/>
          <p:cNvGrpSpPr/>
          <p:nvPr/>
        </p:nvGrpSpPr>
        <p:grpSpPr>
          <a:xfrm>
            <a:off x="683568" y="1772816"/>
            <a:ext cx="4297172" cy="4190032"/>
            <a:chOff x="4183959" y="962025"/>
            <a:chExt cx="4297172" cy="4190032"/>
          </a:xfrm>
        </p:grpSpPr>
        <p:pic>
          <p:nvPicPr>
            <p:cNvPr id="5" name="Picture 13" descr="File:StateLibQld 2 295119 Sheep washing on Yandilla Station, Darling Downs, 1884.jpg"/>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4183959" y="962025"/>
              <a:ext cx="4297172" cy="335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p:cNvSpPr txBox="1"/>
            <p:nvPr/>
          </p:nvSpPr>
          <p:spPr>
            <a:xfrm>
              <a:off x="4183959" y="4321060"/>
              <a:ext cx="4297172" cy="830997"/>
            </a:xfrm>
            <a:prstGeom prst="rect">
              <a:avLst/>
            </a:prstGeom>
            <a:ln>
              <a:solidFill>
                <a:schemeClr val="bg1"/>
              </a:solidFill>
            </a:ln>
          </p:spPr>
          <p:style>
            <a:lnRef idx="2">
              <a:schemeClr val="accent5"/>
            </a:lnRef>
            <a:fillRef idx="1">
              <a:schemeClr val="lt1"/>
            </a:fillRef>
            <a:effectRef idx="0">
              <a:schemeClr val="accent5"/>
            </a:effectRef>
            <a:fontRef idx="minor">
              <a:schemeClr val="dk1"/>
            </a:fontRef>
          </p:style>
          <p:txBody>
            <a:bodyPr wrap="square">
              <a:spAutoFit/>
            </a:bodyPr>
            <a:lstStyle/>
            <a:p>
              <a:pPr>
                <a:defRPr/>
              </a:pPr>
              <a:r>
                <a:rPr lang="en-AU" sz="1600" dirty="0"/>
                <a:t>Victoria and New South Wales were wealthier than the other colonies due to farming and the discovery of gold. </a:t>
              </a:r>
            </a:p>
          </p:txBody>
        </p:sp>
      </p:grpSp>
      <p:grpSp>
        <p:nvGrpSpPr>
          <p:cNvPr id="9" name="Group 8"/>
          <p:cNvGrpSpPr/>
          <p:nvPr/>
        </p:nvGrpSpPr>
        <p:grpSpPr>
          <a:xfrm>
            <a:off x="5148064" y="1772816"/>
            <a:ext cx="3101407" cy="4594489"/>
            <a:chOff x="713492" y="951266"/>
            <a:chExt cx="3314883" cy="4989469"/>
          </a:xfrm>
        </p:grpSpPr>
        <p:pic>
          <p:nvPicPr>
            <p:cNvPr id="4" name="Picture 11" descr="File:Bernhard otto holterman with 630lb gold from Hill End.jpg"/>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713492" y="951266"/>
              <a:ext cx="3314883" cy="43544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p:cNvSpPr txBox="1"/>
            <p:nvPr/>
          </p:nvSpPr>
          <p:spPr>
            <a:xfrm>
              <a:off x="713492" y="5305688"/>
              <a:ext cx="3314883" cy="635047"/>
            </a:xfrm>
            <a:prstGeom prst="rect">
              <a:avLst/>
            </a:prstGeom>
            <a:solidFill>
              <a:schemeClr val="bg1"/>
            </a:solidFill>
          </p:spPr>
          <p:txBody>
            <a:bodyPr wrap="square" rtlCol="0">
              <a:spAutoFit/>
            </a:bodyPr>
            <a:lstStyle/>
            <a:p>
              <a:pPr algn="ctr"/>
              <a:r>
                <a:rPr lang="en-AU" sz="1600" dirty="0" smtClean="0"/>
                <a:t>Bernard Otto Holterman with 630 pounds of gold</a:t>
              </a:r>
              <a:endParaRPr lang="en-AU" sz="1600" dirty="0"/>
            </a:p>
          </p:txBody>
        </p:sp>
      </p:grpSp>
      <p:sp>
        <p:nvSpPr>
          <p:cNvPr id="7" name="Rounded Rectangular Callout 6"/>
          <p:cNvSpPr/>
          <p:nvPr/>
        </p:nvSpPr>
        <p:spPr>
          <a:xfrm>
            <a:off x="1403648" y="908720"/>
            <a:ext cx="6357477" cy="792088"/>
          </a:xfrm>
          <a:prstGeom prst="wedgeRoundRectCallout">
            <a:avLst>
              <a:gd name="adj1" fmla="val -50087"/>
              <a:gd name="adj2" fmla="val -2898"/>
              <a:gd name="adj3" fmla="val 16667"/>
            </a:avLst>
          </a:prstGeom>
        </p:spPr>
        <p:style>
          <a:lnRef idx="1">
            <a:schemeClr val="accent5"/>
          </a:lnRef>
          <a:fillRef idx="2">
            <a:schemeClr val="accent5"/>
          </a:fillRef>
          <a:effectRef idx="1">
            <a:schemeClr val="accent5"/>
          </a:effectRef>
          <a:fontRef idx="minor">
            <a:schemeClr val="dk1"/>
          </a:fontRef>
        </p:style>
        <p:txBody>
          <a:bodyPr anchor="ctr"/>
          <a:lstStyle/>
          <a:p>
            <a:pPr algn="ctr">
              <a:defRPr/>
            </a:pPr>
            <a:r>
              <a:rPr lang="en-AU" sz="2400" dirty="0"/>
              <a:t>Some colonies thought they deserved more power and influence due to their greater wealth.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p:cNvGrpSpPr/>
          <p:nvPr/>
        </p:nvGrpSpPr>
        <p:grpSpPr>
          <a:xfrm>
            <a:off x="6084888" y="1584325"/>
            <a:ext cx="2640827" cy="4553526"/>
            <a:chOff x="6084888" y="1584325"/>
            <a:chExt cx="2640827" cy="4553526"/>
          </a:xfrm>
        </p:grpSpPr>
        <p:pic>
          <p:nvPicPr>
            <p:cNvPr id="5123" name="Picture 6" descr="File:CRW 1138.jpg"/>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6084888" y="1584325"/>
              <a:ext cx="2640827" cy="3965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TextBox 21"/>
            <p:cNvSpPr txBox="1"/>
            <p:nvPr/>
          </p:nvSpPr>
          <p:spPr>
            <a:xfrm>
              <a:off x="6084888" y="5553076"/>
              <a:ext cx="2640827" cy="584775"/>
            </a:xfrm>
            <a:prstGeom prst="rect">
              <a:avLst/>
            </a:prstGeom>
            <a:ln>
              <a:solidFill>
                <a:schemeClr val="bg1"/>
              </a:solidFill>
            </a:ln>
          </p:spPr>
          <p:style>
            <a:lnRef idx="2">
              <a:schemeClr val="accent2"/>
            </a:lnRef>
            <a:fillRef idx="1">
              <a:schemeClr val="lt1"/>
            </a:fillRef>
            <a:effectRef idx="0">
              <a:schemeClr val="accent2"/>
            </a:effectRef>
            <a:fontRef idx="minor">
              <a:schemeClr val="dk1"/>
            </a:fontRef>
          </p:style>
          <p:txBody>
            <a:bodyPr wrap="square">
              <a:spAutoFit/>
            </a:bodyPr>
            <a:lstStyle/>
            <a:p>
              <a:pPr algn="ctr">
                <a:defRPr/>
              </a:pPr>
              <a:r>
                <a:rPr lang="en-AU" sz="1600" dirty="0"/>
                <a:t>There were three different rail gauges on the continent. </a:t>
              </a:r>
            </a:p>
          </p:txBody>
        </p:sp>
      </p:grpSp>
      <p:sp>
        <p:nvSpPr>
          <p:cNvPr id="3" name="Title 2"/>
          <p:cNvSpPr>
            <a:spLocks noGrp="1"/>
          </p:cNvSpPr>
          <p:nvPr>
            <p:ph type="title"/>
          </p:nvPr>
        </p:nvSpPr>
        <p:spPr>
          <a:xfrm>
            <a:off x="0" y="44624"/>
            <a:ext cx="9144000" cy="768350"/>
          </a:xfrm>
          <a:noFill/>
          <a:ln>
            <a:noFill/>
          </a:ln>
        </p:spPr>
        <p:style>
          <a:lnRef idx="2">
            <a:schemeClr val="accent4"/>
          </a:lnRef>
          <a:fillRef idx="1">
            <a:schemeClr val="lt1"/>
          </a:fillRef>
          <a:effectRef idx="0">
            <a:schemeClr val="accent4"/>
          </a:effectRef>
          <a:fontRef idx="minor">
            <a:schemeClr val="dk1"/>
          </a:fontRef>
        </p:style>
        <p:txBody>
          <a:bodyPr wrap="square" rtlCol="0">
            <a:spAutoFit/>
          </a:bodyPr>
          <a:lstStyle/>
          <a:p>
            <a:r>
              <a:rPr lang="en-AU" b="1" dirty="0">
                <a:solidFill>
                  <a:schemeClr val="bg1"/>
                </a:solidFill>
                <a:effectLst>
                  <a:outerShdw blurRad="38100" dist="38100" dir="2700000" algn="tl">
                    <a:srgbClr val="000000">
                      <a:alpha val="43137"/>
                    </a:srgbClr>
                  </a:outerShdw>
                </a:effectLst>
              </a:rPr>
              <a:t>Transport</a:t>
            </a:r>
          </a:p>
        </p:txBody>
      </p:sp>
      <p:sp>
        <p:nvSpPr>
          <p:cNvPr id="9" name="TextBox 8"/>
          <p:cNvSpPr txBox="1"/>
          <p:nvPr/>
        </p:nvSpPr>
        <p:spPr>
          <a:xfrm>
            <a:off x="1331639" y="811316"/>
            <a:ext cx="6480721" cy="461665"/>
          </a:xfrm>
          <a:prstGeom prst="rect">
            <a:avLst/>
          </a:prstGeom>
          <a:ln>
            <a:solidFill>
              <a:schemeClr val="bg1"/>
            </a:solidFill>
          </a:ln>
        </p:spPr>
        <p:style>
          <a:lnRef idx="2">
            <a:schemeClr val="accent2"/>
          </a:lnRef>
          <a:fillRef idx="1">
            <a:schemeClr val="lt1"/>
          </a:fillRef>
          <a:effectRef idx="0">
            <a:schemeClr val="accent2"/>
          </a:effectRef>
          <a:fontRef idx="minor">
            <a:schemeClr val="dk1"/>
          </a:fontRef>
        </p:style>
        <p:txBody>
          <a:bodyPr wrap="square">
            <a:spAutoFit/>
          </a:bodyPr>
          <a:lstStyle/>
          <a:p>
            <a:pPr algn="ctr">
              <a:defRPr/>
            </a:pPr>
            <a:r>
              <a:rPr lang="en-AU" sz="2400" b="1" dirty="0">
                <a:effectLst>
                  <a:outerShdw blurRad="38100" dist="38100" dir="2700000" algn="tl">
                    <a:srgbClr val="000000">
                      <a:alpha val="43137"/>
                    </a:srgbClr>
                  </a:outerShdw>
                </a:effectLst>
              </a:rPr>
              <a:t>Transport was very difficult and inefficient.  </a:t>
            </a:r>
          </a:p>
        </p:txBody>
      </p:sp>
      <p:cxnSp>
        <p:nvCxnSpPr>
          <p:cNvPr id="4" name="Straight Arrow Connector 3"/>
          <p:cNvCxnSpPr/>
          <p:nvPr/>
        </p:nvCxnSpPr>
        <p:spPr>
          <a:xfrm>
            <a:off x="6463913" y="5157192"/>
            <a:ext cx="1882775" cy="34925"/>
          </a:xfrm>
          <a:prstGeom prst="straightConnector1">
            <a:avLst/>
          </a:prstGeom>
          <a:ln w="38100">
            <a:solidFill>
              <a:srgbClr val="FFC000"/>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a:off x="6843712" y="4869160"/>
            <a:ext cx="1128713" cy="0"/>
          </a:xfrm>
          <a:prstGeom prst="straightConnector1">
            <a:avLst/>
          </a:prstGeom>
          <a:ln w="38100">
            <a:solidFill>
              <a:srgbClr val="FFFF00"/>
            </a:solidFill>
            <a:headEnd type="arrow"/>
            <a:tailEnd type="arrow"/>
          </a:ln>
        </p:spPr>
        <p:style>
          <a:lnRef idx="1">
            <a:schemeClr val="accent1"/>
          </a:lnRef>
          <a:fillRef idx="0">
            <a:schemeClr val="accent1"/>
          </a:fillRef>
          <a:effectRef idx="0">
            <a:schemeClr val="accent1"/>
          </a:effectRef>
          <a:fontRef idx="minor">
            <a:schemeClr val="tx1"/>
          </a:fontRef>
        </p:style>
      </p:cxnSp>
      <p:grpSp>
        <p:nvGrpSpPr>
          <p:cNvPr id="11" name="Group 10"/>
          <p:cNvGrpSpPr>
            <a:grpSpLocks/>
          </p:cNvGrpSpPr>
          <p:nvPr/>
        </p:nvGrpSpPr>
        <p:grpSpPr bwMode="auto">
          <a:xfrm>
            <a:off x="323529" y="2664344"/>
            <a:ext cx="5630118" cy="3732213"/>
            <a:chOff x="739699" y="2854704"/>
            <a:chExt cx="5631382" cy="3732600"/>
          </a:xfrm>
        </p:grpSpPr>
        <p:pic>
          <p:nvPicPr>
            <p:cNvPr id="18444" name="Picture 15"/>
            <p:cNvPicPr>
              <a:picLocks noChangeAspect="1"/>
            </p:cNvPicPr>
            <p:nvPr/>
          </p:nvPicPr>
          <p:blipFill>
            <a:blip r:embed="rId4" cstate="email">
              <a:extLst>
                <a:ext uri="{28A0092B-C50C-407E-A947-70E740481C1C}">
                  <a14:useLocalDpi xmlns:a14="http://schemas.microsoft.com/office/drawing/2010/main"/>
                </a:ext>
              </a:extLst>
            </a:blip>
            <a:srcRect/>
            <a:stretch>
              <a:fillRect/>
            </a:stretch>
          </p:blipFill>
          <p:spPr bwMode="auto">
            <a:xfrm>
              <a:off x="3427071" y="5409837"/>
              <a:ext cx="1216937" cy="1111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45" name="Picture 7"/>
            <p:cNvPicPr>
              <a:picLocks noChangeAspect="1" noChangeArrowheads="1"/>
            </p:cNvPicPr>
            <p:nvPr/>
          </p:nvPicPr>
          <p:blipFill>
            <a:blip r:embed="rId5" cstate="email">
              <a:extLst>
                <a:ext uri="{28A0092B-C50C-407E-A947-70E740481C1C}">
                  <a14:useLocalDpi xmlns:a14="http://schemas.microsoft.com/office/drawing/2010/main"/>
                </a:ext>
              </a:extLst>
            </a:blip>
            <a:stretch>
              <a:fillRect/>
            </a:stretch>
          </p:blipFill>
          <p:spPr bwMode="auto">
            <a:xfrm>
              <a:off x="4340906" y="2854704"/>
              <a:ext cx="1180397" cy="36706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8446" name="Picture 14"/>
            <p:cNvPicPr>
              <a:picLocks noChangeAspect="1"/>
            </p:cNvPicPr>
            <p:nvPr/>
          </p:nvPicPr>
          <p:blipFill>
            <a:blip r:embed="rId6" cstate="email">
              <a:extLst>
                <a:ext uri="{28A0092B-C50C-407E-A947-70E740481C1C}">
                  <a14:useLocalDpi xmlns:a14="http://schemas.microsoft.com/office/drawing/2010/main"/>
                </a:ext>
              </a:extLst>
            </a:blip>
            <a:srcRect/>
            <a:stretch>
              <a:fillRect/>
            </a:stretch>
          </p:blipFill>
          <p:spPr bwMode="auto">
            <a:xfrm>
              <a:off x="5364088" y="5667584"/>
              <a:ext cx="1006993" cy="9197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ounded Rectangular Callout 7"/>
            <p:cNvSpPr/>
            <p:nvPr/>
          </p:nvSpPr>
          <p:spPr>
            <a:xfrm>
              <a:off x="739699" y="4339594"/>
              <a:ext cx="2448822" cy="2181712"/>
            </a:xfrm>
            <a:prstGeom prst="wedgeRoundRectCallout">
              <a:avLst>
                <a:gd name="adj1" fmla="val -34359"/>
                <a:gd name="adj2" fmla="val 49042"/>
                <a:gd name="adj3" fmla="val 16667"/>
              </a:avLst>
            </a:prstGeom>
          </p:spPr>
          <p:style>
            <a:lnRef idx="1">
              <a:schemeClr val="accent2"/>
            </a:lnRef>
            <a:fillRef idx="2">
              <a:schemeClr val="accent2"/>
            </a:fillRef>
            <a:effectRef idx="1">
              <a:schemeClr val="accent2"/>
            </a:effectRef>
            <a:fontRef idx="minor">
              <a:schemeClr val="dk1"/>
            </a:fontRef>
          </p:style>
          <p:txBody>
            <a:bodyPr anchor="ctr"/>
            <a:lstStyle/>
            <a:p>
              <a:pPr algn="ctr">
                <a:defRPr/>
              </a:pPr>
              <a:r>
                <a:rPr lang="en-AU" sz="2000" dirty="0"/>
                <a:t>Imagine changing trains with all your luggage at the colonial borders in the middle of the night!</a:t>
              </a:r>
            </a:p>
          </p:txBody>
        </p:sp>
      </p:grpSp>
      <p:grpSp>
        <p:nvGrpSpPr>
          <p:cNvPr id="6" name="Group 5"/>
          <p:cNvGrpSpPr/>
          <p:nvPr/>
        </p:nvGrpSpPr>
        <p:grpSpPr>
          <a:xfrm>
            <a:off x="381591" y="1466905"/>
            <a:ext cx="3663727" cy="2241338"/>
            <a:chOff x="-97888" y="807876"/>
            <a:chExt cx="4839376" cy="2960558"/>
          </a:xfrm>
        </p:grpSpPr>
        <p:pic>
          <p:nvPicPr>
            <p:cNvPr id="18434" name="Picture 2" descr="http://upload.wikimedia.org/wikipedia/commons/9/95/StateLibQld_1_103339_Family_in_a_horse_drawn_buggy_in_Bundaberg,_ca._1912.jpg"/>
            <p:cNvPicPr>
              <a:picLocks noChangeAspect="1" noChangeArrowheads="1"/>
            </p:cNvPicPr>
            <p:nvPr/>
          </p:nvPicPr>
          <p:blipFill>
            <a:blip r:embed="rId7" cstate="email">
              <a:extLst>
                <a:ext uri="{28A0092B-C50C-407E-A947-70E740481C1C}">
                  <a14:useLocalDpi xmlns:a14="http://schemas.microsoft.com/office/drawing/2010/main"/>
                </a:ext>
              </a:extLst>
            </a:blip>
            <a:srcRect/>
            <a:stretch>
              <a:fillRect/>
            </a:stretch>
          </p:blipFill>
          <p:spPr bwMode="auto">
            <a:xfrm>
              <a:off x="179512" y="807876"/>
              <a:ext cx="4259102" cy="2666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p:nvPr/>
          </p:nvSpPr>
          <p:spPr>
            <a:xfrm>
              <a:off x="-97888" y="3429880"/>
              <a:ext cx="4839376" cy="338554"/>
            </a:xfrm>
            <a:prstGeom prst="rect">
              <a:avLst/>
            </a:prstGeom>
            <a:noFill/>
          </p:spPr>
          <p:txBody>
            <a:bodyPr wrap="square" rtlCol="0">
              <a:spAutoFit/>
            </a:bodyPr>
            <a:lstStyle/>
            <a:p>
              <a:pPr algn="ctr"/>
              <a:r>
                <a:rPr lang="en-AU" sz="1600" dirty="0" smtClean="0"/>
                <a:t>Family in a horse drawn buggy in Bundaberg, c. 1912</a:t>
              </a:r>
              <a:endParaRPr lang="en-AU" sz="1600" dirty="0"/>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53" presetClass="entr" presetSubtype="16"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 calcmode="lin" valueType="num">
                                      <p:cBhvr>
                                        <p:cTn id="17" dur="1000" fill="hold"/>
                                        <p:tgtEl>
                                          <p:spTgt spid="15"/>
                                        </p:tgtEl>
                                        <p:attrNameLst>
                                          <p:attrName>ppt_w</p:attrName>
                                        </p:attrNameLst>
                                      </p:cBhvr>
                                      <p:tavLst>
                                        <p:tav tm="0">
                                          <p:val>
                                            <p:fltVal val="0"/>
                                          </p:val>
                                        </p:tav>
                                        <p:tav tm="100000">
                                          <p:val>
                                            <p:strVal val="#ppt_w"/>
                                          </p:val>
                                        </p:tav>
                                      </p:tavLst>
                                    </p:anim>
                                    <p:anim calcmode="lin" valueType="num">
                                      <p:cBhvr>
                                        <p:cTn id="18" dur="1000" fill="hold"/>
                                        <p:tgtEl>
                                          <p:spTgt spid="15"/>
                                        </p:tgtEl>
                                        <p:attrNameLst>
                                          <p:attrName>ppt_h</p:attrName>
                                        </p:attrNameLst>
                                      </p:cBhvr>
                                      <p:tavLst>
                                        <p:tav tm="0">
                                          <p:val>
                                            <p:fltVal val="0"/>
                                          </p:val>
                                        </p:tav>
                                        <p:tav tm="100000">
                                          <p:val>
                                            <p:strVal val="#ppt_h"/>
                                          </p:val>
                                        </p:tav>
                                      </p:tavLst>
                                    </p:anim>
                                    <p:animEffect transition="in" filter="fade">
                                      <p:cBhvr>
                                        <p:cTn id="19" dur="1000"/>
                                        <p:tgtEl>
                                          <p:spTgt spid="15"/>
                                        </p:tgtEl>
                                      </p:cBhvr>
                                    </p:animEffect>
                                  </p:childTnLst>
                                </p:cTn>
                              </p:par>
                              <p:par>
                                <p:cTn id="20" presetID="53" presetClass="entr" presetSubtype="16" fill="hold" nodeType="withEffect">
                                  <p:stCondLst>
                                    <p:cond delay="0"/>
                                  </p:stCondLst>
                                  <p:childTnLst>
                                    <p:set>
                                      <p:cBhvr>
                                        <p:cTn id="21" dur="1" fill="hold">
                                          <p:stCondLst>
                                            <p:cond delay="0"/>
                                          </p:stCondLst>
                                        </p:cTn>
                                        <p:tgtEl>
                                          <p:spTgt spid="4"/>
                                        </p:tgtEl>
                                        <p:attrNameLst>
                                          <p:attrName>style.visibility</p:attrName>
                                        </p:attrNameLst>
                                      </p:cBhvr>
                                      <p:to>
                                        <p:strVal val="visible"/>
                                      </p:to>
                                    </p:set>
                                    <p:anim calcmode="lin" valueType="num">
                                      <p:cBhvr>
                                        <p:cTn id="22" dur="1000" fill="hold"/>
                                        <p:tgtEl>
                                          <p:spTgt spid="4"/>
                                        </p:tgtEl>
                                        <p:attrNameLst>
                                          <p:attrName>ppt_w</p:attrName>
                                        </p:attrNameLst>
                                      </p:cBhvr>
                                      <p:tavLst>
                                        <p:tav tm="0">
                                          <p:val>
                                            <p:fltVal val="0"/>
                                          </p:val>
                                        </p:tav>
                                        <p:tav tm="100000">
                                          <p:val>
                                            <p:strVal val="#ppt_w"/>
                                          </p:val>
                                        </p:tav>
                                      </p:tavLst>
                                    </p:anim>
                                    <p:anim calcmode="lin" valueType="num">
                                      <p:cBhvr>
                                        <p:cTn id="23" dur="1000" fill="hold"/>
                                        <p:tgtEl>
                                          <p:spTgt spid="4"/>
                                        </p:tgtEl>
                                        <p:attrNameLst>
                                          <p:attrName>ppt_h</p:attrName>
                                        </p:attrNameLst>
                                      </p:cBhvr>
                                      <p:tavLst>
                                        <p:tav tm="0">
                                          <p:val>
                                            <p:fltVal val="0"/>
                                          </p:val>
                                        </p:tav>
                                        <p:tav tm="100000">
                                          <p:val>
                                            <p:strVal val="#ppt_h"/>
                                          </p:val>
                                        </p:tav>
                                      </p:tavLst>
                                    </p:anim>
                                    <p:animEffect transition="in" filter="fade">
                                      <p:cBhvr>
                                        <p:cTn id="24" dur="1000"/>
                                        <p:tgtEl>
                                          <p:spTgt spid="4"/>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xit" presetSubtype="0" fill="hold" nodeType="clickEffect">
                                  <p:stCondLst>
                                    <p:cond delay="0"/>
                                  </p:stCondLst>
                                  <p:childTnLst>
                                    <p:animEffect transition="out" filter="fade">
                                      <p:cBhvr>
                                        <p:cTn id="28" dur="500"/>
                                        <p:tgtEl>
                                          <p:spTgt spid="6"/>
                                        </p:tgtEl>
                                      </p:cBhvr>
                                    </p:animEffect>
                                    <p:set>
                                      <p:cBhvr>
                                        <p:cTn id="29" dur="1" fill="hold">
                                          <p:stCondLst>
                                            <p:cond delay="499"/>
                                          </p:stCondLst>
                                        </p:cTn>
                                        <p:tgtEl>
                                          <p:spTgt spid="6"/>
                                        </p:tgtEl>
                                        <p:attrNameLst>
                                          <p:attrName>style.visibility</p:attrName>
                                        </p:attrNameLst>
                                      </p:cBhvr>
                                      <p:to>
                                        <p:strVal val="hidden"/>
                                      </p:to>
                                    </p:set>
                                  </p:childTnLst>
                                </p:cTn>
                              </p:par>
                              <p:par>
                                <p:cTn id="30" presetID="10" presetClass="entr" presetSubtype="0" fill="hold"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3306378" y="2052936"/>
            <a:ext cx="4895850" cy="4257183"/>
            <a:chOff x="2703959" y="1628800"/>
            <a:chExt cx="4895850" cy="4257183"/>
          </a:xfrm>
        </p:grpSpPr>
        <p:pic>
          <p:nvPicPr>
            <p:cNvPr id="18436" name="Picture 4"/>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2703959" y="1628800"/>
              <a:ext cx="4895850" cy="36718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extBox 5"/>
            <p:cNvSpPr txBox="1"/>
            <p:nvPr/>
          </p:nvSpPr>
          <p:spPr>
            <a:xfrm>
              <a:off x="2703959" y="5301208"/>
              <a:ext cx="4895850" cy="584775"/>
            </a:xfrm>
            <a:prstGeom prst="rect">
              <a:avLst/>
            </a:prstGeom>
            <a:ln>
              <a:solidFill>
                <a:schemeClr val="bg1"/>
              </a:solidFill>
            </a:ln>
          </p:spPr>
          <p:style>
            <a:lnRef idx="2">
              <a:schemeClr val="accent1"/>
            </a:lnRef>
            <a:fillRef idx="1">
              <a:schemeClr val="lt1"/>
            </a:fillRef>
            <a:effectRef idx="0">
              <a:schemeClr val="accent1"/>
            </a:effectRef>
            <a:fontRef idx="minor">
              <a:schemeClr val="dk1"/>
            </a:fontRef>
          </p:style>
          <p:txBody>
            <a:bodyPr wrap="square">
              <a:spAutoFit/>
            </a:bodyPr>
            <a:lstStyle/>
            <a:p>
              <a:pPr>
                <a:defRPr/>
              </a:pPr>
              <a:r>
                <a:rPr lang="en-AU" sz="1600" dirty="0"/>
                <a:t>Tariffs (taxes) for bringing goods into Queensland were paid here at Customs House in Brisbane.</a:t>
              </a:r>
            </a:p>
          </p:txBody>
        </p:sp>
      </p:grpSp>
      <p:sp>
        <p:nvSpPr>
          <p:cNvPr id="2" name="Title 1"/>
          <p:cNvSpPr>
            <a:spLocks noGrp="1"/>
          </p:cNvSpPr>
          <p:nvPr>
            <p:ph type="title"/>
          </p:nvPr>
        </p:nvSpPr>
        <p:spPr>
          <a:xfrm>
            <a:off x="590871" y="188640"/>
            <a:ext cx="8229600" cy="768350"/>
          </a:xfrm>
          <a:noFill/>
          <a:ln>
            <a:noFill/>
          </a:ln>
        </p:spPr>
        <p:style>
          <a:lnRef idx="2">
            <a:schemeClr val="accent4"/>
          </a:lnRef>
          <a:fillRef idx="1">
            <a:schemeClr val="lt1"/>
          </a:fillRef>
          <a:effectRef idx="0">
            <a:schemeClr val="accent4"/>
          </a:effectRef>
          <a:fontRef idx="minor">
            <a:schemeClr val="dk1"/>
          </a:fontRef>
        </p:style>
        <p:txBody>
          <a:bodyPr wrap="square" rtlCol="0">
            <a:spAutoFit/>
          </a:bodyPr>
          <a:lstStyle/>
          <a:p>
            <a:r>
              <a:rPr lang="en-AU" b="1" dirty="0">
                <a:solidFill>
                  <a:schemeClr val="bg1"/>
                </a:solidFill>
                <a:effectLst>
                  <a:outerShdw blurRad="38100" dist="38100" dir="2700000" algn="tl">
                    <a:srgbClr val="000000">
                      <a:alpha val="43137"/>
                    </a:srgbClr>
                  </a:outerShdw>
                </a:effectLst>
              </a:rPr>
              <a:t>Trade</a:t>
            </a:r>
          </a:p>
        </p:txBody>
      </p:sp>
      <p:sp>
        <p:nvSpPr>
          <p:cNvPr id="5" name="Rounded Rectangular Callout 4"/>
          <p:cNvSpPr/>
          <p:nvPr/>
        </p:nvSpPr>
        <p:spPr>
          <a:xfrm>
            <a:off x="3059831" y="879124"/>
            <a:ext cx="5472609" cy="1181723"/>
          </a:xfrm>
          <a:prstGeom prst="wedgeRoundRectCallout">
            <a:avLst>
              <a:gd name="adj1" fmla="val 39831"/>
              <a:gd name="adj2" fmla="val 49681"/>
              <a:gd name="adj3" fmla="val 16667"/>
            </a:avLst>
          </a:prstGeom>
          <a:solidFill>
            <a:srgbClr val="FFFFCC"/>
          </a:solidFill>
        </p:spPr>
        <p:style>
          <a:lnRef idx="1">
            <a:schemeClr val="accent1"/>
          </a:lnRef>
          <a:fillRef idx="2">
            <a:schemeClr val="accent1"/>
          </a:fillRef>
          <a:effectRef idx="1">
            <a:schemeClr val="accent1"/>
          </a:effectRef>
          <a:fontRef idx="minor">
            <a:schemeClr val="dk1"/>
          </a:fontRef>
        </p:style>
        <p:txBody>
          <a:bodyPr anchor="ctr"/>
          <a:lstStyle/>
          <a:p>
            <a:pPr algn="ctr">
              <a:defRPr/>
            </a:pPr>
            <a:r>
              <a:rPr lang="en-AU" sz="2400" dirty="0"/>
              <a:t>Different trade rules made doing business </a:t>
            </a:r>
            <a:r>
              <a:rPr lang="en-AU" sz="2400"/>
              <a:t>difficult </a:t>
            </a:r>
            <a:r>
              <a:rPr lang="en-AU" sz="2400" smtClean="0"/>
              <a:t>and </a:t>
            </a:r>
            <a:r>
              <a:rPr lang="en-AU" sz="2400" dirty="0"/>
              <a:t>caused rivalry and suspicion between colonies.  </a:t>
            </a:r>
          </a:p>
        </p:txBody>
      </p:sp>
      <p:grpSp>
        <p:nvGrpSpPr>
          <p:cNvPr id="7" name="Group 6"/>
          <p:cNvGrpSpPr/>
          <p:nvPr/>
        </p:nvGrpSpPr>
        <p:grpSpPr>
          <a:xfrm>
            <a:off x="467544" y="896689"/>
            <a:ext cx="2481263" cy="4761239"/>
            <a:chOff x="222696" y="1628800"/>
            <a:chExt cx="2481263" cy="4761239"/>
          </a:xfrm>
        </p:grpSpPr>
        <p:pic>
          <p:nvPicPr>
            <p:cNvPr id="18435" name="Picture 8" descr="http://upload.wikimedia.org/wikipedia/commons/e/ed/Queensland_one_shilling_revenue_stamp.jpg"/>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222696" y="1628800"/>
              <a:ext cx="2447925" cy="4259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p:cNvSpPr txBox="1"/>
            <p:nvPr/>
          </p:nvSpPr>
          <p:spPr>
            <a:xfrm>
              <a:off x="222696" y="5805264"/>
              <a:ext cx="2481263" cy="584775"/>
            </a:xfrm>
            <a:prstGeom prst="rect">
              <a:avLst/>
            </a:prstGeom>
            <a:noFill/>
          </p:spPr>
          <p:txBody>
            <a:bodyPr wrap="square" rtlCol="0">
              <a:spAutoFit/>
            </a:bodyPr>
            <a:lstStyle/>
            <a:p>
              <a:pPr algn="ctr"/>
              <a:r>
                <a:rPr lang="en-AU" sz="1600" dirty="0" smtClean="0"/>
                <a:t>Queensland one shilling revenue stamp</a:t>
              </a:r>
              <a:endParaRPr lang="en-AU" sz="1600" dirty="0"/>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81016" y="152688"/>
            <a:ext cx="5062984" cy="768350"/>
          </a:xfrm>
          <a:noFill/>
          <a:ln>
            <a:noFill/>
          </a:ln>
        </p:spPr>
        <p:style>
          <a:lnRef idx="2">
            <a:schemeClr val="accent4"/>
          </a:lnRef>
          <a:fillRef idx="1">
            <a:schemeClr val="lt1"/>
          </a:fillRef>
          <a:effectRef idx="0">
            <a:schemeClr val="accent4"/>
          </a:effectRef>
          <a:fontRef idx="minor">
            <a:schemeClr val="dk1"/>
          </a:fontRef>
        </p:style>
        <p:txBody>
          <a:bodyPr wrap="square" rtlCol="0">
            <a:spAutoFit/>
          </a:bodyPr>
          <a:lstStyle/>
          <a:p>
            <a:r>
              <a:rPr lang="en-AU" b="1" dirty="0">
                <a:solidFill>
                  <a:schemeClr val="bg1"/>
                </a:solidFill>
                <a:effectLst>
                  <a:outerShdw blurRad="38100" dist="38100" dir="2700000" algn="tl">
                    <a:srgbClr val="000000">
                      <a:alpha val="43137"/>
                    </a:srgbClr>
                  </a:outerShdw>
                </a:effectLst>
              </a:rPr>
              <a:t>Defence</a:t>
            </a:r>
          </a:p>
        </p:txBody>
      </p:sp>
      <p:sp>
        <p:nvSpPr>
          <p:cNvPr id="6" name="Rounded Rectangular Callout 5"/>
          <p:cNvSpPr/>
          <p:nvPr/>
        </p:nvSpPr>
        <p:spPr>
          <a:xfrm>
            <a:off x="4427984" y="4267431"/>
            <a:ext cx="4320480" cy="1872208"/>
          </a:xfrm>
          <a:prstGeom prst="wedgeRoundRectCallout">
            <a:avLst>
              <a:gd name="adj1" fmla="val 49405"/>
              <a:gd name="adj2" fmla="val -36786"/>
              <a:gd name="adj3" fmla="val 16667"/>
            </a:avLst>
          </a:prstGeom>
        </p:spPr>
        <p:style>
          <a:lnRef idx="1">
            <a:schemeClr val="accent3"/>
          </a:lnRef>
          <a:fillRef idx="2">
            <a:schemeClr val="accent3"/>
          </a:fillRef>
          <a:effectRef idx="1">
            <a:schemeClr val="accent3"/>
          </a:effectRef>
          <a:fontRef idx="minor">
            <a:schemeClr val="dk1"/>
          </a:fontRef>
        </p:style>
        <p:txBody>
          <a:bodyPr anchor="ctr"/>
          <a:lstStyle/>
          <a:p>
            <a:pPr algn="ctr">
              <a:defRPr/>
            </a:pPr>
            <a:r>
              <a:rPr lang="en-AU" sz="2400" dirty="0"/>
              <a:t>With no national defence force, the colonies were worried about attack or invasion by other countries. </a:t>
            </a:r>
          </a:p>
        </p:txBody>
      </p:sp>
      <p:grpSp>
        <p:nvGrpSpPr>
          <p:cNvPr id="9" name="Group 8"/>
          <p:cNvGrpSpPr>
            <a:grpSpLocks/>
          </p:cNvGrpSpPr>
          <p:nvPr/>
        </p:nvGrpSpPr>
        <p:grpSpPr bwMode="auto">
          <a:xfrm>
            <a:off x="755576" y="133419"/>
            <a:ext cx="3325440" cy="2859504"/>
            <a:chOff x="598485" y="908721"/>
            <a:chExt cx="3435339" cy="2858290"/>
          </a:xfrm>
        </p:grpSpPr>
        <p:pic>
          <p:nvPicPr>
            <p:cNvPr id="20490" name="Picture 7"/>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598485" y="908721"/>
              <a:ext cx="3435339" cy="26642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Box 7"/>
            <p:cNvSpPr txBox="1"/>
            <p:nvPr/>
          </p:nvSpPr>
          <p:spPr>
            <a:xfrm>
              <a:off x="598485" y="3428601"/>
              <a:ext cx="3435339" cy="338410"/>
            </a:xfrm>
            <a:prstGeom prst="rect">
              <a:avLst/>
            </a:prstGeom>
            <a:ln>
              <a:solidFill>
                <a:schemeClr val="bg1"/>
              </a:solidFill>
            </a:ln>
          </p:spPr>
          <p:style>
            <a:lnRef idx="2">
              <a:schemeClr val="accent3"/>
            </a:lnRef>
            <a:fillRef idx="1">
              <a:schemeClr val="lt1"/>
            </a:fillRef>
            <a:effectRef idx="0">
              <a:schemeClr val="accent3"/>
            </a:effectRef>
            <a:fontRef idx="minor">
              <a:schemeClr val="dk1"/>
            </a:fontRef>
          </p:style>
          <p:txBody>
            <a:bodyPr wrap="square">
              <a:spAutoFit/>
            </a:bodyPr>
            <a:lstStyle/>
            <a:p>
              <a:pPr algn="ctr">
                <a:defRPr/>
              </a:pPr>
              <a:r>
                <a:rPr lang="en-AU" sz="1600" dirty="0"/>
                <a:t>Victorian Mounted Rifles, 1889</a:t>
              </a:r>
            </a:p>
          </p:txBody>
        </p:sp>
      </p:grpSp>
      <p:grpSp>
        <p:nvGrpSpPr>
          <p:cNvPr id="11" name="Group 10"/>
          <p:cNvGrpSpPr>
            <a:grpSpLocks/>
          </p:cNvGrpSpPr>
          <p:nvPr/>
        </p:nvGrpSpPr>
        <p:grpSpPr bwMode="auto">
          <a:xfrm>
            <a:off x="912664" y="3132795"/>
            <a:ext cx="3168352" cy="3287521"/>
            <a:chOff x="5004048" y="3449745"/>
            <a:chExt cx="3026370" cy="3119750"/>
          </a:xfrm>
        </p:grpSpPr>
        <p:pic>
          <p:nvPicPr>
            <p:cNvPr id="20488" name="Picture 10"/>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5004048" y="3449745"/>
              <a:ext cx="3026370" cy="26293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TextBox 12"/>
            <p:cNvSpPr txBox="1"/>
            <p:nvPr/>
          </p:nvSpPr>
          <p:spPr>
            <a:xfrm>
              <a:off x="5004048" y="6014563"/>
              <a:ext cx="3026370" cy="554932"/>
            </a:xfrm>
            <a:prstGeom prst="rect">
              <a:avLst/>
            </a:prstGeom>
            <a:ln>
              <a:solidFill>
                <a:schemeClr val="bg1"/>
              </a:solidFill>
            </a:ln>
          </p:spPr>
          <p:style>
            <a:lnRef idx="2">
              <a:schemeClr val="accent3"/>
            </a:lnRef>
            <a:fillRef idx="1">
              <a:schemeClr val="lt1"/>
            </a:fillRef>
            <a:effectRef idx="0">
              <a:schemeClr val="accent3"/>
            </a:effectRef>
            <a:fontRef idx="minor">
              <a:schemeClr val="dk1"/>
            </a:fontRef>
          </p:style>
          <p:txBody>
            <a:bodyPr wrap="square">
              <a:spAutoFit/>
            </a:bodyPr>
            <a:lstStyle/>
            <a:p>
              <a:pPr algn="ctr">
                <a:defRPr/>
              </a:pPr>
              <a:r>
                <a:rPr lang="en-AU" sz="1600" dirty="0"/>
                <a:t>South Australian Volunteer Forces, 1860</a:t>
              </a:r>
            </a:p>
          </p:txBody>
        </p:sp>
      </p:grpSp>
      <p:grpSp>
        <p:nvGrpSpPr>
          <p:cNvPr id="10" name="Group 9"/>
          <p:cNvGrpSpPr>
            <a:grpSpLocks/>
          </p:cNvGrpSpPr>
          <p:nvPr/>
        </p:nvGrpSpPr>
        <p:grpSpPr bwMode="auto">
          <a:xfrm>
            <a:off x="4499992" y="1124744"/>
            <a:ext cx="3816424" cy="2940091"/>
            <a:chOff x="227262" y="3469869"/>
            <a:chExt cx="3942173" cy="3152814"/>
          </a:xfrm>
        </p:grpSpPr>
        <p:pic>
          <p:nvPicPr>
            <p:cNvPr id="20492" name="Picture 9" descr="File:Hobart Town Volunteer Artillery members 1869.jpg"/>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227262" y="3469869"/>
              <a:ext cx="3942173" cy="29877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11"/>
            <p:cNvSpPr txBox="1"/>
            <p:nvPr/>
          </p:nvSpPr>
          <p:spPr>
            <a:xfrm>
              <a:off x="227262" y="6259634"/>
              <a:ext cx="3942173" cy="363049"/>
            </a:xfrm>
            <a:prstGeom prst="rect">
              <a:avLst/>
            </a:prstGeom>
            <a:ln>
              <a:solidFill>
                <a:schemeClr val="bg1"/>
              </a:solidFill>
            </a:ln>
          </p:spPr>
          <p:style>
            <a:lnRef idx="2">
              <a:schemeClr val="accent3"/>
            </a:lnRef>
            <a:fillRef idx="1">
              <a:schemeClr val="lt1"/>
            </a:fillRef>
            <a:effectRef idx="0">
              <a:schemeClr val="accent3"/>
            </a:effectRef>
            <a:fontRef idx="minor">
              <a:schemeClr val="dk1"/>
            </a:fontRef>
          </p:style>
          <p:txBody>
            <a:bodyPr wrap="square">
              <a:spAutoFit/>
            </a:bodyPr>
            <a:lstStyle/>
            <a:p>
              <a:pPr algn="ctr">
                <a:defRPr/>
              </a:pPr>
              <a:r>
                <a:rPr lang="en-AU" sz="1600" dirty="0"/>
                <a:t>Hobart Town Volunteer Artillery, 1869</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par>
                          <p:cTn id="13" fill="hold" nodeType="withGroup">
                            <p:stCondLst>
                              <p:cond delay="500"/>
                            </p:stCondLst>
                            <p:childTnLst>
                              <p:par>
                                <p:cTn id="14" presetID="10" presetClass="entr" presetSubtype="0" fill="hold" nodeType="after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500"/>
                                        <p:tgtEl>
                                          <p:spTgt spid="11"/>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reeform 6"/>
          <p:cNvSpPr/>
          <p:nvPr/>
        </p:nvSpPr>
        <p:spPr>
          <a:xfrm>
            <a:off x="5364163" y="1773238"/>
            <a:ext cx="2185987" cy="2312987"/>
          </a:xfrm>
          <a:custGeom>
            <a:avLst/>
            <a:gdLst>
              <a:gd name="connsiteX0" fmla="*/ 0 w 1872864"/>
              <a:gd name="connsiteY0" fmla="*/ 814696 h 1629391"/>
              <a:gd name="connsiteX1" fmla="*/ 407348 w 1872864"/>
              <a:gd name="connsiteY1" fmla="*/ 0 h 1629391"/>
              <a:gd name="connsiteX2" fmla="*/ 1465516 w 1872864"/>
              <a:gd name="connsiteY2" fmla="*/ 0 h 1629391"/>
              <a:gd name="connsiteX3" fmla="*/ 1872864 w 1872864"/>
              <a:gd name="connsiteY3" fmla="*/ 814696 h 1629391"/>
              <a:gd name="connsiteX4" fmla="*/ 1465516 w 1872864"/>
              <a:gd name="connsiteY4" fmla="*/ 1629391 h 1629391"/>
              <a:gd name="connsiteX5" fmla="*/ 407348 w 1872864"/>
              <a:gd name="connsiteY5" fmla="*/ 1629391 h 1629391"/>
              <a:gd name="connsiteX6" fmla="*/ 0 w 1872864"/>
              <a:gd name="connsiteY6" fmla="*/ 814696 h 1629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72864" h="1629391">
                <a:moveTo>
                  <a:pt x="936431" y="0"/>
                </a:moveTo>
                <a:lnTo>
                  <a:pt x="1872863" y="354393"/>
                </a:lnTo>
                <a:lnTo>
                  <a:pt x="1872863" y="1274998"/>
                </a:lnTo>
                <a:lnTo>
                  <a:pt x="936431" y="1629391"/>
                </a:lnTo>
                <a:lnTo>
                  <a:pt x="1" y="1274998"/>
                </a:lnTo>
                <a:lnTo>
                  <a:pt x="1" y="354393"/>
                </a:lnTo>
                <a:lnTo>
                  <a:pt x="936431" y="0"/>
                </a:lnTo>
                <a:close/>
              </a:path>
            </a:pathLst>
          </a:custGeom>
        </p:spPr>
        <p:style>
          <a:lnRef idx="3">
            <a:schemeClr val="lt1"/>
          </a:lnRef>
          <a:fillRef idx="1">
            <a:schemeClr val="accent5"/>
          </a:fillRef>
          <a:effectRef idx="1">
            <a:schemeClr val="accent5"/>
          </a:effectRef>
          <a:fontRef idx="minor">
            <a:schemeClr val="lt1"/>
          </a:fontRef>
        </p:style>
        <p:txBody>
          <a:bodyPr lIns="311063" tIns="349006" rIns="311064" bIns="349005" spcCol="1270" anchor="ctr"/>
          <a:lstStyle/>
          <a:p>
            <a:pPr algn="ctr" defTabSz="666750">
              <a:lnSpc>
                <a:spcPct val="90000"/>
              </a:lnSpc>
              <a:spcAft>
                <a:spcPct val="35000"/>
              </a:spcAft>
              <a:defRPr/>
            </a:pPr>
            <a:r>
              <a:rPr lang="en-AU" sz="2400" dirty="0"/>
              <a:t>Power</a:t>
            </a:r>
          </a:p>
        </p:txBody>
      </p:sp>
      <p:sp>
        <p:nvSpPr>
          <p:cNvPr id="9" name="Freeform 8"/>
          <p:cNvSpPr/>
          <p:nvPr/>
        </p:nvSpPr>
        <p:spPr>
          <a:xfrm>
            <a:off x="2843213" y="1741488"/>
            <a:ext cx="2185987" cy="2311400"/>
          </a:xfrm>
          <a:custGeom>
            <a:avLst/>
            <a:gdLst>
              <a:gd name="connsiteX0" fmla="*/ 0 w 1872864"/>
              <a:gd name="connsiteY0" fmla="*/ 814696 h 1629391"/>
              <a:gd name="connsiteX1" fmla="*/ 407348 w 1872864"/>
              <a:gd name="connsiteY1" fmla="*/ 0 h 1629391"/>
              <a:gd name="connsiteX2" fmla="*/ 1465516 w 1872864"/>
              <a:gd name="connsiteY2" fmla="*/ 0 h 1629391"/>
              <a:gd name="connsiteX3" fmla="*/ 1872864 w 1872864"/>
              <a:gd name="connsiteY3" fmla="*/ 814696 h 1629391"/>
              <a:gd name="connsiteX4" fmla="*/ 1465516 w 1872864"/>
              <a:gd name="connsiteY4" fmla="*/ 1629391 h 1629391"/>
              <a:gd name="connsiteX5" fmla="*/ 407348 w 1872864"/>
              <a:gd name="connsiteY5" fmla="*/ 1629391 h 1629391"/>
              <a:gd name="connsiteX6" fmla="*/ 0 w 1872864"/>
              <a:gd name="connsiteY6" fmla="*/ 814696 h 1629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72864" h="1629391">
                <a:moveTo>
                  <a:pt x="936431" y="0"/>
                </a:moveTo>
                <a:lnTo>
                  <a:pt x="1872863" y="354393"/>
                </a:lnTo>
                <a:lnTo>
                  <a:pt x="1872863" y="1274998"/>
                </a:lnTo>
                <a:lnTo>
                  <a:pt x="936431" y="1629391"/>
                </a:lnTo>
                <a:lnTo>
                  <a:pt x="1" y="1274998"/>
                </a:lnTo>
                <a:lnTo>
                  <a:pt x="1" y="354393"/>
                </a:lnTo>
                <a:lnTo>
                  <a:pt x="936431" y="0"/>
                </a:lnTo>
                <a:close/>
              </a:path>
            </a:pathLst>
          </a:custGeom>
        </p:spPr>
        <p:style>
          <a:lnRef idx="3">
            <a:schemeClr val="lt1"/>
          </a:lnRef>
          <a:fillRef idx="1">
            <a:schemeClr val="accent6"/>
          </a:fillRef>
          <a:effectRef idx="1">
            <a:schemeClr val="accent6"/>
          </a:effectRef>
          <a:fontRef idx="minor">
            <a:schemeClr val="lt1"/>
          </a:fontRef>
        </p:style>
        <p:txBody>
          <a:bodyPr lIns="253913" tIns="291856" rIns="253914" bIns="291855" spcCol="1270" anchor="ctr"/>
          <a:lstStyle/>
          <a:p>
            <a:pPr algn="ctr" defTabSz="1155700">
              <a:lnSpc>
                <a:spcPct val="90000"/>
              </a:lnSpc>
              <a:spcAft>
                <a:spcPct val="35000"/>
              </a:spcAft>
              <a:defRPr/>
            </a:pPr>
            <a:r>
              <a:rPr lang="en-AU" sz="2400" dirty="0"/>
              <a:t>Employment of migrants</a:t>
            </a:r>
          </a:p>
        </p:txBody>
      </p:sp>
      <p:sp>
        <p:nvSpPr>
          <p:cNvPr id="10" name="Freeform 9"/>
          <p:cNvSpPr/>
          <p:nvPr/>
        </p:nvSpPr>
        <p:spPr>
          <a:xfrm>
            <a:off x="4114800" y="3708400"/>
            <a:ext cx="2185988" cy="2312988"/>
          </a:xfrm>
          <a:custGeom>
            <a:avLst/>
            <a:gdLst>
              <a:gd name="connsiteX0" fmla="*/ 0 w 1872864"/>
              <a:gd name="connsiteY0" fmla="*/ 814696 h 1629391"/>
              <a:gd name="connsiteX1" fmla="*/ 407348 w 1872864"/>
              <a:gd name="connsiteY1" fmla="*/ 0 h 1629391"/>
              <a:gd name="connsiteX2" fmla="*/ 1465516 w 1872864"/>
              <a:gd name="connsiteY2" fmla="*/ 0 h 1629391"/>
              <a:gd name="connsiteX3" fmla="*/ 1872864 w 1872864"/>
              <a:gd name="connsiteY3" fmla="*/ 814696 h 1629391"/>
              <a:gd name="connsiteX4" fmla="*/ 1465516 w 1872864"/>
              <a:gd name="connsiteY4" fmla="*/ 1629391 h 1629391"/>
              <a:gd name="connsiteX5" fmla="*/ 407348 w 1872864"/>
              <a:gd name="connsiteY5" fmla="*/ 1629391 h 1629391"/>
              <a:gd name="connsiteX6" fmla="*/ 0 w 1872864"/>
              <a:gd name="connsiteY6" fmla="*/ 814696 h 1629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72864" h="1629391">
                <a:moveTo>
                  <a:pt x="936431" y="0"/>
                </a:moveTo>
                <a:lnTo>
                  <a:pt x="1872863" y="354393"/>
                </a:lnTo>
                <a:lnTo>
                  <a:pt x="1872863" y="1274998"/>
                </a:lnTo>
                <a:lnTo>
                  <a:pt x="936431" y="1629391"/>
                </a:lnTo>
                <a:lnTo>
                  <a:pt x="1" y="1274998"/>
                </a:lnTo>
                <a:lnTo>
                  <a:pt x="1" y="354393"/>
                </a:lnTo>
                <a:lnTo>
                  <a:pt x="936431" y="0"/>
                </a:lnTo>
                <a:close/>
              </a:path>
            </a:pathLst>
          </a:custGeom>
        </p:spPr>
        <p:style>
          <a:lnRef idx="3">
            <a:schemeClr val="lt1"/>
          </a:lnRef>
          <a:fillRef idx="1">
            <a:schemeClr val="accent1"/>
          </a:fillRef>
          <a:effectRef idx="1">
            <a:schemeClr val="accent1"/>
          </a:effectRef>
          <a:fontRef idx="minor">
            <a:schemeClr val="lt1"/>
          </a:fontRef>
        </p:style>
        <p:txBody>
          <a:bodyPr lIns="311063" tIns="349006" rIns="311064" bIns="349005" spcCol="1270" anchor="ctr"/>
          <a:lstStyle/>
          <a:p>
            <a:pPr algn="ctr" defTabSz="666750">
              <a:lnSpc>
                <a:spcPct val="90000"/>
              </a:lnSpc>
              <a:spcAft>
                <a:spcPct val="35000"/>
              </a:spcAft>
              <a:defRPr/>
            </a:pPr>
            <a:r>
              <a:rPr lang="en-AU" sz="2400" dirty="0"/>
              <a:t>Trade</a:t>
            </a:r>
          </a:p>
        </p:txBody>
      </p:sp>
      <p:sp>
        <p:nvSpPr>
          <p:cNvPr id="11" name="Freeform 10"/>
          <p:cNvSpPr/>
          <p:nvPr/>
        </p:nvSpPr>
        <p:spPr>
          <a:xfrm>
            <a:off x="400050" y="1397000"/>
            <a:ext cx="2713038" cy="1387475"/>
          </a:xfrm>
          <a:custGeom>
            <a:avLst/>
            <a:gdLst>
              <a:gd name="connsiteX0" fmla="*/ 0 w 2022693"/>
              <a:gd name="connsiteY0" fmla="*/ 0 h 1123718"/>
              <a:gd name="connsiteX1" fmla="*/ 2022693 w 2022693"/>
              <a:gd name="connsiteY1" fmla="*/ 0 h 1123718"/>
              <a:gd name="connsiteX2" fmla="*/ 2022693 w 2022693"/>
              <a:gd name="connsiteY2" fmla="*/ 1123718 h 1123718"/>
              <a:gd name="connsiteX3" fmla="*/ 0 w 2022693"/>
              <a:gd name="connsiteY3" fmla="*/ 1123718 h 1123718"/>
              <a:gd name="connsiteX4" fmla="*/ 0 w 2022693"/>
              <a:gd name="connsiteY4" fmla="*/ 0 h 11237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22693" h="1123718">
                <a:moveTo>
                  <a:pt x="0" y="0"/>
                </a:moveTo>
                <a:lnTo>
                  <a:pt x="2022693" y="0"/>
                </a:lnTo>
                <a:lnTo>
                  <a:pt x="2022693" y="1123718"/>
                </a:lnTo>
                <a:lnTo>
                  <a:pt x="0" y="1123718"/>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lIns="57150" tIns="57150" rIns="57150" bIns="57150" spcCol="1270" anchor="ctr"/>
          <a:lstStyle/>
          <a:p>
            <a:pPr algn="r" defTabSz="666750">
              <a:lnSpc>
                <a:spcPct val="90000"/>
              </a:lnSpc>
              <a:spcAft>
                <a:spcPct val="35000"/>
              </a:spcAft>
              <a:defRPr/>
            </a:pPr>
            <a:endParaRPr lang="en-AU" sz="2400" dirty="0"/>
          </a:p>
        </p:txBody>
      </p:sp>
      <p:sp>
        <p:nvSpPr>
          <p:cNvPr id="12" name="Freeform 11"/>
          <p:cNvSpPr/>
          <p:nvPr/>
        </p:nvSpPr>
        <p:spPr>
          <a:xfrm>
            <a:off x="6659563" y="3708400"/>
            <a:ext cx="2185987" cy="2312988"/>
          </a:xfrm>
          <a:custGeom>
            <a:avLst/>
            <a:gdLst>
              <a:gd name="connsiteX0" fmla="*/ 0 w 1872864"/>
              <a:gd name="connsiteY0" fmla="*/ 814696 h 1629391"/>
              <a:gd name="connsiteX1" fmla="*/ 407348 w 1872864"/>
              <a:gd name="connsiteY1" fmla="*/ 0 h 1629391"/>
              <a:gd name="connsiteX2" fmla="*/ 1465516 w 1872864"/>
              <a:gd name="connsiteY2" fmla="*/ 0 h 1629391"/>
              <a:gd name="connsiteX3" fmla="*/ 1872864 w 1872864"/>
              <a:gd name="connsiteY3" fmla="*/ 814696 h 1629391"/>
              <a:gd name="connsiteX4" fmla="*/ 1465516 w 1872864"/>
              <a:gd name="connsiteY4" fmla="*/ 1629391 h 1629391"/>
              <a:gd name="connsiteX5" fmla="*/ 407348 w 1872864"/>
              <a:gd name="connsiteY5" fmla="*/ 1629391 h 1629391"/>
              <a:gd name="connsiteX6" fmla="*/ 0 w 1872864"/>
              <a:gd name="connsiteY6" fmla="*/ 814696 h 1629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72864" h="1629391">
                <a:moveTo>
                  <a:pt x="936431" y="0"/>
                </a:moveTo>
                <a:lnTo>
                  <a:pt x="1872863" y="354393"/>
                </a:lnTo>
                <a:lnTo>
                  <a:pt x="1872863" y="1274998"/>
                </a:lnTo>
                <a:lnTo>
                  <a:pt x="936431" y="1629391"/>
                </a:lnTo>
                <a:lnTo>
                  <a:pt x="1" y="1274998"/>
                </a:lnTo>
                <a:lnTo>
                  <a:pt x="1" y="354393"/>
                </a:lnTo>
                <a:lnTo>
                  <a:pt x="936431" y="0"/>
                </a:lnTo>
                <a:close/>
              </a:path>
            </a:pathLst>
          </a:custGeom>
        </p:spPr>
        <p:style>
          <a:lnRef idx="3">
            <a:schemeClr val="lt1"/>
          </a:lnRef>
          <a:fillRef idx="1">
            <a:schemeClr val="accent3"/>
          </a:fillRef>
          <a:effectRef idx="1">
            <a:schemeClr val="accent3"/>
          </a:effectRef>
          <a:fontRef idx="minor">
            <a:schemeClr val="lt1"/>
          </a:fontRef>
        </p:style>
        <p:txBody>
          <a:bodyPr lIns="253913" tIns="291856" rIns="253914" bIns="291855" spcCol="1270" anchor="ctr"/>
          <a:lstStyle/>
          <a:p>
            <a:pPr algn="ctr" defTabSz="1511300">
              <a:lnSpc>
                <a:spcPct val="90000"/>
              </a:lnSpc>
              <a:spcAft>
                <a:spcPct val="35000"/>
              </a:spcAft>
              <a:defRPr/>
            </a:pPr>
            <a:r>
              <a:rPr lang="en-AU" sz="2400" dirty="0"/>
              <a:t>Defence</a:t>
            </a:r>
          </a:p>
        </p:txBody>
      </p:sp>
      <p:sp>
        <p:nvSpPr>
          <p:cNvPr id="13" name="Freeform 12"/>
          <p:cNvSpPr/>
          <p:nvPr/>
        </p:nvSpPr>
        <p:spPr>
          <a:xfrm>
            <a:off x="430213" y="1628775"/>
            <a:ext cx="2184400" cy="2311400"/>
          </a:xfrm>
          <a:custGeom>
            <a:avLst/>
            <a:gdLst>
              <a:gd name="connsiteX0" fmla="*/ 0 w 1872864"/>
              <a:gd name="connsiteY0" fmla="*/ 814696 h 1629391"/>
              <a:gd name="connsiteX1" fmla="*/ 407348 w 1872864"/>
              <a:gd name="connsiteY1" fmla="*/ 0 h 1629391"/>
              <a:gd name="connsiteX2" fmla="*/ 1465516 w 1872864"/>
              <a:gd name="connsiteY2" fmla="*/ 0 h 1629391"/>
              <a:gd name="connsiteX3" fmla="*/ 1872864 w 1872864"/>
              <a:gd name="connsiteY3" fmla="*/ 814696 h 1629391"/>
              <a:gd name="connsiteX4" fmla="*/ 1465516 w 1872864"/>
              <a:gd name="connsiteY4" fmla="*/ 1629391 h 1629391"/>
              <a:gd name="connsiteX5" fmla="*/ 407348 w 1872864"/>
              <a:gd name="connsiteY5" fmla="*/ 1629391 h 1629391"/>
              <a:gd name="connsiteX6" fmla="*/ 0 w 1872864"/>
              <a:gd name="connsiteY6" fmla="*/ 814696 h 1629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72864" h="1629391">
                <a:moveTo>
                  <a:pt x="936431" y="0"/>
                </a:moveTo>
                <a:lnTo>
                  <a:pt x="1872863" y="354393"/>
                </a:lnTo>
                <a:lnTo>
                  <a:pt x="1872863" y="1274998"/>
                </a:lnTo>
                <a:lnTo>
                  <a:pt x="936431" y="1629391"/>
                </a:lnTo>
                <a:lnTo>
                  <a:pt x="1" y="1274998"/>
                </a:lnTo>
                <a:lnTo>
                  <a:pt x="1" y="354393"/>
                </a:lnTo>
                <a:lnTo>
                  <a:pt x="936431" y="0"/>
                </a:lnTo>
                <a:close/>
              </a:path>
            </a:pathLst>
          </a:custGeom>
        </p:spPr>
        <p:style>
          <a:lnRef idx="3">
            <a:schemeClr val="lt1"/>
          </a:lnRef>
          <a:fillRef idx="1">
            <a:schemeClr val="accent4"/>
          </a:fillRef>
          <a:effectRef idx="1">
            <a:schemeClr val="accent4"/>
          </a:effectRef>
          <a:fontRef idx="minor">
            <a:schemeClr val="lt1"/>
          </a:fontRef>
        </p:style>
        <p:txBody>
          <a:bodyPr lIns="311063" tIns="349006" rIns="311064" bIns="349005" spcCol="1270" anchor="ctr"/>
          <a:lstStyle/>
          <a:p>
            <a:pPr algn="ctr" defTabSz="666750">
              <a:lnSpc>
                <a:spcPct val="90000"/>
              </a:lnSpc>
              <a:spcAft>
                <a:spcPct val="35000"/>
              </a:spcAft>
              <a:defRPr/>
            </a:pPr>
            <a:r>
              <a:rPr lang="en-AU" sz="2400" dirty="0"/>
              <a:t>Government</a:t>
            </a:r>
          </a:p>
        </p:txBody>
      </p:sp>
      <p:sp>
        <p:nvSpPr>
          <p:cNvPr id="15" name="Freeform 14"/>
          <p:cNvSpPr/>
          <p:nvPr/>
        </p:nvSpPr>
        <p:spPr>
          <a:xfrm>
            <a:off x="1476375" y="3636963"/>
            <a:ext cx="2184400" cy="2312987"/>
          </a:xfrm>
          <a:custGeom>
            <a:avLst/>
            <a:gdLst>
              <a:gd name="connsiteX0" fmla="*/ 0 w 1872864"/>
              <a:gd name="connsiteY0" fmla="*/ 814696 h 1629391"/>
              <a:gd name="connsiteX1" fmla="*/ 407348 w 1872864"/>
              <a:gd name="connsiteY1" fmla="*/ 0 h 1629391"/>
              <a:gd name="connsiteX2" fmla="*/ 1465516 w 1872864"/>
              <a:gd name="connsiteY2" fmla="*/ 0 h 1629391"/>
              <a:gd name="connsiteX3" fmla="*/ 1872864 w 1872864"/>
              <a:gd name="connsiteY3" fmla="*/ 814696 h 1629391"/>
              <a:gd name="connsiteX4" fmla="*/ 1465516 w 1872864"/>
              <a:gd name="connsiteY4" fmla="*/ 1629391 h 1629391"/>
              <a:gd name="connsiteX5" fmla="*/ 407348 w 1872864"/>
              <a:gd name="connsiteY5" fmla="*/ 1629391 h 1629391"/>
              <a:gd name="connsiteX6" fmla="*/ 0 w 1872864"/>
              <a:gd name="connsiteY6" fmla="*/ 814696 h 1629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72864" h="1629391">
                <a:moveTo>
                  <a:pt x="936431" y="0"/>
                </a:moveTo>
                <a:lnTo>
                  <a:pt x="1872863" y="354393"/>
                </a:lnTo>
                <a:lnTo>
                  <a:pt x="1872863" y="1274998"/>
                </a:lnTo>
                <a:lnTo>
                  <a:pt x="936431" y="1629391"/>
                </a:lnTo>
                <a:lnTo>
                  <a:pt x="1" y="1274998"/>
                </a:lnTo>
                <a:lnTo>
                  <a:pt x="1" y="354393"/>
                </a:lnTo>
                <a:lnTo>
                  <a:pt x="936431" y="0"/>
                </a:lnTo>
                <a:close/>
              </a:path>
            </a:pathLst>
          </a:custGeom>
        </p:spPr>
        <p:style>
          <a:lnRef idx="3">
            <a:schemeClr val="lt1"/>
          </a:lnRef>
          <a:fillRef idx="1">
            <a:schemeClr val="accent2"/>
          </a:fillRef>
          <a:effectRef idx="1">
            <a:schemeClr val="accent2"/>
          </a:effectRef>
          <a:fontRef idx="minor">
            <a:schemeClr val="lt1"/>
          </a:fontRef>
        </p:style>
        <p:txBody>
          <a:bodyPr lIns="253913" tIns="291856" rIns="253914" bIns="291855" spcCol="1270" anchor="ctr"/>
          <a:lstStyle/>
          <a:p>
            <a:pPr algn="ctr" defTabSz="755650">
              <a:lnSpc>
                <a:spcPct val="90000"/>
              </a:lnSpc>
              <a:spcAft>
                <a:spcPct val="35000"/>
              </a:spcAft>
              <a:defRPr/>
            </a:pPr>
            <a:r>
              <a:rPr lang="en-AU" sz="2400" dirty="0"/>
              <a:t>Transport</a:t>
            </a:r>
          </a:p>
        </p:txBody>
      </p:sp>
      <p:grpSp>
        <p:nvGrpSpPr>
          <p:cNvPr id="17" name="Group 16"/>
          <p:cNvGrpSpPr>
            <a:grpSpLocks/>
          </p:cNvGrpSpPr>
          <p:nvPr/>
        </p:nvGrpSpPr>
        <p:grpSpPr bwMode="auto">
          <a:xfrm>
            <a:off x="684214" y="2090738"/>
            <a:ext cx="7848599" cy="3543300"/>
            <a:chOff x="683569" y="2090740"/>
            <a:chExt cx="7848871" cy="3542850"/>
          </a:xfrm>
        </p:grpSpPr>
        <p:sp>
          <p:nvSpPr>
            <p:cNvPr id="16" name="&quot;No&quot; Symbol 15"/>
            <p:cNvSpPr/>
            <p:nvPr/>
          </p:nvSpPr>
          <p:spPr>
            <a:xfrm>
              <a:off x="683569" y="2090740"/>
              <a:ext cx="1728192" cy="1546067"/>
            </a:xfrm>
            <a:prstGeom prst="noSmoking">
              <a:avLst/>
            </a:prstGeom>
          </p:spPr>
          <p:style>
            <a:lnRef idx="0">
              <a:schemeClr val="accent2"/>
            </a:lnRef>
            <a:fillRef idx="3">
              <a:schemeClr val="accent2"/>
            </a:fillRef>
            <a:effectRef idx="3">
              <a:schemeClr val="accent2"/>
            </a:effectRef>
            <a:fontRef idx="minor">
              <a:schemeClr val="lt1"/>
            </a:fontRef>
          </p:style>
          <p:txBody>
            <a:bodyPr anchor="ctr"/>
            <a:lstStyle/>
            <a:p>
              <a:pPr algn="ctr">
                <a:defRPr/>
              </a:pPr>
              <a:endParaRPr lang="en-AU">
                <a:solidFill>
                  <a:schemeClr val="tx1"/>
                </a:solidFill>
              </a:endParaRPr>
            </a:p>
          </p:txBody>
        </p:sp>
        <p:sp>
          <p:nvSpPr>
            <p:cNvPr id="18" name="&quot;No&quot; Symbol 17"/>
            <p:cNvSpPr/>
            <p:nvPr/>
          </p:nvSpPr>
          <p:spPr>
            <a:xfrm>
              <a:off x="3072508" y="2124688"/>
              <a:ext cx="1728192" cy="1546067"/>
            </a:xfrm>
            <a:prstGeom prst="noSmoking">
              <a:avLst/>
            </a:prstGeom>
          </p:spPr>
          <p:style>
            <a:lnRef idx="0">
              <a:schemeClr val="accent2"/>
            </a:lnRef>
            <a:fillRef idx="3">
              <a:schemeClr val="accent2"/>
            </a:fillRef>
            <a:effectRef idx="3">
              <a:schemeClr val="accent2"/>
            </a:effectRef>
            <a:fontRef idx="minor">
              <a:schemeClr val="lt1"/>
            </a:fontRef>
          </p:style>
          <p:txBody>
            <a:bodyPr anchor="ctr"/>
            <a:lstStyle/>
            <a:p>
              <a:pPr algn="ctr">
                <a:defRPr/>
              </a:pPr>
              <a:endParaRPr lang="en-AU">
                <a:solidFill>
                  <a:schemeClr val="tx1"/>
                </a:solidFill>
              </a:endParaRPr>
            </a:p>
          </p:txBody>
        </p:sp>
        <p:sp>
          <p:nvSpPr>
            <p:cNvPr id="19" name="&quot;No&quot; Symbol 18"/>
            <p:cNvSpPr/>
            <p:nvPr/>
          </p:nvSpPr>
          <p:spPr>
            <a:xfrm>
              <a:off x="5592788" y="2124688"/>
              <a:ext cx="1728192" cy="1546067"/>
            </a:xfrm>
            <a:prstGeom prst="noSmoking">
              <a:avLst/>
            </a:prstGeom>
          </p:spPr>
          <p:style>
            <a:lnRef idx="0">
              <a:schemeClr val="accent2"/>
            </a:lnRef>
            <a:fillRef idx="3">
              <a:schemeClr val="accent2"/>
            </a:fillRef>
            <a:effectRef idx="3">
              <a:schemeClr val="accent2"/>
            </a:effectRef>
            <a:fontRef idx="minor">
              <a:schemeClr val="lt1"/>
            </a:fontRef>
          </p:style>
          <p:txBody>
            <a:bodyPr anchor="ctr"/>
            <a:lstStyle/>
            <a:p>
              <a:pPr algn="ctr">
                <a:defRPr/>
              </a:pPr>
              <a:endParaRPr lang="en-AU">
                <a:solidFill>
                  <a:schemeClr val="tx1"/>
                </a:solidFill>
              </a:endParaRPr>
            </a:p>
          </p:txBody>
        </p:sp>
        <p:sp>
          <p:nvSpPr>
            <p:cNvPr id="20" name="&quot;No&quot; Symbol 19"/>
            <p:cNvSpPr/>
            <p:nvPr/>
          </p:nvSpPr>
          <p:spPr>
            <a:xfrm>
              <a:off x="1751011" y="4053575"/>
              <a:ext cx="1728192" cy="1546067"/>
            </a:xfrm>
            <a:prstGeom prst="noSmoking">
              <a:avLst/>
            </a:prstGeom>
          </p:spPr>
          <p:style>
            <a:lnRef idx="0">
              <a:schemeClr val="accent2"/>
            </a:lnRef>
            <a:fillRef idx="3">
              <a:schemeClr val="accent2"/>
            </a:fillRef>
            <a:effectRef idx="3">
              <a:schemeClr val="accent2"/>
            </a:effectRef>
            <a:fontRef idx="minor">
              <a:schemeClr val="lt1"/>
            </a:fontRef>
          </p:style>
          <p:txBody>
            <a:bodyPr anchor="ctr"/>
            <a:lstStyle/>
            <a:p>
              <a:pPr algn="ctr">
                <a:defRPr/>
              </a:pPr>
              <a:endParaRPr lang="en-AU">
                <a:solidFill>
                  <a:schemeClr val="tx1"/>
                </a:solidFill>
              </a:endParaRPr>
            </a:p>
          </p:txBody>
        </p:sp>
        <p:sp>
          <p:nvSpPr>
            <p:cNvPr id="21" name="&quot;No&quot; Symbol 20"/>
            <p:cNvSpPr/>
            <p:nvPr/>
          </p:nvSpPr>
          <p:spPr>
            <a:xfrm>
              <a:off x="6804248" y="4087523"/>
              <a:ext cx="1728192" cy="1546067"/>
            </a:xfrm>
            <a:prstGeom prst="noSmoking">
              <a:avLst/>
            </a:prstGeom>
          </p:spPr>
          <p:style>
            <a:lnRef idx="0">
              <a:schemeClr val="accent2"/>
            </a:lnRef>
            <a:fillRef idx="3">
              <a:schemeClr val="accent2"/>
            </a:fillRef>
            <a:effectRef idx="3">
              <a:schemeClr val="accent2"/>
            </a:effectRef>
            <a:fontRef idx="minor">
              <a:schemeClr val="lt1"/>
            </a:fontRef>
          </p:style>
          <p:txBody>
            <a:bodyPr anchor="ctr"/>
            <a:lstStyle/>
            <a:p>
              <a:pPr algn="ctr">
                <a:defRPr/>
              </a:pPr>
              <a:endParaRPr lang="en-AU">
                <a:solidFill>
                  <a:schemeClr val="tx1"/>
                </a:solidFill>
              </a:endParaRPr>
            </a:p>
          </p:txBody>
        </p:sp>
        <p:sp>
          <p:nvSpPr>
            <p:cNvPr id="22" name="&quot;No&quot; Symbol 21"/>
            <p:cNvSpPr/>
            <p:nvPr/>
          </p:nvSpPr>
          <p:spPr>
            <a:xfrm>
              <a:off x="4343299" y="4020009"/>
              <a:ext cx="1728192" cy="1546067"/>
            </a:xfrm>
            <a:prstGeom prst="noSmoking">
              <a:avLst/>
            </a:prstGeom>
          </p:spPr>
          <p:style>
            <a:lnRef idx="0">
              <a:schemeClr val="accent2"/>
            </a:lnRef>
            <a:fillRef idx="3">
              <a:schemeClr val="accent2"/>
            </a:fillRef>
            <a:effectRef idx="3">
              <a:schemeClr val="accent2"/>
            </a:effectRef>
            <a:fontRef idx="minor">
              <a:schemeClr val="lt1"/>
            </a:fontRef>
          </p:style>
          <p:txBody>
            <a:bodyPr anchor="ctr"/>
            <a:lstStyle/>
            <a:p>
              <a:pPr algn="ctr">
                <a:defRPr/>
              </a:pPr>
              <a:endParaRPr lang="en-AU">
                <a:solidFill>
                  <a:schemeClr val="tx1"/>
                </a:solidFill>
              </a:endParaRPr>
            </a:p>
          </p:txBody>
        </p:sp>
      </p:grpSp>
      <p:sp>
        <p:nvSpPr>
          <p:cNvPr id="4" name="TextBox 3"/>
          <p:cNvSpPr txBox="1"/>
          <p:nvPr/>
        </p:nvSpPr>
        <p:spPr>
          <a:xfrm>
            <a:off x="282132" y="116632"/>
            <a:ext cx="8594030" cy="769441"/>
          </a:xfrm>
          <a:prstGeom prst="rect">
            <a:avLst/>
          </a:prstGeom>
          <a:noFill/>
        </p:spPr>
        <p:txBody>
          <a:bodyPr wrap="square" rtlCol="0">
            <a:spAutoFit/>
          </a:bodyPr>
          <a:lstStyle/>
          <a:p>
            <a:pPr algn="ctr"/>
            <a:r>
              <a:rPr lang="en-AU" sz="4400" b="1" dirty="0" smtClean="0">
                <a:solidFill>
                  <a:schemeClr val="bg1"/>
                </a:solidFill>
                <a:effectLst>
                  <a:outerShdw blurRad="38100" dist="38100" dir="2700000" algn="tl">
                    <a:srgbClr val="000000">
                      <a:alpha val="43137"/>
                    </a:srgbClr>
                  </a:outerShdw>
                </a:effectLst>
                <a:latin typeface="+mn-lt"/>
                <a:cs typeface="+mn-cs"/>
              </a:rPr>
              <a:t>Problems of colonial life</a:t>
            </a:r>
            <a:endParaRPr lang="en-AU" sz="4400" b="1" dirty="0">
              <a:solidFill>
                <a:schemeClr val="bg1"/>
              </a:solidFill>
              <a:effectLst>
                <a:outerShdw blurRad="38100" dist="38100" dir="2700000" algn="tl">
                  <a:srgbClr val="000000">
                    <a:alpha val="43137"/>
                  </a:srgbClr>
                </a:outerShdw>
              </a:effectLst>
              <a:latin typeface="+mn-lt"/>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p:cTn id="7" dur="500" fill="hold"/>
                                        <p:tgtEl>
                                          <p:spTgt spid="17"/>
                                        </p:tgtEl>
                                        <p:attrNameLst>
                                          <p:attrName>ppt_w</p:attrName>
                                        </p:attrNameLst>
                                      </p:cBhvr>
                                      <p:tavLst>
                                        <p:tav tm="0">
                                          <p:val>
                                            <p:fltVal val="0"/>
                                          </p:val>
                                        </p:tav>
                                        <p:tav tm="100000">
                                          <p:val>
                                            <p:strVal val="#ppt_w"/>
                                          </p:val>
                                        </p:tav>
                                      </p:tavLst>
                                    </p:anim>
                                    <p:anim calcmode="lin" valueType="num">
                                      <p:cBhvr>
                                        <p:cTn id="8" dur="500" fill="hold"/>
                                        <p:tgtEl>
                                          <p:spTgt spid="17"/>
                                        </p:tgtEl>
                                        <p:attrNameLst>
                                          <p:attrName>ppt_h</p:attrName>
                                        </p:attrNameLst>
                                      </p:cBhvr>
                                      <p:tavLst>
                                        <p:tav tm="0">
                                          <p:val>
                                            <p:fltVal val="0"/>
                                          </p:val>
                                        </p:tav>
                                        <p:tav tm="100000">
                                          <p:val>
                                            <p:strVal val="#ppt_h"/>
                                          </p:val>
                                        </p:tav>
                                      </p:tavLst>
                                    </p:anim>
                                    <p:animEffect transition="in" filter="fade">
                                      <p:cBhvr>
                                        <p:cTn id="9"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p:nvPr/>
        </p:nvGrpSpPr>
        <p:grpSpPr>
          <a:xfrm>
            <a:off x="2032667" y="1561306"/>
            <a:ext cx="5076278" cy="4892030"/>
            <a:chOff x="2032667" y="1561306"/>
            <a:chExt cx="5076278" cy="4892030"/>
          </a:xfrm>
        </p:grpSpPr>
        <p:pic>
          <p:nvPicPr>
            <p:cNvPr id="5" name="Picture 4"/>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2035054" y="1561306"/>
              <a:ext cx="5073891" cy="429418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5"/>
            <p:cNvSpPr txBox="1"/>
            <p:nvPr/>
          </p:nvSpPr>
          <p:spPr>
            <a:xfrm>
              <a:off x="2032667" y="5868561"/>
              <a:ext cx="5073891" cy="584775"/>
            </a:xfrm>
            <a:prstGeom prst="rect">
              <a:avLst/>
            </a:prstGeom>
            <a:solidFill>
              <a:schemeClr val="bg1"/>
            </a:solidFill>
          </p:spPr>
          <p:txBody>
            <a:bodyPr wrap="square" rtlCol="0">
              <a:spAutoFit/>
            </a:bodyPr>
            <a:lstStyle/>
            <a:p>
              <a:pPr algn="ctr"/>
              <a:r>
                <a:rPr lang="en-AU" sz="1600" dirty="0"/>
                <a:t>Political cartoon from ‘The Argus’ newspaper in Melbourne, 1898</a:t>
              </a:r>
            </a:p>
          </p:txBody>
        </p:sp>
      </p:grpSp>
      <p:sp>
        <p:nvSpPr>
          <p:cNvPr id="10" name="Title 1"/>
          <p:cNvSpPr txBox="1">
            <a:spLocks/>
          </p:cNvSpPr>
          <p:nvPr/>
        </p:nvSpPr>
        <p:spPr>
          <a:xfrm rot="16200000">
            <a:off x="3764479" y="-3647600"/>
            <a:ext cx="1538883" cy="9013866"/>
          </a:xfrm>
          <a:prstGeom prst="rect">
            <a:avLst/>
          </a:prstGeom>
          <a:noFill/>
          <a:ln w="25400" cap="flat" cmpd="sng" algn="ctr">
            <a:noFill/>
            <a:prstDash val="solid"/>
          </a:ln>
        </p:spPr>
        <p:style>
          <a:lnRef idx="2">
            <a:schemeClr val="accent4"/>
          </a:lnRef>
          <a:fillRef idx="1">
            <a:schemeClr val="lt1"/>
          </a:fillRef>
          <a:effectRef idx="0">
            <a:schemeClr val="accent4"/>
          </a:effectRef>
          <a:fontRef idx="minor">
            <a:schemeClr val="dk1"/>
          </a:fontRef>
        </p:style>
        <p:txBody>
          <a:bodyPr vert="eaVert" wrap="square" rtlCol="0">
            <a:spAutoFit/>
          </a:bodyPr>
          <a:lstStyle>
            <a:lvl1pPr algn="ctr" rtl="0" eaLnBrk="0" fontAlgn="base" hangingPunct="0">
              <a:spcBef>
                <a:spcPct val="0"/>
              </a:spcBef>
              <a:spcAft>
                <a:spcPct val="0"/>
              </a:spcAft>
              <a:defRPr sz="4400" kern="1200">
                <a:solidFill>
                  <a:schemeClr val="dk1"/>
                </a:solidFill>
                <a:latin typeface="+mn-lt"/>
                <a:ea typeface="+mn-ea"/>
                <a:cs typeface="+mn-cs"/>
              </a:defRPr>
            </a:lvl1pPr>
            <a:lvl2pPr algn="ctr" rtl="0" eaLnBrk="0" fontAlgn="base" hangingPunct="0">
              <a:spcBef>
                <a:spcPct val="0"/>
              </a:spcBef>
              <a:spcAft>
                <a:spcPct val="0"/>
              </a:spcAft>
              <a:defRPr sz="4400">
                <a:solidFill>
                  <a:schemeClr val="dk1"/>
                </a:solidFill>
                <a:latin typeface="+mn-lt"/>
                <a:ea typeface="+mn-ea"/>
                <a:cs typeface="+mn-cs"/>
              </a:defRPr>
            </a:lvl2pPr>
            <a:lvl3pPr algn="ctr" rtl="0" eaLnBrk="0" fontAlgn="base" hangingPunct="0">
              <a:spcBef>
                <a:spcPct val="0"/>
              </a:spcBef>
              <a:spcAft>
                <a:spcPct val="0"/>
              </a:spcAft>
              <a:defRPr sz="4400">
                <a:solidFill>
                  <a:schemeClr val="dk1"/>
                </a:solidFill>
                <a:latin typeface="+mn-lt"/>
                <a:ea typeface="+mn-ea"/>
                <a:cs typeface="+mn-cs"/>
              </a:defRPr>
            </a:lvl3pPr>
            <a:lvl4pPr algn="ctr" rtl="0" eaLnBrk="0" fontAlgn="base" hangingPunct="0">
              <a:spcBef>
                <a:spcPct val="0"/>
              </a:spcBef>
              <a:spcAft>
                <a:spcPct val="0"/>
              </a:spcAft>
              <a:defRPr sz="4400">
                <a:solidFill>
                  <a:schemeClr val="dk1"/>
                </a:solidFill>
                <a:latin typeface="+mn-lt"/>
                <a:ea typeface="+mn-ea"/>
                <a:cs typeface="+mn-cs"/>
              </a:defRPr>
            </a:lvl4pPr>
            <a:lvl5pPr algn="ctr" rtl="0" eaLnBrk="0" fontAlgn="base" hangingPunct="0">
              <a:spcBef>
                <a:spcPct val="0"/>
              </a:spcBef>
              <a:spcAft>
                <a:spcPct val="0"/>
              </a:spcAft>
              <a:defRPr sz="4400">
                <a:solidFill>
                  <a:schemeClr val="dk1"/>
                </a:solidFill>
                <a:latin typeface="+mn-lt"/>
                <a:ea typeface="+mn-ea"/>
                <a:cs typeface="+mn-cs"/>
              </a:defRPr>
            </a:lvl5pPr>
            <a:lvl6pPr marL="457200" algn="ctr" rtl="0" fontAlgn="base">
              <a:spcBef>
                <a:spcPct val="0"/>
              </a:spcBef>
              <a:spcAft>
                <a:spcPct val="0"/>
              </a:spcAft>
              <a:defRPr sz="4400">
                <a:solidFill>
                  <a:schemeClr val="dk1"/>
                </a:solidFill>
                <a:latin typeface="+mn-lt"/>
                <a:ea typeface="+mn-ea"/>
                <a:cs typeface="+mn-cs"/>
              </a:defRPr>
            </a:lvl6pPr>
            <a:lvl7pPr marL="914400" algn="ctr" rtl="0" fontAlgn="base">
              <a:spcBef>
                <a:spcPct val="0"/>
              </a:spcBef>
              <a:spcAft>
                <a:spcPct val="0"/>
              </a:spcAft>
              <a:defRPr sz="4400">
                <a:solidFill>
                  <a:schemeClr val="dk1"/>
                </a:solidFill>
                <a:latin typeface="+mn-lt"/>
                <a:ea typeface="+mn-ea"/>
                <a:cs typeface="+mn-cs"/>
              </a:defRPr>
            </a:lvl7pPr>
            <a:lvl8pPr marL="1371600" algn="ctr" rtl="0" fontAlgn="base">
              <a:spcBef>
                <a:spcPct val="0"/>
              </a:spcBef>
              <a:spcAft>
                <a:spcPct val="0"/>
              </a:spcAft>
              <a:defRPr sz="4400">
                <a:solidFill>
                  <a:schemeClr val="dk1"/>
                </a:solidFill>
                <a:latin typeface="+mn-lt"/>
                <a:ea typeface="+mn-ea"/>
                <a:cs typeface="+mn-cs"/>
              </a:defRPr>
            </a:lvl8pPr>
            <a:lvl9pPr marL="1828800" algn="ctr" rtl="0" fontAlgn="base">
              <a:spcBef>
                <a:spcPct val="0"/>
              </a:spcBef>
              <a:spcAft>
                <a:spcPct val="0"/>
              </a:spcAft>
              <a:defRPr sz="4400">
                <a:solidFill>
                  <a:schemeClr val="dk1"/>
                </a:solidFill>
                <a:latin typeface="+mn-lt"/>
                <a:ea typeface="+mn-ea"/>
                <a:cs typeface="+mn-cs"/>
              </a:defRPr>
            </a:lvl9pPr>
          </a:lstStyle>
          <a:p>
            <a:r>
              <a:rPr lang="en-AU" altLang="en-US" b="1" dirty="0" smtClean="0">
                <a:solidFill>
                  <a:schemeClr val="bg1"/>
                </a:solidFill>
                <a:effectLst>
                  <a:outerShdw blurRad="38100" dist="38100" dir="2700000" algn="tl">
                    <a:srgbClr val="000000">
                      <a:alpha val="43137"/>
                    </a:srgbClr>
                  </a:outerShdw>
                </a:effectLst>
              </a:rPr>
              <a:t>Federation seen as the solution to </a:t>
            </a:r>
            <a:br>
              <a:rPr lang="en-AU" altLang="en-US" b="1" dirty="0" smtClean="0">
                <a:solidFill>
                  <a:schemeClr val="bg1"/>
                </a:solidFill>
                <a:effectLst>
                  <a:outerShdw blurRad="38100" dist="38100" dir="2700000" algn="tl">
                    <a:srgbClr val="000000">
                      <a:alpha val="43137"/>
                    </a:srgbClr>
                  </a:outerShdw>
                </a:effectLst>
              </a:rPr>
            </a:br>
            <a:r>
              <a:rPr lang="en-AU" altLang="en-US" b="1" dirty="0" smtClean="0">
                <a:solidFill>
                  <a:schemeClr val="bg1"/>
                </a:solidFill>
                <a:effectLst>
                  <a:outerShdw blurRad="38100" dist="38100" dir="2700000" algn="tl">
                    <a:srgbClr val="000000">
                      <a:alpha val="43137"/>
                    </a:srgbClr>
                  </a:outerShdw>
                </a:effectLst>
              </a:rPr>
              <a:t>colonial problems</a:t>
            </a:r>
            <a:endParaRPr lang="en-AU" altLang="en-US" b="1" dirty="0">
              <a:solidFill>
                <a:schemeClr val="bg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6749223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530" name="Title 1"/>
          <p:cNvSpPr>
            <a:spLocks noGrp="1"/>
          </p:cNvSpPr>
          <p:nvPr>
            <p:ph type="title"/>
          </p:nvPr>
        </p:nvSpPr>
        <p:spPr>
          <a:xfrm>
            <a:off x="179512" y="116632"/>
            <a:ext cx="8445624" cy="332656"/>
          </a:xfrm>
        </p:spPr>
        <p:txBody>
          <a:bodyPr/>
          <a:lstStyle/>
          <a:p>
            <a:pPr algn="l" eaLnBrk="1" hangingPunct="1"/>
            <a:r>
              <a:rPr lang="en-AU" altLang="en-US" sz="2000" b="1" dirty="0" smtClean="0"/>
              <a:t>Attributions</a:t>
            </a:r>
          </a:p>
        </p:txBody>
      </p:sp>
      <p:sp>
        <p:nvSpPr>
          <p:cNvPr id="22531" name="Content Placeholder 2"/>
          <p:cNvSpPr>
            <a:spLocks noGrp="1"/>
          </p:cNvSpPr>
          <p:nvPr>
            <p:ph idx="1"/>
          </p:nvPr>
        </p:nvSpPr>
        <p:spPr>
          <a:xfrm>
            <a:off x="179512" y="548680"/>
            <a:ext cx="8784976" cy="6264696"/>
          </a:xfrm>
        </p:spPr>
        <p:txBody>
          <a:bodyPr/>
          <a:lstStyle/>
          <a:p>
            <a:pPr marL="720725" indent="-720725">
              <a:spcBef>
                <a:spcPts val="200"/>
              </a:spcBef>
              <a:buNone/>
              <a:tabLst>
                <a:tab pos="630238" algn="l"/>
              </a:tabLst>
            </a:pPr>
            <a:r>
              <a:rPr lang="en-AU" sz="1200" b="1" dirty="0"/>
              <a:t>Slide 1</a:t>
            </a:r>
            <a:r>
              <a:rPr lang="en-AU" sz="1200" dirty="0"/>
              <a:t>: 	</a:t>
            </a:r>
            <a:r>
              <a:rPr lang="en-AU" sz="1200" dirty="0" smtClean="0"/>
              <a:t>‘</a:t>
            </a:r>
            <a:r>
              <a:rPr lang="en-AU" sz="1200" dirty="0"/>
              <a:t>The great work for Friday’ in </a:t>
            </a:r>
            <a:r>
              <a:rPr lang="en-AU" sz="1200" i="1" dirty="0"/>
              <a:t>The Argus </a:t>
            </a:r>
            <a:r>
              <a:rPr lang="en-AU" sz="1200" dirty="0"/>
              <a:t>(Melbourne), 1 June 1898, p.5</a:t>
            </a:r>
            <a:r>
              <a:rPr lang="en-AU" sz="1200" dirty="0" smtClean="0"/>
              <a:t>, </a:t>
            </a:r>
            <a:r>
              <a:rPr lang="en-AU" sz="1200" dirty="0" smtClean="0">
                <a:solidFill>
                  <a:schemeClr val="bg1">
                    <a:lumMod val="65000"/>
                  </a:schemeClr>
                </a:solidFill>
              </a:rPr>
              <a:t>http</a:t>
            </a:r>
            <a:r>
              <a:rPr lang="en-AU" sz="1200" dirty="0">
                <a:solidFill>
                  <a:schemeClr val="bg1">
                    <a:lumMod val="65000"/>
                  </a:schemeClr>
                </a:solidFill>
              </a:rPr>
              <a:t>://</a:t>
            </a:r>
            <a:r>
              <a:rPr lang="en-AU" sz="1200" dirty="0" smtClean="0">
                <a:solidFill>
                  <a:schemeClr val="bg1">
                    <a:lumMod val="65000"/>
                  </a:schemeClr>
                </a:solidFill>
              </a:rPr>
              <a:t>trove.nla.gov.au/ndp/del/page/310001</a:t>
            </a:r>
          </a:p>
          <a:p>
            <a:pPr marL="720725" indent="-720725">
              <a:spcBef>
                <a:spcPts val="200"/>
              </a:spcBef>
              <a:buNone/>
              <a:tabLst>
                <a:tab pos="630238" algn="l"/>
              </a:tabLst>
            </a:pPr>
            <a:r>
              <a:rPr lang="en-AU" sz="1200" b="1" dirty="0" smtClean="0"/>
              <a:t>Slide </a:t>
            </a:r>
            <a:r>
              <a:rPr lang="en-AU" sz="1200" b="1" dirty="0"/>
              <a:t>3:  	</a:t>
            </a:r>
            <a:r>
              <a:rPr lang="en-AU" sz="1200" i="1" dirty="0" smtClean="0"/>
              <a:t>Crown</a:t>
            </a:r>
            <a:r>
              <a:rPr lang="en-AU" sz="1200" dirty="0"/>
              <a:t>, </a:t>
            </a:r>
            <a:r>
              <a:rPr lang="en-AU" sz="1200" dirty="0">
                <a:solidFill>
                  <a:schemeClr val="bg1">
                    <a:lumMod val="65000"/>
                  </a:schemeClr>
                </a:solidFill>
              </a:rPr>
              <a:t>http://</a:t>
            </a:r>
            <a:r>
              <a:rPr lang="en-AU" sz="1200" dirty="0" smtClean="0">
                <a:solidFill>
                  <a:schemeClr val="bg1">
                    <a:lumMod val="65000"/>
                  </a:schemeClr>
                </a:solidFill>
              </a:rPr>
              <a:t>www.clker.com/clipart-15746.html</a:t>
            </a:r>
          </a:p>
          <a:p>
            <a:pPr marL="720725" indent="-720725">
              <a:spcBef>
                <a:spcPts val="200"/>
              </a:spcBef>
              <a:buNone/>
              <a:tabLst>
                <a:tab pos="630238" algn="l"/>
              </a:tabLst>
            </a:pPr>
            <a:r>
              <a:rPr lang="en-AU" sz="1200" dirty="0" smtClean="0"/>
              <a:t>	Muller</a:t>
            </a:r>
            <a:r>
              <a:rPr lang="en-AU" sz="1200" dirty="0"/>
              <a:t>, J. E. 1890-1900, </a:t>
            </a:r>
            <a:r>
              <a:rPr lang="en-AU" sz="1200" i="1" dirty="0"/>
              <a:t>Photographic portrait of a Chinese immigrant family in </a:t>
            </a:r>
            <a:r>
              <a:rPr lang="en-AU" sz="1200" i="1" dirty="0" smtClean="0"/>
              <a:t>Suriname, </a:t>
            </a:r>
            <a:r>
              <a:rPr lang="en-AU" sz="1200" dirty="0" smtClean="0"/>
              <a:t>(</a:t>
            </a:r>
            <a:r>
              <a:rPr lang="en-AU" sz="1200" dirty="0" err="1" smtClean="0"/>
              <a:t>Tropenmuseum</a:t>
            </a:r>
            <a:r>
              <a:rPr lang="en-AU" sz="1200" dirty="0" smtClean="0"/>
              <a:t>, part of the National Museum of World Cultures), </a:t>
            </a:r>
            <a:r>
              <a:rPr lang="en-AU" sz="1200" dirty="0" smtClean="0">
                <a:solidFill>
                  <a:schemeClr val="bg1">
                    <a:lumMod val="65000"/>
                  </a:schemeClr>
                </a:solidFill>
              </a:rPr>
              <a:t>http</a:t>
            </a:r>
            <a:r>
              <a:rPr lang="en-AU" sz="1200" dirty="0">
                <a:solidFill>
                  <a:schemeClr val="bg1">
                    <a:lumMod val="65000"/>
                  </a:schemeClr>
                </a:solidFill>
              </a:rPr>
              <a:t>://commons.wikimedia.org/wiki/File:Tropenmuseum_Royal_Tropical_Institute_Objectnumber_60012337_Portret_van_een_Chinese_immigrantenfa.jpg </a:t>
            </a:r>
            <a:r>
              <a:rPr lang="en-AU" sz="1200" dirty="0" smtClean="0">
                <a:solidFill>
                  <a:schemeClr val="bg1">
                    <a:lumMod val="65000"/>
                  </a:schemeClr>
                </a:solidFill>
              </a:rPr>
              <a:t> CC </a:t>
            </a:r>
            <a:r>
              <a:rPr lang="en-AU" sz="1200" dirty="0">
                <a:solidFill>
                  <a:schemeClr val="bg1">
                    <a:lumMod val="65000"/>
                  </a:schemeClr>
                </a:solidFill>
              </a:rPr>
              <a:t>BY-SA </a:t>
            </a:r>
            <a:r>
              <a:rPr lang="en-AU" sz="1200" dirty="0" smtClean="0">
                <a:solidFill>
                  <a:schemeClr val="bg1">
                    <a:lumMod val="65000"/>
                  </a:schemeClr>
                </a:solidFill>
              </a:rPr>
              <a:t> creativecommons.org/licenses/by-</a:t>
            </a:r>
            <a:r>
              <a:rPr lang="en-AU" sz="1200" dirty="0" err="1" smtClean="0">
                <a:solidFill>
                  <a:schemeClr val="bg1">
                    <a:lumMod val="65000"/>
                  </a:schemeClr>
                </a:solidFill>
              </a:rPr>
              <a:t>sa</a:t>
            </a:r>
            <a:r>
              <a:rPr lang="en-AU" sz="1200" dirty="0" smtClean="0">
                <a:solidFill>
                  <a:schemeClr val="bg1">
                    <a:lumMod val="65000"/>
                  </a:schemeClr>
                </a:solidFill>
              </a:rPr>
              <a:t>/3.0/</a:t>
            </a:r>
          </a:p>
          <a:p>
            <a:pPr marL="720725" indent="-720725">
              <a:spcBef>
                <a:spcPts val="200"/>
              </a:spcBef>
              <a:buNone/>
              <a:tabLst>
                <a:tab pos="630238" algn="l"/>
              </a:tabLst>
            </a:pPr>
            <a:r>
              <a:rPr lang="en-AU" sz="1200" i="1" dirty="0" smtClean="0"/>
              <a:t>	Kanaka </a:t>
            </a:r>
            <a:r>
              <a:rPr lang="en-AU" sz="1200" i="1" dirty="0"/>
              <a:t>labourers on a Queensland pineapple plantation</a:t>
            </a:r>
            <a:r>
              <a:rPr lang="en-AU" sz="1200" dirty="0"/>
              <a:t>, National Library of </a:t>
            </a:r>
            <a:r>
              <a:rPr lang="en-AU" sz="1200" dirty="0" smtClean="0"/>
              <a:t>Australia, </a:t>
            </a:r>
            <a:r>
              <a:rPr lang="en-AU" sz="1200" dirty="0"/>
              <a:t>Image: nla.pic-an24494586  </a:t>
            </a:r>
            <a:r>
              <a:rPr lang="en-AU" sz="1200" dirty="0">
                <a:solidFill>
                  <a:schemeClr val="bg1">
                    <a:lumMod val="65000"/>
                  </a:schemeClr>
                </a:solidFill>
              </a:rPr>
              <a:t>http://</a:t>
            </a:r>
            <a:r>
              <a:rPr lang="en-AU" sz="1200" dirty="0" smtClean="0">
                <a:solidFill>
                  <a:schemeClr val="bg1">
                    <a:lumMod val="65000"/>
                  </a:schemeClr>
                </a:solidFill>
              </a:rPr>
              <a:t>nla.gov.au/nla.pic-an24494586</a:t>
            </a:r>
          </a:p>
          <a:p>
            <a:pPr marL="720725" indent="-720725">
              <a:spcBef>
                <a:spcPts val="200"/>
              </a:spcBef>
              <a:buNone/>
              <a:tabLst>
                <a:tab pos="630238" algn="l"/>
              </a:tabLst>
            </a:pPr>
            <a:r>
              <a:rPr lang="en-AU" sz="1200" b="1" dirty="0" smtClean="0"/>
              <a:t>Slide </a:t>
            </a:r>
            <a:r>
              <a:rPr lang="en-AU" sz="1200" b="1" dirty="0"/>
              <a:t>4:  </a:t>
            </a:r>
            <a:r>
              <a:rPr lang="en-AU" sz="1200" b="1" dirty="0" smtClean="0"/>
              <a:t>	</a:t>
            </a:r>
            <a:r>
              <a:rPr lang="en-AU" sz="1200" i="1" dirty="0" smtClean="0"/>
              <a:t>Bernhard </a:t>
            </a:r>
            <a:r>
              <a:rPr lang="en-AU" sz="1200" i="1" dirty="0"/>
              <a:t>Otto Holterman with 630lb of </a:t>
            </a:r>
            <a:r>
              <a:rPr lang="en-AU" sz="1200" i="1" dirty="0" smtClean="0"/>
              <a:t>gold</a:t>
            </a:r>
            <a:r>
              <a:rPr lang="en-AU" sz="1200" dirty="0" smtClean="0"/>
              <a:t>, (State Library of NSW) </a:t>
            </a:r>
            <a:r>
              <a:rPr lang="en-AU" sz="1200" dirty="0">
                <a:solidFill>
                  <a:schemeClr val="bg1">
                    <a:lumMod val="65000"/>
                  </a:schemeClr>
                </a:solidFill>
              </a:rPr>
              <a:t>http://</a:t>
            </a:r>
            <a:r>
              <a:rPr lang="en-AU" sz="1200" dirty="0" smtClean="0">
                <a:solidFill>
                  <a:schemeClr val="bg1">
                    <a:lumMod val="65000"/>
                  </a:schemeClr>
                </a:solidFill>
              </a:rPr>
              <a:t>commons.wikimedia.org/wiki/File:Bernhard_otto_holterman_with_630lb_gold_from_Hill_End.jpg</a:t>
            </a:r>
            <a:endParaRPr lang="en-AU" sz="1200" b="1" dirty="0">
              <a:solidFill>
                <a:schemeClr val="bg1">
                  <a:lumMod val="65000"/>
                </a:schemeClr>
              </a:solidFill>
            </a:endParaRPr>
          </a:p>
          <a:p>
            <a:pPr marL="720725" indent="-720725">
              <a:spcBef>
                <a:spcPts val="200"/>
              </a:spcBef>
              <a:buNone/>
              <a:tabLst>
                <a:tab pos="630238" algn="l"/>
              </a:tabLst>
            </a:pPr>
            <a:r>
              <a:rPr lang="en-AU" sz="1200" b="1" i="1" dirty="0"/>
              <a:t>	</a:t>
            </a:r>
            <a:r>
              <a:rPr lang="en-AU" sz="1200" i="1" dirty="0" smtClean="0"/>
              <a:t>Sheep  </a:t>
            </a:r>
            <a:r>
              <a:rPr lang="en-AU" sz="1200" i="1" dirty="0"/>
              <a:t>washing on Yandilla Station, Darling Downs, 1884,</a:t>
            </a:r>
            <a:r>
              <a:rPr lang="en-AU" sz="1200" dirty="0"/>
              <a:t> State Library of Queensland, John Oxley Library </a:t>
            </a:r>
            <a:r>
              <a:rPr lang="en-AU" sz="1200" dirty="0">
                <a:solidFill>
                  <a:schemeClr val="bg1">
                    <a:lumMod val="65000"/>
                  </a:schemeClr>
                </a:solidFill>
              </a:rPr>
              <a:t>http://hdl.handle.net/10462/deriv/194021 </a:t>
            </a:r>
            <a:endParaRPr lang="en-AU" sz="1200" dirty="0" smtClean="0">
              <a:solidFill>
                <a:schemeClr val="bg1">
                  <a:lumMod val="65000"/>
                </a:schemeClr>
              </a:solidFill>
            </a:endParaRPr>
          </a:p>
          <a:p>
            <a:pPr marL="720725" indent="-720725">
              <a:spcBef>
                <a:spcPts val="200"/>
              </a:spcBef>
              <a:buNone/>
              <a:tabLst>
                <a:tab pos="630238" algn="l"/>
              </a:tabLst>
            </a:pPr>
            <a:r>
              <a:rPr lang="en-AU" sz="1200" b="1" dirty="0" smtClean="0"/>
              <a:t>Slide </a:t>
            </a:r>
            <a:r>
              <a:rPr lang="en-AU" sz="1200" b="1" dirty="0"/>
              <a:t>5:  </a:t>
            </a:r>
            <a:r>
              <a:rPr lang="en-AU" sz="1200" b="1" dirty="0" smtClean="0"/>
              <a:t>	</a:t>
            </a:r>
            <a:r>
              <a:rPr lang="en-AU" sz="1200" i="1" dirty="0" smtClean="0"/>
              <a:t>Family </a:t>
            </a:r>
            <a:r>
              <a:rPr lang="en-AU" sz="1200" i="1" dirty="0"/>
              <a:t>in a horse drawn buggy in Bundaberg, ca. 1912</a:t>
            </a:r>
            <a:r>
              <a:rPr lang="en-AU" sz="1200" dirty="0"/>
              <a:t> State Library of Queensland, John Oxley Library </a:t>
            </a:r>
            <a:r>
              <a:rPr lang="en-US" sz="1200" dirty="0">
                <a:solidFill>
                  <a:schemeClr val="bg1">
                    <a:lumMod val="65000"/>
                  </a:schemeClr>
                </a:solidFill>
              </a:rPr>
              <a:t>http://</a:t>
            </a:r>
            <a:r>
              <a:rPr lang="en-US" sz="1200" dirty="0" smtClean="0">
                <a:solidFill>
                  <a:schemeClr val="bg1">
                    <a:lumMod val="65000"/>
                  </a:schemeClr>
                </a:solidFill>
              </a:rPr>
              <a:t>hdl.handle.net/10462/deriv/70184</a:t>
            </a:r>
            <a:endParaRPr lang="en-AU" sz="1200" dirty="0">
              <a:solidFill>
                <a:schemeClr val="bg1">
                  <a:lumMod val="65000"/>
                </a:schemeClr>
              </a:solidFill>
            </a:endParaRPr>
          </a:p>
          <a:p>
            <a:pPr marL="720725" indent="-720725">
              <a:spcBef>
                <a:spcPts val="200"/>
              </a:spcBef>
              <a:buNone/>
              <a:tabLst>
                <a:tab pos="630238" algn="l"/>
              </a:tabLst>
            </a:pPr>
            <a:r>
              <a:rPr lang="en-AU" sz="1200" i="1" dirty="0"/>
              <a:t>	</a:t>
            </a:r>
            <a:r>
              <a:rPr lang="en-AU" sz="1200" i="1" dirty="0" smtClean="0"/>
              <a:t>Railway </a:t>
            </a:r>
            <a:r>
              <a:rPr lang="en-AU" sz="1200" i="1" dirty="0"/>
              <a:t>turntable</a:t>
            </a:r>
            <a:r>
              <a:rPr lang="en-AU" sz="1200" dirty="0"/>
              <a:t> </a:t>
            </a:r>
            <a:r>
              <a:rPr lang="en-AU" sz="1200" dirty="0">
                <a:solidFill>
                  <a:schemeClr val="bg1">
                    <a:lumMod val="65000"/>
                  </a:schemeClr>
                </a:solidFill>
              </a:rPr>
              <a:t>http://</a:t>
            </a:r>
            <a:r>
              <a:rPr lang="en-AU" sz="1200" dirty="0" smtClean="0">
                <a:solidFill>
                  <a:schemeClr val="bg1">
                    <a:lumMod val="65000"/>
                  </a:schemeClr>
                </a:solidFill>
              </a:rPr>
              <a:t>commons.wikimedia.org/wiki/File:CRW_1138.jpg</a:t>
            </a:r>
          </a:p>
          <a:p>
            <a:pPr marL="720725" indent="-720725">
              <a:spcBef>
                <a:spcPts val="200"/>
              </a:spcBef>
              <a:buNone/>
              <a:tabLst>
                <a:tab pos="630238" algn="l"/>
              </a:tabLst>
            </a:pPr>
            <a:r>
              <a:rPr lang="en-AU" sz="1200" i="1" dirty="0"/>
              <a:t>	</a:t>
            </a:r>
            <a:r>
              <a:rPr lang="en-AU" sz="1200" i="1" dirty="0" smtClean="0"/>
              <a:t>Suitcase</a:t>
            </a:r>
            <a:r>
              <a:rPr lang="en-AU" sz="1200" dirty="0" smtClean="0"/>
              <a:t> </a:t>
            </a:r>
            <a:r>
              <a:rPr lang="en-AU" sz="1200" dirty="0">
                <a:solidFill>
                  <a:schemeClr val="bg1">
                    <a:lumMod val="65000"/>
                  </a:schemeClr>
                </a:solidFill>
              </a:rPr>
              <a:t>http://</a:t>
            </a:r>
            <a:r>
              <a:rPr lang="en-AU" sz="1200" dirty="0" smtClean="0">
                <a:solidFill>
                  <a:schemeClr val="bg1">
                    <a:lumMod val="65000"/>
                  </a:schemeClr>
                </a:solidFill>
              </a:rPr>
              <a:t>www.clker.com/clipart-29065.html</a:t>
            </a:r>
            <a:r>
              <a:rPr lang="en-AU" sz="1200" u="sng" dirty="0" smtClean="0">
                <a:solidFill>
                  <a:schemeClr val="bg1">
                    <a:lumMod val="65000"/>
                  </a:schemeClr>
                </a:solidFill>
              </a:rPr>
              <a:t> </a:t>
            </a:r>
            <a:endParaRPr lang="en-AU" sz="1200" dirty="0">
              <a:solidFill>
                <a:schemeClr val="bg1">
                  <a:lumMod val="65000"/>
                </a:schemeClr>
              </a:solidFill>
            </a:endParaRPr>
          </a:p>
          <a:p>
            <a:pPr marL="720725" indent="-720725">
              <a:spcBef>
                <a:spcPts val="200"/>
              </a:spcBef>
              <a:buNone/>
              <a:tabLst>
                <a:tab pos="630238" algn="l"/>
              </a:tabLst>
            </a:pPr>
            <a:r>
              <a:rPr lang="en-AU" sz="1200" b="1" dirty="0" smtClean="0"/>
              <a:t>Slide </a:t>
            </a:r>
            <a:r>
              <a:rPr lang="en-AU" sz="1200" b="1" dirty="0"/>
              <a:t>6:   </a:t>
            </a:r>
            <a:r>
              <a:rPr lang="en-AU" sz="1200" b="1" dirty="0" smtClean="0"/>
              <a:t>	</a:t>
            </a:r>
            <a:r>
              <a:rPr lang="en-AU" sz="1200" i="1" dirty="0" smtClean="0"/>
              <a:t>Queensland </a:t>
            </a:r>
            <a:r>
              <a:rPr lang="en-AU" sz="1200" i="1" dirty="0"/>
              <a:t>one shilling revenue stamp</a:t>
            </a:r>
            <a:r>
              <a:rPr lang="en-AU" sz="1200" dirty="0"/>
              <a:t> </a:t>
            </a:r>
            <a:r>
              <a:rPr lang="en-AU" sz="1200" dirty="0">
                <a:solidFill>
                  <a:schemeClr val="bg1">
                    <a:lumMod val="65000"/>
                  </a:schemeClr>
                </a:solidFill>
              </a:rPr>
              <a:t>http://</a:t>
            </a:r>
            <a:r>
              <a:rPr lang="en-AU" sz="1200" dirty="0" smtClean="0">
                <a:solidFill>
                  <a:schemeClr val="bg1">
                    <a:lumMod val="65000"/>
                  </a:schemeClr>
                </a:solidFill>
              </a:rPr>
              <a:t>commons.wikimedia.org/wiki/File:Queensland_one_shilling_revenue_stamp.jpg?uselang=fr</a:t>
            </a:r>
          </a:p>
          <a:p>
            <a:pPr marL="720725" indent="-720725">
              <a:spcBef>
                <a:spcPts val="200"/>
              </a:spcBef>
              <a:buNone/>
              <a:tabLst>
                <a:tab pos="630238" algn="l"/>
              </a:tabLst>
            </a:pPr>
            <a:r>
              <a:rPr lang="en-AU" sz="1200" dirty="0"/>
              <a:t>	</a:t>
            </a:r>
            <a:r>
              <a:rPr lang="en-AU" sz="1200" dirty="0" smtClean="0"/>
              <a:t>Celcom, </a:t>
            </a:r>
            <a:r>
              <a:rPr lang="en-AU" sz="1200" dirty="0"/>
              <a:t>2008, </a:t>
            </a:r>
            <a:r>
              <a:rPr lang="en-AU" sz="1200" i="1" dirty="0"/>
              <a:t>Customs House in Brisbane, Queensland. </a:t>
            </a:r>
            <a:r>
              <a:rPr lang="en-AU" sz="1200" dirty="0">
                <a:solidFill>
                  <a:schemeClr val="bg1">
                    <a:lumMod val="65000"/>
                  </a:schemeClr>
                </a:solidFill>
              </a:rPr>
              <a:t>http://</a:t>
            </a:r>
            <a:r>
              <a:rPr lang="en-AU" sz="1200" dirty="0" smtClean="0">
                <a:solidFill>
                  <a:schemeClr val="bg1">
                    <a:lumMod val="65000"/>
                  </a:schemeClr>
                </a:solidFill>
              </a:rPr>
              <a:t>commons.wikimedia.org/wiki/File:Customs_House_Brisbane.jpg </a:t>
            </a:r>
            <a:r>
              <a:rPr lang="en-AU" sz="1200" dirty="0" smtClean="0"/>
              <a:t>CC </a:t>
            </a:r>
            <a:r>
              <a:rPr lang="en-AU" sz="1200" dirty="0"/>
              <a:t>BY-SA 3.0  </a:t>
            </a:r>
            <a:r>
              <a:rPr lang="en-AU" sz="1200" dirty="0">
                <a:solidFill>
                  <a:schemeClr val="bg1">
                    <a:lumMod val="65000"/>
                  </a:schemeClr>
                </a:solidFill>
              </a:rPr>
              <a:t>http://</a:t>
            </a:r>
            <a:r>
              <a:rPr lang="en-AU" sz="1200" dirty="0" smtClean="0">
                <a:solidFill>
                  <a:schemeClr val="bg1">
                    <a:lumMod val="65000"/>
                  </a:schemeClr>
                </a:solidFill>
              </a:rPr>
              <a:t>creativecommons.org/licenses/by-sa/3.0</a:t>
            </a:r>
          </a:p>
          <a:p>
            <a:pPr marL="720725" indent="-720725">
              <a:spcBef>
                <a:spcPts val="200"/>
              </a:spcBef>
              <a:buNone/>
              <a:tabLst>
                <a:tab pos="630238" algn="l"/>
              </a:tabLst>
            </a:pPr>
            <a:r>
              <a:rPr lang="en-AU" sz="1200" b="1" dirty="0" smtClean="0"/>
              <a:t>Slide </a:t>
            </a:r>
            <a:r>
              <a:rPr lang="en-AU" sz="1200" b="1" dirty="0"/>
              <a:t>7:  </a:t>
            </a:r>
            <a:r>
              <a:rPr lang="en-AU" sz="1200" b="1" dirty="0" smtClean="0"/>
              <a:t>	</a:t>
            </a:r>
            <a:r>
              <a:rPr lang="en-AU" sz="1200" dirty="0" err="1" smtClean="0"/>
              <a:t>Dadd</a:t>
            </a:r>
            <a:r>
              <a:rPr lang="en-AU" sz="1200" dirty="0"/>
              <a:t>, F., </a:t>
            </a:r>
            <a:r>
              <a:rPr lang="en-AU" sz="1200" i="1" dirty="0"/>
              <a:t>Our colonial defences: a company of the mounted rifles manoeuvring in Victoria, </a:t>
            </a:r>
            <a:r>
              <a:rPr lang="en-AU" sz="1200" dirty="0"/>
              <a:t>AWM ID: ART19712 (Australian War Museum) </a:t>
            </a:r>
            <a:r>
              <a:rPr lang="en-AU" sz="1200" dirty="0">
                <a:solidFill>
                  <a:schemeClr val="bg1">
                    <a:lumMod val="65000"/>
                  </a:schemeClr>
                </a:solidFill>
              </a:rPr>
              <a:t>https://www.awm.gov.au/collection/ART19712/</a:t>
            </a:r>
            <a:r>
              <a:rPr lang="en-AU" sz="1200" dirty="0"/>
              <a:t> </a:t>
            </a:r>
            <a:endParaRPr lang="en-AU" sz="1200" dirty="0" smtClean="0"/>
          </a:p>
          <a:p>
            <a:pPr marL="720725" indent="-720725">
              <a:spcBef>
                <a:spcPts val="200"/>
              </a:spcBef>
              <a:buNone/>
              <a:tabLst>
                <a:tab pos="630238" algn="l"/>
              </a:tabLst>
            </a:pPr>
            <a:r>
              <a:rPr lang="en-AU" sz="1200" i="1" dirty="0"/>
              <a:t>	Members of the Hobart Town Volunteer Artillery 1869, AWM ID: A04781 (Australian War Museum) </a:t>
            </a:r>
            <a:r>
              <a:rPr lang="en-AU" sz="1200" dirty="0">
                <a:solidFill>
                  <a:schemeClr val="bg1">
                    <a:lumMod val="65000"/>
                  </a:schemeClr>
                </a:solidFill>
              </a:rPr>
              <a:t>https://www.awm.gov.au/collection https://www.awm.gov.au/collection/A04781</a:t>
            </a:r>
            <a:r>
              <a:rPr lang="en-AU" sz="1200" dirty="0" smtClean="0">
                <a:solidFill>
                  <a:schemeClr val="bg1">
                    <a:lumMod val="65000"/>
                  </a:schemeClr>
                </a:solidFill>
              </a:rPr>
              <a:t>/</a:t>
            </a:r>
          </a:p>
          <a:p>
            <a:pPr marL="720725" indent="-720725">
              <a:spcBef>
                <a:spcPts val="200"/>
              </a:spcBef>
              <a:buNone/>
              <a:tabLst>
                <a:tab pos="630238" algn="l"/>
              </a:tabLst>
            </a:pPr>
            <a:r>
              <a:rPr lang="en-AU" sz="1200" i="1" dirty="0"/>
              <a:t>	South Australian Volunteer Forces in 1860, </a:t>
            </a:r>
            <a:r>
              <a:rPr lang="en-AU" sz="1200" dirty="0"/>
              <a:t>SLSA B5592 (State Library of South Australia), www.flickr.com/photos/32600408@N06/3254978126  CC BY 2.0 </a:t>
            </a:r>
            <a:r>
              <a:rPr lang="en-AU" sz="1200" dirty="0" smtClean="0"/>
              <a:t>creativecommons.org/licenses/by/2.0/</a:t>
            </a:r>
            <a:endParaRPr lang="en-AU" sz="1400" dirty="0"/>
          </a:p>
          <a:p>
            <a:pPr marL="720725" indent="-720725">
              <a:spcBef>
                <a:spcPts val="200"/>
              </a:spcBef>
              <a:buNone/>
              <a:tabLst>
                <a:tab pos="630238" algn="l"/>
              </a:tabLst>
            </a:pPr>
            <a:r>
              <a:rPr lang="en-AU" sz="1200" b="1" dirty="0" smtClean="0"/>
              <a:t>Slide 9: 	</a:t>
            </a:r>
            <a:r>
              <a:rPr lang="en-AU" sz="1200" i="1" dirty="0"/>
              <a:t>‘The great work for Friday’ in The Argus (Melbourne), 1 June 1898, p.5, </a:t>
            </a:r>
            <a:r>
              <a:rPr lang="en-AU" sz="1200" dirty="0">
                <a:solidFill>
                  <a:schemeClr val="bg1">
                    <a:lumMod val="65000"/>
                  </a:schemeClr>
                </a:solidFill>
              </a:rPr>
              <a:t>http://trove.nla.gov.au/ndp/del/page/310001</a:t>
            </a:r>
          </a:p>
          <a:p>
            <a:pPr marL="720725" indent="-720725">
              <a:spcBef>
                <a:spcPts val="200"/>
              </a:spcBef>
              <a:buNone/>
              <a:tabLst>
                <a:tab pos="630238" algn="l"/>
              </a:tabLst>
            </a:pPr>
            <a:endParaRPr lang="en-AU" sz="1200" dirty="0"/>
          </a:p>
          <a:p>
            <a:pPr marL="0" indent="0">
              <a:spcBef>
                <a:spcPts val="200"/>
              </a:spcBef>
              <a:buNone/>
            </a:pPr>
            <a:r>
              <a:rPr lang="en-AU" sz="1200" dirty="0"/>
              <a:t>All other images © DET</a:t>
            </a:r>
          </a:p>
          <a:p>
            <a:pPr marL="0" indent="0" eaLnBrk="1" hangingPunct="1">
              <a:spcBef>
                <a:spcPts val="600"/>
              </a:spcBef>
              <a:buFont typeface="Arial" charset="0"/>
              <a:buNone/>
            </a:pPr>
            <a:endParaRPr lang="en-AU" altLang="en-US" sz="1100" dirty="0" smtClean="0">
              <a:latin typeface="Arial" charset="0"/>
              <a:cs typeface="Arial" charset="0"/>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4376</TotalTime>
  <Words>1084</Words>
  <Application>Microsoft Office PowerPoint</Application>
  <PresentationFormat>On-screen Show (4:3)</PresentationFormat>
  <Paragraphs>82</Paragraphs>
  <Slides>10</Slides>
  <Notes>10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Problems of colonial life</vt:lpstr>
      <vt:lpstr>Government</vt:lpstr>
      <vt:lpstr>Employment of migrants</vt:lpstr>
      <vt:lpstr>Power</vt:lpstr>
      <vt:lpstr>Transport</vt:lpstr>
      <vt:lpstr>Trade</vt:lpstr>
      <vt:lpstr>Defence</vt:lpstr>
      <vt:lpstr>PowerPoint Presentation</vt:lpstr>
      <vt:lpstr>PowerPoint Presentation</vt:lpstr>
      <vt:lpstr>Attributions</vt:lpstr>
    </vt:vector>
  </TitlesOfParts>
  <Company>Queensland Government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Colonial barriers</dc:title>
  <dc:creator>HARRIES, Kylie</dc:creator>
  <cp:lastModifiedBy>SEEARY, Adam</cp:lastModifiedBy>
  <cp:revision>174</cp:revision>
  <dcterms:created xsi:type="dcterms:W3CDTF">2013-08-30T05:08:57Z</dcterms:created>
  <dcterms:modified xsi:type="dcterms:W3CDTF">2017-07-21T03:43:51Z</dcterms:modified>
</cp:coreProperties>
</file>