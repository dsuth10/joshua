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0" r:id="rId2"/>
    <p:sldId id="261" r:id="rId3"/>
    <p:sldId id="262" r:id="rId4"/>
    <p:sldId id="264" r:id="rId5"/>
    <p:sldId id="265" r:id="rId6"/>
    <p:sldId id="266" r:id="rId7"/>
    <p:sldId id="267" r:id="rId8"/>
    <p:sldId id="268" r:id="rId9"/>
    <p:sldId id="269" r:id="rId10"/>
  </p:sldIdLst>
  <p:sldSz cx="9144000" cy="6858000" type="screen4x3"/>
  <p:notesSz cx="6724650" cy="97742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69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493" autoAdjust="0"/>
  </p:normalViewPr>
  <p:slideViewPr>
    <p:cSldViewPr>
      <p:cViewPr varScale="1">
        <p:scale>
          <a:sx n="97" d="100"/>
          <a:sy n="97" d="100"/>
        </p:scale>
        <p:origin x="-203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82" y="-102"/>
      </p:cViewPr>
      <p:guideLst>
        <p:guide orient="horz" pos="3078"/>
        <p:guide pos="211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08413" y="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29AB6-CFEC-456A-94EE-10C8F2FC5693}" type="datetimeFigureOut">
              <a:rPr lang="en-AU" smtClean="0"/>
              <a:t>2/09/2014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8370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08413" y="9283700"/>
            <a:ext cx="29146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2F352-3C91-45BA-BE5F-09B514302E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4001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4015" cy="4887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09079" y="0"/>
            <a:ext cx="2914015" cy="4887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3441A-51BE-4165-8E1A-B0DFBBA158D1}" type="datetimeFigureOut">
              <a:rPr lang="en-AU" smtClean="0"/>
              <a:t>2/09/2014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33425"/>
            <a:ext cx="4886325" cy="366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2465" y="4642763"/>
            <a:ext cx="5379720" cy="43984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83830"/>
            <a:ext cx="2914015" cy="488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09079" y="9283830"/>
            <a:ext cx="2914015" cy="488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D570-7A19-4784-B4E4-B49773B364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003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/>
              <a:t>Work through the steps with students. Have students work through a problem in pairs - the problem could relate to school issues such as providing lunch time activities, safety on roads around schools or encouraging more students to be active.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79231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4257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7211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50807" y="6590629"/>
            <a:ext cx="1308100" cy="2286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PPS_Y06_U1_SS_StepsIn </a:t>
            </a:r>
            <a:r>
              <a:rPr lang="en-US" sz="500" b="0" i="0" u="none" strike="noStrike" kern="1200" baseline="0" dirty="0" err="1" smtClean="0">
                <a:solidFill>
                  <a:schemeClr val="tx1"/>
                </a:solidFill>
                <a:latin typeface="Arial"/>
                <a:ea typeface="+mn-ea"/>
                <a:cs typeface="Arial"/>
              </a:rPr>
              <a:t>ProblemSolving</a:t>
            </a:r>
            <a:endParaRPr lang="en-US" sz="500" b="0" i="0" u="none" strike="noStrike" kern="1200" baseline="0" dirty="0" smtClean="0">
              <a:solidFill>
                <a:schemeClr val="tx1"/>
              </a:solidFill>
              <a:latin typeface="Arial"/>
              <a:ea typeface="+mn-ea"/>
              <a:cs typeface="Arial"/>
            </a:endParaRPr>
          </a:p>
        </p:txBody>
      </p:sp>
      <p:pic>
        <p:nvPicPr>
          <p:cNvPr id="11" name="Picture 10" descr="DETE new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090" y="6628332"/>
            <a:ext cx="1482898" cy="183331"/>
          </a:xfrm>
          <a:prstGeom prst="rect">
            <a:avLst/>
          </a:prstGeom>
        </p:spPr>
      </p:pic>
      <p:pic>
        <p:nvPicPr>
          <p:cNvPr id="12" name="Picture 11" descr="C2CIcon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4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1556792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043608" y="1844824"/>
            <a:ext cx="6912768" cy="352839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2000"/>
              <a:t>Objective:</a:t>
            </a:r>
          </a:p>
          <a:p>
            <a:pPr marL="0" indent="0">
              <a:buNone/>
            </a:pPr>
            <a:r>
              <a:rPr sz="2000"/>
              <a:t>To explore steps in problem solving using scenarios set in Western Brisbane and Western Queensland contexts.</a:t>
            </a:r>
          </a:p>
          <a:p>
            <a:pPr marL="0" indent="0">
              <a:buNone/>
            </a:pPr>
            <a:r>
              <a:rPr sz="2000"/>
              <a:t>To solve the problem, the steps are worked through sequentially based on these new environments.</a:t>
            </a:r>
          </a:p>
          <a:p>
            <a:pPr marL="0" indent="0">
              <a:buNone/>
            </a:pPr>
            <a:r>
              <a:rPr sz="2000"/>
              <a:t>Note: this slideshow is used in conjunction with the sheet Steps in problem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04664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FFFFFF"/>
                </a:solidFill>
              </a:rPr>
              <a:t>Working Contexts</a:t>
            </a:r>
            <a:endParaRPr lang="en-US" sz="4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16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b="1" sz="4800">
                <a:solidFill>
                  <a:srgbClr val="FFFFFF"/>
                </a:solidFill>
              </a:rPr>
              <a:t>Situations</a:t>
            </a:r>
            <a:endParaRPr lang="en-AU" sz="48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800"/>
              <a:t>A group of friends exploring a state forest in Western Brisbane on a very hot day. They wander off the marked track, run out of water, and one person collapses from severe heat exhaustion.</a:t>
            </a:r>
          </a:p>
          <a:p>
            <a:pPr marL="0" indent="0">
              <a:buNone/>
            </a:pPr>
            <a:r>
              <a:rPr sz="2800"/>
              <a:t>A teenager riding a dirt bike on a large rural property in Western Queensland. They fall off and suffer a suspected broken leg, far from the main house with very weak mobile reception.</a:t>
            </a:r>
          </a:p>
          <a:p>
            <a:pPr marL="0" indent="0">
              <a:buNone/>
            </a:pPr>
            <a:r>
              <a:rPr sz="2800"/>
              <a:t>A sudden, severe summer storm hits a regional town, causing a local creek to flash flood. The rising water quickly cuts off the only road connecting a neighborhood to emergency services.</a:t>
            </a:r>
          </a:p>
        </p:txBody>
      </p:sp>
    </p:spTree>
    <p:extLst>
      <p:ext uri="{BB962C8B-B14F-4D97-AF65-F5344CB8AC3E}">
        <p14:creationId xmlns:p14="http://schemas.microsoft.com/office/powerpoint/2010/main" val="226475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700808"/>
            <a:ext cx="8229600" cy="399330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sz="3600"/>
              <a:t>What is the core problem that needs to be solved across these situations?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buNone/>
            </a:pPr>
            <a:r>
              <a:rPr b="1" sz="4800">
                <a:solidFill>
                  <a:srgbClr val="FFFFFF"/>
                </a:solidFill>
              </a:rPr>
              <a:t>Step 1: Identify the problem</a:t>
            </a:r>
            <a:endParaRPr lang="en-AU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3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b="1"/>
              <a:t>Who needs to respond to these emergencies?</a:t>
            </a:r>
          </a:p>
          <a:p>
            <a:pPr marL="0" indent="0">
              <a:buNone/>
            </a:pPr>
            <a:r>
              <a:rPr b="1"/>
              <a:t/>
            </a:r>
          </a:p>
          <a:p>
            <a:pPr marL="0" indent="0">
              <a:buNone/>
            </a:pPr>
            <a:r>
              <a:rPr b="1"/>
              <a:t/>
            </a:r>
          </a:p>
          <a:p>
            <a:pPr marL="0" indent="0">
              <a:buNone/>
            </a:pPr>
            <a:r>
              <a:rPr b="1"/>
              <a:t>What information do they need to know?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7768" y="116632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buNone/>
            </a:pPr>
            <a:r>
              <a:rPr b="1" sz="4800"/>
              <a:t>Step 2: Gather information</a:t>
            </a:r>
            <a:endParaRPr lang="en-AU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31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340768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28800"/>
            <a:ext cx="8229600" cy="4929411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800"/>
              <a:t>Brainstorm possible solutions for these emergencies: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buNone/>
            </a:pPr>
            <a:r>
              <a:rPr b="1" sz="4800">
                <a:solidFill>
                  <a:srgbClr val="FFFFFF"/>
                </a:solidFill>
              </a:rPr>
              <a:t>Step 3: Ideas for possible solutions</a:t>
            </a:r>
            <a:endParaRPr lang="en-AU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65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287199562"/>
              </p:ext>
            </p:extLst>
          </p:nvPr>
        </p:nvGraphicFramePr>
        <p:xfrm>
          <a:off x="467545" y="980728"/>
          <a:ext cx="8064895" cy="49221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3027"/>
                <a:gridCol w="2224870"/>
                <a:gridCol w="2261185"/>
                <a:gridCol w="2185813"/>
              </a:tblGrid>
              <a:tr h="65992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Idea</a:t>
                      </a: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</a:rPr>
                        <a:t>Plus ― </a:t>
                      </a:r>
                      <a:r>
                        <a:rPr lang="en-US" sz="1600" b="1" dirty="0">
                          <a:effectLst/>
                        </a:rPr>
                        <a:t>what makes this idea work.</a:t>
                      </a: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</a:rPr>
                        <a:t>Minus ― </a:t>
                      </a:r>
                      <a:r>
                        <a:rPr lang="en-US" sz="1600" b="1" dirty="0">
                          <a:effectLst/>
                        </a:rPr>
                        <a:t>what could prevent this idea from working</a:t>
                      </a: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</a:rPr>
                        <a:t>Interesting ― </a:t>
                      </a:r>
                      <a:r>
                        <a:rPr lang="en-US" sz="1600" b="1" dirty="0">
                          <a:effectLst/>
                        </a:rPr>
                        <a:t>possible outcomes, interesting </a:t>
                      </a:r>
                      <a:r>
                        <a:rPr lang="en-US" sz="1600" b="1" dirty="0" smtClean="0">
                          <a:effectLst/>
                        </a:rPr>
                        <a:t>aspects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</a:tr>
              <a:tr h="187061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Train people to perform first </a:t>
                      </a:r>
                      <a:r>
                        <a:rPr lang="en-US" sz="1600" b="1" dirty="0" smtClean="0">
                          <a:effectLst/>
                        </a:rPr>
                        <a:t>aid</a:t>
                      </a:r>
                      <a:r>
                        <a:rPr lang="en-US" sz="1600" b="1" dirty="0">
                          <a:effectLst/>
                        </a:rPr>
                        <a:t>    </a:t>
                      </a:r>
                      <a:endParaRPr lang="en-AU" sz="16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 </a:t>
                      </a:r>
                      <a:endParaRPr lang="en-AU" sz="16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 </a:t>
                      </a: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People can respond </a:t>
                      </a:r>
                      <a:r>
                        <a:rPr lang="en-US" sz="1600" b="0" dirty="0" smtClean="0">
                          <a:effectLst/>
                        </a:rPr>
                        <a:t>quickly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People willing to learn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More</a:t>
                      </a:r>
                      <a:r>
                        <a:rPr lang="en-US" sz="1600" b="0" baseline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 people </a:t>
                      </a:r>
                      <a:r>
                        <a:rPr lang="en-US" sz="1600" b="0" baseline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available to </a:t>
                      </a:r>
                      <a:r>
                        <a:rPr lang="en-US" sz="1600" b="0" baseline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respond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</a:rPr>
                        <a:t>Not enough expertise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</a:rPr>
                        <a:t>No confidence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</a:rPr>
                        <a:t>Not enough appropriate </a:t>
                      </a:r>
                      <a:r>
                        <a:rPr lang="en-US" sz="1600" b="0" dirty="0">
                          <a:effectLst/>
                        </a:rPr>
                        <a:t>equipment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</a:rPr>
                        <a:t>Not </a:t>
                      </a:r>
                      <a:r>
                        <a:rPr lang="en-US" sz="1600" b="0" dirty="0">
                          <a:effectLst/>
                        </a:rPr>
                        <a:t>enough trainers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</a:rPr>
                        <a:t>High cost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People may acquire skills they can use in different situations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6561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</a:rPr>
                        <a:t>Beach</a:t>
                      </a:r>
                      <a:r>
                        <a:rPr lang="en-US" sz="1600" b="1" baseline="0" dirty="0" smtClean="0">
                          <a:effectLst/>
                        </a:rPr>
                        <a:t> </a:t>
                      </a:r>
                      <a:r>
                        <a:rPr lang="en-US" sz="1600" b="1" dirty="0" smtClean="0">
                          <a:effectLst/>
                        </a:rPr>
                        <a:t>access </a:t>
                      </a:r>
                      <a:r>
                        <a:rPr lang="en-US" sz="1600" b="1" dirty="0">
                          <a:effectLst/>
                        </a:rPr>
                        <a:t>signs with </a:t>
                      </a:r>
                      <a:r>
                        <a:rPr lang="en-US" sz="1600" b="1" dirty="0" smtClean="0">
                          <a:effectLst/>
                        </a:rPr>
                        <a:t>information</a:t>
                      </a:r>
                      <a:endParaRPr lang="en-AU" sz="1600" b="1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 </a:t>
                      </a:r>
                      <a:endParaRPr lang="en-AU" sz="1600" b="1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rgbClr val="DA69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Easy way to give location of emergency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Not costly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Can give specific information about a location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People may not know about the sign and not pay attention to </a:t>
                      </a:r>
                      <a:r>
                        <a:rPr lang="en-US" sz="1600" b="0" dirty="0" smtClean="0">
                          <a:effectLst/>
                        </a:rPr>
                        <a:t>it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Calibri"/>
                          <a:ea typeface="SimSun"/>
                          <a:cs typeface="Times New Roman"/>
                        </a:rPr>
                        <a:t>People would need educating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Consistency with design of signs </a:t>
                      </a:r>
                      <a:endParaRPr lang="en-AU" sz="2400" b="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Can put other information such as </a:t>
                      </a:r>
                      <a:r>
                        <a:rPr lang="en-US" sz="1600" b="0" dirty="0" smtClean="0">
                          <a:effectLst/>
                        </a:rPr>
                        <a:t>environmental-protection </a:t>
                      </a:r>
                      <a:r>
                        <a:rPr lang="en-US" sz="1600" b="0" dirty="0">
                          <a:effectLst/>
                        </a:rPr>
                        <a:t>information on sign</a:t>
                      </a:r>
                      <a:endParaRPr lang="en-AU" sz="2400" b="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buNone/>
            </a:pPr>
            <a:r>
              <a:rPr b="1" sz="2800">
                <a:solidFill>
                  <a:srgbClr val="FFFFFF"/>
                </a:solidFill>
              </a:rPr>
              <a:t>Step 4: Consider a solution: evaluate ideas</a:t>
            </a:r>
            <a:endParaRPr lang="en-AU"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73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t>Which idea is the most practical and effective?</a:t>
            </a:r>
            <a:endParaRPr lang="en-US" dirty="0" smtClean="0"/>
          </a:p>
          <a:p>
            <a:pPr marL="0" indent="0">
              <a:buNone/>
            </a:pPr>
            <a:r>
              <a:t>Does it have more pluses or is it simply more interesting?</a:t>
            </a:r>
          </a:p>
          <a:p>
            <a:pPr marL="0" indent="0">
              <a:buNone/>
            </a:pPr>
            <a:r>
              <a:rPr b="1" sz="4000"/>
              <a:t>Make a decision: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buNone/>
            </a:pPr>
            <a:r>
              <a:rPr b="1" sz="4800">
                <a:solidFill>
                  <a:srgbClr val="FFFFFF"/>
                </a:solidFill>
              </a:rPr>
              <a:t>Step 5: Select the best idea</a:t>
            </a:r>
            <a:endParaRPr lang="en-AU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417639"/>
            <a:ext cx="8229600" cy="467565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sz="2400"/>
              <a:t>How would this solution be implemented in these contexts?</a:t>
            </a:r>
          </a:p>
          <a:p>
            <a:pPr marL="0" indent="0">
              <a:buNone/>
            </a:pPr>
            <a:r>
              <a:rPr b="1" sz="2400"/>
              <a:t/>
            </a:r>
          </a:p>
          <a:p>
            <a:pPr marL="0" indent="0">
              <a:buNone/>
            </a:pPr>
            <a:r>
              <a:rPr b="1" sz="2400"/>
              <a:t>What future improvements could be made to ensure it remains effective?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buNone/>
            </a:pPr>
            <a:r>
              <a:rPr b="1" sz="4800">
                <a:solidFill>
                  <a:srgbClr val="FFFFFF"/>
                </a:solidFill>
              </a:rPr>
              <a:t>Step 6: Apply and review the idea</a:t>
            </a:r>
            <a:endParaRPr lang="en-AU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67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DA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sz="1400"/>
              <a:t>Discuss your decisions and outcomes with the class.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5536" y="274638"/>
            <a:ext cx="8748464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marL="0" indent="0">
              <a:buNone/>
            </a:pPr>
            <a:r>
              <a:rPr b="1" sz="4800">
                <a:solidFill>
                  <a:srgbClr val="FFFFFF"/>
                </a:solidFill>
              </a:rPr>
              <a:t>Discussion</a:t>
            </a:r>
            <a:endParaRPr lang="en-AU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79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2C blank powerpoin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</TotalTime>
  <Words>591</Words>
  <Application>Microsoft Office PowerPoint</Application>
  <PresentationFormat>On-screen Show (4:3)</PresentationFormat>
  <Paragraphs>66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C2C blank powerpoint template</vt:lpstr>
      <vt:lpstr>PowerPoint Presentation</vt:lpstr>
      <vt:lpstr>Situations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LAWRANCE, Mel</dc:creator>
  <cp:lastModifiedBy>GOWER, Sue-Ellen</cp:lastModifiedBy>
  <cp:revision>48</cp:revision>
  <cp:lastPrinted>2014-07-18T04:55:40Z</cp:lastPrinted>
  <dcterms:created xsi:type="dcterms:W3CDTF">2012-11-15T21:57:46Z</dcterms:created>
  <dcterms:modified xsi:type="dcterms:W3CDTF">2014-09-02T04:35:43Z</dcterms:modified>
</cp:coreProperties>
</file>