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0477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A365D"/>
          </a:solidFill>
          <a:ln/>
        </p:spPr>
        <p:txBody>
          <a:bodyPr wrap="square" rtlCol="0" anchor="ctr"/>
          <a:lstStyle/>
          <a:p>
            <a:pPr marL="0" indent="0">
              <a:buNone/>
            </a:pPr>
            <a:endParaRPr lang="en-US" dirty="0"/>
          </a:p>
        </p:txBody>
      </p:sp>
      <p:sp>
        <p:nvSpPr>
          <p:cNvPr id="3" name="Text 1"/>
          <p:cNvSpPr/>
          <p:nvPr/>
        </p:nvSpPr>
        <p:spPr>
          <a:xfrm>
            <a:off x="-91440" y="1650950"/>
            <a:ext cx="9326880" cy="523875"/>
          </a:xfrm>
          <a:prstGeom prst="rect">
            <a:avLst/>
          </a:prstGeom>
          <a:noFill/>
          <a:ln/>
        </p:spPr>
        <p:txBody>
          <a:bodyPr wrap="square" lIns="0" tIns="0" rIns="0" bIns="0" rtlCol="0" anchor="t"/>
          <a:lstStyle/>
          <a:p>
            <a:pPr marL="0" indent="0" algn="ctr">
              <a:spcAft>
                <a:spcPts val="1000"/>
              </a:spcAft>
              <a:buNone/>
            </a:pPr>
            <a:r>
              <a:rPr lang="en-US" sz="3600" b="1" dirty="0">
                <a:solidFill>
                  <a:srgbClr val="FFFFFF"/>
                </a:solidFill>
                <a:latin typeface="Arial" pitchFamily="34" charset="0"/>
                <a:ea typeface="Arial" pitchFamily="34" charset="-122"/>
                <a:cs typeface="Arial" pitchFamily="34" charset="-120"/>
              </a:rPr>
              <a:t>Lesson 10: Using Operations</a:t>
            </a:r>
            <a:endParaRPr lang="en-US" sz="3600" dirty="0"/>
          </a:p>
        </p:txBody>
      </p:sp>
      <p:sp>
        <p:nvSpPr>
          <p:cNvPr id="4" name="Text 2"/>
          <p:cNvSpPr/>
          <p:nvPr/>
        </p:nvSpPr>
        <p:spPr>
          <a:xfrm>
            <a:off x="-91440" y="2301776"/>
            <a:ext cx="9326880" cy="266700"/>
          </a:xfrm>
          <a:prstGeom prst="rect">
            <a:avLst/>
          </a:prstGeom>
          <a:noFill/>
          <a:ln/>
        </p:spPr>
        <p:txBody>
          <a:bodyPr wrap="square" lIns="0" tIns="0" rIns="0" bIns="0" rtlCol="0" anchor="t"/>
          <a:lstStyle/>
          <a:p>
            <a:pPr marL="0" indent="0" algn="ctr">
              <a:buNone/>
            </a:pPr>
            <a:r>
              <a:rPr lang="en-US" sz="1800" dirty="0">
                <a:solidFill>
                  <a:srgbClr val="BEE3F8"/>
                </a:solidFill>
                <a:latin typeface="Arial" pitchFamily="34" charset="0"/>
                <a:ea typeface="Arial" pitchFamily="34" charset="-122"/>
                <a:cs typeface="Arial" pitchFamily="34" charset="-120"/>
              </a:rPr>
              <a:t>Maths Unit 2 • Problem Solving Strategies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3" name="Text 1"/>
          <p:cNvSpPr/>
          <p:nvPr/>
        </p:nvSpPr>
        <p:spPr>
          <a:xfrm>
            <a:off x="253901" y="253901"/>
            <a:ext cx="8636198" cy="492026"/>
          </a:xfrm>
          <a:prstGeom prst="roundRect">
            <a:avLst>
              <a:gd name="adj" fmla="val 15487"/>
            </a:avLst>
          </a:prstGeom>
          <a:solidFill>
            <a:srgbClr val="2B6CB0"/>
          </a:solidFill>
          <a:ln/>
        </p:spPr>
        <p:txBody>
          <a:bodyPr wrap="square" rtlCol="0" anchor="ctr"/>
          <a:lstStyle/>
          <a:p>
            <a:pPr marL="0" indent="0">
              <a:buNone/>
            </a:pPr>
            <a:endParaRPr lang="en-US" dirty="0"/>
          </a:p>
        </p:txBody>
      </p:sp>
      <p:sp>
        <p:nvSpPr>
          <p:cNvPr id="4" name="Text 2"/>
          <p:cNvSpPr/>
          <p:nvPr/>
        </p:nvSpPr>
        <p:spPr>
          <a:xfrm>
            <a:off x="380851" y="380851"/>
            <a:ext cx="8549944" cy="238125"/>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Example 1: Finding the total, then the difference</a:t>
            </a:r>
            <a:endParaRPr lang="en-US" sz="1600" dirty="0"/>
          </a:p>
        </p:txBody>
      </p:sp>
      <p:sp>
        <p:nvSpPr>
          <p:cNvPr id="5" name="Text 3"/>
          <p:cNvSpPr/>
          <p:nvPr/>
        </p:nvSpPr>
        <p:spPr>
          <a:xfrm>
            <a:off x="253901" y="872877"/>
            <a:ext cx="3886200" cy="2320992"/>
          </a:xfrm>
          <a:prstGeom prst="roundRect">
            <a:avLst>
              <a:gd name="adj" fmla="val 7027"/>
            </a:avLst>
          </a:prstGeom>
          <a:solidFill>
            <a:srgbClr val="FFFFFF"/>
          </a:solidFill>
          <a:ln w="19050">
            <a:solidFill>
              <a:srgbClr val="CBD5E0"/>
            </a:solidFill>
          </a:ln>
          <a:effectLst>
            <a:outerShdw blurRad="38100" dist="13470" dir="2700000" algn="bl" rotWithShape="0">
              <a:srgbClr val="000000">
                <a:alpha val="10000"/>
              </a:srgbClr>
            </a:outerShdw>
          </a:effectLst>
        </p:spPr>
        <p:txBody>
          <a:bodyPr wrap="square" rtlCol="0" anchor="ctr"/>
          <a:lstStyle/>
          <a:p>
            <a:pPr marL="0" indent="0">
              <a:buNone/>
            </a:pPr>
            <a:endParaRPr lang="en-US" dirty="0"/>
          </a:p>
        </p:txBody>
      </p:sp>
      <p:sp>
        <p:nvSpPr>
          <p:cNvPr id="6" name="Text 4"/>
          <p:cNvSpPr/>
          <p:nvPr/>
        </p:nvSpPr>
        <p:spPr>
          <a:xfrm>
            <a:off x="399901" y="1018877"/>
            <a:ext cx="3666083" cy="792361"/>
          </a:xfrm>
          <a:prstGeom prst="rect">
            <a:avLst/>
          </a:prstGeom>
          <a:noFill/>
          <a:ln/>
        </p:spPr>
        <p:txBody>
          <a:bodyPr wrap="square" lIns="0" tIns="0" rIns="0" bIns="0" rtlCol="0" anchor="t"/>
          <a:lstStyle/>
          <a:p>
            <a:pPr marL="0" indent="0" algn="l">
              <a:lnSpc>
                <a:spcPct val="200000"/>
              </a:lnSpc>
              <a:buNone/>
            </a:pPr>
            <a:r>
              <a:rPr lang="en-US" sz="1200" dirty="0">
                <a:solidFill>
                  <a:srgbClr val="2D3748"/>
                </a:solidFill>
                <a:latin typeface="Arial" pitchFamily="34" charset="0"/>
                <a:ea typeface="Arial" pitchFamily="34" charset="-122"/>
                <a:cs typeface="Arial" pitchFamily="34" charset="-120"/>
              </a:rPr>
              <a:t>A school needs $1,500 for a new garden. They raised $425 from a bake sale, $615 from a disco, and $230 from a free dress day. How much more money do they need to raise?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3" name="Text 1"/>
          <p:cNvSpPr/>
          <p:nvPr/>
        </p:nvSpPr>
        <p:spPr>
          <a:xfrm>
            <a:off x="253901" y="253901"/>
            <a:ext cx="8636198" cy="492026"/>
          </a:xfrm>
          <a:prstGeom prst="roundRect">
            <a:avLst>
              <a:gd name="adj" fmla="val 15487"/>
            </a:avLst>
          </a:prstGeom>
          <a:solidFill>
            <a:srgbClr val="2B6CB0"/>
          </a:solidFill>
          <a:ln/>
        </p:spPr>
        <p:txBody>
          <a:bodyPr wrap="square" rtlCol="0" anchor="ctr"/>
          <a:lstStyle/>
          <a:p>
            <a:pPr marL="0" indent="0">
              <a:buNone/>
            </a:pPr>
            <a:endParaRPr lang="en-US" dirty="0"/>
          </a:p>
        </p:txBody>
      </p:sp>
      <p:sp>
        <p:nvSpPr>
          <p:cNvPr id="4" name="Text 2"/>
          <p:cNvSpPr/>
          <p:nvPr/>
        </p:nvSpPr>
        <p:spPr>
          <a:xfrm>
            <a:off x="380851" y="380851"/>
            <a:ext cx="8549944" cy="238125"/>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Example 2: Extraneous Information</a:t>
            </a:r>
            <a:endParaRPr lang="en-US" sz="1600" dirty="0"/>
          </a:p>
        </p:txBody>
      </p:sp>
      <p:sp>
        <p:nvSpPr>
          <p:cNvPr id="5" name="Text 3"/>
          <p:cNvSpPr/>
          <p:nvPr/>
        </p:nvSpPr>
        <p:spPr>
          <a:xfrm>
            <a:off x="253901" y="872877"/>
            <a:ext cx="3886200" cy="3251746"/>
          </a:xfrm>
          <a:prstGeom prst="roundRect">
            <a:avLst>
              <a:gd name="adj" fmla="val 5147"/>
            </a:avLst>
          </a:prstGeom>
          <a:solidFill>
            <a:srgbClr val="FFFFFF"/>
          </a:solidFill>
          <a:ln w="19050">
            <a:solidFill>
              <a:srgbClr val="CBD5E0"/>
            </a:solidFill>
          </a:ln>
          <a:effectLst>
            <a:outerShdw blurRad="38100" dist="13470" dir="2700000" algn="bl" rotWithShape="0">
              <a:srgbClr val="000000">
                <a:alpha val="10000"/>
              </a:srgbClr>
            </a:outerShdw>
          </a:effectLst>
        </p:spPr>
        <p:txBody>
          <a:bodyPr wrap="square" rtlCol="0" anchor="ctr"/>
          <a:lstStyle/>
          <a:p>
            <a:pPr marL="0" indent="0">
              <a:buNone/>
            </a:pPr>
            <a:endParaRPr lang="en-US" dirty="0"/>
          </a:p>
        </p:txBody>
      </p:sp>
      <p:sp>
        <p:nvSpPr>
          <p:cNvPr id="6" name="Text 4"/>
          <p:cNvSpPr/>
          <p:nvPr/>
        </p:nvSpPr>
        <p:spPr>
          <a:xfrm>
            <a:off x="399901" y="1018877"/>
            <a:ext cx="3666083" cy="1188541"/>
          </a:xfrm>
          <a:prstGeom prst="rect">
            <a:avLst/>
          </a:prstGeom>
          <a:noFill/>
          <a:ln/>
        </p:spPr>
        <p:txBody>
          <a:bodyPr wrap="square" lIns="0" tIns="0" rIns="0" bIns="0" rtlCol="0" anchor="t"/>
          <a:lstStyle/>
          <a:p>
            <a:pPr marL="0" indent="0" algn="l">
              <a:lnSpc>
                <a:spcPct val="200000"/>
              </a:lnSpc>
              <a:buNone/>
            </a:pPr>
            <a:r>
              <a:rPr lang="en-US" sz="1200" dirty="0">
                <a:solidFill>
                  <a:srgbClr val="2D3748"/>
                </a:solidFill>
                <a:latin typeface="Arial" pitchFamily="34" charset="0"/>
                <a:ea typeface="Arial" pitchFamily="34" charset="-122"/>
                <a:cs typeface="Arial" pitchFamily="34" charset="-120"/>
              </a:rPr>
              <a:t>A fruit shop owner buys 15 boxes of apples for the week. Each box contains 24 apples. While unpacking the boxes on Tuesday morning, the owner notices that 18 apples are badly bruised and have to be thrown away. How many good apples does the owner have left to sell?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0F4F8"/>
          </a:solidFill>
          <a:ln/>
        </p:spPr>
        <p:txBody>
          <a:bodyPr wrap="square" rtlCol="0" anchor="ctr"/>
          <a:lstStyle/>
          <a:p>
            <a:pPr marL="0" indent="0">
              <a:buNone/>
            </a:pPr>
            <a:endParaRPr lang="en-US" dirty="0"/>
          </a:p>
        </p:txBody>
      </p:sp>
      <p:sp>
        <p:nvSpPr>
          <p:cNvPr id="3" name="Text 1"/>
          <p:cNvSpPr/>
          <p:nvPr/>
        </p:nvSpPr>
        <p:spPr>
          <a:xfrm>
            <a:off x="253901" y="253901"/>
            <a:ext cx="8636198" cy="492026"/>
          </a:xfrm>
          <a:prstGeom prst="roundRect">
            <a:avLst>
              <a:gd name="adj" fmla="val 15487"/>
            </a:avLst>
          </a:prstGeom>
          <a:solidFill>
            <a:srgbClr val="2B6CB0"/>
          </a:solidFill>
          <a:ln/>
        </p:spPr>
        <p:txBody>
          <a:bodyPr wrap="square" rtlCol="0" anchor="ctr"/>
          <a:lstStyle/>
          <a:p>
            <a:pPr marL="0" indent="0">
              <a:buNone/>
            </a:pPr>
            <a:endParaRPr lang="en-US" dirty="0"/>
          </a:p>
        </p:txBody>
      </p:sp>
      <p:sp>
        <p:nvSpPr>
          <p:cNvPr id="4" name="Text 2"/>
          <p:cNvSpPr/>
          <p:nvPr/>
        </p:nvSpPr>
        <p:spPr>
          <a:xfrm>
            <a:off x="380851" y="380851"/>
            <a:ext cx="8549944" cy="238125"/>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Example 3: Division</a:t>
            </a:r>
            <a:endParaRPr lang="en-US" sz="1600" dirty="0"/>
          </a:p>
        </p:txBody>
      </p:sp>
      <p:sp>
        <p:nvSpPr>
          <p:cNvPr id="5" name="Text 3"/>
          <p:cNvSpPr/>
          <p:nvPr/>
        </p:nvSpPr>
        <p:spPr>
          <a:xfrm>
            <a:off x="253901" y="872876"/>
            <a:ext cx="3886200" cy="2529997"/>
          </a:xfrm>
          <a:prstGeom prst="roundRect">
            <a:avLst>
              <a:gd name="adj" fmla="val 7027"/>
            </a:avLst>
          </a:prstGeom>
          <a:solidFill>
            <a:srgbClr val="FFFFFF"/>
          </a:solidFill>
          <a:ln w="19050">
            <a:solidFill>
              <a:srgbClr val="CBD5E0"/>
            </a:solidFill>
          </a:ln>
          <a:effectLst>
            <a:outerShdw blurRad="38100" dist="13470" dir="2700000" algn="bl" rotWithShape="0">
              <a:srgbClr val="000000">
                <a:alpha val="10000"/>
              </a:srgbClr>
            </a:outerShdw>
          </a:effectLst>
        </p:spPr>
        <p:txBody>
          <a:bodyPr wrap="square" rtlCol="0" anchor="ctr"/>
          <a:lstStyle/>
          <a:p>
            <a:pPr marL="0" indent="0">
              <a:buNone/>
            </a:pPr>
            <a:endParaRPr lang="en-US" dirty="0"/>
          </a:p>
        </p:txBody>
      </p:sp>
      <p:sp>
        <p:nvSpPr>
          <p:cNvPr id="6" name="Text 4"/>
          <p:cNvSpPr/>
          <p:nvPr/>
        </p:nvSpPr>
        <p:spPr>
          <a:xfrm>
            <a:off x="399901" y="1018877"/>
            <a:ext cx="3666083" cy="792361"/>
          </a:xfrm>
          <a:prstGeom prst="rect">
            <a:avLst/>
          </a:prstGeom>
          <a:noFill/>
          <a:ln/>
        </p:spPr>
        <p:txBody>
          <a:bodyPr wrap="square" lIns="0" tIns="0" rIns="0" bIns="0" rtlCol="0" anchor="t"/>
          <a:lstStyle/>
          <a:p>
            <a:pPr marL="0" indent="0" algn="l">
              <a:lnSpc>
                <a:spcPct val="200000"/>
              </a:lnSpc>
              <a:buNone/>
            </a:pPr>
            <a:r>
              <a:rPr lang="en-US" sz="1200" dirty="0">
                <a:solidFill>
                  <a:srgbClr val="2D3748"/>
                </a:solidFill>
                <a:latin typeface="Arial" pitchFamily="34" charset="0"/>
                <a:ea typeface="Arial" pitchFamily="34" charset="-122"/>
                <a:cs typeface="Arial" pitchFamily="34" charset="-120"/>
              </a:rPr>
              <a:t>A baker makes a massive batch of 450 cookies. He wants to pack them evenly into large boxes that hold 12 cookies each. How many full boxes can he make, and how many cookies will be left over?</a:t>
            </a:r>
            <a:endParaRPr lang="en-US" sz="1200" dirty="0"/>
          </a:p>
        </p:txBody>
      </p:sp>
      <p:sp>
        <p:nvSpPr>
          <p:cNvPr id="8" name="Shape 6"/>
          <p:cNvSpPr/>
          <p:nvPr/>
        </p:nvSpPr>
        <p:spPr>
          <a:xfrm>
            <a:off x="4437459" y="872877"/>
            <a:ext cx="0" cy="2056358"/>
          </a:xfrm>
          <a:prstGeom prst="line">
            <a:avLst/>
          </a:prstGeom>
          <a:noFill/>
          <a:ln w="76200">
            <a:solidFill>
              <a:srgbClr val="3182CE"/>
            </a:solidFill>
            <a:prstDash val="solid"/>
          </a:ln>
        </p:spPr>
        <p:txBody>
          <a:bodyPr/>
          <a:lstStyle/>
          <a:p>
            <a:endParaRPr lang="en-A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3" name="Text 1"/>
          <p:cNvSpPr/>
          <p:nvPr/>
        </p:nvSpPr>
        <p:spPr>
          <a:xfrm>
            <a:off x="253901" y="253901"/>
            <a:ext cx="8636198" cy="492026"/>
          </a:xfrm>
          <a:prstGeom prst="roundRect">
            <a:avLst>
              <a:gd name="adj" fmla="val 15487"/>
            </a:avLst>
          </a:prstGeom>
          <a:solidFill>
            <a:srgbClr val="2B6CB0"/>
          </a:solidFill>
          <a:ln/>
        </p:spPr>
        <p:txBody>
          <a:bodyPr wrap="square" rtlCol="0" anchor="ctr"/>
          <a:lstStyle/>
          <a:p>
            <a:pPr marL="0" indent="0">
              <a:buNone/>
            </a:pPr>
            <a:endParaRPr lang="en-US" dirty="0"/>
          </a:p>
        </p:txBody>
      </p:sp>
      <p:sp>
        <p:nvSpPr>
          <p:cNvPr id="4" name="Text 2"/>
          <p:cNvSpPr/>
          <p:nvPr/>
        </p:nvSpPr>
        <p:spPr>
          <a:xfrm>
            <a:off x="380851" y="380851"/>
            <a:ext cx="8549944" cy="238125"/>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Example 4: Complex Multi-step</a:t>
            </a:r>
            <a:endParaRPr lang="en-US" sz="1600" dirty="0"/>
          </a:p>
        </p:txBody>
      </p:sp>
      <p:sp>
        <p:nvSpPr>
          <p:cNvPr id="5" name="Text 3"/>
          <p:cNvSpPr/>
          <p:nvPr/>
        </p:nvSpPr>
        <p:spPr>
          <a:xfrm>
            <a:off x="253901" y="872877"/>
            <a:ext cx="3886200" cy="3098232"/>
          </a:xfrm>
          <a:prstGeom prst="roundRect">
            <a:avLst>
              <a:gd name="adj" fmla="val 7027"/>
            </a:avLst>
          </a:prstGeom>
          <a:solidFill>
            <a:srgbClr val="FFFFFF"/>
          </a:solidFill>
          <a:ln w="19050">
            <a:solidFill>
              <a:srgbClr val="CBD5E0"/>
            </a:solidFill>
          </a:ln>
          <a:effectLst>
            <a:outerShdw blurRad="38100" dist="13470" dir="2700000" algn="bl" rotWithShape="0">
              <a:srgbClr val="000000">
                <a:alpha val="10000"/>
              </a:srgbClr>
            </a:outerShdw>
          </a:effectLst>
        </p:spPr>
        <p:txBody>
          <a:bodyPr wrap="square" rtlCol="0" anchor="ctr"/>
          <a:lstStyle/>
          <a:p>
            <a:pPr marL="0" indent="0">
              <a:buNone/>
            </a:pPr>
            <a:endParaRPr lang="en-US" dirty="0"/>
          </a:p>
        </p:txBody>
      </p:sp>
      <p:sp>
        <p:nvSpPr>
          <p:cNvPr id="6" name="Text 4"/>
          <p:cNvSpPr/>
          <p:nvPr/>
        </p:nvSpPr>
        <p:spPr>
          <a:xfrm>
            <a:off x="399901" y="1018877"/>
            <a:ext cx="3666083" cy="792361"/>
          </a:xfrm>
          <a:prstGeom prst="rect">
            <a:avLst/>
          </a:prstGeom>
          <a:noFill/>
          <a:ln/>
        </p:spPr>
        <p:txBody>
          <a:bodyPr wrap="square" lIns="0" tIns="0" rIns="0" bIns="0" rtlCol="0" anchor="t"/>
          <a:lstStyle/>
          <a:p>
            <a:pPr marL="0" indent="0" algn="l">
              <a:lnSpc>
                <a:spcPct val="200000"/>
              </a:lnSpc>
              <a:buNone/>
            </a:pPr>
            <a:r>
              <a:rPr lang="en-US" sz="1200" dirty="0">
                <a:solidFill>
                  <a:srgbClr val="2D3748"/>
                </a:solidFill>
                <a:latin typeface="Arial" pitchFamily="34" charset="0"/>
                <a:ea typeface="Arial" pitchFamily="34" charset="-122"/>
                <a:cs typeface="Arial" pitchFamily="34" charset="-120"/>
              </a:rPr>
              <a:t>My family car travels 8 km on a single litre of fuel. How much fuel would I use to travel to a holiday park that is 104 km away? If fuel costs 150 cents per litre, what is the total cost?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TotalTime>
  <Words>227</Words>
  <Application>Microsoft Office PowerPoint</Application>
  <PresentationFormat>On-screen Show (16:9)</PresentationFormat>
  <Paragraphs>15</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SUTHERLAND, Douglas (dsuth10)</cp:lastModifiedBy>
  <cp:revision>2</cp:revision>
  <dcterms:created xsi:type="dcterms:W3CDTF">2026-05-06T22:26:03Z</dcterms:created>
  <dcterms:modified xsi:type="dcterms:W3CDTF">2026-05-07T01:31:17Z</dcterms:modified>
</cp:coreProperties>
</file>