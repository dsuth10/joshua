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767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-91440" y="1650950"/>
            <a:ext cx="932688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11: Planning a Fundraiser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-91440" y="2397026"/>
            <a:ext cx="932688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6F6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Maths Unit 2 • Financial Modelling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54871" y="3205014"/>
            <a:ext cx="2634109" cy="0"/>
          </a:xfrm>
          <a:prstGeom prst="line">
            <a:avLst/>
          </a:prstGeom>
          <a:noFill/>
          <a:ln w="9525">
            <a:solidFill>
              <a:srgbClr val="48BB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28530" y="3336727"/>
            <a:ext cx="26867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FF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Mathematics • AC9M5N09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0575"/>
          </a:xfrm>
          <a:prstGeom prst="rect">
            <a:avLst/>
          </a:prstGeom>
          <a:solidFill>
            <a:srgbClr val="276749"/>
          </a:solidFill>
          <a:ln/>
          <a:effectLst>
            <a:outerShdw sx="100000" sy="100000" kx="0" ky="0" algn="bl" rotWithShape="0" blurRad="76200" dist="508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0500" y="190500"/>
            <a:ext cx="893826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"Big Three" Vocabulary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90500" y="981075"/>
            <a:ext cx="8763000" cy="3825329"/>
          </a:xfrm>
          <a:prstGeom prst="roundRect">
            <a:avLst>
              <a:gd name="adj" fmla="val 398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508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3926" y="1244501"/>
            <a:ext cx="8236148" cy="831800"/>
          </a:xfrm>
          <a:prstGeom prst="roundRect">
            <a:avLst>
              <a:gd name="adj" fmla="val 6107"/>
            </a:avLst>
          </a:prstGeom>
          <a:solidFill>
            <a:srgbClr val="EBF9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2501" y="1244501"/>
            <a:ext cx="0" cy="831800"/>
          </a:xfrm>
          <a:prstGeom prst="line">
            <a:avLst/>
          </a:prstGeom>
          <a:noFill/>
          <a:ln w="57150">
            <a:solidFill>
              <a:srgbClr val="38A1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3476" y="1396901"/>
            <a:ext cx="80316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Income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3476" y="1714351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total money you receive from people paying for your activity. (Money IN)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3926" y="2203252"/>
            <a:ext cx="8236148" cy="831800"/>
          </a:xfrm>
          <a:prstGeom prst="roundRect">
            <a:avLst>
              <a:gd name="adj" fmla="val 6107"/>
            </a:avLst>
          </a:prstGeom>
          <a:solidFill>
            <a:srgbClr val="EBF9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82501" y="2203252"/>
            <a:ext cx="0" cy="831800"/>
          </a:xfrm>
          <a:prstGeom prst="line">
            <a:avLst/>
          </a:prstGeom>
          <a:noFill/>
          <a:ln w="57150">
            <a:solidFill>
              <a:srgbClr val="38A1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3476" y="2355652"/>
            <a:ext cx="80316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Expenses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3476" y="2673102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you have to spend to buy ingredients, supplies, or equipment. (Money OUT)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3926" y="3162002"/>
            <a:ext cx="8236148" cy="1254026"/>
          </a:xfrm>
          <a:prstGeom prst="roundRect">
            <a:avLst>
              <a:gd name="adj" fmla="val 4051"/>
            </a:avLst>
          </a:prstGeom>
          <a:solidFill>
            <a:srgbClr val="FFFA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82501" y="3162002"/>
            <a:ext cx="0" cy="1254026"/>
          </a:xfrm>
          <a:prstGeom prst="line">
            <a:avLst/>
          </a:prstGeom>
          <a:noFill/>
          <a:ln w="57150">
            <a:solidFill>
              <a:srgbClr val="ED89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476" y="3314402"/>
            <a:ext cx="80316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Profit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3476" y="3631853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 left over for your goal after you have paid all your expenses.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4734" y="3968353"/>
            <a:ext cx="80316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- Expenses = Profit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0575"/>
          </a:xfrm>
          <a:prstGeom prst="rect">
            <a:avLst/>
          </a:prstGeom>
          <a:solidFill>
            <a:srgbClr val="276749"/>
          </a:solidFill>
          <a:ln/>
          <a:effectLst>
            <a:outerShdw sx="100000" sy="100000" kx="0" ky="0" algn="bl" rotWithShape="0" blurRad="76200" dist="508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0500" y="190500"/>
            <a:ext cx="893826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Do: Sausage Sizzle Modelling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90500" y="981075"/>
            <a:ext cx="8763000" cy="2784574"/>
          </a:xfrm>
          <a:prstGeom prst="roundRect">
            <a:avLst>
              <a:gd name="adj" fmla="val 547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508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3926" y="1244501"/>
            <a:ext cx="8400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94"/>
              </a:spcAft>
              <a:buNone/>
            </a:pPr>
            <a:r>
              <a:rPr lang="en-US" sz="18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UNDERSTAND 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3926" y="1714351"/>
            <a:ext cx="8236148" cy="97512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560"/>
              </a:lnSpc>
              <a:buSzPct val="100000"/>
              <a:buChar char="•"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Goal:</a:t>
            </a:r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Raise money for Year 5 Camp.</a:t>
            </a:r>
            <a:endParaRPr lang="en-US" sz="1600" dirty="0"/>
          </a:p>
          <a:p>
            <a:pPr algn="l" marL="190500" indent="-190500">
              <a:lnSpc>
                <a:spcPts val="2560"/>
              </a:lnSpc>
              <a:buSzPct val="100000"/>
              <a:buChar char="•"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know:</a:t>
            </a:r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There are 150 students. Sausages cost $1.20 each.</a:t>
            </a:r>
            <a:endParaRPr lang="en-US" sz="1600" dirty="0"/>
          </a:p>
          <a:p>
            <a:pPr algn="l" marL="190500" indent="-190500">
              <a:lnSpc>
                <a:spcPts val="2560"/>
              </a:lnSpc>
              <a:buSzPct val="100000"/>
              <a:buChar char="•"/>
            </a:pPr>
            <a:r>
              <a:rPr lang="en-US" sz="1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Decision:</a:t>
            </a:r>
            <a:pPr algn="l" indent="0" marL="0">
              <a:lnSpc>
                <a:spcPts val="2560"/>
              </a:lnSpc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will sell sausages for $3.00 each.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3926" y="2892623"/>
            <a:ext cx="8236148" cy="609600"/>
          </a:xfrm>
          <a:prstGeom prst="roundRect">
            <a:avLst>
              <a:gd name="adj" fmla="val 16667"/>
            </a:avLst>
          </a:prstGeom>
          <a:solidFill>
            <a:srgbClr val="F7FAFC"/>
          </a:solidFill>
          <a:ln w="9525">
            <a:solidFill>
              <a:srgbClr val="CBD5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3951" y="3092648"/>
            <a:ext cx="79928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everyone buys one sausage, will we make enough money?"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0575"/>
          </a:xfrm>
          <a:prstGeom prst="rect">
            <a:avLst/>
          </a:prstGeom>
          <a:solidFill>
            <a:srgbClr val="276749"/>
          </a:solidFill>
          <a:ln/>
          <a:effectLst>
            <a:outerShdw sx="100000" sy="100000" kx="0" ky="0" algn="bl" rotWithShape="0" blurRad="76200" dist="508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0500" y="190500"/>
            <a:ext cx="893826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Do: Sausage Sizzle Modelling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90500" y="981075"/>
            <a:ext cx="8763000" cy="3710285"/>
          </a:xfrm>
          <a:prstGeom prst="roundRect">
            <a:avLst>
              <a:gd name="adj" fmla="val 410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508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3926" y="1244501"/>
            <a:ext cx="8400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94"/>
              </a:spcAft>
              <a:buNone/>
            </a:pPr>
            <a:r>
              <a:rPr lang="en-US" sz="18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PLAN &amp; SOLVE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3926" y="1700808"/>
            <a:ext cx="4022824" cy="1625501"/>
          </a:xfrm>
          <a:prstGeom prst="roundRect">
            <a:avLst>
              <a:gd name="adj" fmla="val 6250"/>
            </a:avLst>
          </a:prstGeom>
          <a:solidFill>
            <a:srgbClr val="EBF8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1853208"/>
            <a:ext cx="37923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4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Income</a:t>
            </a:r>
            <a:endParaRPr lang="en-US" sz="1404" dirty="0"/>
          </a:p>
        </p:txBody>
      </p:sp>
      <p:sp>
        <p:nvSpPr>
          <p:cNvPr id="8" name="Text 6"/>
          <p:cNvSpPr/>
          <p:nvPr/>
        </p:nvSpPr>
        <p:spPr>
          <a:xfrm>
            <a:off x="606326" y="2240459"/>
            <a:ext cx="37923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students x $3.00 per sausage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6326" y="2678609"/>
            <a:ext cx="37923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Income: $450.00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7250" y="1700808"/>
            <a:ext cx="4022824" cy="1625501"/>
          </a:xfrm>
          <a:prstGeom prst="roundRect">
            <a:avLst>
              <a:gd name="adj" fmla="val 6250"/>
            </a:avLst>
          </a:prstGeom>
          <a:solidFill>
            <a:srgbClr val="FF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19650" y="1853208"/>
            <a:ext cx="37923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4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Expenses</a:t>
            </a:r>
            <a:endParaRPr lang="en-US" sz="1404" dirty="0"/>
          </a:p>
        </p:txBody>
      </p:sp>
      <p:sp>
        <p:nvSpPr>
          <p:cNvPr id="12" name="Text 10"/>
          <p:cNvSpPr/>
          <p:nvPr/>
        </p:nvSpPr>
        <p:spPr>
          <a:xfrm>
            <a:off x="4819650" y="2240459"/>
            <a:ext cx="379238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x $1.20 (sausage + bread)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19650" y="2678609"/>
            <a:ext cx="37923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Expenses: $180.00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3926" y="3580209"/>
            <a:ext cx="8236148" cy="847725"/>
          </a:xfrm>
          <a:prstGeom prst="roundRect">
            <a:avLst>
              <a:gd name="adj" fmla="val 17978"/>
            </a:avLst>
          </a:prstGeom>
          <a:solidFill>
            <a:srgbClr val="2767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5874" y="3770709"/>
            <a:ext cx="801225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$450.00 - $180.00 =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$270.00 PROFIT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90575"/>
          </a:xfrm>
          <a:prstGeom prst="rect">
            <a:avLst/>
          </a:prstGeom>
          <a:solidFill>
            <a:srgbClr val="276749"/>
          </a:solidFill>
          <a:ln/>
          <a:effectLst>
            <a:outerShdw sx="100000" sy="100000" kx="0" ky="0" algn="bl" rotWithShape="0" blurRad="76200" dist="508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0500" y="190500"/>
            <a:ext cx="893826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Task: Your Turn!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90500" y="981075"/>
            <a:ext cx="8763000" cy="2875359"/>
          </a:xfrm>
          <a:prstGeom prst="roundRect">
            <a:avLst>
              <a:gd name="adj" fmla="val 53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sx="100000" sy="100000" kx="0" ky="0" algn="bl" rotWithShape="0" blurRad="50800" dist="254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3926" y="1244501"/>
            <a:ext cx="8400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94"/>
              </a:spcAft>
              <a:buNone/>
            </a:pPr>
            <a:r>
              <a:rPr lang="en-US" sz="18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Plan your Year 5 Camp Fundraiser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3926" y="1700808"/>
            <a:ext cx="3991124" cy="1428750"/>
          </a:xfrm>
          <a:prstGeom prst="roundRect">
            <a:avLst>
              <a:gd name="adj" fmla="val 7111"/>
            </a:avLst>
          </a:prstGeom>
          <a:solidFill>
            <a:srgbClr val="F0FFF4"/>
          </a:solidFill>
          <a:ln w="9525">
            <a:solidFill>
              <a:srgbClr val="C6F6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3951" y="1900833"/>
            <a:ext cx="36628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4" b="1" dirty="0">
                <a:solidFill>
                  <a:srgbClr val="2F8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UNDERSTAND</a:t>
            </a:r>
            <a:endParaRPr lang="en-US" sz="1404" dirty="0"/>
          </a:p>
        </p:txBody>
      </p:sp>
      <p:sp>
        <p:nvSpPr>
          <p:cNvPr id="8" name="Text 6"/>
          <p:cNvSpPr/>
          <p:nvPr/>
        </p:nvSpPr>
        <p:spPr>
          <a:xfrm>
            <a:off x="653951" y="2262783"/>
            <a:ext cx="3591074" cy="5143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your activity?</a:t>
            </a:r>
            <a:endParaRPr lang="en-US" sz="1200" dirty="0"/>
          </a:p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you notice/wonder?</a:t>
            </a:r>
            <a:endParaRPr lang="en-US" sz="1200" dirty="0"/>
          </a:p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info do you need to find out?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98950" y="1700808"/>
            <a:ext cx="3991124" cy="1428750"/>
          </a:xfrm>
          <a:prstGeom prst="roundRect">
            <a:avLst>
              <a:gd name="adj" fmla="val 7111"/>
            </a:avLst>
          </a:prstGeom>
          <a:solidFill>
            <a:srgbClr val="EBF8FF"/>
          </a:solidFill>
          <a:ln w="9525">
            <a:solidFill>
              <a:srgbClr val="BEE3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98975" y="1900833"/>
            <a:ext cx="36628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4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 &amp; SOLVE</a:t>
            </a:r>
            <a:endParaRPr lang="en-US" sz="1404" dirty="0"/>
          </a:p>
        </p:txBody>
      </p:sp>
      <p:sp>
        <p:nvSpPr>
          <p:cNvPr id="11" name="Text 9"/>
          <p:cNvSpPr/>
          <p:nvPr/>
        </p:nvSpPr>
        <p:spPr>
          <a:xfrm>
            <a:off x="4898975" y="2262783"/>
            <a:ext cx="3591074" cy="5143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will you charge?</a:t>
            </a:r>
            <a:endParaRPr lang="en-US" sz="1200" dirty="0"/>
          </a:p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items must you buy?</a:t>
            </a:r>
            <a:endParaRPr lang="en-US" sz="1200" dirty="0"/>
          </a:p>
          <a:p>
            <a:pPr algn="l" marL="95250" indent="-9525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math: Profit = Income - Expenses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1564" y="3383459"/>
            <a:ext cx="840087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</a:t>
            </a:r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if the weather is bad and only 50 students show up?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2026-05-14T22:55:17Z</dcterms:created>
  <dcterms:modified xsi:type="dcterms:W3CDTF">2026-05-14T22:55:17Z</dcterms:modified>
</cp:coreProperties>
</file>