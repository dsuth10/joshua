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4F7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2425180" y="1764804"/>
            <a:ext cx="4293492" cy="561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500"/>
              </a:spcAft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Draw It to Solve It!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3209403" y="2517279"/>
            <a:ext cx="2725046" cy="33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10"/>
              </a:lnSpc>
              <a:spcAft>
                <a:spcPts val="500"/>
              </a:spcAft>
              <a:buNone/>
            </a:pPr>
            <a:r>
              <a:rPr lang="en-US" sz="1800" b="1" dirty="0">
                <a:solidFill>
                  <a:srgbClr val="D5F5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Maths Unit 2 • Lesson 11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5686" y="3039070"/>
            <a:ext cx="805248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75"/>
              </a:lnSpc>
              <a:spcBef>
                <a:spcPts val="1000"/>
              </a:spcBef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F1C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VISUALISING NATURAL DISASTER WORD PROBLEMS ON WHITEBOARDS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44401" y="317450"/>
            <a:ext cx="8420302" cy="239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b="1" dirty="0">
                <a:solidFill>
                  <a:srgbClr val="17A5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44401" y="556766"/>
            <a:ext cx="8420302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1B4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Draw the Problem?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44401" y="1308050"/>
            <a:ext cx="3962400" cy="1414463"/>
          </a:xfrm>
          <a:prstGeom prst="roundRect">
            <a:avLst>
              <a:gd name="adj" fmla="val 538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95250" dist="28575" dir="5400000">
              <a:srgbClr val="000000">
                <a:alpha val="6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82501" y="1308050"/>
            <a:ext cx="0" cy="1414462"/>
          </a:xfrm>
          <a:prstGeom prst="line">
            <a:avLst/>
          </a:prstGeom>
          <a:noFill/>
          <a:ln w="76200">
            <a:solidFill>
              <a:srgbClr val="17A58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1101" y="1498550"/>
            <a:ext cx="3575304" cy="239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word problem is a story first!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11101" y="1814066"/>
            <a:ext cx="3575304" cy="7179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5"/>
              </a:lnSpc>
              <a:spcBef>
                <a:spcPts val="600"/>
              </a:spcBef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doing any addition, subtraction, multiplication, or division, we must understand the action taking place in that story.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44401" y="2849463"/>
            <a:ext cx="3962400" cy="1653778"/>
          </a:xfrm>
          <a:prstGeom prst="roundRect">
            <a:avLst>
              <a:gd name="adj" fmla="val 460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95250" dist="28575" dir="5400000">
              <a:srgbClr val="000000">
                <a:alpha val="6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482501" y="2849463"/>
            <a:ext cx="0" cy="1653778"/>
          </a:xfrm>
          <a:prstGeom prst="line">
            <a:avLst/>
          </a:prstGeom>
          <a:noFill/>
          <a:ln w="76200">
            <a:solidFill>
              <a:srgbClr val="E74C3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1101" y="3039963"/>
            <a:ext cx="3575304" cy="239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 can draw it, you understand it.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11101" y="3355479"/>
            <a:ext cx="3575304" cy="9572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5"/>
              </a:lnSpc>
              <a:spcBef>
                <a:spcPts val="600"/>
              </a:spcBef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whiteboard is a sketchpad to show the people, the objects, and the mathematical action (distributing, taking away, grouping, or combining).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737199" y="1931491"/>
            <a:ext cx="3962400" cy="2075408"/>
          </a:xfrm>
          <a:prstGeom prst="roundRect">
            <a:avLst>
              <a:gd name="adj" fmla="val 4895"/>
            </a:avLst>
          </a:prstGeom>
          <a:solidFill>
            <a:srgbClr val="EBF5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4775299" y="1931491"/>
            <a:ext cx="0" cy="2075408"/>
          </a:xfrm>
          <a:prstGeom prst="line">
            <a:avLst/>
          </a:prstGeom>
          <a:noFill/>
          <a:ln w="76200">
            <a:solidFill>
              <a:srgbClr val="2980B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67300" y="2121991"/>
            <a:ext cx="344596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Goal Today: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067300" y="2433042"/>
            <a:ext cx="3378398" cy="1319957"/>
          </a:xfrm>
          <a:prstGeom prst="rect">
            <a:avLst/>
          </a:prstGeom>
          <a:noFill/>
          <a:ln/>
        </p:spPr>
        <p:txBody>
          <a:bodyPr wrap="square" lIns="114300" tIns="0" rIns="0" bIns="0" rtlCol="0" anchor="t"/>
          <a:lstStyle/>
          <a:p>
            <a:pPr algn="l" marL="114300" indent="-114300">
              <a:lnSpc>
                <a:spcPts val="1680"/>
              </a:lnSpc>
              <a:spcAft>
                <a:spcPts val="500"/>
              </a:spcAft>
              <a:buSzPct val="100000"/>
              <a:buChar char="•"/>
            </a:pPr>
            <a:r>
              <a:rPr lang="en-US" sz="12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</a:t>
            </a:r>
            <a:pPr algn="l" indent="0" marL="0">
              <a:lnSpc>
                <a:spcPts val="1680"/>
              </a:lnSpc>
              <a:spcAft>
                <a:spcPts val="500"/>
              </a:spcAft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natural disaster scenario.</a:t>
            </a:r>
            <a:endParaRPr lang="en-US" sz="1200" dirty="0"/>
          </a:p>
          <a:p>
            <a:pPr algn="l" marL="114300" indent="-114300">
              <a:lnSpc>
                <a:spcPts val="1680"/>
              </a:lnSpc>
              <a:spcAft>
                <a:spcPts val="500"/>
              </a:spcAft>
              <a:buSzPct val="100000"/>
              <a:buChar char="•"/>
            </a:pPr>
            <a:r>
              <a:rPr lang="en-US" sz="12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Draw</a:t>
            </a:r>
            <a:pPr algn="l" indent="0" marL="0">
              <a:lnSpc>
                <a:spcPts val="1680"/>
              </a:lnSpc>
              <a:spcAft>
                <a:spcPts val="500"/>
              </a:spcAft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people, items, and action.</a:t>
            </a:r>
            <a:endParaRPr lang="en-US" sz="1200" dirty="0"/>
          </a:p>
          <a:p>
            <a:pPr algn="l" marL="114300" indent="-114300">
              <a:lnSpc>
                <a:spcPts val="1680"/>
              </a:lnSpc>
              <a:spcAft>
                <a:spcPts val="500"/>
              </a:spcAft>
              <a:buSzPct val="100000"/>
              <a:buChar char="•"/>
            </a:pPr>
            <a:r>
              <a:rPr lang="en-US" sz="12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Label</a:t>
            </a:r>
            <a:pPr algn="l" indent="0" marL="0">
              <a:lnSpc>
                <a:spcPts val="1680"/>
              </a:lnSpc>
              <a:spcAft>
                <a:spcPts val="500"/>
              </a:spcAft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numbers on the diagram.</a:t>
            </a:r>
            <a:endParaRPr lang="en-US" sz="1200" dirty="0"/>
          </a:p>
          <a:p>
            <a:pPr algn="l" marL="114300" indent="-114300">
              <a:lnSpc>
                <a:spcPts val="1680"/>
              </a:lnSpc>
              <a:spcAft>
                <a:spcPts val="500"/>
              </a:spcAft>
              <a:buSzPct val="100000"/>
              <a:buChar char="•"/>
            </a:pPr>
            <a:r>
              <a:rPr lang="en-US" sz="12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</a:t>
            </a:r>
            <a:pPr algn="l" indent="0" marL="0">
              <a:lnSpc>
                <a:spcPts val="1680"/>
              </a:lnSpc>
              <a:spcAft>
                <a:spcPts val="500"/>
              </a:spcAft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number sentence.</a:t>
            </a:r>
            <a:endParaRPr lang="en-US" sz="1200" dirty="0"/>
          </a:p>
          <a:p>
            <a:pPr algn="l" marL="114300" indent="-114300">
              <a:lnSpc>
                <a:spcPts val="1680"/>
              </a:lnSpc>
              <a:spcAft>
                <a:spcPts val="500"/>
              </a:spcAft>
              <a:buSzPct val="100000"/>
              <a:buChar char="•"/>
            </a:pPr>
            <a:r>
              <a:rPr lang="en-US" sz="12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</a:t>
            </a:r>
            <a:pPr algn="l" indent="0" marL="0">
              <a:lnSpc>
                <a:spcPts val="1680"/>
              </a:lnSpc>
              <a:spcAft>
                <a:spcPts val="500"/>
              </a:spcAft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your picture to your partner.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44401" y="317450"/>
            <a:ext cx="8420302" cy="239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b="1" dirty="0">
                <a:solidFill>
                  <a:srgbClr val="17A5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1: DIVISION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44401" y="556766"/>
            <a:ext cx="8420302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1B4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Jeffrey's Canned Beans (Flood Relief)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44401" y="1176040"/>
            <a:ext cx="3714750" cy="1605260"/>
          </a:xfrm>
          <a:prstGeom prst="roundRect">
            <a:avLst>
              <a:gd name="adj" fmla="val 47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95250" dist="28575" dir="5400000">
              <a:srgbClr val="000000">
                <a:alpha val="6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82501" y="1176040"/>
            <a:ext cx="0" cy="1605260"/>
          </a:xfrm>
          <a:prstGeom prst="line">
            <a:avLst/>
          </a:prstGeom>
          <a:noFill/>
          <a:ln w="76200">
            <a:solidFill>
              <a:srgbClr val="17A58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1101" y="1366540"/>
            <a:ext cx="3322701" cy="239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the Scenario: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11101" y="1707356"/>
            <a:ext cx="3322701" cy="883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spcBef>
                <a:spcPts val="800"/>
              </a:spcBef>
              <a:buNone/>
            </a:pPr>
            <a:r>
              <a:rPr lang="en-US" sz="1200" i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"Jeffrey is a disaster relief worker. He has 6 cans of beans to share equally between 3 flood survivors. How many cans does each survivor receive?"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44401" y="2908250"/>
            <a:ext cx="3714750" cy="1727002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95250" dist="28575" dir="5400000">
              <a:srgbClr val="000000">
                <a:alpha val="6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482501" y="2908250"/>
            <a:ext cx="0" cy="1727002"/>
          </a:xfrm>
          <a:prstGeom prst="line">
            <a:avLst/>
          </a:prstGeom>
          <a:noFill/>
          <a:ln w="76200">
            <a:solidFill>
              <a:srgbClr val="E74C3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1101" y="3098750"/>
            <a:ext cx="3322701" cy="239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Notice the Action: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11101" y="3401467"/>
            <a:ext cx="3257550" cy="979884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lnSpc>
                <a:spcPts val="168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with a </a:t>
            </a:r>
            <a:pPr algn="l" indent="0" marL="0">
              <a:lnSpc>
                <a:spcPts val="1680"/>
              </a:lnSpc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whole group</a:t>
            </a:r>
            <a:pPr algn="l" indent="0" marL="0">
              <a:lnSpc>
                <a:spcPts val="1680"/>
              </a:lnSpc>
              <a:spcAft>
                <a:spcPts val="500"/>
              </a:spcAft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(6 cans of beans).</a:t>
            </a:r>
            <a:endParaRPr lang="en-US" sz="1200" dirty="0"/>
          </a:p>
          <a:p>
            <a:pPr algn="l" marL="88900" indent="-88900">
              <a:lnSpc>
                <a:spcPts val="1680"/>
              </a:lnSpc>
              <a:spcAft>
                <a:spcPts val="500"/>
              </a:spcAft>
              <a:buSzPct val="100000"/>
              <a:buChar char="•"/>
            </a:pPr>
            <a:r>
              <a:rPr lang="en-US" sz="12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 out equally</a:t>
            </a:r>
            <a:pPr algn="l" indent="0" marL="0">
              <a:lnSpc>
                <a:spcPts val="1680"/>
              </a:lnSpc>
              <a:spcAft>
                <a:spcPts val="500"/>
              </a:spcAft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 3 different groups.</a:t>
            </a:r>
            <a:endParaRPr lang="en-US" sz="1200" dirty="0"/>
          </a:p>
          <a:p>
            <a:pPr algn="l" marL="88900" indent="-88900">
              <a:lnSpc>
                <a:spcPts val="1680"/>
              </a:lnSpc>
              <a:spcAft>
                <a:spcPts val="500"/>
              </a:spcAft>
              <a:buSzPct val="100000"/>
              <a:buChar char="•"/>
            </a:pPr>
            <a:r>
              <a:rPr lang="en-US" sz="12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Action:</a:t>
            </a:r>
            <a:pPr algn="l" indent="0" marL="0">
              <a:lnSpc>
                <a:spcPts val="1680"/>
              </a:lnSpc>
              <a:spcAft>
                <a:spcPts val="500"/>
              </a:spcAft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Splitting a whole into equal parts = </a:t>
            </a:r>
            <a:pPr algn="l" indent="0" marL="0">
              <a:lnSpc>
                <a:spcPts val="1680"/>
              </a:lnSpc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Division</a:t>
            </a:r>
            <a:pPr algn="l" indent="0" marL="0">
              <a:lnSpc>
                <a:spcPts val="1680"/>
              </a:lnSpc>
              <a:spcAft>
                <a:spcPts val="500"/>
              </a:spcAft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200" dirty="0"/>
          </a:p>
        </p:txBody>
      </p:sp>
      <p:pic>
        <p:nvPicPr>
          <p:cNvPr id="12" name="Image 0" descr="C:/Users/dsuth/Documents/Joshua/Units/Maths/Maths_Unit_2/Lesson_11/build/diagram_divis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62475" y="1927771"/>
            <a:ext cx="4146649" cy="208285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44401" y="317450"/>
            <a:ext cx="8420302" cy="239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b="1" dirty="0">
                <a:solidFill>
                  <a:srgbClr val="17A5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DIAGRAM BREAKDOWN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44401" y="556766"/>
            <a:ext cx="8420302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1B4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Draw Division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44401" y="1536650"/>
            <a:ext cx="4127599" cy="2865090"/>
          </a:xfrm>
          <a:prstGeom prst="roundRect">
            <a:avLst>
              <a:gd name="adj" fmla="val 3546"/>
            </a:avLst>
          </a:prstGeom>
          <a:solidFill>
            <a:srgbClr val="EBF5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82501" y="1536650"/>
            <a:ext cx="0" cy="2865090"/>
          </a:xfrm>
          <a:prstGeom prst="line">
            <a:avLst/>
          </a:prstGeom>
          <a:noFill/>
          <a:ln w="76200">
            <a:solidFill>
              <a:srgbClr val="2980B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4502" y="1727150"/>
            <a:ext cx="361447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Steps to Draw on your Whiteboard: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4502" y="2038201"/>
            <a:ext cx="3543598" cy="2109639"/>
          </a:xfrm>
          <a:prstGeom prst="rect">
            <a:avLst/>
          </a:prstGeom>
          <a:noFill/>
          <a:ln/>
        </p:spPr>
        <p:txBody>
          <a:bodyPr wrap="square" lIns="114300" tIns="0" rIns="0" bIns="0" rtlCol="0" anchor="t"/>
          <a:lstStyle/>
          <a:p>
            <a:pPr algn="l" marL="114300" indent="-114300">
              <a:lnSpc>
                <a:spcPts val="1680"/>
              </a:lnSpc>
              <a:spcAft>
                <a:spcPts val="500"/>
              </a:spcAft>
              <a:buSzPct val="100000"/>
              <a:buChar char="•"/>
            </a:pPr>
            <a:r>
              <a:rPr lang="en-US" sz="12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Draw the Starter (The Giver):</a:t>
            </a:r>
            <a:pPr algn="l" indent="0" marL="0">
              <a:lnSpc>
                <a:spcPts val="1680"/>
              </a:lnSpc>
              <a:spcAft>
                <a:spcPts val="500"/>
              </a:spcAft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Sketch Jeffrey and the 6 cans of beans together.</a:t>
            </a:r>
            <a:endParaRPr lang="en-US" sz="1200" dirty="0"/>
          </a:p>
          <a:p>
            <a:pPr algn="l" marL="114300" indent="-114300">
              <a:lnSpc>
                <a:spcPts val="1680"/>
              </a:lnSpc>
              <a:spcAft>
                <a:spcPts val="500"/>
              </a:spcAft>
              <a:buSzPct val="100000"/>
              <a:buChar char="•"/>
            </a:pPr>
            <a:r>
              <a:rPr lang="en-US" sz="12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Draw the Receivers:</a:t>
            </a:r>
            <a:pPr algn="l" indent="0" marL="0">
              <a:lnSpc>
                <a:spcPts val="1680"/>
              </a:lnSpc>
              <a:spcAft>
                <a:spcPts val="500"/>
              </a:spcAft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Draw 3 separate survivor figures.</a:t>
            </a:r>
            <a:endParaRPr lang="en-US" sz="1200" dirty="0"/>
          </a:p>
          <a:p>
            <a:pPr algn="l" marL="114300" indent="-114300">
              <a:lnSpc>
                <a:spcPts val="1680"/>
              </a:lnSpc>
              <a:spcAft>
                <a:spcPts val="500"/>
              </a:spcAft>
              <a:buSzPct val="100000"/>
              <a:buChar char="•"/>
            </a:pPr>
            <a:r>
              <a:rPr lang="en-US" sz="12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Draw the Action (Arrows):</a:t>
            </a:r>
            <a:pPr algn="l" indent="0" marL="0">
              <a:lnSpc>
                <a:spcPts val="1680"/>
              </a:lnSpc>
              <a:spcAft>
                <a:spcPts val="500"/>
              </a:spcAft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Group the beans and draw sharing arrows from the beans to each person.</a:t>
            </a:r>
            <a:endParaRPr lang="en-US" sz="1200" dirty="0"/>
          </a:p>
          <a:p>
            <a:pPr algn="l" marL="114300" indent="-114300">
              <a:lnSpc>
                <a:spcPts val="1680"/>
              </a:lnSpc>
              <a:spcAft>
                <a:spcPts val="500"/>
              </a:spcAft>
              <a:buSzPct val="100000"/>
              <a:buChar char="•"/>
            </a:pPr>
            <a:r>
              <a:rPr lang="en-US" sz="12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Label and Write:</a:t>
            </a:r>
            <a:pPr algn="l" indent="0" marL="0">
              <a:lnSpc>
                <a:spcPts val="1680"/>
              </a:lnSpc>
              <a:spcAft>
                <a:spcPts val="500"/>
              </a:spcAft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Label how many beans each person got (2). Write </a:t>
            </a:r>
            <a:pPr algn="l" indent="0" marL="0">
              <a:lnSpc>
                <a:spcPts val="1680"/>
              </a:lnSpc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÷ 3 = 2</a:t>
            </a:r>
            <a:pPr algn="l" indent="0" marL="0">
              <a:lnSpc>
                <a:spcPts val="1680"/>
              </a:lnSpc>
              <a:spcAft>
                <a:spcPts val="500"/>
              </a:spcAft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207347" y="2010519"/>
            <a:ext cx="3269605" cy="1790402"/>
          </a:xfrm>
          <a:prstGeom prst="roundRect">
            <a:avLst>
              <a:gd name="adj" fmla="val 4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95250" dist="28575" dir="5400000">
              <a:srgbClr val="000000">
                <a:alpha val="6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5245447" y="2010519"/>
            <a:ext cx="0" cy="1790402"/>
          </a:xfrm>
          <a:prstGeom prst="line">
            <a:avLst/>
          </a:prstGeom>
          <a:noFill/>
          <a:ln w="76200">
            <a:solidFill>
              <a:srgbClr val="2980B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74047" y="2201019"/>
            <a:ext cx="2868653" cy="239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 Whiteboard Check: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474047" y="2503736"/>
            <a:ext cx="2812405" cy="1043285"/>
          </a:xfrm>
          <a:prstGeom prst="rect">
            <a:avLst/>
          </a:prstGeom>
          <a:noFill/>
          <a:ln/>
        </p:spPr>
        <p:txBody>
          <a:bodyPr wrap="square" lIns="114300" tIns="0" rIns="0" bIns="0" rtlCol="0" anchor="t"/>
          <a:lstStyle/>
          <a:p>
            <a:pPr algn="l" marL="114300" indent="-114300">
              <a:lnSpc>
                <a:spcPts val="168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Did you draw 6 items?</a:t>
            </a:r>
            <a:endParaRPr lang="en-US" sz="1200" dirty="0"/>
          </a:p>
          <a:p>
            <a:pPr algn="l" marL="114300" indent="-114300">
              <a:lnSpc>
                <a:spcPts val="168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Did you draw 3 target groups?</a:t>
            </a:r>
            <a:endParaRPr lang="en-US" sz="1200" dirty="0"/>
          </a:p>
          <a:p>
            <a:pPr algn="l" marL="114300" indent="-114300">
              <a:lnSpc>
                <a:spcPts val="168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Did you divide them evenly?</a:t>
            </a:r>
            <a:endParaRPr lang="en-US" sz="1200" dirty="0"/>
          </a:p>
          <a:p>
            <a:pPr algn="l" marL="114300" indent="-114300">
              <a:lnSpc>
                <a:spcPts val="168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your final answer labelled (</a:t>
            </a:r>
            <a:pPr algn="l" indent="0" marL="0">
              <a:lnSpc>
                <a:spcPts val="1680"/>
              </a:lnSpc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cans</a:t>
            </a:r>
            <a:pPr algn="l" indent="0" marL="0">
              <a:lnSpc>
                <a:spcPts val="1680"/>
              </a:lnSpc>
              <a:spcAft>
                <a:spcPts val="500"/>
              </a:spcAft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)?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44401" y="317450"/>
            <a:ext cx="8420302" cy="239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b="1" dirty="0">
                <a:solidFill>
                  <a:srgbClr val="17A5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2: MULTIPLICATION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44401" y="556766"/>
            <a:ext cx="8420302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1B4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Flood Supply Trucks (Equal Groups)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44401" y="1179909"/>
            <a:ext cx="3714750" cy="1384399"/>
          </a:xfrm>
          <a:prstGeom prst="roundRect">
            <a:avLst>
              <a:gd name="adj" fmla="val 55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95250" dist="28575" dir="5400000">
              <a:srgbClr val="000000">
                <a:alpha val="6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82501" y="1179909"/>
            <a:ext cx="0" cy="1384399"/>
          </a:xfrm>
          <a:prstGeom prst="line">
            <a:avLst/>
          </a:prstGeom>
          <a:noFill/>
          <a:ln w="76200">
            <a:solidFill>
              <a:srgbClr val="17A58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1101" y="1370409"/>
            <a:ext cx="3322701" cy="239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the Scenario: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11101" y="1711226"/>
            <a:ext cx="3322701" cy="6625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spcBef>
                <a:spcPts val="800"/>
              </a:spcBef>
              <a:buNone/>
            </a:pPr>
            <a:r>
              <a:rPr lang="en-US" sz="1200" i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"After the flood, 4 emergency supply trucks each carried 8 food packs to the disaster zone. How many food packs arrived in total?"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44401" y="2691259"/>
            <a:ext cx="3714750" cy="1940272"/>
          </a:xfrm>
          <a:prstGeom prst="roundRect">
            <a:avLst>
              <a:gd name="adj" fmla="val 392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95250" dist="28575" dir="5400000">
              <a:srgbClr val="000000">
                <a:alpha val="6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482501" y="2691259"/>
            <a:ext cx="0" cy="1940272"/>
          </a:xfrm>
          <a:prstGeom prst="line">
            <a:avLst/>
          </a:prstGeom>
          <a:noFill/>
          <a:ln w="76200">
            <a:solidFill>
              <a:srgbClr val="E74C3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1101" y="2881759"/>
            <a:ext cx="3322701" cy="239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Notice the Action: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11101" y="3184475"/>
            <a:ext cx="3257550" cy="1193155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lnSpc>
                <a:spcPts val="168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have </a:t>
            </a:r>
            <a:pPr algn="l" indent="0" marL="0">
              <a:lnSpc>
                <a:spcPts val="1680"/>
              </a:lnSpc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trucks</a:t>
            </a:r>
            <a:pPr algn="l" indent="0" marL="0">
              <a:lnSpc>
                <a:spcPts val="1680"/>
              </a:lnSpc>
              <a:spcAft>
                <a:spcPts val="500"/>
              </a:spcAft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(4 groups).</a:t>
            </a:r>
            <a:endParaRPr lang="en-US" sz="1200" dirty="0"/>
          </a:p>
          <a:p>
            <a:pPr algn="l" marL="88900" indent="-88900">
              <a:lnSpc>
                <a:spcPts val="168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truck has </a:t>
            </a:r>
            <a:pPr algn="l" indent="0" marL="0">
              <a:lnSpc>
                <a:spcPts val="1680"/>
              </a:lnSpc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exactly 8 packs</a:t>
            </a:r>
            <a:pPr algn="l" indent="0" marL="0">
              <a:lnSpc>
                <a:spcPts val="1680"/>
              </a:lnSpc>
              <a:spcAft>
                <a:spcPts val="500"/>
              </a:spcAft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(equal items per group).</a:t>
            </a:r>
            <a:endParaRPr lang="en-US" sz="1200" dirty="0"/>
          </a:p>
          <a:p>
            <a:pPr algn="l" marL="88900" indent="-88900">
              <a:lnSpc>
                <a:spcPts val="1680"/>
              </a:lnSpc>
              <a:spcAft>
                <a:spcPts val="500"/>
              </a:spcAft>
              <a:buSzPct val="100000"/>
              <a:buChar char="•"/>
            </a:pPr>
            <a:r>
              <a:rPr lang="en-US" sz="12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Action:</a:t>
            </a:r>
            <a:pPr algn="l" indent="0" marL="0">
              <a:lnSpc>
                <a:spcPts val="1680"/>
              </a:lnSpc>
              <a:spcAft>
                <a:spcPts val="500"/>
              </a:spcAft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Repeated addition of equal groups = </a:t>
            </a:r>
            <a:pPr algn="l" indent="0" marL="0">
              <a:lnSpc>
                <a:spcPts val="1680"/>
              </a:lnSpc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Multiplication</a:t>
            </a:r>
            <a:pPr algn="l" indent="0" marL="0">
              <a:lnSpc>
                <a:spcPts val="1680"/>
              </a:lnSpc>
              <a:spcAft>
                <a:spcPts val="500"/>
              </a:spcAft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200" dirty="0"/>
          </a:p>
        </p:txBody>
      </p:sp>
      <p:pic>
        <p:nvPicPr>
          <p:cNvPr id="12" name="Image 0" descr="C:/Users/dsuth/Documents/Joshua/Units/Maths/Maths_Unit_2/Lesson_11/build/diagram_multiplic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62475" y="1927771"/>
            <a:ext cx="4146649" cy="208285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44401" y="317450"/>
            <a:ext cx="8420302" cy="239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b="1" dirty="0">
                <a:solidFill>
                  <a:srgbClr val="17A5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DIAGRAM BREAKDOWN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44401" y="556766"/>
            <a:ext cx="8420302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1B4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Draw Multiplication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44401" y="1643211"/>
            <a:ext cx="4127599" cy="2651820"/>
          </a:xfrm>
          <a:prstGeom prst="roundRect">
            <a:avLst>
              <a:gd name="adj" fmla="val 3831"/>
            </a:avLst>
          </a:prstGeom>
          <a:solidFill>
            <a:srgbClr val="EBF5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82501" y="1643211"/>
            <a:ext cx="0" cy="2651820"/>
          </a:xfrm>
          <a:prstGeom prst="line">
            <a:avLst/>
          </a:prstGeom>
          <a:noFill/>
          <a:ln w="76200">
            <a:solidFill>
              <a:srgbClr val="2980B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4502" y="1833711"/>
            <a:ext cx="361447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Steps to Draw on your Whiteboard: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4502" y="2144762"/>
            <a:ext cx="3543598" cy="1896368"/>
          </a:xfrm>
          <a:prstGeom prst="rect">
            <a:avLst/>
          </a:prstGeom>
          <a:noFill/>
          <a:ln/>
        </p:spPr>
        <p:txBody>
          <a:bodyPr wrap="square" lIns="114300" tIns="0" rIns="0" bIns="0" rtlCol="0" anchor="t"/>
          <a:lstStyle/>
          <a:p>
            <a:pPr algn="l" marL="114300" indent="-114300">
              <a:lnSpc>
                <a:spcPts val="1680"/>
              </a:lnSpc>
              <a:spcAft>
                <a:spcPts val="500"/>
              </a:spcAft>
              <a:buSzPct val="100000"/>
              <a:buChar char="•"/>
            </a:pPr>
            <a:r>
              <a:rPr lang="en-US" sz="12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Draw the Groups:</a:t>
            </a:r>
            <a:pPr algn="l" indent="0" marL="0">
              <a:lnSpc>
                <a:spcPts val="1680"/>
              </a:lnSpc>
              <a:spcAft>
                <a:spcPts val="500"/>
              </a:spcAft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Sketch 4 simple trucks (rectangles with wheels are perfect!).</a:t>
            </a:r>
            <a:endParaRPr lang="en-US" sz="1200" dirty="0"/>
          </a:p>
          <a:p>
            <a:pPr algn="l" marL="114300" indent="-114300">
              <a:lnSpc>
                <a:spcPts val="1680"/>
              </a:lnSpc>
              <a:spcAft>
                <a:spcPts val="500"/>
              </a:spcAft>
              <a:buSzPct val="100000"/>
              <a:buChar char="•"/>
            </a:pPr>
            <a:r>
              <a:rPr lang="en-US" sz="12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Draw the Items inside:</a:t>
            </a:r>
            <a:pPr algn="l" indent="0" marL="0">
              <a:lnSpc>
                <a:spcPts val="1680"/>
              </a:lnSpc>
              <a:spcAft>
                <a:spcPts val="500"/>
              </a:spcAft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Draw 8 small box shapes inside/near each truck.</a:t>
            </a:r>
            <a:endParaRPr lang="en-US" sz="1200" dirty="0"/>
          </a:p>
          <a:p>
            <a:pPr algn="l" marL="114300" indent="-114300">
              <a:lnSpc>
                <a:spcPts val="1680"/>
              </a:lnSpc>
              <a:spcAft>
                <a:spcPts val="500"/>
              </a:spcAft>
              <a:buSzPct val="100000"/>
              <a:buChar char="•"/>
            </a:pPr>
            <a:r>
              <a:rPr lang="en-US" sz="12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Label the Quantities:</a:t>
            </a:r>
            <a:pPr algn="l" indent="0" marL="0">
              <a:lnSpc>
                <a:spcPts val="1680"/>
              </a:lnSpc>
              <a:spcAft>
                <a:spcPts val="500"/>
              </a:spcAft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Write "8" under each truck to represent the equal quantity.</a:t>
            </a:r>
            <a:endParaRPr lang="en-US" sz="1200" dirty="0"/>
          </a:p>
          <a:p>
            <a:pPr algn="l" marL="114300" indent="-114300">
              <a:lnSpc>
                <a:spcPts val="1680"/>
              </a:lnSpc>
              <a:spcAft>
                <a:spcPts val="500"/>
              </a:spcAft>
              <a:buSzPct val="100000"/>
              <a:buChar char="•"/>
            </a:pPr>
            <a:r>
              <a:rPr lang="en-US" sz="12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Draw the Total Bracket:</a:t>
            </a:r>
            <a:pPr algn="l" indent="0" marL="0">
              <a:lnSpc>
                <a:spcPts val="1680"/>
              </a:lnSpc>
              <a:spcAft>
                <a:spcPts val="500"/>
              </a:spcAft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Bracket them together and write the sum: </a:t>
            </a:r>
            <a:pPr algn="l" indent="0" marL="0">
              <a:lnSpc>
                <a:spcPts val="1680"/>
              </a:lnSpc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× 8 = 32</a:t>
            </a:r>
            <a:pPr algn="l" indent="0" marL="0">
              <a:lnSpc>
                <a:spcPts val="1680"/>
              </a:lnSpc>
              <a:spcAft>
                <a:spcPts val="500"/>
              </a:spcAft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122664" y="2010519"/>
            <a:ext cx="3439120" cy="1790402"/>
          </a:xfrm>
          <a:prstGeom prst="roundRect">
            <a:avLst>
              <a:gd name="adj" fmla="val 4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95250" dist="28575" dir="5400000">
              <a:srgbClr val="000000">
                <a:alpha val="6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5160764" y="2010519"/>
            <a:ext cx="0" cy="1790402"/>
          </a:xfrm>
          <a:prstGeom prst="line">
            <a:avLst/>
          </a:prstGeom>
          <a:noFill/>
          <a:ln w="76200">
            <a:solidFill>
              <a:srgbClr val="2980B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89364" y="2201019"/>
            <a:ext cx="3041559" cy="239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 Whiteboard Check: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389364" y="2503736"/>
            <a:ext cx="2981920" cy="1043285"/>
          </a:xfrm>
          <a:prstGeom prst="rect">
            <a:avLst/>
          </a:prstGeom>
          <a:noFill/>
          <a:ln/>
        </p:spPr>
        <p:txBody>
          <a:bodyPr wrap="square" lIns="114300" tIns="0" rIns="0" bIns="0" rtlCol="0" anchor="t"/>
          <a:lstStyle/>
          <a:p>
            <a:pPr algn="l" marL="114300" indent="-114300">
              <a:lnSpc>
                <a:spcPts val="168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Are all your groups equal (8 in each)?</a:t>
            </a:r>
            <a:endParaRPr lang="en-US" sz="1200" dirty="0"/>
          </a:p>
          <a:p>
            <a:pPr algn="l" marL="114300" indent="-114300">
              <a:lnSpc>
                <a:spcPts val="168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you have exactly 4 groups?</a:t>
            </a:r>
            <a:endParaRPr lang="en-US" sz="1200" dirty="0"/>
          </a:p>
          <a:p>
            <a:pPr algn="l" marL="114300" indent="-114300">
              <a:lnSpc>
                <a:spcPts val="168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Did you label the numbers?</a:t>
            </a:r>
            <a:endParaRPr lang="en-US" sz="1200" dirty="0"/>
          </a:p>
          <a:p>
            <a:pPr algn="l" marL="114300" indent="-114300">
              <a:lnSpc>
                <a:spcPts val="168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your final answer labelled (</a:t>
            </a:r>
            <a:pPr algn="l" indent="0" marL="0">
              <a:lnSpc>
                <a:spcPts val="1680"/>
              </a:lnSpc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packs</a:t>
            </a:r>
            <a:pPr algn="l" indent="0" marL="0">
              <a:lnSpc>
                <a:spcPts val="1680"/>
              </a:lnSpc>
              <a:spcAft>
                <a:spcPts val="500"/>
              </a:spcAft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)?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44401" y="317450"/>
            <a:ext cx="8420302" cy="239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b="1" dirty="0">
                <a:solidFill>
                  <a:srgbClr val="17A5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3: SUBTRACTION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44401" y="556766"/>
            <a:ext cx="8420302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1B4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Bushfire Water Reserves (Taking Away)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44401" y="1176040"/>
            <a:ext cx="3714750" cy="1605260"/>
          </a:xfrm>
          <a:prstGeom prst="roundRect">
            <a:avLst>
              <a:gd name="adj" fmla="val 47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95250" dist="28575" dir="5400000">
              <a:srgbClr val="000000">
                <a:alpha val="6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82501" y="1176040"/>
            <a:ext cx="0" cy="1605260"/>
          </a:xfrm>
          <a:prstGeom prst="line">
            <a:avLst/>
          </a:prstGeom>
          <a:noFill/>
          <a:ln w="76200">
            <a:solidFill>
              <a:srgbClr val="17A58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1101" y="1366540"/>
            <a:ext cx="3322701" cy="239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the Scenario: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11101" y="1707356"/>
            <a:ext cx="3322701" cy="883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spcBef>
                <a:spcPts val="800"/>
              </a:spcBef>
              <a:buNone/>
            </a:pPr>
            <a:r>
              <a:rPr lang="en-US" sz="1200" i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"Before the bushfire, the town's reserve tank held 120 litres of water. After three days of firefighting, 74 litres had been used. How much water remains in the tank?"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44401" y="2908250"/>
            <a:ext cx="3714750" cy="1727002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95250" dist="28575" dir="5400000">
              <a:srgbClr val="000000">
                <a:alpha val="6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482501" y="2908250"/>
            <a:ext cx="0" cy="1727002"/>
          </a:xfrm>
          <a:prstGeom prst="line">
            <a:avLst/>
          </a:prstGeom>
          <a:noFill/>
          <a:ln w="76200">
            <a:solidFill>
              <a:srgbClr val="E74C3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1101" y="3098750"/>
            <a:ext cx="3322701" cy="239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Notice the Action: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11101" y="3401467"/>
            <a:ext cx="3257550" cy="979884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lnSpc>
                <a:spcPts val="168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start with a </a:t>
            </a:r>
            <a:pPr algn="l" indent="0" marL="0">
              <a:lnSpc>
                <a:spcPts val="1680"/>
              </a:lnSpc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whole amount</a:t>
            </a:r>
            <a:pPr algn="l" indent="0" marL="0">
              <a:lnSpc>
                <a:spcPts val="1680"/>
              </a:lnSpc>
              <a:spcAft>
                <a:spcPts val="500"/>
              </a:spcAft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(120 Litres).</a:t>
            </a:r>
            <a:endParaRPr lang="en-US" sz="1200" dirty="0"/>
          </a:p>
          <a:p>
            <a:pPr algn="l" marL="88900" indent="-88900">
              <a:lnSpc>
                <a:spcPts val="168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take a </a:t>
            </a:r>
            <a:pPr algn="l" indent="0" marL="0">
              <a:lnSpc>
                <a:spcPts val="1680"/>
              </a:lnSpc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of it away</a:t>
            </a:r>
            <a:pPr algn="l" indent="0" marL="0">
              <a:lnSpc>
                <a:spcPts val="1680"/>
              </a:lnSpc>
              <a:spcAft>
                <a:spcPts val="500"/>
              </a:spcAft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(74 Litres used).</a:t>
            </a:r>
            <a:endParaRPr lang="en-US" sz="1200" dirty="0"/>
          </a:p>
          <a:p>
            <a:pPr algn="l" marL="88900" indent="-88900">
              <a:lnSpc>
                <a:spcPts val="1680"/>
              </a:lnSpc>
              <a:spcAft>
                <a:spcPts val="500"/>
              </a:spcAft>
              <a:buSzPct val="100000"/>
              <a:buChar char="•"/>
            </a:pPr>
            <a:r>
              <a:rPr lang="en-US" sz="12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Action:</a:t>
            </a:r>
            <a:pPr algn="l" indent="0" marL="0">
              <a:lnSpc>
                <a:spcPts val="1680"/>
              </a:lnSpc>
              <a:spcAft>
                <a:spcPts val="500"/>
              </a:spcAft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Removing a part to find what is left = </a:t>
            </a:r>
            <a:pPr algn="l" indent="0" marL="0">
              <a:lnSpc>
                <a:spcPts val="1680"/>
              </a:lnSpc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Subtraction</a:t>
            </a:r>
            <a:pPr algn="l" indent="0" marL="0">
              <a:lnSpc>
                <a:spcPts val="1680"/>
              </a:lnSpc>
              <a:spcAft>
                <a:spcPts val="500"/>
              </a:spcAft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200" dirty="0"/>
          </a:p>
        </p:txBody>
      </p:sp>
      <p:pic>
        <p:nvPicPr>
          <p:cNvPr id="12" name="Image 0" descr="C:/Users/dsuth/Documents/Joshua/Units/Maths/Maths_Unit_2/Lesson_11/build/diagram_subtrac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62475" y="1927771"/>
            <a:ext cx="4146649" cy="208285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44401" y="317450"/>
            <a:ext cx="8420302" cy="239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b="1" dirty="0">
                <a:solidFill>
                  <a:srgbClr val="17A5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DIAGRAM BREAKDOWN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44401" y="556766"/>
            <a:ext cx="8420302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1B4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Draw Subtraction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44401" y="1536650"/>
            <a:ext cx="4127599" cy="2865090"/>
          </a:xfrm>
          <a:prstGeom prst="roundRect">
            <a:avLst>
              <a:gd name="adj" fmla="val 3546"/>
            </a:avLst>
          </a:prstGeom>
          <a:solidFill>
            <a:srgbClr val="EBF5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82501" y="1536650"/>
            <a:ext cx="0" cy="2865090"/>
          </a:xfrm>
          <a:prstGeom prst="line">
            <a:avLst/>
          </a:prstGeom>
          <a:noFill/>
          <a:ln w="76200">
            <a:solidFill>
              <a:srgbClr val="2980B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4502" y="1727150"/>
            <a:ext cx="361447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Steps to Draw on your Whiteboard: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4502" y="2038201"/>
            <a:ext cx="3543598" cy="2109639"/>
          </a:xfrm>
          <a:prstGeom prst="rect">
            <a:avLst/>
          </a:prstGeom>
          <a:noFill/>
          <a:ln/>
        </p:spPr>
        <p:txBody>
          <a:bodyPr wrap="square" lIns="114300" tIns="0" rIns="0" bIns="0" rtlCol="0" anchor="t"/>
          <a:lstStyle/>
          <a:p>
            <a:pPr algn="l" marL="114300" indent="-114300">
              <a:lnSpc>
                <a:spcPts val="1680"/>
              </a:lnSpc>
              <a:spcAft>
                <a:spcPts val="500"/>
              </a:spcAft>
              <a:buSzPct val="100000"/>
              <a:buChar char="•"/>
            </a:pPr>
            <a:r>
              <a:rPr lang="en-US" sz="12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Draw the Whole (The Tank):</a:t>
            </a:r>
            <a:pPr algn="l" indent="0" marL="0">
              <a:lnSpc>
                <a:spcPts val="1680"/>
              </a:lnSpc>
              <a:spcAft>
                <a:spcPts val="500"/>
              </a:spcAft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Draw a big box/cylinder and label the side "120 L".</a:t>
            </a:r>
            <a:endParaRPr lang="en-US" sz="1200" dirty="0"/>
          </a:p>
          <a:p>
            <a:pPr algn="l" marL="114300" indent="-114300">
              <a:lnSpc>
                <a:spcPts val="1680"/>
              </a:lnSpc>
              <a:spcAft>
                <a:spcPts val="500"/>
              </a:spcAft>
              <a:buSzPct val="100000"/>
              <a:buChar char="•"/>
            </a:pPr>
            <a:r>
              <a:rPr lang="en-US" sz="12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 the Part Taken:</a:t>
            </a:r>
            <a:pPr algn="l" indent="0" marL="0">
              <a:lnSpc>
                <a:spcPts val="1680"/>
              </a:lnSpc>
              <a:spcAft>
                <a:spcPts val="500"/>
              </a:spcAft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Partition the tank. Shade/cross out the top part and label it "74 L used".</a:t>
            </a:r>
            <a:endParaRPr lang="en-US" sz="1200" dirty="0"/>
          </a:p>
          <a:p>
            <a:pPr algn="l" marL="114300" indent="-114300">
              <a:lnSpc>
                <a:spcPts val="1680"/>
              </a:lnSpc>
              <a:spcAft>
                <a:spcPts val="500"/>
              </a:spcAft>
              <a:buSzPct val="100000"/>
              <a:buChar char="•"/>
            </a:pPr>
            <a:r>
              <a:rPr lang="en-US" sz="12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Label the Unknown Part:</a:t>
            </a:r>
            <a:pPr algn="l" indent="0" marL="0">
              <a:lnSpc>
                <a:spcPts val="1680"/>
              </a:lnSpc>
              <a:spcAft>
                <a:spcPts val="500"/>
              </a:spcAft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Put a "?" in the unshaded bottom part.</a:t>
            </a:r>
            <a:endParaRPr lang="en-US" sz="1200" dirty="0"/>
          </a:p>
          <a:p>
            <a:pPr algn="l" marL="114300" indent="-114300">
              <a:lnSpc>
                <a:spcPts val="1680"/>
              </a:lnSpc>
              <a:spcAft>
                <a:spcPts val="500"/>
              </a:spcAft>
              <a:buSzPct val="100000"/>
              <a:buChar char="•"/>
            </a:pPr>
            <a:r>
              <a:rPr lang="en-US" sz="12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the Math sentence:</a:t>
            </a:r>
            <a:pPr algn="l" indent="0" marL="0">
              <a:lnSpc>
                <a:spcPts val="1680"/>
              </a:lnSpc>
              <a:spcAft>
                <a:spcPts val="500"/>
              </a:spcAft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Solve for the remaining part: </a:t>
            </a:r>
            <a:pPr algn="l" indent="0" marL="0">
              <a:lnSpc>
                <a:spcPts val="1680"/>
              </a:lnSpc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120 − 74 = 46</a:t>
            </a:r>
            <a:pPr algn="l" indent="0" marL="0">
              <a:lnSpc>
                <a:spcPts val="1680"/>
              </a:lnSpc>
              <a:spcAft>
                <a:spcPts val="500"/>
              </a:spcAft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984849" y="1903809"/>
            <a:ext cx="3714750" cy="2003673"/>
          </a:xfrm>
          <a:prstGeom prst="roundRect">
            <a:avLst>
              <a:gd name="adj" fmla="val 38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95250" dist="28575" dir="5400000">
              <a:srgbClr val="000000">
                <a:alpha val="6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5022949" y="1903809"/>
            <a:ext cx="0" cy="2003673"/>
          </a:xfrm>
          <a:prstGeom prst="line">
            <a:avLst/>
          </a:prstGeom>
          <a:noFill/>
          <a:ln w="76200">
            <a:solidFill>
              <a:srgbClr val="2980B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51549" y="2094309"/>
            <a:ext cx="3322701" cy="239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 Whiteboard Check: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251549" y="2397026"/>
            <a:ext cx="3257550" cy="1256556"/>
          </a:xfrm>
          <a:prstGeom prst="rect">
            <a:avLst/>
          </a:prstGeom>
          <a:noFill/>
          <a:ln/>
        </p:spPr>
        <p:txBody>
          <a:bodyPr wrap="square" lIns="114300" tIns="0" rIns="0" bIns="0" rtlCol="0" anchor="t"/>
          <a:lstStyle/>
          <a:p>
            <a:pPr algn="l" marL="114300" indent="-114300">
              <a:lnSpc>
                <a:spcPts val="168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Did you start with the full amount (120)?</a:t>
            </a:r>
            <a:endParaRPr lang="en-US" sz="1200" dirty="0"/>
          </a:p>
          <a:p>
            <a:pPr algn="l" marL="114300" indent="-114300">
              <a:lnSpc>
                <a:spcPts val="168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Did you clearly separate the part taken away?</a:t>
            </a:r>
            <a:endParaRPr lang="en-US" sz="1200" dirty="0"/>
          </a:p>
          <a:p>
            <a:pPr algn="l" marL="114300" indent="-114300">
              <a:lnSpc>
                <a:spcPts val="168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the remaining part labeled "? remains"?</a:t>
            </a:r>
            <a:endParaRPr lang="en-US" sz="1200" dirty="0"/>
          </a:p>
          <a:p>
            <a:pPr algn="l" marL="114300" indent="-114300">
              <a:lnSpc>
                <a:spcPts val="168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your final answer labelled (</a:t>
            </a:r>
            <a:pPr algn="l" indent="0" marL="0">
              <a:lnSpc>
                <a:spcPts val="1680"/>
              </a:lnSpc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 litres</a:t>
            </a:r>
            <a:pPr algn="l" indent="0" marL="0">
              <a:lnSpc>
                <a:spcPts val="1680"/>
              </a:lnSpc>
              <a:spcAft>
                <a:spcPts val="500"/>
              </a:spcAft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)?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44401" y="317450"/>
            <a:ext cx="8420302" cy="239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b="1" dirty="0">
                <a:solidFill>
                  <a:srgbClr val="17A5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4: ADDITION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44401" y="556766"/>
            <a:ext cx="8420302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1B4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Cyclone Evacuation (Combining Groups)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44401" y="1286470"/>
            <a:ext cx="3714750" cy="1384399"/>
          </a:xfrm>
          <a:prstGeom prst="roundRect">
            <a:avLst>
              <a:gd name="adj" fmla="val 55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95250" dist="28575" dir="5400000">
              <a:srgbClr val="000000">
                <a:alpha val="6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82501" y="1286470"/>
            <a:ext cx="0" cy="1384399"/>
          </a:xfrm>
          <a:prstGeom prst="line">
            <a:avLst/>
          </a:prstGeom>
          <a:noFill/>
          <a:ln w="76200">
            <a:solidFill>
              <a:srgbClr val="17A58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1101" y="1476970"/>
            <a:ext cx="3322701" cy="239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the Scenario: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11101" y="1817787"/>
            <a:ext cx="3322701" cy="6625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spcBef>
                <a:spcPts val="800"/>
              </a:spcBef>
              <a:buNone/>
            </a:pPr>
            <a:r>
              <a:rPr lang="en-US" sz="1200" i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"Team A rescued 23 survivors from the cyclone damage. Team B rescued 18 survivors. How many survivors were rescued altogether?"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44401" y="2797820"/>
            <a:ext cx="3714750" cy="1727002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95250" dist="28575" dir="5400000">
              <a:srgbClr val="000000">
                <a:alpha val="6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482501" y="2797820"/>
            <a:ext cx="0" cy="1727002"/>
          </a:xfrm>
          <a:prstGeom prst="line">
            <a:avLst/>
          </a:prstGeom>
          <a:noFill/>
          <a:ln w="76200">
            <a:solidFill>
              <a:srgbClr val="E74C3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1101" y="2988320"/>
            <a:ext cx="3322701" cy="239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Notice the Action: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11101" y="3291036"/>
            <a:ext cx="3257550" cy="979884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lnSpc>
                <a:spcPts val="168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have </a:t>
            </a:r>
            <a:pPr algn="l" indent="0" marL="0">
              <a:lnSpc>
                <a:spcPts val="1680"/>
              </a:lnSpc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separate parts</a:t>
            </a:r>
            <a:pPr algn="l" indent="0" marL="0">
              <a:lnSpc>
                <a:spcPts val="1680"/>
              </a:lnSpc>
              <a:spcAft>
                <a:spcPts val="500"/>
              </a:spcAft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(23 and 18).</a:t>
            </a:r>
            <a:endParaRPr lang="en-US" sz="1200" dirty="0"/>
          </a:p>
          <a:p>
            <a:pPr algn="l" marL="88900" indent="-88900">
              <a:lnSpc>
                <a:spcPts val="168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want to find the </a:t>
            </a:r>
            <a:pPr algn="l" indent="0" marL="0">
              <a:lnSpc>
                <a:spcPts val="1680"/>
              </a:lnSpc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combined</a:t>
            </a:r>
            <a:pPr algn="l" indent="0" marL="0">
              <a:lnSpc>
                <a:spcPts val="1680"/>
              </a:lnSpc>
              <a:spcAft>
                <a:spcPts val="500"/>
              </a:spcAft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amount.</a:t>
            </a:r>
            <a:endParaRPr lang="en-US" sz="1200" dirty="0"/>
          </a:p>
          <a:p>
            <a:pPr algn="l" marL="88900" indent="-88900">
              <a:lnSpc>
                <a:spcPts val="1680"/>
              </a:lnSpc>
              <a:spcAft>
                <a:spcPts val="500"/>
              </a:spcAft>
              <a:buSzPct val="100000"/>
              <a:buChar char="•"/>
            </a:pPr>
            <a:r>
              <a:rPr lang="en-US" sz="12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Action:</a:t>
            </a:r>
            <a:pPr algn="l" indent="0" marL="0">
              <a:lnSpc>
                <a:spcPts val="1680"/>
              </a:lnSpc>
              <a:spcAft>
                <a:spcPts val="500"/>
              </a:spcAft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Putting two unequal groups together = </a:t>
            </a:r>
            <a:pPr algn="l" indent="0" marL="0">
              <a:lnSpc>
                <a:spcPts val="1680"/>
              </a:lnSpc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Addition</a:t>
            </a:r>
            <a:pPr algn="l" indent="0" marL="0">
              <a:lnSpc>
                <a:spcPts val="1680"/>
              </a:lnSpc>
              <a:spcAft>
                <a:spcPts val="500"/>
              </a:spcAft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200" dirty="0"/>
          </a:p>
        </p:txBody>
      </p:sp>
      <p:pic>
        <p:nvPicPr>
          <p:cNvPr id="12" name="Image 0" descr="C:/Users/dsuth/Documents/Joshua/Units/Maths/Maths_Unit_2/Lesson_11/build/diagram_addi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62475" y="1927771"/>
            <a:ext cx="4146649" cy="208285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44401" y="317450"/>
            <a:ext cx="8420302" cy="239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b="1" dirty="0">
                <a:solidFill>
                  <a:srgbClr val="17A5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DIAGRAM BREAKDOWN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44401" y="556766"/>
            <a:ext cx="8420302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1B4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Draw Addition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44401" y="1536650"/>
            <a:ext cx="4127599" cy="2865090"/>
          </a:xfrm>
          <a:prstGeom prst="roundRect">
            <a:avLst>
              <a:gd name="adj" fmla="val 3546"/>
            </a:avLst>
          </a:prstGeom>
          <a:solidFill>
            <a:srgbClr val="EBF5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82501" y="1536650"/>
            <a:ext cx="0" cy="2865090"/>
          </a:xfrm>
          <a:prstGeom prst="line">
            <a:avLst/>
          </a:prstGeom>
          <a:noFill/>
          <a:ln w="76200">
            <a:solidFill>
              <a:srgbClr val="2980B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4502" y="1727150"/>
            <a:ext cx="361447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Steps to Draw on your Whiteboard: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4502" y="2038201"/>
            <a:ext cx="3543598" cy="2109639"/>
          </a:xfrm>
          <a:prstGeom prst="rect">
            <a:avLst/>
          </a:prstGeom>
          <a:noFill/>
          <a:ln/>
        </p:spPr>
        <p:txBody>
          <a:bodyPr wrap="square" lIns="114300" tIns="0" rIns="0" bIns="0" rtlCol="0" anchor="t"/>
          <a:lstStyle/>
          <a:p>
            <a:pPr algn="l" marL="114300" indent="-114300">
              <a:lnSpc>
                <a:spcPts val="1680"/>
              </a:lnSpc>
              <a:spcAft>
                <a:spcPts val="500"/>
              </a:spcAft>
              <a:buSzPct val="100000"/>
              <a:buChar char="•"/>
            </a:pPr>
            <a:r>
              <a:rPr lang="en-US" sz="12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Draw the Parts:</a:t>
            </a:r>
            <a:pPr algn="l" indent="0" marL="0">
              <a:lnSpc>
                <a:spcPts val="1680"/>
              </a:lnSpc>
              <a:spcAft>
                <a:spcPts val="500"/>
              </a:spcAft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Draw two separate boxes or circles side-by-side.</a:t>
            </a:r>
            <a:endParaRPr lang="en-US" sz="1200" dirty="0"/>
          </a:p>
          <a:p>
            <a:pPr algn="l" marL="114300" indent="-114300">
              <a:lnSpc>
                <a:spcPts val="1680"/>
              </a:lnSpc>
              <a:spcAft>
                <a:spcPts val="500"/>
              </a:spcAft>
              <a:buSzPct val="100000"/>
              <a:buChar char="•"/>
            </a:pPr>
            <a:r>
              <a:rPr lang="en-US" sz="12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Label the Groups:</a:t>
            </a:r>
            <a:pPr algn="l" indent="0" marL="0">
              <a:lnSpc>
                <a:spcPts val="1680"/>
              </a:lnSpc>
              <a:spcAft>
                <a:spcPts val="500"/>
              </a:spcAft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Label one "Team A: 23" and the other "Team B: 18".</a:t>
            </a:r>
            <a:endParaRPr lang="en-US" sz="1200" dirty="0"/>
          </a:p>
          <a:p>
            <a:pPr algn="l" marL="114300" indent="-114300">
              <a:lnSpc>
                <a:spcPts val="1680"/>
              </a:lnSpc>
              <a:spcAft>
                <a:spcPts val="500"/>
              </a:spcAft>
              <a:buSzPct val="100000"/>
              <a:buChar char="•"/>
            </a:pPr>
            <a:r>
              <a:rPr lang="en-US" sz="12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Draw the Action (Combine):</a:t>
            </a:r>
            <a:pPr algn="l" indent="0" marL="0">
              <a:lnSpc>
                <a:spcPts val="1680"/>
              </a:lnSpc>
              <a:spcAft>
                <a:spcPts val="500"/>
              </a:spcAft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Draw arrows from both circles leading down into a larger "Altogether" container.</a:t>
            </a:r>
            <a:endParaRPr lang="en-US" sz="1200" dirty="0"/>
          </a:p>
          <a:p>
            <a:pPr algn="l" marL="114300" indent="-114300">
              <a:lnSpc>
                <a:spcPts val="1680"/>
              </a:lnSpc>
              <a:spcAft>
                <a:spcPts val="500"/>
              </a:spcAft>
              <a:buSzPct val="100000"/>
              <a:buChar char="•"/>
            </a:pPr>
            <a:r>
              <a:rPr lang="en-US" sz="12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the Math sentence:</a:t>
            </a:r>
            <a:pPr algn="l" indent="0" marL="0">
              <a:lnSpc>
                <a:spcPts val="1680"/>
              </a:lnSpc>
              <a:spcAft>
                <a:spcPts val="500"/>
              </a:spcAft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Calculate the sum: </a:t>
            </a:r>
            <a:pPr algn="l" indent="0" marL="0">
              <a:lnSpc>
                <a:spcPts val="1680"/>
              </a:lnSpc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+ 18 = 41</a:t>
            </a:r>
            <a:pPr algn="l" indent="0" marL="0">
              <a:lnSpc>
                <a:spcPts val="1680"/>
              </a:lnSpc>
              <a:spcAft>
                <a:spcPts val="500"/>
              </a:spcAft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984849" y="1797248"/>
            <a:ext cx="3714750" cy="2216944"/>
          </a:xfrm>
          <a:prstGeom prst="roundRect">
            <a:avLst>
              <a:gd name="adj" fmla="val 343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95250" dist="28575" dir="5400000">
              <a:srgbClr val="000000">
                <a:alpha val="6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5022949" y="1797248"/>
            <a:ext cx="0" cy="2216944"/>
          </a:xfrm>
          <a:prstGeom prst="line">
            <a:avLst/>
          </a:prstGeom>
          <a:noFill/>
          <a:ln w="76200">
            <a:solidFill>
              <a:srgbClr val="2980B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51549" y="1987748"/>
            <a:ext cx="3322701" cy="239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 Whiteboard Check: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251549" y="2290465"/>
            <a:ext cx="3257550" cy="1469827"/>
          </a:xfrm>
          <a:prstGeom prst="rect">
            <a:avLst/>
          </a:prstGeom>
          <a:noFill/>
          <a:ln/>
        </p:spPr>
        <p:txBody>
          <a:bodyPr wrap="square" lIns="114300" tIns="0" rIns="0" bIns="0" rtlCol="0" anchor="t"/>
          <a:lstStyle/>
          <a:p>
            <a:pPr algn="l" marL="114300" indent="-114300">
              <a:lnSpc>
                <a:spcPts val="168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Did you keep the two starter groups separate at first?</a:t>
            </a:r>
            <a:endParaRPr lang="en-US" sz="1200" dirty="0"/>
          </a:p>
          <a:p>
            <a:pPr algn="l" marL="114300" indent="-114300">
              <a:lnSpc>
                <a:spcPts val="168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Did you draw arrows showing them combining?</a:t>
            </a:r>
            <a:endParaRPr lang="en-US" sz="1200" dirty="0"/>
          </a:p>
          <a:p>
            <a:pPr algn="l" marL="114300" indent="-114300">
              <a:lnSpc>
                <a:spcPts val="168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Did you label both numbers?</a:t>
            </a:r>
            <a:endParaRPr lang="en-US" sz="1200" dirty="0"/>
          </a:p>
          <a:p>
            <a:pPr algn="l" marL="114300" indent="-114300">
              <a:lnSpc>
                <a:spcPts val="168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your final answer labelled (</a:t>
            </a:r>
            <a:pPr algn="l" indent="0" marL="0">
              <a:lnSpc>
                <a:spcPts val="1680"/>
              </a:lnSpc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 survivors</a:t>
            </a:r>
            <a:pPr algn="l" indent="0" marL="0">
              <a:lnSpc>
                <a:spcPts val="1680"/>
              </a:lnSpc>
              <a:spcAft>
                <a:spcPts val="500"/>
              </a:spcAft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)?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44401" y="317450"/>
            <a:ext cx="8420302" cy="239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b="1" dirty="0">
                <a:solidFill>
                  <a:srgbClr val="17A5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 TIME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44401" y="556766"/>
            <a:ext cx="8420302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1B4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Turn! (Pair Whiteboard Practice)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44401" y="1879402"/>
            <a:ext cx="3962400" cy="2052637"/>
          </a:xfrm>
          <a:prstGeom prst="roundRect">
            <a:avLst>
              <a:gd name="adj" fmla="val 371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95250" dist="28575" dir="5400000">
              <a:srgbClr val="000000">
                <a:alpha val="6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82501" y="1879402"/>
            <a:ext cx="0" cy="2052637"/>
          </a:xfrm>
          <a:prstGeom prst="line">
            <a:avLst/>
          </a:prstGeom>
          <a:noFill/>
          <a:ln w="76200">
            <a:solidFill>
              <a:srgbClr val="F1C4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1101" y="2069902"/>
            <a:ext cx="3575304" cy="239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Directions: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11101" y="2372618"/>
            <a:ext cx="3575304" cy="1368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spcBef>
                <a:spcPts val="500"/>
              </a:spcBef>
              <a:buNone/>
            </a:pPr>
            <a:r>
              <a:rPr lang="en-US" sz="11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Work in pairs. Take a </a:t>
            </a:r>
            <a:pPr algn="l" indent="0" marL="0">
              <a:lnSpc>
                <a:spcPts val="1540"/>
              </a:lnSpc>
              <a:spcBef>
                <a:spcPts val="500"/>
              </a:spcBef>
              <a:buNone/>
            </a:pPr>
            <a:r>
              <a:rPr lang="en-US" sz="11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Disaster Card</a:t>
            </a:r>
            <a:pPr algn="l" indent="0" marL="0">
              <a:lnSpc>
                <a:spcPts val="1540"/>
              </a:lnSpc>
              <a:spcBef>
                <a:spcPts val="500"/>
              </a:spcBef>
              <a:buNone/>
            </a:pPr>
            <a:r>
              <a:rPr lang="en-US" sz="11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100" dirty="0"/>
          </a:p>
          <a:p>
            <a:pPr algn="l" indent="0" marL="0">
              <a:lnSpc>
                <a:spcPts val="1540"/>
              </a:lnSpc>
              <a:spcBef>
                <a:spcPts val="500"/>
              </a:spcBef>
              <a:buNone/>
            </a:pPr>
            <a:r>
              <a:rPr lang="en-US" sz="11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2. **Partner A:** Draw the scenario on the whiteboard. Focus on the action (people, items, movement).</a:t>
            </a:r>
            <a:endParaRPr lang="en-US" sz="1100" dirty="0"/>
          </a:p>
          <a:p>
            <a:pPr algn="l" indent="0" marL="0">
              <a:lnSpc>
                <a:spcPts val="1540"/>
              </a:lnSpc>
              <a:spcBef>
                <a:spcPts val="500"/>
              </a:spcBef>
              <a:buNone/>
            </a:pPr>
            <a:r>
              <a:rPr lang="en-US" sz="11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3. **Partner B:** Identify the operation (+, −, ×, ÷) and write the matching number sentence below the drawing.</a:t>
            </a:r>
            <a:endParaRPr lang="en-US" sz="1100" dirty="0"/>
          </a:p>
          <a:p>
            <a:pPr algn="l" indent="0" marL="0">
              <a:lnSpc>
                <a:spcPts val="1540"/>
              </a:lnSpc>
              <a:spcBef>
                <a:spcPts val="500"/>
              </a:spcBef>
              <a:buNone/>
            </a:pPr>
            <a:r>
              <a:rPr lang="en-US" sz="11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4. **Both:** Explain your choices to each other, erase, and swap roles!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737199" y="1856482"/>
            <a:ext cx="3962400" cy="2225278"/>
          </a:xfrm>
          <a:prstGeom prst="roundRect">
            <a:avLst>
              <a:gd name="adj" fmla="val 4566"/>
            </a:avLst>
          </a:prstGeom>
          <a:solidFill>
            <a:srgbClr val="E8F8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4775299" y="1856482"/>
            <a:ext cx="0" cy="2225278"/>
          </a:xfrm>
          <a:prstGeom prst="line">
            <a:avLst/>
          </a:prstGeom>
          <a:noFill/>
          <a:ln w="76200">
            <a:solidFill>
              <a:srgbClr val="16A08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67300" y="2046982"/>
            <a:ext cx="344596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Whiteboard Quality Guide: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067300" y="2358033"/>
            <a:ext cx="3378398" cy="1469827"/>
          </a:xfrm>
          <a:prstGeom prst="rect">
            <a:avLst/>
          </a:prstGeom>
          <a:noFill/>
          <a:ln/>
        </p:spPr>
        <p:txBody>
          <a:bodyPr wrap="square" lIns="95250" tIns="0" rIns="0" bIns="0" rtlCol="0" anchor="t"/>
          <a:lstStyle/>
          <a:p>
            <a:pPr algn="l" marL="95250" indent="-95250">
              <a:lnSpc>
                <a:spcPts val="168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Sketch simple blocks, circles, or stick figures.</a:t>
            </a:r>
            <a:endParaRPr lang="en-US" sz="1200" dirty="0"/>
          </a:p>
          <a:p>
            <a:pPr algn="l" marL="95250" indent="-95250">
              <a:lnSpc>
                <a:spcPts val="168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arrows to show sharing, taking away, or combining.</a:t>
            </a:r>
            <a:endParaRPr lang="en-US" sz="1200" dirty="0"/>
          </a:p>
          <a:p>
            <a:pPr algn="l" marL="95250" indent="-95250">
              <a:lnSpc>
                <a:spcPts val="168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Label all numbers in the drawing.</a:t>
            </a:r>
            <a:endParaRPr lang="en-US" sz="1200" dirty="0"/>
          </a:p>
          <a:p>
            <a:pPr algn="l" marL="95250" indent="-95250">
              <a:lnSpc>
                <a:spcPts val="168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Circle the operation symbol clearly at the bottom.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4F7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358598" y="1119039"/>
            <a:ext cx="6426803" cy="561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500"/>
              </a:spcAft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Reflecting on our Diagrams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2117166" y="1871514"/>
            <a:ext cx="4909667" cy="33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10"/>
              </a:lnSpc>
              <a:spcAft>
                <a:spcPts val="2000"/>
              </a:spcAft>
              <a:buNone/>
            </a:pPr>
            <a:r>
              <a:rPr lang="en-US" sz="1800" b="1" dirty="0">
                <a:solidFill>
                  <a:srgbClr val="F1C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did your whiteboard drawing help you?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320701" y="2456855"/>
            <a:ext cx="3251299" cy="1567458"/>
          </a:xfrm>
          <a:prstGeom prst="roundRect">
            <a:avLst>
              <a:gd name="adj" fmla="val 4861"/>
            </a:avLst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1511201" y="2647355"/>
            <a:ext cx="2927705" cy="239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5"/>
              </a:lnSpc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"Your picture is your proof!"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511201" y="2988171"/>
            <a:ext cx="2927705" cy="782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E8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you're stuck on a word problem, don't guess. Draw the characters, draw the items, and do what the story tells you to do.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0" y="2456855"/>
            <a:ext cx="3251150" cy="1567458"/>
          </a:xfrm>
          <a:prstGeom prst="roundRect">
            <a:avLst>
              <a:gd name="adj" fmla="val 4861"/>
            </a:avLst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762500" y="2647355"/>
            <a:ext cx="2927553" cy="239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5"/>
              </a:lnSpc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Sharing is Caring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762500" y="2988171"/>
            <a:ext cx="2927553" cy="586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E8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 your drawings to your peers! Speaking mathematically builds your brain's connection to word problems.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2026-05-17T03:31:08Z</dcterms:created>
  <dcterms:modified xsi:type="dcterms:W3CDTF">2026-05-17T03:31:08Z</dcterms:modified>
</cp:coreProperties>
</file>