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09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1440" y="1524000"/>
            <a:ext cx="932688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Converting Metric Lengths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-91440" y="2187476"/>
            <a:ext cx="9326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18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Maths Unit 3 • Measurement &amp; Geometry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0" y="2739926"/>
            <a:ext cx="1524000" cy="381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6198" cy="469702"/>
          </a:xfrm>
          <a:prstGeom prst="roundRect">
            <a:avLst>
              <a:gd name="adj" fmla="val 10815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55402"/>
            <a:ext cx="84203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Metric Units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876002"/>
            <a:ext cx="4145310" cy="368290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5351" y="1047452"/>
            <a:ext cx="38784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Length Units (Standard)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5351" y="1383953"/>
            <a:ext cx="3802410" cy="198090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Millimetre (mm):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Thickness of a plastic card. Used for tiny measurements.</a:t>
            </a:r>
            <a:endParaRPr lang="en-US" sz="1100" dirty="0"/>
          </a:p>
          <a:p>
            <a:pPr marL="95250" indent="-9525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Centimetre (cm):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Width of a standard fingernail. </a:t>
            </a:r>
          </a:p>
          <a:p>
            <a:pPr marL="95250" indent="-9525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Metre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(m):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large adult stride.</a:t>
            </a:r>
            <a:endParaRPr lang="en-US" sz="1100" dirty="0"/>
          </a:p>
          <a:p>
            <a:pPr marL="95250" indent="-9525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Kilometre (km):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Length of a 10-minute walk.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5351" y="3555355"/>
            <a:ext cx="3802410" cy="457200"/>
          </a:xfrm>
          <a:prstGeom prst="roundRect">
            <a:avLst>
              <a:gd name="adj" fmla="val 11111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451" y="3555355"/>
            <a:ext cx="0" cy="457200"/>
          </a:xfrm>
          <a:prstGeom prst="line">
            <a:avLst/>
          </a:prstGeom>
          <a:noFill/>
          <a:ln w="762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28501" y="3631555"/>
            <a:ext cx="35417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en-US" sz="1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Spelling Note:</a:t>
            </a:r>
            <a:r>
              <a:rPr lang="en-US" sz="10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Always use Australian spelling ending in </a:t>
            </a:r>
            <a:r>
              <a:rPr lang="en-US" sz="1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-tre</a:t>
            </a:r>
            <a:r>
              <a:rPr lang="en-US" sz="10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(metre, centimetre, millimetre, kilometre).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44789" y="876002"/>
            <a:ext cx="4145310" cy="368290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16239" y="1047452"/>
            <a:ext cx="38784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Choose the Best Unit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6239" y="1383953"/>
            <a:ext cx="387845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most appropriate unit (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mm, cm, m, km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to measure: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6239" y="1927473"/>
            <a:ext cx="3802410" cy="304800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935289" y="1927473"/>
            <a:ext cx="0" cy="304800"/>
          </a:xfrm>
          <a:prstGeom prst="line">
            <a:avLst/>
          </a:prstGeom>
          <a:noFill/>
          <a:ln w="381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030539" y="2003673"/>
            <a:ext cx="36841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Length of an ant: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6239" y="2359223"/>
            <a:ext cx="3802410" cy="304800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935289" y="2359223"/>
            <a:ext cx="0" cy="304800"/>
          </a:xfrm>
          <a:prstGeom prst="line">
            <a:avLst/>
          </a:prstGeom>
          <a:noFill/>
          <a:ln w="381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5030539" y="2435423"/>
            <a:ext cx="36841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Height of a basketball hoop: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6239" y="2790974"/>
            <a:ext cx="3802410" cy="304800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935289" y="2790974"/>
            <a:ext cx="0" cy="304800"/>
          </a:xfrm>
          <a:prstGeom prst="line">
            <a:avLst/>
          </a:prstGeom>
          <a:noFill/>
          <a:ln w="381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030539" y="2867174"/>
            <a:ext cx="36841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Length of a pencil: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6239" y="3222724"/>
            <a:ext cx="3802410" cy="304800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935289" y="3222724"/>
            <a:ext cx="0" cy="304800"/>
          </a:xfrm>
          <a:prstGeom prst="line">
            <a:avLst/>
          </a:prstGeom>
          <a:noFill/>
          <a:ln w="381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5030539" y="3298924"/>
            <a:ext cx="36841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Distance between two cities: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6198" cy="469702"/>
          </a:xfrm>
          <a:prstGeom prst="roundRect">
            <a:avLst>
              <a:gd name="adj" fmla="val 10815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55402"/>
            <a:ext cx="84203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 Conversion Chart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876002"/>
            <a:ext cx="8636198" cy="2975818"/>
          </a:xfrm>
          <a:prstGeom prst="roundRect">
            <a:avLst>
              <a:gd name="adj" fmla="val 2561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280" y="1085552"/>
            <a:ext cx="83814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Convert Metric Units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3451" y="1495127"/>
            <a:ext cx="8217098" cy="1155650"/>
          </a:xfrm>
          <a:prstGeom prst="roundRect">
            <a:avLst>
              <a:gd name="adj" fmla="val 8792"/>
            </a:avLst>
          </a:prstGeom>
          <a:solidFill>
            <a:srgbClr val="EBF5FB"/>
          </a:solidFill>
          <a:ln w="19050">
            <a:solidFill>
              <a:srgbClr val="AED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5021" y="1704677"/>
            <a:ext cx="79539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  ➔   (x1000)   ➔   m   ➔   (x100)   ➔   cm   ➔   (x10)   ➔   mm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5021" y="2136428"/>
            <a:ext cx="79539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   ➔   (÷10)   ➔   cm   ➔   (÷100)   ➔   m   ➔   (÷1000)   ➔   km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3451" y="2841278"/>
            <a:ext cx="3944094" cy="800993"/>
          </a:xfrm>
          <a:prstGeom prst="roundRect">
            <a:avLst>
              <a:gd name="adj" fmla="val 634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1551" y="2841278"/>
            <a:ext cx="0" cy="800993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92051" y="2942779"/>
            <a:ext cx="3634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Unit to Smaller Unit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051" y="3177629"/>
            <a:ext cx="363435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the value because you need 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smaller parts to cover the same length.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455" y="2841278"/>
            <a:ext cx="3944094" cy="800993"/>
          </a:xfrm>
          <a:prstGeom prst="roundRect">
            <a:avLst>
              <a:gd name="adj" fmla="val 6342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74555" y="2841278"/>
            <a:ext cx="0" cy="800993"/>
          </a:xfrm>
          <a:prstGeom prst="line">
            <a:avLst/>
          </a:prstGeom>
          <a:noFill/>
          <a:ln w="762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965055" y="2942779"/>
            <a:ext cx="3634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Unit to Larger Unit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055" y="3177629"/>
            <a:ext cx="363435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the value because multiple small parts are grouped into 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larger units.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6198" cy="469702"/>
          </a:xfrm>
          <a:prstGeom prst="roundRect">
            <a:avLst>
              <a:gd name="adj" fmla="val 10815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55402"/>
            <a:ext cx="84203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Converting Larger Units to Smaller (Multiplication)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876002"/>
            <a:ext cx="4145310" cy="368290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9901" y="1022003"/>
            <a:ext cx="3930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Metres to Centimetres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9901" y="1333054"/>
            <a:ext cx="3853309" cy="355402"/>
          </a:xfrm>
          <a:prstGeom prst="roundRect">
            <a:avLst>
              <a:gd name="adj" fmla="val 14294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8001" y="1333054"/>
            <a:ext cx="0" cy="355402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28501" y="1434554"/>
            <a:ext cx="3541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metres (m)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centimetres (cm).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4789" y="876002"/>
            <a:ext cx="4145310" cy="368290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90790" y="1022003"/>
            <a:ext cx="3930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Kilometres to Metres (Decimal)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0790" y="1333054"/>
            <a:ext cx="3853309" cy="355402"/>
          </a:xfrm>
          <a:prstGeom prst="roundRect">
            <a:avLst>
              <a:gd name="adj" fmla="val 14294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28890" y="1333054"/>
            <a:ext cx="0" cy="355402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119390" y="1434554"/>
            <a:ext cx="3541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kilometres (km)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metres (m).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6198" cy="469702"/>
          </a:xfrm>
          <a:prstGeom prst="roundRect">
            <a:avLst>
              <a:gd name="adj" fmla="val 10815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55402"/>
            <a:ext cx="84203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Converting Smaller Units to Larger (Division)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876002"/>
            <a:ext cx="4145310" cy="368290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9901" y="1022003"/>
            <a:ext cx="3930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 Millimetres to Centimetres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9901" y="1333054"/>
            <a:ext cx="3853309" cy="507802"/>
          </a:xfrm>
          <a:prstGeom prst="roundRect">
            <a:avLst>
              <a:gd name="adj" fmla="val 1000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8001" y="1333054"/>
            <a:ext cx="0" cy="507802"/>
          </a:xfrm>
          <a:prstGeom prst="line">
            <a:avLst/>
          </a:prstGeom>
          <a:noFill/>
          <a:ln w="762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28501" y="1434554"/>
            <a:ext cx="35417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millimetres (mm)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centimetres (cm).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4789" y="876002"/>
            <a:ext cx="4145310" cy="368290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90790" y="1022003"/>
            <a:ext cx="3930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4: Metres to Kilometres (Decimal Shift)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0790" y="1542604"/>
            <a:ext cx="3853309" cy="355402"/>
          </a:xfrm>
          <a:prstGeom prst="roundRect">
            <a:avLst>
              <a:gd name="adj" fmla="val 1429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28890" y="1542604"/>
            <a:ext cx="0" cy="355402"/>
          </a:xfrm>
          <a:prstGeom prst="line">
            <a:avLst/>
          </a:prstGeom>
          <a:noFill/>
          <a:ln w="762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119390" y="1644104"/>
            <a:ext cx="3541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metres (m)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kilometres (km).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6198" cy="469702"/>
          </a:xfrm>
          <a:prstGeom prst="roundRect">
            <a:avLst>
              <a:gd name="adj" fmla="val 10815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55402"/>
            <a:ext cx="84203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Guided Whiteboard Practice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876002"/>
            <a:ext cx="8636198" cy="3244751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418" y="1047452"/>
            <a:ext cx="8459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your calculations on your mini-whiteboard. Hold them up when called!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351" y="1371302"/>
            <a:ext cx="2570857" cy="2578001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19050">
            <a:solidFill>
              <a:srgbClr val="1B4F7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563" y="1517303"/>
            <a:ext cx="23244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1351" y="1768078"/>
            <a:ext cx="2278856" cy="25301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563" y="1894880"/>
            <a:ext cx="2324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8.2 cm to millimetres (mm)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6423" y="1371302"/>
            <a:ext cx="2570857" cy="2578001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19050">
            <a:solidFill>
              <a:srgbClr val="1B4F7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09634" y="1517303"/>
            <a:ext cx="23244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2423" y="1768078"/>
            <a:ext cx="2278856" cy="25301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09634" y="1894880"/>
            <a:ext cx="2324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750 cm to metres (m)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7495" y="1371302"/>
            <a:ext cx="2570857" cy="2578001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19050">
            <a:solidFill>
              <a:srgbClr val="1B4F7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70706" y="1517303"/>
            <a:ext cx="23244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3495" y="1768078"/>
            <a:ext cx="2278856" cy="25301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70706" y="1894880"/>
            <a:ext cx="2324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1.5 m and 145 cm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6198" cy="469702"/>
          </a:xfrm>
          <a:prstGeom prst="roundRect">
            <a:avLst>
              <a:gd name="adj" fmla="val 10815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55402"/>
            <a:ext cx="84203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Word Problem Challenges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876002"/>
            <a:ext cx="4145310" cy="368290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9901" y="1022003"/>
            <a:ext cx="39303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A: Sarah's Rope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9901" y="1231553"/>
            <a:ext cx="3853309" cy="1905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9901" y="1326803"/>
            <a:ext cx="3930375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has a rope that is </a:t>
            </a: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m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long. She cuts off </a:t>
            </a: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cm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How many centimetres (cm) are left?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9901" y="1732806"/>
            <a:ext cx="3853309" cy="555427"/>
          </a:xfrm>
          <a:prstGeom prst="roundRect">
            <a:avLst>
              <a:gd name="adj" fmla="val 914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001" y="1732806"/>
            <a:ext cx="0" cy="555427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99901" y="2389733"/>
            <a:ext cx="39303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B: Athlete's Distance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9901" y="2599283"/>
            <a:ext cx="3853309" cy="1905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9901" y="2694533"/>
            <a:ext cx="3930375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athlete runs </a:t>
            </a: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km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then another </a:t>
            </a: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 m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What is the total distance in metres (m)?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9901" y="3100536"/>
            <a:ext cx="3853309" cy="555427"/>
          </a:xfrm>
          <a:prstGeom prst="roundRect">
            <a:avLst>
              <a:gd name="adj" fmla="val 9146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8001" y="3100536"/>
            <a:ext cx="0" cy="555427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744789" y="876002"/>
            <a:ext cx="4145310" cy="368290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16239" y="1047452"/>
            <a:ext cx="38784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C: Playground Perimeter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6239" y="1298228"/>
            <a:ext cx="3802410" cy="1905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6239" y="1418779"/>
            <a:ext cx="387845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rectangular playground has a length of 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cm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 width of 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m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Calculate the playground's perimeter in 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metres (m)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6239" y="1936849"/>
            <a:ext cx="3802410" cy="507802"/>
          </a:xfrm>
          <a:prstGeom prst="roundRect">
            <a:avLst>
              <a:gd name="adj" fmla="val 1000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954339" y="1936849"/>
            <a:ext cx="0" cy="507802"/>
          </a:xfrm>
          <a:prstGeom prst="line">
            <a:avLst/>
          </a:prstGeom>
          <a:noFill/>
          <a:ln w="762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093940" y="2038350"/>
            <a:ext cx="35936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Convert to same unit (metres)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Length: $350\text{ cm} \div 100 = 3.5\text{ m}$.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6239" y="2571601"/>
            <a:ext cx="3802410" cy="507802"/>
          </a:xfrm>
          <a:prstGeom prst="roundRect">
            <a:avLst>
              <a:gd name="adj" fmla="val 1000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954339" y="2571601"/>
            <a:ext cx="0" cy="507802"/>
          </a:xfrm>
          <a:prstGeom prst="line">
            <a:avLst/>
          </a:prstGeom>
          <a:noFill/>
          <a:ln w="762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093940" y="2673102"/>
            <a:ext cx="35936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Apply the perimeter formula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= $2 \times (\text{Length} + \text{Width})$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6239" y="3206353"/>
            <a:ext cx="3802410" cy="660202"/>
          </a:xfrm>
          <a:prstGeom prst="roundRect">
            <a:avLst>
              <a:gd name="adj" fmla="val 7695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954339" y="3206353"/>
            <a:ext cx="0" cy="660202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636198" cy="469702"/>
          </a:xfrm>
          <a:prstGeom prst="roundRect">
            <a:avLst>
              <a:gd name="adj" fmla="val 10815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55402"/>
            <a:ext cx="84203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Wrap-Up &amp; Reflection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3901" y="876002"/>
            <a:ext cx="8636198" cy="368290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9050">
            <a:solidFill>
              <a:srgbClr val="D5DB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280" y="1085552"/>
            <a:ext cx="83814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3451" y="1457027"/>
            <a:ext cx="8217098" cy="1036141"/>
          </a:xfrm>
          <a:prstGeom prst="roundRect">
            <a:avLst>
              <a:gd name="adj" fmla="val 735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92026" y="1457027"/>
            <a:ext cx="0" cy="1036141"/>
          </a:xfrm>
          <a:prstGeom prst="line">
            <a:avLst/>
          </a:prstGeom>
          <a:noFill/>
          <a:ln w="5715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73001" y="1609427"/>
            <a:ext cx="7855148" cy="73134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converting from a </a:t>
            </a: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unit to a smaller unit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m to cm).</a:t>
            </a:r>
            <a:endParaRPr lang="en-US" sz="1200" dirty="0"/>
          </a:p>
          <a:p>
            <a:pPr marL="127000" indent="-127000" algn="l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converting from a </a:t>
            </a: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unit to a larger unit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m to km).</a:t>
            </a:r>
            <a:endParaRPr lang="en-US" sz="1200" dirty="0"/>
          </a:p>
          <a:p>
            <a:pPr marL="127000" indent="-127000" algn="l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units carefully in word problems before performing operations like addition or subtraction!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3451" y="2683669"/>
            <a:ext cx="8217098" cy="959346"/>
          </a:xfrm>
          <a:prstGeom prst="roundRect">
            <a:avLst>
              <a:gd name="adj" fmla="val 5295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1551" y="2683669"/>
            <a:ext cx="0" cy="959346"/>
          </a:xfrm>
          <a:prstGeom prst="line">
            <a:avLst/>
          </a:prstGeom>
          <a:noFill/>
          <a:ln w="762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13690" y="2836069"/>
            <a:ext cx="79928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Assessment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3690" y="3099495"/>
            <a:ext cx="799282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student dashboard and launch the 15-question </a:t>
            </a: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Assessment_Forms.docx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quiz. Check your working out on scrap paper before entering your answers!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624</Words>
  <Application>Microsoft Office PowerPoint</Application>
  <PresentationFormat>On-screen Show 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Metric Units of Length</dc:title>
  <dc:subject>PptxGenJS Presentation</dc:subject>
  <dc:creator>Antigravity AI</dc:creator>
  <cp:lastModifiedBy>SUTHERLAND, Douglas (dsuth10)</cp:lastModifiedBy>
  <cp:revision>3</cp:revision>
  <dcterms:created xsi:type="dcterms:W3CDTF">2026-07-13T22:18:48Z</dcterms:created>
  <dcterms:modified xsi:type="dcterms:W3CDTF">2026-07-13T22:36:00Z</dcterms:modified>
</cp:coreProperties>
</file>