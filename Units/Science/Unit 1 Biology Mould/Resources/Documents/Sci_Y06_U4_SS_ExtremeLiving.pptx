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86" autoAdjust="0"/>
  </p:normalViewPr>
  <p:slideViewPr>
    <p:cSldViewPr>
      <p:cViewPr varScale="1">
        <p:scale>
          <a:sx n="102" d="100"/>
          <a:sy n="102" d="100"/>
        </p:scale>
        <p:origin x="-180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C2BF5-D481-4525-BB5B-E6B2BFA6CBA8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136B7-7AFA-4447-AD3A-D4BF9220B78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475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136B7-7AFA-4447-AD3A-D4BF9220B787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6416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136B7-7AFA-4447-AD3A-D4BF9220B787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3218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136B7-7AFA-4447-AD3A-D4BF9220B787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083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136B7-7AFA-4447-AD3A-D4BF9220B787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142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2061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1876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1347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8321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1967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98452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182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294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21700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44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1839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E986B-5E42-4A74-A28E-F45866C78A4F}" type="datetimeFigureOut">
              <a:rPr lang="en-AU" smtClean="0"/>
              <a:t>14/07/2017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CA28F-7FAD-41A0-95AF-5D6F88730200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611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" r="121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FF0000"/>
                </a:solidFill>
                <a:latin typeface="Goudy Stout" panose="0202090407030B020401" pitchFamily="18" charset="0"/>
              </a:rPr>
              <a:t>Extreme Living</a:t>
            </a:r>
            <a:endParaRPr lang="en-AU" dirty="0">
              <a:solidFill>
                <a:srgbClr val="FF0000"/>
              </a:solidFill>
              <a:latin typeface="Goudy Stout" panose="0202090407030B020401" pitchFamily="18" charset="0"/>
            </a:endParaRPr>
          </a:p>
        </p:txBody>
      </p:sp>
      <p:pic>
        <p:nvPicPr>
          <p:cNvPr id="14" name="Picture 13" descr="Qld-CoA-Stylised-1L-Online-rev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16" name="Picture 15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8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33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" r="121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6491" y="1412776"/>
            <a:ext cx="7776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sz="3200" dirty="0" smtClean="0">
                <a:solidFill>
                  <a:srgbClr val="FF0000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Some organisms </a:t>
            </a:r>
            <a:r>
              <a:rPr lang="en-AU" sz="3200" dirty="0">
                <a:solidFill>
                  <a:srgbClr val="FF0000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have </a:t>
            </a:r>
            <a:r>
              <a:rPr lang="en-AU" sz="3200" dirty="0" smtClean="0">
                <a:solidFill>
                  <a:srgbClr val="FF0000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adaptations </a:t>
            </a:r>
            <a:r>
              <a:rPr lang="en-AU" sz="3200" dirty="0">
                <a:solidFill>
                  <a:srgbClr val="FF0000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that help them to survive in particular environments.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4674"/>
            <a:ext cx="9154851" cy="11521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dirty="0" smtClean="0">
                <a:solidFill>
                  <a:srgbClr val="00B050"/>
                </a:solidFill>
                <a:latin typeface="Cooper Black" panose="0208090404030B020404" pitchFamily="18" charset="0"/>
                <a:cs typeface="Arial" panose="020B0604020202020204" pitchFamily="34" charset="0"/>
              </a:rPr>
              <a:t>   </a:t>
            </a:r>
            <a:r>
              <a:rPr lang="en-AU" dirty="0" smtClean="0">
                <a:latin typeface="Cooper Black" panose="0208090404030B020404" pitchFamily="18" charset="0"/>
                <a:cs typeface="Arial" panose="020B0604020202020204" pitchFamily="34" charset="0"/>
              </a:rPr>
              <a:t>Living things rely on their environment to survive. </a:t>
            </a:r>
          </a:p>
          <a:p>
            <a:pPr marL="0" indent="0">
              <a:buNone/>
            </a:pPr>
            <a:endParaRPr lang="en-AU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Qld-CoA-Stylised-1L-Online-rev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1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14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7" t="41536" r="61100" b="4914"/>
          <a:stretch/>
        </p:blipFill>
        <p:spPr>
          <a:xfrm>
            <a:off x="1699569" y="1628800"/>
            <a:ext cx="5468660" cy="28053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7200" dirty="0" smtClean="0">
                <a:solidFill>
                  <a:srgbClr val="FF0000"/>
                </a:solidFill>
                <a:latin typeface="Viner Hand ITC" panose="03070502030502020203" pitchFamily="66" charset="0"/>
              </a:rPr>
              <a:t>The heat is on</a:t>
            </a:r>
            <a:endParaRPr lang="en-AU" sz="7200" dirty="0">
              <a:solidFill>
                <a:srgbClr val="FF0000"/>
              </a:solidFill>
              <a:latin typeface="Viner Hand ITC" panose="03070502030502020203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97152"/>
            <a:ext cx="8229600" cy="1252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 smtClean="0">
                <a:latin typeface="Impact" panose="020B0806030902050204" pitchFamily="34" charset="0"/>
              </a:rPr>
              <a:t>Life forms inhabit extremely hot environments such as hydrothermal </a:t>
            </a:r>
            <a:r>
              <a:rPr lang="en-AU" sz="2400" dirty="0">
                <a:latin typeface="Impact" panose="020B0806030902050204" pitchFamily="34" charset="0"/>
              </a:rPr>
              <a:t>and volcanic vents. They are unique because </a:t>
            </a:r>
            <a:r>
              <a:rPr lang="en-AU" sz="2400" dirty="0" smtClean="0">
                <a:latin typeface="Impact" panose="020B0806030902050204" pitchFamily="34" charset="0"/>
              </a:rPr>
              <a:t>they </a:t>
            </a:r>
            <a:r>
              <a:rPr lang="en-AU" sz="2400" dirty="0">
                <a:latin typeface="Impact" panose="020B0806030902050204" pitchFamily="34" charset="0"/>
              </a:rPr>
              <a:t>can thrive on very little </a:t>
            </a:r>
            <a:r>
              <a:rPr lang="en-AU" sz="2400" dirty="0" smtClean="0">
                <a:latin typeface="Impact" panose="020B0806030902050204" pitchFamily="34" charset="0"/>
              </a:rPr>
              <a:t>water, </a:t>
            </a:r>
            <a:r>
              <a:rPr lang="en-AU" sz="2400" dirty="0">
                <a:latin typeface="Impact" panose="020B0806030902050204" pitchFamily="34" charset="0"/>
              </a:rPr>
              <a:t>which is one of the components needed for growth.</a:t>
            </a:r>
          </a:p>
        </p:txBody>
      </p:sp>
      <p:pic>
        <p:nvPicPr>
          <p:cNvPr id="5" name="Picture 4" descr="Qld-CoA-Stylised-1L-Online-rev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83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9" t="502" r="2272" b="930"/>
          <a:stretch/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467544" y="116632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7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nap ITC" panose="04040A07060A02020202" pitchFamily="82" charset="0"/>
              </a:rPr>
              <a:t>Cold as ice</a:t>
            </a:r>
            <a:endParaRPr lang="en-AU" sz="7200" dirty="0">
              <a:solidFill>
                <a:schemeClr val="tx1">
                  <a:lumMod val="95000"/>
                  <a:lumOff val="5000"/>
                </a:schemeClr>
              </a:solidFill>
              <a:latin typeface="Snap ITC" panose="04040A07060A02020202" pitchFamily="82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27584" y="1260000"/>
            <a:ext cx="4464496" cy="26642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>
                <a:latin typeface="Impact" panose="020B0806030902050204" pitchFamily="34" charset="0"/>
              </a:rPr>
              <a:t>Some organisms have features that help them survive in extremely cold environments, such as glaciers and icecaps.</a:t>
            </a:r>
            <a:endParaRPr lang="en-AU" dirty="0">
              <a:latin typeface="Impact" panose="020B080603090205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53336"/>
            <a:ext cx="9144000" cy="4406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Qld-CoA-Stylised-1L-Online-rev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556" y="4595644"/>
            <a:ext cx="7992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Some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animals </a:t>
            </a:r>
            <a:r>
              <a:rPr lang="en-AU" sz="2400" dirty="0" smtClean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can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freeze the water outside of </a:t>
            </a:r>
            <a:r>
              <a:rPr lang="en-AU" sz="2400" dirty="0" smtClean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their </a:t>
            </a:r>
            <a:r>
              <a:rPr lang="en-AU" sz="2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body cells to survive in extreme cold conditions.  A small number of frogs, turtles and one snake do this to protect their cells during the winter. Other organisms freeze all of their body water.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11" y="351612"/>
            <a:ext cx="6157179" cy="41065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7" name="Picture 6" descr="C2CIcon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8" name="Picture 7" descr="Qld-CoA-1LS-S-mono-webTRANS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46" y="6609750"/>
            <a:ext cx="1673704" cy="2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4"/>
          <a:stretch/>
        </p:blipFill>
        <p:spPr>
          <a:xfrm>
            <a:off x="0" y="-27384"/>
            <a:ext cx="9144000" cy="5256584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395536" y="332656"/>
            <a:ext cx="7488832" cy="172819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dirty="0" smtClean="0">
                <a:solidFill>
                  <a:schemeClr val="accent6">
                    <a:lumMod val="75000"/>
                  </a:schemeClr>
                </a:solidFill>
                <a:latin typeface="Blackoak Std" pitchFamily="82" charset="0"/>
                <a:ea typeface="Adobe Gothic Std B" pitchFamily="34" charset="-128"/>
              </a:rPr>
              <a:t>Way too salty</a:t>
            </a:r>
            <a:endParaRPr lang="en-AU" sz="5400" dirty="0">
              <a:solidFill>
                <a:schemeClr val="accent6">
                  <a:lumMod val="75000"/>
                </a:schemeClr>
              </a:solidFill>
              <a:latin typeface="Blackoak Std" pitchFamily="82" charset="0"/>
              <a:ea typeface="Adobe Gothic Std B" pitchFamily="34" charset="-128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95536" y="5344616"/>
            <a:ext cx="8229600" cy="125273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>
                <a:latin typeface="Impact" panose="020B0806030902050204" pitchFamily="34" charset="0"/>
              </a:rPr>
              <a:t>There are bacteria that have adapted to thrive in salty environments.</a:t>
            </a:r>
            <a:endParaRPr lang="en-AU" dirty="0">
              <a:latin typeface="Impact" panose="020B080603090205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6" name="Picture 5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7" name="Picture 6" descr="Qld-CoA-1LS-S-mono-webTRANS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46" y="6609750"/>
            <a:ext cx="1673704" cy="2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432"/>
            <a:ext cx="9144000" cy="6885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5616" y="836712"/>
            <a:ext cx="6912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>
                <a:solidFill>
                  <a:schemeClr val="bg1"/>
                </a:solidFill>
                <a:latin typeface="Impact" panose="020B0806030902050204" pitchFamily="34" charset="0"/>
              </a:rPr>
              <a:t>Halophilic bacteria </a:t>
            </a:r>
            <a:r>
              <a:rPr lang="en-AU" sz="4800" dirty="0" smtClean="0">
                <a:solidFill>
                  <a:schemeClr val="bg1"/>
                </a:solidFill>
                <a:latin typeface="Impact" panose="020B0806030902050204" pitchFamily="34" charset="0"/>
              </a:rPr>
              <a:t>thrive </a:t>
            </a:r>
            <a:r>
              <a:rPr lang="en-AU" sz="4800" dirty="0">
                <a:solidFill>
                  <a:schemeClr val="bg1"/>
                </a:solidFill>
                <a:latin typeface="Impact" panose="020B0806030902050204" pitchFamily="34" charset="0"/>
              </a:rPr>
              <a:t>in salty </a:t>
            </a:r>
            <a:r>
              <a:rPr lang="en-AU" sz="4800" dirty="0" smtClean="0">
                <a:solidFill>
                  <a:schemeClr val="bg1"/>
                </a:solidFill>
                <a:latin typeface="Impact" panose="020B0806030902050204" pitchFamily="34" charset="0"/>
              </a:rPr>
              <a:t>environments.</a:t>
            </a:r>
            <a:endParaRPr lang="en-AU" sz="4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4" name="Picture 3" descr="Qld-CoA-Stylised-1L-Online-rev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6" name="Picture 5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8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83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3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58" b="-3549"/>
          <a:stretch/>
        </p:blipFill>
        <p:spPr>
          <a:xfrm>
            <a:off x="9364" y="-72518"/>
            <a:ext cx="9144000" cy="71739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312" y="5022304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AU" sz="9600" dirty="0" smtClean="0">
                <a:solidFill>
                  <a:schemeClr val="bg1"/>
                </a:solidFill>
                <a:latin typeface="Impact" panose="020B0806030902050204" pitchFamily="34" charset="0"/>
                <a:cs typeface="Adobe Naskh Medium" pitchFamily="50" charset="-78"/>
              </a:rPr>
              <a:t>Zero O₂</a:t>
            </a:r>
            <a:endParaRPr lang="en-AU" sz="9600" dirty="0">
              <a:solidFill>
                <a:schemeClr val="bg1"/>
              </a:solidFill>
              <a:latin typeface="Impact" panose="020B0806030902050204" pitchFamily="34" charset="0"/>
              <a:cs typeface="Adobe Naskh Medium" pitchFamily="50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276" y="548680"/>
            <a:ext cx="6156176" cy="8926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i="1" dirty="0" err="1" smtClean="0">
                <a:latin typeface="Impact" panose="020B0806030902050204" pitchFamily="34" charset="0"/>
              </a:rPr>
              <a:t>Spinoloricus</a:t>
            </a:r>
            <a:r>
              <a:rPr lang="en-AU" dirty="0" smtClean="0">
                <a:latin typeface="Impact" panose="020B0806030902050204" pitchFamily="34" charset="0"/>
              </a:rPr>
              <a:t>  was discovered in 2010.</a:t>
            </a:r>
          </a:p>
          <a:p>
            <a:endParaRPr lang="en-A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95536" y="1988840"/>
            <a:ext cx="8371656" cy="1008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 smtClean="0">
                <a:latin typeface="Impact" panose="020B0806030902050204" pitchFamily="34" charset="0"/>
              </a:rPr>
              <a:t>It is the first animal discovered that </a:t>
            </a:r>
            <a:r>
              <a:rPr lang="en-AU" dirty="0">
                <a:latin typeface="Impact" panose="020B0806030902050204" pitchFamily="34" charset="0"/>
              </a:rPr>
              <a:t>can survive and reproduce entirely without </a:t>
            </a:r>
            <a:r>
              <a:rPr lang="en-AU" dirty="0" smtClean="0">
                <a:latin typeface="Impact" panose="020B0806030902050204" pitchFamily="34" charset="0"/>
              </a:rPr>
              <a:t>oxygen.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97632" y="1240160"/>
            <a:ext cx="8229600" cy="8926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>
                <a:latin typeface="Impact" panose="020B0806030902050204" pitchFamily="34" charset="0"/>
              </a:rPr>
              <a:t>It lives deep on the floor of the Mediterranean Sea.</a:t>
            </a:r>
          </a:p>
          <a:p>
            <a:endParaRPr lang="en-AU" i="1" dirty="0"/>
          </a:p>
        </p:txBody>
      </p:sp>
      <p:pic>
        <p:nvPicPr>
          <p:cNvPr id="10" name="Picture 9" descr="Qld-CoA-Stylised-1L-Online-rev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12" name="Picture 11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4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64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robe94\Downloads\23271547744_36feaf86dd_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143000"/>
          </a:xfrm>
        </p:spPr>
        <p:txBody>
          <a:bodyPr>
            <a:noAutofit/>
          </a:bodyPr>
          <a:lstStyle/>
          <a:p>
            <a:r>
              <a:rPr lang="en-AU" sz="7200" i="1" dirty="0" smtClean="0">
                <a:solidFill>
                  <a:srgbClr val="FF0000"/>
                </a:solidFill>
                <a:latin typeface="Nueva Std" pitchFamily="34" charset="0"/>
              </a:rPr>
              <a:t>Love the dark</a:t>
            </a:r>
            <a:endParaRPr lang="en-AU" sz="7200" i="1" dirty="0">
              <a:solidFill>
                <a:srgbClr val="FF0000"/>
              </a:solidFill>
              <a:latin typeface="Nueva St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2248"/>
            <a:ext cx="8229600" cy="1396752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Impact" panose="020B0806030902050204" pitchFamily="34" charset="0"/>
              </a:rPr>
              <a:t>Most life on Earth depends on sunlight, but </a:t>
            </a: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many living things thrive in darkness. </a:t>
            </a:r>
            <a:endParaRPr lang="en-AU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4293096"/>
            <a:ext cx="8229600" cy="1396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  <a:latin typeface="Impact" panose="020B0806030902050204" pitchFamily="34" charset="0"/>
              </a:rPr>
              <a:t>Many of these animals have adaptations like long limbs and well-developed </a:t>
            </a: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senses that </a:t>
            </a:r>
            <a:r>
              <a:rPr lang="en-AU" dirty="0">
                <a:solidFill>
                  <a:schemeClr val="bg1"/>
                </a:solidFill>
                <a:latin typeface="Impact" panose="020B0806030902050204" pitchFamily="34" charset="0"/>
              </a:rPr>
              <a:t>help them move and find food without light.</a:t>
            </a:r>
          </a:p>
        </p:txBody>
      </p:sp>
      <p:pic>
        <p:nvPicPr>
          <p:cNvPr id="6" name="Picture 5" descr="Qld-CoA-Stylised-1L-Online-rev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09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047" b="739"/>
          <a:stretch/>
        </p:blipFill>
        <p:spPr>
          <a:xfrm>
            <a:off x="1979712" y="3349487"/>
            <a:ext cx="4648200" cy="34861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566" y="836712"/>
            <a:ext cx="8229600" cy="1324744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The Texas blind salamander </a:t>
            </a:r>
            <a:r>
              <a:rPr lang="en-AU" dirty="0">
                <a:solidFill>
                  <a:schemeClr val="bg1"/>
                </a:solidFill>
                <a:latin typeface="Impact" panose="020B0806030902050204" pitchFamily="34" charset="0"/>
              </a:rPr>
              <a:t>lives in </a:t>
            </a: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the constant </a:t>
            </a:r>
            <a:r>
              <a:rPr lang="en-AU" dirty="0">
                <a:solidFill>
                  <a:schemeClr val="bg1"/>
                </a:solidFill>
                <a:latin typeface="Impact" panose="020B0806030902050204" pitchFamily="34" charset="0"/>
              </a:rPr>
              <a:t>darkness of caves.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2050402"/>
            <a:ext cx="8229600" cy="1324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It has no pigment in its skin and is virtually blind.</a:t>
            </a:r>
            <a:endParaRPr lang="en-AU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9552" y="3349487"/>
            <a:ext cx="8229600" cy="1324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 smtClean="0">
                <a:solidFill>
                  <a:schemeClr val="bg1"/>
                </a:solidFill>
                <a:latin typeface="Impact" panose="020B0806030902050204" pitchFamily="34" charset="0"/>
              </a:rPr>
              <a:t>It has heightened senses of smell and hearing. </a:t>
            </a:r>
            <a:endParaRPr lang="en-AU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53336"/>
            <a:ext cx="9144000" cy="4406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Qld-CoA-Stylised-1L-Online-rev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14" name="Picture 13" descr="C2CIcon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6" name="Picture 2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54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2002234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solidFill>
                  <a:srgbClr val="FF0000"/>
                </a:solidFill>
                <a:latin typeface="Goudy Stout" panose="0202090407030B020401" pitchFamily="18" charset="0"/>
              </a:rPr>
              <a:t>Extremophiles</a:t>
            </a:r>
            <a:r>
              <a:rPr lang="en-AU" dirty="0" smtClean="0">
                <a:solidFill>
                  <a:srgbClr val="FF0000"/>
                </a:solidFill>
              </a:rPr>
              <a:t> </a:t>
            </a:r>
            <a:r>
              <a:rPr lang="en-AU" dirty="0" smtClean="0">
                <a:solidFill>
                  <a:srgbClr val="FF0000"/>
                </a:solidFill>
                <a:latin typeface="Impact" panose="020B0806030902050204" pitchFamily="34" charset="0"/>
              </a:rPr>
              <a:t>also thrive in other environments</a:t>
            </a:r>
            <a:endParaRPr lang="en-AU" dirty="0">
              <a:solidFill>
                <a:srgbClr val="FF0000"/>
              </a:solidFill>
              <a:latin typeface="Impact" panose="020B080603090205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21216219">
            <a:off x="203779" y="2933357"/>
            <a:ext cx="4872228" cy="707886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Extreme pressure</a:t>
            </a:r>
            <a:endParaRPr lang="en-AU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1560" y="4925742"/>
            <a:ext cx="5544616" cy="648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Extreme radiation</a:t>
            </a:r>
            <a:endParaRPr lang="en-AU" sz="54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 rot="371198">
            <a:off x="2674980" y="4273768"/>
            <a:ext cx="5036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AU" sz="54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solidFill>
                  <a:srgbClr val="00B050"/>
                </a:soli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Unusual habitats</a:t>
            </a:r>
            <a:endParaRPr lang="en-AU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solidFill>
                <a:srgbClr val="00B050"/>
              </a:soli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 rot="346607">
            <a:off x="1649787" y="2035712"/>
            <a:ext cx="64401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AU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Polluted environment</a:t>
            </a:r>
            <a:endParaRPr lang="en-AU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73989" y="3404320"/>
            <a:ext cx="604867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4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</a:rPr>
              <a:t>High sugar concentration</a:t>
            </a:r>
            <a:endParaRPr lang="en-AU" sz="4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pic>
        <p:nvPicPr>
          <p:cNvPr id="11" name="Picture 10" descr="Qld-CoA-Stylised-1L-Online-rev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13" name="Picture 12" descr="C2CIcon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5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6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86610"/>
          </a:xfrm>
        </p:spPr>
        <p:txBody>
          <a:bodyPr>
            <a:normAutofit/>
          </a:bodyPr>
          <a:lstStyle/>
          <a:p>
            <a:r>
              <a:rPr lang="en-AU" sz="6000" b="1" dirty="0" smtClean="0">
                <a:solidFill>
                  <a:schemeClr val="bg1"/>
                </a:solidFill>
                <a:latin typeface="Nueva Std" pitchFamily="34" charset="0"/>
              </a:rPr>
              <a:t>Extremophiles inhabit environments that would be harmful to most other life on Earth.</a:t>
            </a:r>
            <a:endParaRPr lang="en-AU" sz="6000" b="1" dirty="0">
              <a:solidFill>
                <a:schemeClr val="bg1"/>
              </a:solidFill>
              <a:latin typeface="Nueva Std" pitchFamily="34" charset="0"/>
            </a:endParaRPr>
          </a:p>
        </p:txBody>
      </p:sp>
      <p:pic>
        <p:nvPicPr>
          <p:cNvPr id="3" name="Picture 2" descr="Qld-CoA-Stylised-1L-Online-rev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7244" y="6576144"/>
            <a:ext cx="1309886" cy="2281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bg1"/>
                </a:solidFill>
                <a:latin typeface="Arial"/>
                <a:ea typeface="+mn-ea"/>
                <a:cs typeface="Arial"/>
              </a:rPr>
              <a:t>Sci_Y06_U4_SS_ExtremeLiving</a:t>
            </a:r>
          </a:p>
        </p:txBody>
      </p:sp>
      <p:pic>
        <p:nvPicPr>
          <p:cNvPr id="5" name="Picture 4" descr="C2CIcon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7" name="Picture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1200" y="6612666"/>
            <a:ext cx="1447200" cy="17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37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93000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19" y="188640"/>
            <a:ext cx="8229600" cy="504056"/>
          </a:xfrm>
        </p:spPr>
        <p:txBody>
          <a:bodyPr>
            <a:normAutofit/>
          </a:bodyPr>
          <a:lstStyle/>
          <a:p>
            <a:r>
              <a:rPr lang="en-AU" sz="1400" b="1" dirty="0" smtClean="0"/>
              <a:t>Attributions</a:t>
            </a:r>
            <a:endParaRPr lang="en-AU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957" y="620688"/>
            <a:ext cx="8640960" cy="3528392"/>
          </a:xfrm>
        </p:spPr>
        <p:txBody>
          <a:bodyPr>
            <a:noAutofit/>
          </a:bodyPr>
          <a:lstStyle/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1 and 2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AU" sz="1200" dirty="0" err="1" smtClean="0">
                <a:solidFill>
                  <a:schemeClr val="bg1">
                    <a:lumMod val="65000"/>
                  </a:schemeClr>
                </a:solidFill>
              </a:rPr>
              <a:t>TravelCoffeeBook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2014, 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Desert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https://pixabay.com/en/salt-lake-atacama-desert-hexagons-594606/ </a:t>
            </a:r>
            <a:endParaRPr lang="en-AU" sz="12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3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Charrier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, T, 2010, 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Iceland,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https://pixabay.com/en/iceland-desert-soufriere-volcanism-614279/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(cropped)</a:t>
            </a:r>
          </a:p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4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Tcy3282, 2010,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Glacier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, https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://www.flickr.com/photos/59703310@N00/9928324424/in/photolist</a:t>
            </a:r>
          </a:p>
          <a:p>
            <a:pPr marL="903288" indent="-903288">
              <a:buNone/>
            </a:pPr>
            <a:r>
              <a:rPr lang="en-AU" sz="1200" b="1" dirty="0">
                <a:solidFill>
                  <a:schemeClr val="bg1">
                    <a:lumMod val="65000"/>
                  </a:schemeClr>
                </a:solidFill>
              </a:rPr>
              <a:t>Slide </a:t>
            </a: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5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Oregon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Department of Fish and Wildlife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, 2006, 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Western Painted Turtle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, https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://www.flickr.com/photos/odfw/5149516916/in/album-72157623092765619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 CC BY-SA 2.0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creativecommons.org/licenses/by-</a:t>
            </a:r>
            <a:r>
              <a:rPr lang="en-AU" sz="1200" dirty="0" err="1" smtClean="0">
                <a:solidFill>
                  <a:schemeClr val="bg1">
                    <a:lumMod val="65000"/>
                  </a:schemeClr>
                </a:solidFill>
              </a:rPr>
              <a:t>sa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/2.0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/</a:t>
            </a:r>
          </a:p>
          <a:p>
            <a:pPr marL="903288" indent="-903288">
              <a:buNone/>
            </a:pPr>
            <a:r>
              <a:rPr lang="en-AU" sz="1200" b="1" dirty="0">
                <a:solidFill>
                  <a:schemeClr val="bg1">
                    <a:lumMod val="65000"/>
                  </a:schemeClr>
                </a:solidFill>
              </a:rPr>
              <a:t>Slide </a:t>
            </a: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AU" sz="1200" dirty="0" err="1" smtClean="0">
                <a:solidFill>
                  <a:schemeClr val="bg1">
                    <a:lumMod val="65000"/>
                  </a:schemeClr>
                </a:solidFill>
              </a:rPr>
              <a:t>Esudroff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, 2016, </a:t>
            </a:r>
            <a:r>
              <a:rPr lang="en-AU" sz="1200" i="1" dirty="0" err="1" smtClean="0">
                <a:solidFill>
                  <a:schemeClr val="bg1">
                    <a:lumMod val="65000"/>
                  </a:schemeClr>
                </a:solidFill>
              </a:rPr>
              <a:t>SaltFlats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://pixabay.com/en/death-valley-badlands-salt-flats-1303573/</a:t>
            </a:r>
          </a:p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</a:t>
            </a:r>
            <a:r>
              <a:rPr lang="en-AU" sz="1200" b="1" dirty="0">
                <a:solidFill>
                  <a:schemeClr val="bg1">
                    <a:lumMod val="65000"/>
                  </a:schemeClr>
                </a:solidFill>
              </a:rPr>
              <a:t>7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NASA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, 2007,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1200" i="1" dirty="0" err="1">
                <a:solidFill>
                  <a:schemeClr val="bg1">
                    <a:lumMod val="65000"/>
                  </a:schemeClr>
                </a:solidFill>
              </a:rPr>
              <a:t>Halbacteria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://en.wikipedia.org/wiki/Haloarchaea#/media/File:Halobacteria.jpg</a:t>
            </a:r>
          </a:p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8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de-DE" sz="1200" dirty="0" smtClean="0">
                <a:solidFill>
                  <a:schemeClr val="bg1">
                    <a:lumMod val="65000"/>
                  </a:schemeClr>
                </a:solidFill>
              </a:rPr>
              <a:t>Peggy 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und Marco </a:t>
            </a:r>
            <a:r>
              <a:rPr lang="de-DE" sz="1200" dirty="0" smtClean="0">
                <a:solidFill>
                  <a:schemeClr val="bg1">
                    <a:lumMod val="65000"/>
                  </a:schemeClr>
                </a:solidFill>
              </a:rPr>
              <a:t>Lachmann-Anke, 2015, </a:t>
            </a:r>
            <a:r>
              <a:rPr lang="de-DE" sz="1200" i="1" dirty="0" smtClean="0">
                <a:solidFill>
                  <a:schemeClr val="bg1">
                    <a:lumMod val="65000"/>
                  </a:schemeClr>
                </a:solidFill>
              </a:rPr>
              <a:t>Ocean, </a:t>
            </a:r>
            <a:r>
              <a:rPr lang="de-DE" sz="1200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://pixabay.com/en/rays-blue-dark-covered-ocean-1189782/ </a:t>
            </a:r>
            <a:endParaRPr lang="en-AU" sz="1200" dirty="0">
              <a:solidFill>
                <a:schemeClr val="bg1">
                  <a:lumMod val="65000"/>
                </a:schemeClr>
              </a:solidFill>
            </a:endParaRPr>
          </a:p>
          <a:p>
            <a:pPr marL="903288" indent="-903288">
              <a:buNone/>
            </a:pPr>
            <a:r>
              <a:rPr lang="en-AU" sz="1200" b="1" dirty="0" smtClean="0">
                <a:solidFill>
                  <a:schemeClr val="bg1">
                    <a:lumMod val="65000"/>
                  </a:schemeClr>
                </a:solidFill>
              </a:rPr>
              <a:t>Slide 9</a:t>
            </a:r>
            <a:r>
              <a:rPr lang="fr-FR" sz="12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sz="1200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fr-FR" sz="1200" dirty="0" err="1" smtClean="0">
                <a:solidFill>
                  <a:schemeClr val="bg1">
                    <a:lumMod val="65000"/>
                  </a:schemeClr>
                </a:solidFill>
              </a:rPr>
              <a:t>Yount</a:t>
            </a:r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fr-FR" sz="1200" dirty="0" smtClean="0">
                <a:solidFill>
                  <a:schemeClr val="bg1">
                    <a:lumMod val="65000"/>
                  </a:schemeClr>
                </a:solidFill>
              </a:rPr>
              <a:t>L. A, 2013, </a:t>
            </a:r>
            <a:r>
              <a:rPr lang="fr-FR" sz="1200" i="1" dirty="0">
                <a:solidFill>
                  <a:schemeClr val="bg1">
                    <a:lumMod val="65000"/>
                  </a:schemeClr>
                </a:solidFill>
              </a:rPr>
              <a:t>Lava tube, </a:t>
            </a:r>
            <a:r>
              <a:rPr lang="fr-FR" sz="1200" i="1" dirty="0" smtClean="0">
                <a:solidFill>
                  <a:schemeClr val="bg1">
                    <a:lumMod val="65000"/>
                  </a:schemeClr>
                </a:solidFill>
              </a:rPr>
              <a:t>Hawaii, </a:t>
            </a:r>
            <a:r>
              <a:rPr lang="fr-FR" sz="1200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://www.flickr.com/photos/136594255@N06/23271547744/in/photolist</a:t>
            </a:r>
            <a:endParaRPr lang="en-AU" sz="1200" dirty="0">
              <a:solidFill>
                <a:schemeClr val="bg1">
                  <a:lumMod val="65000"/>
                </a:schemeClr>
              </a:solidFill>
            </a:endParaRPr>
          </a:p>
          <a:p>
            <a:pPr marL="903288" indent="-903288">
              <a:buNone/>
            </a:pPr>
            <a:r>
              <a:rPr lang="en-AU" sz="1200" b="1" dirty="0">
                <a:solidFill>
                  <a:schemeClr val="bg1">
                    <a:lumMod val="65000"/>
                  </a:schemeClr>
                </a:solidFill>
              </a:rPr>
              <a:t>Slide 10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		Fries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J, 2007, 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Texas blind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salamander,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U.S. Fish and Wildlife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Service,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https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://commons.wikimedia.org/wiki/File:Texas_blind_salamander.jpg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76395" y="3789040"/>
            <a:ext cx="822960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1400" b="1" dirty="0" smtClean="0"/>
              <a:t>References</a:t>
            </a:r>
            <a:endParaRPr lang="en-AU" sz="1400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9247" y="4036431"/>
            <a:ext cx="822960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AU" sz="1200" b="1" dirty="0" smtClean="0"/>
              <a:t/>
            </a:r>
            <a:br>
              <a:rPr lang="en-AU" sz="1200" b="1" dirty="0" smtClean="0"/>
            </a:b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Website —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Extremophiles and life beyond Earth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 (American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Museum of Natural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History)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http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://www.amnh.org/explore/news-blogs/q-as/extremophiles-and-life-beyond-earth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Website —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Extreme life on Earth: 8 bizarre creatures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 (Livescience)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http://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www.livescience.com/13377-extremophiles-world-weirdest-life.html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Website —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Life in extreme environments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(National Space Society)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http://www.nss.org/adastra/volume14/rothschild.html </a:t>
            </a:r>
            <a:endParaRPr lang="en-AU" sz="12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Website — 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First oxygen-free animals found 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(BBC) http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://</a:t>
            </a:r>
            <a:r>
              <a:rPr lang="en-AU" sz="1200" dirty="0" smtClean="0">
                <a:solidFill>
                  <a:schemeClr val="bg1">
                    <a:lumMod val="65000"/>
                  </a:schemeClr>
                </a:solidFill>
              </a:rPr>
              <a:t>news.bbc.co.uk/2/hi/sci/tech/8609246.stm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Website — </a:t>
            </a:r>
            <a:r>
              <a:rPr lang="en-AU" sz="1200" i="1" dirty="0" err="1" smtClean="0">
                <a:solidFill>
                  <a:schemeClr val="bg1">
                    <a:lumMod val="65000"/>
                  </a:schemeClr>
                </a:solidFill>
              </a:rPr>
              <a:t>Extremophilic</a:t>
            </a:r>
            <a:r>
              <a:rPr lang="en-AU" sz="1200" i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AU" sz="1200" i="1" dirty="0">
                <a:solidFill>
                  <a:schemeClr val="bg1">
                    <a:lumMod val="65000"/>
                  </a:schemeClr>
                </a:solidFill>
              </a:rPr>
              <a:t>microbes — Organisms living in extreme conditions </a:t>
            </a:r>
            <a:r>
              <a:rPr lang="en-AU" sz="1200" dirty="0">
                <a:solidFill>
                  <a:schemeClr val="bg1">
                    <a:lumMod val="65000"/>
                  </a:schemeClr>
                </a:solidFill>
              </a:rPr>
              <a:t>(Biotech Articles) http://www.biotecharticles.com/Applications-Article/Extremophilic-Microbes-Organisms-Living-in-Extreme-Conditions-585.html</a:t>
            </a:r>
          </a:p>
          <a:p>
            <a:pPr marL="0" indent="0">
              <a:spcAft>
                <a:spcPts val="600"/>
              </a:spcAft>
              <a:buNone/>
            </a:pPr>
            <a:endParaRPr lang="en-AU" sz="1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endParaRPr lang="en-AU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Sci_Y06_U4_SS_ExtremLiving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9" name="Picture 8" descr="Qld-CoA-1LS-S-mono-webTRANS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46" y="6609750"/>
            <a:ext cx="1673704" cy="2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0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319</Words>
  <Application>Microsoft Office PowerPoint</Application>
  <PresentationFormat>On-screen Show (4:3)</PresentationFormat>
  <Paragraphs>61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Extreme Living</vt:lpstr>
      <vt:lpstr>PowerPoint Presentation</vt:lpstr>
      <vt:lpstr>The heat is on</vt:lpstr>
      <vt:lpstr>PowerPoint Presentation</vt:lpstr>
      <vt:lpstr>PowerPoint Presentation</vt:lpstr>
      <vt:lpstr>PowerPoint Presentation</vt:lpstr>
      <vt:lpstr>PowerPoint Presentation</vt:lpstr>
      <vt:lpstr>Zero O₂</vt:lpstr>
      <vt:lpstr>Love the dark</vt:lpstr>
      <vt:lpstr>PowerPoint Presentation</vt:lpstr>
      <vt:lpstr>Extremophiles also thrive in other environments</vt:lpstr>
      <vt:lpstr>Extremophiles inhabit environments that would be harmful to most other life on Earth.</vt:lpstr>
      <vt:lpstr>Attributions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Living</dc:title>
  <dc:creator>ROBERTSON, Jacquelyn</dc:creator>
  <cp:lastModifiedBy>VARGA, Joanna</cp:lastModifiedBy>
  <cp:revision>65</cp:revision>
  <dcterms:created xsi:type="dcterms:W3CDTF">2016-05-31T02:16:30Z</dcterms:created>
  <dcterms:modified xsi:type="dcterms:W3CDTF">2017-07-13T22:26:37Z</dcterms:modified>
</cp:coreProperties>
</file>