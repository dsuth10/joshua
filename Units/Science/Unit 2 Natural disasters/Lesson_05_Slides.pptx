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069032"/>
            <a:ext cx="829066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14"/>
              </a:spcBef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TIME RECORDS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07950" y="2237184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324"/>
              </a:spcBef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Indigenous Knowledge &amp; Disaster Prep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3116610"/>
            <a:ext cx="8290661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Bef>
                <a:spcPts val="22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6 Science | Unit 2: Natural Disasters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3913882"/>
            <a:ext cx="8290661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Bef>
                <a:spcPts val="2200"/>
              </a:spcBef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684139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understand how 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Indigenous knowledge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histories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 records of geological events and inform modern disaster preparedness.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228094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992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2887266"/>
            <a:ext cx="8128099" cy="11430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how oral histories record ancient events (Deep Time).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benefits of </a:t>
            </a:r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Burning</a:t>
            </a:r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fire prep.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traditional observation with modern science.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78015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2144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Oral History?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932682"/>
            <a:ext cx="4064050" cy="2062014"/>
          </a:xfrm>
          <a:prstGeom prst="roundRect">
            <a:avLst>
              <a:gd name="adj" fmla="val 6159"/>
            </a:avLst>
          </a:prstGeom>
          <a:solidFill>
            <a:srgbClr val="3F72AF"/>
          </a:solidFill>
          <a:ln/>
          <a:effectLst>
            <a:outerShdw sx="100000" sy="100000" kx="0" ky="0" algn="bl" rotWithShape="0" blurRad="101600" dist="89803" dir="2700000">
              <a:srgbClr val="f96d00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1851" y="2415183"/>
            <a:ext cx="3627373" cy="109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Time Records:</a:t>
            </a:r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Knowledge passed down for 40,000+ years through stories, song, and dance.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1567011"/>
            <a:ext cx="4064050" cy="2793355"/>
          </a:xfrm>
          <a:prstGeom prst="roundRect">
            <a:avLst>
              <a:gd name="adj" fmla="val 4546"/>
            </a:avLst>
          </a:prstGeom>
          <a:solidFill>
            <a:srgbClr val="3F72AF"/>
          </a:solidFill>
          <a:ln/>
          <a:effectLst>
            <a:outerShdw sx="100000" sy="100000" kx="0" ky="0" algn="bl" rotWithShape="0" blurRad="101600" dist="89803" dir="2700000">
              <a:srgbClr val="f96d00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5901" y="2049512"/>
            <a:ext cx="3627373" cy="1828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Observation:</a:t>
            </a:r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Indigenous people have observed and recorded volcanic eruptions, floods, and climate shifts long before modern tools.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78015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2144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Budj Bim Volcano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36525" y="1519089"/>
            <a:ext cx="0" cy="762000"/>
          </a:xfrm>
          <a:prstGeom prst="line">
            <a:avLst/>
          </a:prstGeom>
          <a:noFill/>
          <a:ln w="57150">
            <a:solidFill>
              <a:srgbClr val="F9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5600" y="1519089"/>
            <a:ext cx="803805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History:</a:t>
            </a:r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Gunditjmara people describe a giant "Four-Headed Man" throwing fire from the earth.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2534989"/>
            <a:ext cx="829066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Geological Evidence:</a:t>
            </a:r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Modern dating confirms the Budj Bim volcano erupted exactly </a:t>
            </a:r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37,000 years ago</a:t>
            </a:r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3550890"/>
            <a:ext cx="8290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i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it: How could a story survive accurately for 37,000 years?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78015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2144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Ancient Flooding &amp; Sea Levels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519089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from 21 different locations around the Australian coast describe the 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flooding of the ancient shoreline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944439"/>
            <a:ext cx="8128099" cy="13716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events happened 7,000 to 18,000 years ago.</a:t>
            </a:r>
            <a:endParaRPr lang="en-US" sz="2000" dirty="0"/>
          </a:p>
          <a:p>
            <a:pPr algn="l" marL="190500" indent="-1905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match scientific records of the end of the last Ice Age.</a:t>
            </a:r>
            <a:endParaRPr lang="en-US" sz="2000" dirty="0"/>
          </a:p>
          <a:p>
            <a:pPr algn="l" marL="190500" indent="-1905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Aboriginal people recorded exactly where the coast used to be!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78015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2144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Tsunami Warnings: Asia-Pacific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747689"/>
            <a:ext cx="4974336" cy="109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communities across the Asia-Pacific (like the Simeulue people) have survived tsunamis for generations without high-tech sensors.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3073301"/>
            <a:ext cx="4974336" cy="109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Knowledge:</a:t>
            </a:r>
            <a:pPr algn="l" indent="0" marL="0">
              <a:lnSpc>
                <a:spcPts val="288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Observing animal behaviour (birds flying inland) and the rapid retreat of the sea.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10349" y="1519089"/>
            <a:ext cx="3225701" cy="1571625"/>
          </a:xfrm>
          <a:prstGeom prst="roundRect">
            <a:avLst>
              <a:gd name="adj" fmla="val 8081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78015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2144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Drought Mitigation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7950" y="1538139"/>
            <a:ext cx="3937099" cy="0"/>
          </a:xfrm>
          <a:prstGeom prst="line">
            <a:avLst/>
          </a:prstGeom>
          <a:noFill/>
          <a:ln w="38100">
            <a:solidFill>
              <a:srgbClr val="3F72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912739"/>
            <a:ext cx="401584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Moisture Mapping:</a:t>
            </a:r>
            <a:pPr algn="l" indent="0" marL="0">
              <a:lnSpc>
                <a:spcPts val="252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Reading the health of deep-rooted plants to find hidden groundwater.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698950" y="1538139"/>
            <a:ext cx="3937099" cy="0"/>
          </a:xfrm>
          <a:prstGeom prst="line">
            <a:avLst/>
          </a:prstGeom>
          <a:noFill/>
          <a:ln w="38100">
            <a:solidFill>
              <a:srgbClr val="3F72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98950" y="1912739"/>
            <a:ext cx="401584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Direction:</a:t>
            </a:r>
            <a:pPr algn="l" indent="0" marL="0">
              <a:lnSpc>
                <a:spcPts val="252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Certain winds tell when a long dry spell is beginning or ending.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950" y="3374231"/>
            <a:ext cx="3937099" cy="0"/>
          </a:xfrm>
          <a:prstGeom prst="line">
            <a:avLst/>
          </a:prstGeom>
          <a:noFill/>
          <a:ln w="38100">
            <a:solidFill>
              <a:srgbClr val="3F72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950" y="3748832"/>
            <a:ext cx="401584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Sharing:</a:t>
            </a:r>
            <a:pPr algn="l" indent="0" marL="0">
              <a:lnSpc>
                <a:spcPts val="252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Customary laws that ensured water was shared fairly between groups during dry times.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98950" y="3374231"/>
            <a:ext cx="3937099" cy="0"/>
          </a:xfrm>
          <a:prstGeom prst="line">
            <a:avLst/>
          </a:prstGeom>
          <a:noFill/>
          <a:ln w="38100">
            <a:solidFill>
              <a:srgbClr val="3F72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8950" y="3748832"/>
            <a:ext cx="401584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Nurturing Wells:</a:t>
            </a:r>
            <a:pPr algn="l" indent="0" marL="0">
              <a:lnSpc>
                <a:spcPts val="252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Techniques to keep rock holes and soaks clean and accessible.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9898" y="1022003"/>
            <a:ext cx="467573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3000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Perfect Partnership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869728"/>
            <a:ext cx="3070027" cy="1466850"/>
          </a:xfrm>
          <a:prstGeom prst="roundRect">
            <a:avLst>
              <a:gd name="adj" fmla="val 8658"/>
            </a:avLst>
          </a:prstGeom>
          <a:noFill/>
          <a:ln w="19050">
            <a:solidFill>
              <a:srgbClr val="3F72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56658" y="1869728"/>
            <a:ext cx="4179391" cy="1466850"/>
          </a:xfrm>
          <a:prstGeom prst="roundRect">
            <a:avLst>
              <a:gd name="adj" fmla="val 8658"/>
            </a:avLst>
          </a:prstGeom>
          <a:noFill/>
          <a:ln w="19050">
            <a:solidFill>
              <a:srgbClr val="3F72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4644" y="3844528"/>
            <a:ext cx="784860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0"/>
              </a:spcBef>
              <a:spcAft>
                <a:spcPts val="2000"/>
              </a:spcAft>
              <a:buNone/>
            </a:pPr>
            <a:r>
              <a:rPr lang="en-US" sz="2000" i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"Science gives us the 'How', Tradition gives us the 'Long-term Why'."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7155" y="1540073"/>
            <a:ext cx="396954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76"/>
              </a:spcBef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Each Other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255676" y="2457450"/>
            <a:ext cx="6632499" cy="81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disasters can be scary to learn about. Some of us might have family stories or memories of fires or floods.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55676" y="3778151"/>
            <a:ext cx="6632499" cy="81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okay to feel worried.</a:t>
            </a:r>
            <a:pPr algn="ctr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you need to take a break or talk to a teacher during the video, please do!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6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7737" y="2223343"/>
            <a:ext cx="739334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for the fire season with cultural burning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11648" y="3185368"/>
            <a:ext cx="37949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(ABC Big Weather Series)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66317" y="4147393"/>
            <a:ext cx="53154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i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"The wind is your friend"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78015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2144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'Cool Burn' Technique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519089"/>
            <a:ext cx="8128099" cy="243869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200"/>
              </a:lnSpc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Intensity: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Fires stay on the ground and don't reach the "crown" (tops) of trees.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Nurturing: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Clears fuel but leaves the seeds in the soil alive.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Safety: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 animals have time to crawl away or hide.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Regrowth: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Ash provides nutrients for new plants to grow back stronger.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78015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2144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Wind is your Friend"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36525" y="1519089"/>
            <a:ext cx="0" cy="819150"/>
          </a:xfrm>
          <a:prstGeom prst="line">
            <a:avLst/>
          </a:prstGeom>
          <a:noFill/>
          <a:ln w="57150">
            <a:solidFill>
              <a:srgbClr val="F9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92139"/>
            <a:ext cx="829066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Indigenous knowledge uses the wind to steer the fire away from sensitive areas like animal habitats or sacred sites.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3608040"/>
            <a:ext cx="829066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owners read the atmosphere just like modern meteorologists!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3041" y="49113"/>
            <a:ext cx="621776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144"/>
              </a:spcBef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Community Resilience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55676" y="1023640"/>
            <a:ext cx="6632499" cy="81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video, Indigenous and non-Indigenous landowners worked together on the cultural burn.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2344341"/>
            <a:ext cx="8128099" cy="1701701"/>
          </a:xfrm>
          <a:prstGeom prst="roundRect">
            <a:avLst>
              <a:gd name="adj" fmla="val 7463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6474" y="2788741"/>
            <a:ext cx="6321603" cy="81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ctr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Safer properties, healthier land, and a stronger community bond.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55676" y="4299942"/>
            <a:ext cx="6632499" cy="81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"Being resilient doesn't mean you can't change... together we can get through anything."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78015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2144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Community Knowledge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519089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draft a plan for your local area that combines science and tradition.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944439"/>
            <a:ext cx="8128099" cy="2062014"/>
          </a:xfrm>
          <a:prstGeom prst="roundRect">
            <a:avLst>
              <a:gd name="adj" fmla="val 6159"/>
            </a:avLst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2426940"/>
            <a:ext cx="7620298" cy="109701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8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Observation:</a:t>
            </a:r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animal or wind patterns would you watch?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8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Technology:</a:t>
            </a:r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modern warning system would you use?</a:t>
            </a:r>
            <a:endParaRPr lang="en-US" sz="18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8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Would you use cultural burning or hazard reduction? Why?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14357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8"/>
              </a:spcBef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Curriculum Alignment (V9)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2749897"/>
            <a:ext cx="2624733" cy="1155502"/>
          </a:xfrm>
          <a:prstGeom prst="roundRect">
            <a:avLst>
              <a:gd name="adj" fmla="val 5495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59634" y="2749897"/>
            <a:ext cx="2624733" cy="1155502"/>
          </a:xfrm>
          <a:prstGeom prst="roundRect">
            <a:avLst>
              <a:gd name="adj" fmla="val 5495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11317" y="2749897"/>
            <a:ext cx="2624733" cy="1155502"/>
          </a:xfrm>
          <a:prstGeom prst="roundRect">
            <a:avLst>
              <a:gd name="adj" fmla="val 5495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431170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6 | Science as a Human Endeavour | Earth &amp; Space Sciences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2026-05-09T08:18:19Z</dcterms:created>
  <dcterms:modified xsi:type="dcterms:W3CDTF">2026-05-09T08:18:19Z</dcterms:modified>
</cp:coreProperties>
</file>