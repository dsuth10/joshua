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66" r:id="rId3"/>
    <p:sldId id="264" r:id="rId4"/>
    <p:sldId id="269" r:id="rId5"/>
    <p:sldId id="265" r:id="rId6"/>
    <p:sldId id="262" r:id="rId7"/>
    <p:sldId id="268" r:id="rId8"/>
    <p:sldId id="263" r:id="rId9"/>
    <p:sldId id="267" r:id="rId10"/>
    <p:sldId id="261" r:id="rId11"/>
    <p:sldId id="258" r:id="rId12"/>
    <p:sldId id="259" r:id="rId13"/>
    <p:sldId id="260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E6FC4D-DE66-4332-A9AB-D2E89D339EC4}" v="2" dt="2023-05-22T21:39:49.4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04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56" d="100"/>
          <a:sy n="56" d="100"/>
        </p:scale>
        <p:origin x="-2624" y="-6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THERLAND, Douglas (dsuth10)" userId="da8732af-d8e3-4f9b-acd7-59884b2d6263" providerId="ADAL" clId="{C3E6FC4D-DE66-4332-A9AB-D2E89D339EC4}"/>
    <pc:docChg chg="delSld modSld">
      <pc:chgData name="SUTHERLAND, Douglas (dsuth10)" userId="da8732af-d8e3-4f9b-acd7-59884b2d6263" providerId="ADAL" clId="{C3E6FC4D-DE66-4332-A9AB-D2E89D339EC4}" dt="2023-05-22T21:39:49.435" v="1"/>
      <pc:docMkLst>
        <pc:docMk/>
      </pc:docMkLst>
      <pc:sldChg chg="setBg">
        <pc:chgData name="SUTHERLAND, Douglas (dsuth10)" userId="da8732af-d8e3-4f9b-acd7-59884b2d6263" providerId="ADAL" clId="{C3E6FC4D-DE66-4332-A9AB-D2E89D339EC4}" dt="2023-05-22T21:39:49.435" v="1"/>
        <pc:sldMkLst>
          <pc:docMk/>
          <pc:sldMk cId="1057082964" sldId="257"/>
        </pc:sldMkLst>
      </pc:sldChg>
      <pc:sldChg chg="del">
        <pc:chgData name="SUTHERLAND, Douglas (dsuth10)" userId="da8732af-d8e3-4f9b-acd7-59884b2d6263" providerId="ADAL" clId="{C3E6FC4D-DE66-4332-A9AB-D2E89D339EC4}" dt="2023-05-22T21:39:27.348" v="0" actId="2696"/>
        <pc:sldMkLst>
          <pc:docMk/>
          <pc:sldMk cId="1837224339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353AE0-19BB-4BE4-93CD-A36EE52AA281}" type="datetimeFigureOut">
              <a:rPr lang="en-AU" smtClean="0"/>
              <a:t>23/05/2023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85CD88-988D-4DF4-ACD7-2548C0AA8DA3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02196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5/23/2023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814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2979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5/23/2023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924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5/23/2023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650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5/23/2023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501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5/23/2023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676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5/23/2023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162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5/23/2023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066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5/23/2023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598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5/23/2023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948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92979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5/23/2023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078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B760003-A20F-B343-A11C-B1DB6062DF0C}" type="datetimeFigureOut">
              <a:rPr lang="en-US" smtClean="0"/>
              <a:t>5/23/2023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F7A02DC-2446-6448-A6DA-18D630DE2E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566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704929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>
                <a:solidFill>
                  <a:srgbClr val="000000"/>
                </a:solidFill>
                <a:latin typeface="Arial"/>
                <a:ea typeface="+mn-ea"/>
                <a:cs typeface="Arial"/>
              </a:rPr>
              <a:t>Sci_Y06_U3_SS_Drought</a:t>
            </a:r>
          </a:p>
        </p:txBody>
      </p:sp>
      <p:pic>
        <p:nvPicPr>
          <p:cNvPr id="10" name="Picture 9" descr="C2CIcon.png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20911"/>
            <a:ext cx="424150" cy="184018"/>
          </a:xfrm>
          <a:prstGeom prst="rect">
            <a:avLst/>
          </a:prstGeom>
        </p:spPr>
      </p:pic>
      <p:pic>
        <p:nvPicPr>
          <p:cNvPr id="11" name="Picture 10" descr="Qld-CoA-1LS-S-mono-webTRANS.png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3964" y="6575577"/>
            <a:ext cx="1313166" cy="227142"/>
          </a:xfrm>
          <a:prstGeom prst="rect">
            <a:avLst/>
          </a:prstGeom>
        </p:spPr>
      </p:pic>
      <p:pic>
        <p:nvPicPr>
          <p:cNvPr id="12" name="Picture 11" descr="DET2016.png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0000" y="6593809"/>
            <a:ext cx="1584000" cy="18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14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43934" y="118533"/>
            <a:ext cx="8856133" cy="63246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71600" y="3158067"/>
            <a:ext cx="6400800" cy="1752600"/>
          </a:xfrm>
        </p:spPr>
        <p:txBody>
          <a:bodyPr/>
          <a:lstStyle/>
          <a:p>
            <a:r>
              <a:rPr lang="en-AU" dirty="0">
                <a:solidFill>
                  <a:srgbClr val="17375E"/>
                </a:solidFill>
              </a:rPr>
              <a:t>Interpreting rainfall data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0" y="2142404"/>
            <a:ext cx="457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tx2">
                    <a:lumMod val="75000"/>
                  </a:schemeClr>
                </a:solidFill>
                <a:latin typeface="Arial"/>
                <a:cs typeface="Arial"/>
              </a:rPr>
              <a:t>Drought</a:t>
            </a:r>
          </a:p>
        </p:txBody>
      </p:sp>
    </p:spTree>
    <p:extLst>
      <p:ext uri="{BB962C8B-B14F-4D97-AF65-F5344CB8AC3E}">
        <p14:creationId xmlns:p14="http://schemas.microsoft.com/office/powerpoint/2010/main" val="1057082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9075"/>
            <a:ext cx="8229600" cy="983192"/>
          </a:xfr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en-AU" sz="4000" dirty="0">
                <a:solidFill>
                  <a:srgbClr val="17375E"/>
                </a:solidFill>
                <a:latin typeface="Arial"/>
                <a:cs typeface="Arial"/>
              </a:rPr>
              <a:t>What is rainfall history?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592979"/>
            <a:ext cx="5511799" cy="4525963"/>
          </a:xfrm>
        </p:spPr>
        <p:txBody>
          <a:bodyPr/>
          <a:lstStyle/>
          <a:p>
            <a:pPr marL="0" indent="0">
              <a:spcAft>
                <a:spcPts val="1200"/>
              </a:spcAft>
              <a:buNone/>
            </a:pPr>
            <a:r>
              <a:rPr lang="en-AU" sz="2400" b="1" dirty="0">
                <a:latin typeface="Arial"/>
                <a:cs typeface="Arial"/>
              </a:rPr>
              <a:t>Rainfall history </a:t>
            </a:r>
            <a:r>
              <a:rPr lang="en-AU" sz="2400" dirty="0">
                <a:latin typeface="Arial"/>
                <a:cs typeface="Arial"/>
              </a:rPr>
              <a:t>is a collection of data about rainfall in a specific region.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AU" sz="2400" dirty="0">
                <a:latin typeface="Arial"/>
                <a:cs typeface="Arial"/>
              </a:rPr>
              <a:t>The data provides an overview of wet and dry periods and can be recorded monthly and daily.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AU" sz="2400" dirty="0">
                <a:latin typeface="Arial"/>
                <a:cs typeface="Arial"/>
              </a:rPr>
              <a:t>The data can be displayed in tables or graphs to compare data over time. 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7172" name="Picture 4" descr="https://upload.wikimedia.org/wikipedia/commons/thumb/e/eb/2013-06-24_17_39_11_A_4-inch_plastic_rain_gauge_typical_of_those_used_by_the_CoCoRaHS_program.jpg/800px-2013-06-24_17_39_11_A_4-inch_plastic_rain_gauge_typical_of_those_used_by_the_CoCoRaHS_program.jp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54201" y="1521356"/>
            <a:ext cx="1847995" cy="2461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https://upload.wikimedia.org/wikipedia/commons/8/8a/Edinburgh_climate_graph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59769" y="4561734"/>
            <a:ext cx="2726134" cy="1801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328005" y="1349904"/>
            <a:ext cx="461665" cy="32118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6159769" y="3983184"/>
            <a:ext cx="3053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600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Famartin (2013), </a:t>
            </a:r>
            <a:r>
              <a:rPr lang="en-AU" sz="600" i="1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4-inch plastic rain gauge,</a:t>
            </a:r>
            <a:r>
              <a:rPr lang="en-AU" sz="600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https://commons.wikimedia.org/wiki/File:2013-06-24_17_39_11_A_4-inch_plastic_rain_gauge_typical_of_those_used_by_the_CoCoRaHS_program.jpg  </a:t>
            </a:r>
            <a:br>
              <a:rPr lang="en-AU" sz="600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600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CC BY-SA 3.0 http://creativecommons.org/licenses/by-sa/3.0/deed.en</a:t>
            </a:r>
          </a:p>
        </p:txBody>
      </p:sp>
    </p:spTree>
    <p:extLst>
      <p:ext uri="{BB962C8B-B14F-4D97-AF65-F5344CB8AC3E}">
        <p14:creationId xmlns:p14="http://schemas.microsoft.com/office/powerpoint/2010/main" val="712041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400"/>
              </a:spcAft>
            </a:pPr>
            <a:r>
              <a:rPr lang="en-AU" sz="2400" dirty="0">
                <a:latin typeface="Arial"/>
                <a:cs typeface="Arial"/>
              </a:rPr>
              <a:t>A drought is an </a:t>
            </a:r>
            <a:r>
              <a:rPr lang="en-AU" sz="2400" b="1" dirty="0">
                <a:latin typeface="Arial"/>
                <a:cs typeface="Arial"/>
              </a:rPr>
              <a:t>acute water shortage </a:t>
            </a:r>
            <a:r>
              <a:rPr lang="en-AU" sz="2400" dirty="0">
                <a:latin typeface="Arial"/>
                <a:cs typeface="Arial"/>
              </a:rPr>
              <a:t>caused by lengthy periods of below average rainfall.</a:t>
            </a:r>
          </a:p>
          <a:p>
            <a:pPr>
              <a:spcAft>
                <a:spcPts val="2400"/>
              </a:spcAft>
            </a:pPr>
            <a:r>
              <a:rPr lang="en-AU" sz="2400" dirty="0">
                <a:latin typeface="Arial"/>
                <a:cs typeface="Arial"/>
              </a:rPr>
              <a:t>Drought is declared when the rainfall is significantly less in an </a:t>
            </a:r>
            <a:r>
              <a:rPr lang="en-AU" sz="2400" b="1" dirty="0">
                <a:latin typeface="Arial"/>
                <a:cs typeface="Arial"/>
              </a:rPr>
              <a:t>area</a:t>
            </a:r>
            <a:r>
              <a:rPr lang="en-AU" sz="2400" dirty="0">
                <a:latin typeface="Arial"/>
                <a:cs typeface="Arial"/>
              </a:rPr>
              <a:t> over </a:t>
            </a:r>
            <a:r>
              <a:rPr lang="en-AU" sz="2400" b="1" dirty="0">
                <a:latin typeface="Arial"/>
                <a:cs typeface="Arial"/>
              </a:rPr>
              <a:t>three months</a:t>
            </a:r>
            <a:r>
              <a:rPr lang="en-AU" sz="2400" dirty="0">
                <a:latin typeface="Arial"/>
                <a:cs typeface="Arial"/>
              </a:rPr>
              <a:t>.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219075"/>
            <a:ext cx="8229600" cy="983192"/>
          </a:xfrm>
          <a:prstGeom prst="rect">
            <a:avLst/>
          </a:prstGeom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4000" dirty="0">
                <a:solidFill>
                  <a:srgbClr val="17375E"/>
                </a:solidFill>
                <a:latin typeface="Arial"/>
                <a:cs typeface="Arial"/>
              </a:rPr>
              <a:t>What is a drought?</a:t>
            </a:r>
          </a:p>
        </p:txBody>
      </p:sp>
    </p:spTree>
    <p:extLst>
      <p:ext uri="{BB962C8B-B14F-4D97-AF65-F5344CB8AC3E}">
        <p14:creationId xmlns:p14="http://schemas.microsoft.com/office/powerpoint/2010/main" val="3440511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File:Riverina Sheep (during drought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0" y="403942"/>
            <a:ext cx="7620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73640" y="6107935"/>
            <a:ext cx="7608360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AU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rPr>
              <a:t>Virtual Steve 2007,  </a:t>
            </a:r>
            <a:r>
              <a:rPr lang="en-AU" sz="800" i="1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rPr>
              <a:t>Riverina sheep during drought, </a:t>
            </a:r>
            <a:r>
              <a:rPr lang="en-AU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rPr>
              <a:t>https://commons.wikimedia.org/wiki/File:Riverina_Sheep_(during_drought).jpg  CC BY-SA 3.0 https://creativecommons.org/licenses/by-sa/3.0/deed.en</a:t>
            </a:r>
          </a:p>
        </p:txBody>
      </p:sp>
    </p:spTree>
    <p:extLst>
      <p:ext uri="{BB962C8B-B14F-4D97-AF65-F5344CB8AC3E}">
        <p14:creationId xmlns:p14="http://schemas.microsoft.com/office/powerpoint/2010/main" val="1935799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2400"/>
              </a:spcAft>
              <a:buNone/>
            </a:pPr>
            <a:r>
              <a:rPr lang="en-AU" sz="2400" dirty="0">
                <a:latin typeface="Arial"/>
                <a:ea typeface="Times New Roman"/>
                <a:cs typeface="Arial"/>
              </a:rPr>
              <a:t>The Australian Bureau of Meteorology measures and monitors rainfall history at many different locations across Australia. </a:t>
            </a:r>
            <a:endParaRPr lang="en-AU" sz="2400" dirty="0">
              <a:latin typeface="Arial"/>
              <a:cs typeface="Arial"/>
            </a:endParaRPr>
          </a:p>
          <a:p>
            <a:pPr marL="0" indent="0">
              <a:spcAft>
                <a:spcPts val="2400"/>
              </a:spcAft>
              <a:buNone/>
            </a:pPr>
            <a:r>
              <a:rPr lang="en-AU" sz="2400" dirty="0">
                <a:latin typeface="Arial"/>
                <a:cs typeface="Arial"/>
              </a:rPr>
              <a:t>Droughts are declared when the rainfall </a:t>
            </a:r>
            <a:r>
              <a:rPr lang="en-AU" sz="2400" b="1" dirty="0">
                <a:latin typeface="Arial"/>
                <a:cs typeface="Arial"/>
              </a:rPr>
              <a:t>(quantity) </a:t>
            </a:r>
            <a:r>
              <a:rPr lang="en-AU" sz="2400" dirty="0">
                <a:latin typeface="Arial"/>
                <a:cs typeface="Arial"/>
              </a:rPr>
              <a:t>in a</a:t>
            </a:r>
            <a:r>
              <a:rPr lang="en-AU" sz="2400" b="1" dirty="0">
                <a:latin typeface="Arial"/>
                <a:cs typeface="Arial"/>
              </a:rPr>
              <a:t> </a:t>
            </a:r>
            <a:r>
              <a:rPr lang="en-AU" sz="2400" dirty="0">
                <a:latin typeface="Arial"/>
                <a:cs typeface="Arial"/>
              </a:rPr>
              <a:t>specific region </a:t>
            </a:r>
            <a:r>
              <a:rPr lang="en-AU" sz="2400" b="1" dirty="0">
                <a:latin typeface="Arial"/>
                <a:cs typeface="Arial"/>
              </a:rPr>
              <a:t>(area) </a:t>
            </a:r>
            <a:r>
              <a:rPr lang="en-AU" sz="2400" dirty="0">
                <a:latin typeface="Arial"/>
                <a:cs typeface="Arial"/>
              </a:rPr>
              <a:t>over a period of three months </a:t>
            </a:r>
            <a:r>
              <a:rPr lang="en-AU" sz="2400" b="1" dirty="0">
                <a:latin typeface="Arial"/>
                <a:cs typeface="Arial"/>
              </a:rPr>
              <a:t>(time)</a:t>
            </a:r>
            <a:r>
              <a:rPr lang="en-AU" sz="2400" dirty="0">
                <a:latin typeface="Arial"/>
                <a:cs typeface="Arial"/>
              </a:rPr>
              <a:t> is significantly </a:t>
            </a:r>
            <a:r>
              <a:rPr lang="en-AU" sz="2400" u="sng" dirty="0">
                <a:latin typeface="Arial"/>
                <a:cs typeface="Arial"/>
              </a:rPr>
              <a:t>reduced</a:t>
            </a:r>
            <a:r>
              <a:rPr lang="en-AU" sz="2400" dirty="0">
                <a:latin typeface="Arial"/>
                <a:cs typeface="Arial"/>
              </a:rPr>
              <a:t>. </a:t>
            </a:r>
          </a:p>
          <a:p>
            <a:pPr marL="0" indent="0">
              <a:buNone/>
            </a:pPr>
            <a:endParaRPr lang="en-AU" sz="2800" dirty="0">
              <a:latin typeface="Calibri" panose="020F0502020204030204" pitchFamily="34" charset="0"/>
              <a:cs typeface="Times New Roman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219075"/>
            <a:ext cx="8229600" cy="983192"/>
          </a:xfrm>
          <a:prstGeom prst="rect">
            <a:avLst/>
          </a:prstGeom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4000" dirty="0">
                <a:solidFill>
                  <a:srgbClr val="17375E"/>
                </a:solidFill>
                <a:latin typeface="Arial"/>
                <a:cs typeface="Arial"/>
              </a:rPr>
              <a:t>Declaring a drought</a:t>
            </a:r>
          </a:p>
        </p:txBody>
      </p:sp>
    </p:spTree>
    <p:extLst>
      <p:ext uri="{BB962C8B-B14F-4D97-AF65-F5344CB8AC3E}">
        <p14:creationId xmlns:p14="http://schemas.microsoft.com/office/powerpoint/2010/main" val="3078773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AU" sz="2400" dirty="0">
                <a:latin typeface="Arial"/>
                <a:cs typeface="Arial"/>
              </a:rPr>
              <a:t>Erosion occurs </a:t>
            </a:r>
          </a:p>
          <a:p>
            <a:pPr>
              <a:spcAft>
                <a:spcPts val="1200"/>
              </a:spcAft>
            </a:pPr>
            <a:r>
              <a:rPr lang="en-AU" sz="2400" dirty="0">
                <a:latin typeface="Arial"/>
                <a:cs typeface="Arial"/>
              </a:rPr>
              <a:t>Change in soil quality and loss of top soil</a:t>
            </a:r>
          </a:p>
          <a:p>
            <a:pPr>
              <a:spcAft>
                <a:spcPts val="1200"/>
              </a:spcAft>
            </a:pPr>
            <a:r>
              <a:rPr lang="en-AU" sz="2400" dirty="0">
                <a:latin typeface="Arial"/>
                <a:cs typeface="Arial"/>
              </a:rPr>
              <a:t>Movement of water tables</a:t>
            </a:r>
          </a:p>
          <a:p>
            <a:pPr>
              <a:spcAft>
                <a:spcPts val="1200"/>
              </a:spcAft>
            </a:pPr>
            <a:r>
              <a:rPr lang="en-AU" sz="2400" dirty="0">
                <a:latin typeface="Arial"/>
                <a:cs typeface="Arial"/>
              </a:rPr>
              <a:t>Vegetation dies (including forests and crops)</a:t>
            </a:r>
          </a:p>
          <a:p>
            <a:pPr>
              <a:spcAft>
                <a:spcPts val="1200"/>
              </a:spcAft>
            </a:pPr>
            <a:r>
              <a:rPr lang="en-AU" sz="2400" dirty="0">
                <a:latin typeface="Arial"/>
                <a:cs typeface="Arial"/>
              </a:rPr>
              <a:t>Loss of drinking water </a:t>
            </a:r>
          </a:p>
          <a:p>
            <a:pPr>
              <a:spcAft>
                <a:spcPts val="1200"/>
              </a:spcAft>
            </a:pPr>
            <a:r>
              <a:rPr lang="en-AU" sz="2400" dirty="0">
                <a:latin typeface="Arial"/>
                <a:cs typeface="Arial"/>
              </a:rPr>
              <a:t>Rivers, dams and reservoirs shrink or dry up</a:t>
            </a:r>
          </a:p>
          <a:p>
            <a:pPr>
              <a:spcAft>
                <a:spcPts val="1200"/>
              </a:spcAft>
            </a:pPr>
            <a:r>
              <a:rPr lang="en-AU" sz="2400" dirty="0">
                <a:latin typeface="Arial"/>
                <a:cs typeface="Arial"/>
              </a:rPr>
              <a:t>Ecological damage to terrestrial and aquatic organisms and populations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219075"/>
            <a:ext cx="8229600" cy="983192"/>
          </a:xfrm>
          <a:prstGeom prst="rect">
            <a:avLst/>
          </a:prstGeom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4000" dirty="0">
                <a:solidFill>
                  <a:srgbClr val="17375E"/>
                </a:solidFill>
                <a:latin typeface="Arial"/>
                <a:cs typeface="Arial"/>
              </a:rPr>
              <a:t>Drought affects the Earth’s surface</a:t>
            </a:r>
          </a:p>
        </p:txBody>
      </p:sp>
    </p:spTree>
    <p:extLst>
      <p:ext uri="{BB962C8B-B14F-4D97-AF65-F5344CB8AC3E}">
        <p14:creationId xmlns:p14="http://schemas.microsoft.com/office/powerpoint/2010/main" val="3669707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File:CSIRO ScienceImage 429 Drought Effected Landscap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0" y="543483"/>
            <a:ext cx="7620000" cy="5024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62000" y="5567921"/>
            <a:ext cx="762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dirty="0">
                <a:solidFill>
                  <a:srgbClr val="7F7F7F"/>
                </a:solidFill>
                <a:latin typeface="Calibri"/>
                <a:cs typeface="Calibri"/>
              </a:rPr>
              <a:t>CSIRO 2000,  </a:t>
            </a:r>
            <a:r>
              <a:rPr lang="en-AU" sz="800" i="1" dirty="0">
                <a:solidFill>
                  <a:srgbClr val="7F7F7F"/>
                </a:solidFill>
                <a:latin typeface="Calibri"/>
                <a:cs typeface="Calibri"/>
              </a:rPr>
              <a:t>A drought stricken paddock</a:t>
            </a:r>
            <a:r>
              <a:rPr lang="en-AU" sz="800" dirty="0">
                <a:solidFill>
                  <a:srgbClr val="7F7F7F"/>
                </a:solidFill>
                <a:latin typeface="Calibri"/>
                <a:cs typeface="Calibri"/>
              </a:rPr>
              <a:t>, https://commons.wikimedia.org/wiki/File:CSIRO_ScienceImage_429_Drought_Effected_Landscape.jpg  CC BY-SA 3.0 https://creativecommons.org/licenses/by-sa/3.0/deed.en</a:t>
            </a:r>
          </a:p>
        </p:txBody>
      </p:sp>
    </p:spTree>
    <p:extLst>
      <p:ext uri="{BB962C8B-B14F-4D97-AF65-F5344CB8AC3E}">
        <p14:creationId xmlns:p14="http://schemas.microsoft.com/office/powerpoint/2010/main" val="3764239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3646"/>
            <a:ext cx="8229600" cy="4525963"/>
          </a:xfrm>
        </p:spPr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AU" sz="2000" dirty="0">
                <a:latin typeface="Arial"/>
                <a:cs typeface="Arial"/>
              </a:rPr>
              <a:t>Droughts can affect people in urban cities, rural and coastal towns as well as remote areas of Australia. </a:t>
            </a:r>
            <a:endParaRPr lang="en-AU" sz="2000" i="1" dirty="0">
              <a:latin typeface="Arial"/>
              <a:cs typeface="Arial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AU" sz="2000" dirty="0">
                <a:latin typeface="Arial"/>
                <a:cs typeface="Arial"/>
              </a:rPr>
              <a:t>For example: </a:t>
            </a:r>
          </a:p>
          <a:p>
            <a:pPr>
              <a:spcAft>
                <a:spcPts val="600"/>
              </a:spcAft>
            </a:pPr>
            <a:r>
              <a:rPr lang="en-AU" sz="2000" dirty="0">
                <a:latin typeface="Arial"/>
                <a:cs typeface="Arial"/>
              </a:rPr>
              <a:t>Loss of income and increased costs for farmers</a:t>
            </a:r>
          </a:p>
          <a:p>
            <a:pPr>
              <a:spcAft>
                <a:spcPts val="600"/>
              </a:spcAft>
            </a:pPr>
            <a:r>
              <a:rPr lang="en-AU" sz="2000" dirty="0">
                <a:latin typeface="Arial"/>
                <a:cs typeface="Arial"/>
              </a:rPr>
              <a:t>Land values decline</a:t>
            </a:r>
          </a:p>
          <a:p>
            <a:pPr>
              <a:spcAft>
                <a:spcPts val="600"/>
              </a:spcAft>
            </a:pPr>
            <a:r>
              <a:rPr lang="en-AU" sz="2000" dirty="0">
                <a:latin typeface="Arial"/>
                <a:cs typeface="Arial"/>
              </a:rPr>
              <a:t>Loss of jobs in industries reliant on natural resources </a:t>
            </a:r>
          </a:p>
          <a:p>
            <a:pPr>
              <a:spcAft>
                <a:spcPts val="600"/>
              </a:spcAft>
            </a:pPr>
            <a:r>
              <a:rPr lang="en-AU" sz="2000" dirty="0">
                <a:latin typeface="Arial"/>
                <a:cs typeface="Arial"/>
              </a:rPr>
              <a:t>Health issues increase (dust, depression, water quality)</a:t>
            </a:r>
          </a:p>
          <a:p>
            <a:pPr>
              <a:spcAft>
                <a:spcPts val="600"/>
              </a:spcAft>
            </a:pPr>
            <a:r>
              <a:rPr lang="en-AU" sz="2000" dirty="0">
                <a:latin typeface="Arial"/>
                <a:cs typeface="Arial"/>
              </a:rPr>
              <a:t>Increased costs to access/transport clean water and food</a:t>
            </a:r>
          </a:p>
          <a:p>
            <a:pPr>
              <a:spcAft>
                <a:spcPts val="600"/>
              </a:spcAft>
            </a:pPr>
            <a:r>
              <a:rPr lang="en-AU" sz="2000" dirty="0">
                <a:latin typeface="Arial"/>
                <a:cs typeface="Arial"/>
              </a:rPr>
              <a:t>Loss of community services </a:t>
            </a:r>
          </a:p>
          <a:p>
            <a:pPr>
              <a:spcAft>
                <a:spcPts val="600"/>
              </a:spcAft>
            </a:pPr>
            <a:r>
              <a:rPr lang="en-AU" sz="2000" dirty="0">
                <a:latin typeface="Arial"/>
                <a:cs typeface="Arial"/>
              </a:rPr>
              <a:t>Limited recreational activities 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219075"/>
            <a:ext cx="8229600" cy="983192"/>
          </a:xfrm>
          <a:prstGeom prst="rect">
            <a:avLst/>
          </a:prstGeom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4000" dirty="0">
                <a:solidFill>
                  <a:srgbClr val="17375E"/>
                </a:solidFill>
                <a:latin typeface="Arial"/>
                <a:cs typeface="Arial"/>
              </a:rPr>
              <a:t>Drought affects people</a:t>
            </a:r>
          </a:p>
        </p:txBody>
      </p:sp>
    </p:spTree>
    <p:extLst>
      <p:ext uri="{BB962C8B-B14F-4D97-AF65-F5344CB8AC3E}">
        <p14:creationId xmlns:p14="http://schemas.microsoft.com/office/powerpoint/2010/main" val="3999668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File:Drought Swimming Hol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0" y="457729"/>
            <a:ext cx="7620000" cy="510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07999" y="5457222"/>
            <a:ext cx="22013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800" dirty="0"/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28133" y="5563130"/>
            <a:ext cx="7653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dirty="0">
                <a:solidFill>
                  <a:srgbClr val="7F7F7F"/>
                </a:solidFill>
                <a:latin typeface="Calibri"/>
                <a:cs typeface="Calibri"/>
              </a:rPr>
              <a:t>Peripitus 2008, </a:t>
            </a:r>
            <a:r>
              <a:rPr lang="en-AU" sz="800" i="1" dirty="0">
                <a:solidFill>
                  <a:srgbClr val="7F7F7F"/>
                </a:solidFill>
                <a:latin typeface="Calibri"/>
                <a:cs typeface="Calibri"/>
              </a:rPr>
              <a:t>Drought swimming hole</a:t>
            </a:r>
            <a:r>
              <a:rPr lang="en-AU" sz="800" dirty="0">
                <a:solidFill>
                  <a:srgbClr val="7F7F7F"/>
                </a:solidFill>
                <a:latin typeface="Calibri"/>
                <a:cs typeface="Calibri"/>
              </a:rPr>
              <a:t>, https://commons.wikimedia.org/wiki/File:Drought_Swimming_Hole.JPG  CC BY-SA 3.0 https://creativecommons.org/licenses/by-sa/3.0/deed.en </a:t>
            </a:r>
          </a:p>
          <a:p>
            <a:endParaRPr lang="en-AU" sz="800" dirty="0">
              <a:solidFill>
                <a:srgbClr val="7F7F7F"/>
              </a:solidFill>
              <a:latin typeface="Calibri"/>
              <a:cs typeface="Calibri"/>
            </a:endParaRPr>
          </a:p>
          <a:p>
            <a:endParaRPr lang="en-AU" sz="800" dirty="0">
              <a:solidFill>
                <a:srgbClr val="7F7F7F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5913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92979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AU" sz="2400" dirty="0">
                <a:latin typeface="Arial"/>
                <a:cs typeface="Arial"/>
              </a:rPr>
              <a:t>This is declared when a region experiences </a:t>
            </a:r>
            <a:r>
              <a:rPr lang="en-AU" sz="2400" b="1" dirty="0">
                <a:latin typeface="Arial"/>
                <a:cs typeface="Arial"/>
              </a:rPr>
              <a:t>less than 30 per cent </a:t>
            </a:r>
            <a:r>
              <a:rPr lang="en-AU" sz="2400" dirty="0">
                <a:latin typeface="Arial"/>
                <a:cs typeface="Arial"/>
              </a:rPr>
              <a:t>of the </a:t>
            </a:r>
            <a:r>
              <a:rPr lang="en-AU" sz="2400" u="sng" dirty="0">
                <a:latin typeface="Arial"/>
                <a:cs typeface="Arial"/>
              </a:rPr>
              <a:t>average</a:t>
            </a:r>
            <a:r>
              <a:rPr lang="en-AU" sz="2400" dirty="0">
                <a:latin typeface="Arial"/>
                <a:cs typeface="Arial"/>
              </a:rPr>
              <a:t> rainfall for </a:t>
            </a:r>
            <a:r>
              <a:rPr lang="en-AU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one month</a:t>
            </a:r>
            <a:r>
              <a:rPr lang="en-AU" sz="2400" dirty="0">
                <a:latin typeface="Arial"/>
                <a:cs typeface="Arial"/>
              </a:rPr>
              <a:t>.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3064" y="2870198"/>
            <a:ext cx="8797987" cy="2536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57200" y="6118942"/>
            <a:ext cx="59550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3064" y="5191049"/>
            <a:ext cx="51331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rPr>
              <a:t>Data sourced from: © Commonwealth of Australia (Bureau of Meteorology http://www.bom.gov.au/ ) 2013. 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57200" y="219075"/>
            <a:ext cx="8229600" cy="983192"/>
          </a:xfrm>
          <a:prstGeom prst="rect">
            <a:avLst/>
          </a:prstGeom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4000" dirty="0">
                <a:solidFill>
                  <a:srgbClr val="17375E"/>
                </a:solidFill>
                <a:latin typeface="Arial"/>
                <a:cs typeface="Arial"/>
              </a:rPr>
              <a:t>Below average rainfall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5133" y="3968714"/>
            <a:ext cx="8094133" cy="479613"/>
          </a:xfrm>
          <a:prstGeom prst="rect">
            <a:avLst/>
          </a:prstGeom>
          <a:noFill/>
          <a:ln w="3810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2" name="Oval 11"/>
          <p:cNvSpPr/>
          <p:nvPr/>
        </p:nvSpPr>
        <p:spPr>
          <a:xfrm>
            <a:off x="154214" y="3968714"/>
            <a:ext cx="802822" cy="441024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403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2400" dirty="0">
                <a:latin typeface="Arial"/>
                <a:cs typeface="Arial"/>
              </a:rPr>
              <a:t>This is declared when a region experiences monthly rainfall that is </a:t>
            </a:r>
            <a:r>
              <a:rPr lang="en-AU" sz="2400" b="1" dirty="0">
                <a:latin typeface="Arial"/>
                <a:cs typeface="Arial"/>
              </a:rPr>
              <a:t>between 5–10 per cent </a:t>
            </a:r>
            <a:r>
              <a:rPr lang="en-AU" sz="2400" dirty="0">
                <a:latin typeface="Arial"/>
                <a:cs typeface="Arial"/>
              </a:rPr>
              <a:t>of the </a:t>
            </a:r>
            <a:r>
              <a:rPr lang="en-AU" sz="2400" u="sng" dirty="0">
                <a:latin typeface="Arial"/>
                <a:cs typeface="Arial"/>
              </a:rPr>
              <a:t>average</a:t>
            </a:r>
            <a:r>
              <a:rPr lang="en-AU" sz="2400" dirty="0">
                <a:latin typeface="Arial"/>
                <a:cs typeface="Arial"/>
              </a:rPr>
              <a:t> for </a:t>
            </a:r>
            <a:r>
              <a:rPr lang="en-AU" sz="2400" b="1" dirty="0">
                <a:solidFill>
                  <a:srgbClr val="558ED5"/>
                </a:solidFill>
                <a:latin typeface="Arial"/>
                <a:cs typeface="Arial"/>
              </a:rPr>
              <a:t>three or more </a:t>
            </a:r>
            <a:r>
              <a:rPr lang="en-AU" sz="2400" dirty="0">
                <a:latin typeface="Arial"/>
                <a:cs typeface="Arial"/>
              </a:rPr>
              <a:t>months. 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3126" y="2878665"/>
            <a:ext cx="8797925" cy="253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457200" y="219075"/>
            <a:ext cx="8229600" cy="983192"/>
          </a:xfrm>
          <a:prstGeom prst="rect">
            <a:avLst/>
          </a:prstGeom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4000" dirty="0">
                <a:solidFill>
                  <a:srgbClr val="17375E"/>
                </a:solidFill>
                <a:latin typeface="Arial"/>
                <a:cs typeface="Arial"/>
              </a:rPr>
              <a:t>Serious drought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064" y="5191049"/>
            <a:ext cx="51331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rPr>
              <a:t>Data sourced from: © Commonwealth of Australia (Bureau of Meteorology http://www.bom.gov.au/ ) 2013.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5133" y="4337424"/>
            <a:ext cx="8094133" cy="479613"/>
          </a:xfrm>
          <a:prstGeom prst="rect">
            <a:avLst/>
          </a:prstGeom>
          <a:noFill/>
          <a:ln w="3810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Oval 14"/>
          <p:cNvSpPr/>
          <p:nvPr/>
        </p:nvSpPr>
        <p:spPr>
          <a:xfrm>
            <a:off x="154214" y="4337424"/>
            <a:ext cx="802822" cy="441024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774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2400" dirty="0">
                <a:latin typeface="Arial"/>
                <a:cs typeface="Arial"/>
              </a:rPr>
              <a:t>This is declared when a region experiences monthly rainfall that is </a:t>
            </a:r>
            <a:r>
              <a:rPr lang="en-AU" sz="2400" b="1" dirty="0">
                <a:latin typeface="Arial"/>
                <a:cs typeface="Arial"/>
              </a:rPr>
              <a:t>below 5 per cent </a:t>
            </a:r>
            <a:r>
              <a:rPr lang="en-AU" sz="2400" dirty="0">
                <a:latin typeface="Arial"/>
                <a:cs typeface="Arial"/>
              </a:rPr>
              <a:t>of the </a:t>
            </a:r>
            <a:r>
              <a:rPr lang="en-AU" sz="2400" u="sng" dirty="0">
                <a:latin typeface="Arial"/>
                <a:cs typeface="Arial"/>
              </a:rPr>
              <a:t>average</a:t>
            </a:r>
            <a:r>
              <a:rPr lang="en-AU" sz="2400" dirty="0">
                <a:latin typeface="Arial"/>
                <a:cs typeface="Arial"/>
              </a:rPr>
              <a:t> for </a:t>
            </a:r>
            <a:r>
              <a:rPr lang="en-AU" sz="2400" b="1" dirty="0">
                <a:solidFill>
                  <a:srgbClr val="558ED5"/>
                </a:solidFill>
                <a:latin typeface="Arial"/>
                <a:cs typeface="Arial"/>
              </a:rPr>
              <a:t>three or more </a:t>
            </a:r>
            <a:r>
              <a:rPr lang="en-AU" sz="2400" dirty="0">
                <a:latin typeface="Arial"/>
                <a:cs typeface="Arial"/>
              </a:rPr>
              <a:t>months.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3837" y="2878665"/>
            <a:ext cx="8797925" cy="253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855133" y="4697940"/>
            <a:ext cx="8094133" cy="479613"/>
          </a:xfrm>
          <a:prstGeom prst="rect">
            <a:avLst/>
          </a:prstGeom>
          <a:noFill/>
          <a:ln w="38100">
            <a:solidFill>
              <a:srgbClr val="336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19075"/>
            <a:ext cx="8229600" cy="983192"/>
          </a:xfrm>
          <a:prstGeom prst="rect">
            <a:avLst/>
          </a:prstGeom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4000" dirty="0">
                <a:solidFill>
                  <a:srgbClr val="17375E"/>
                </a:solidFill>
                <a:latin typeface="Arial"/>
                <a:cs typeface="Arial"/>
              </a:rPr>
              <a:t>Severe drought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064" y="5191049"/>
            <a:ext cx="51331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rPr>
              <a:t>Data sourced from: © Commonwealth of Australia (Bureau of Meteorology http://www.bom.gov.au/ ) 2013. </a:t>
            </a:r>
          </a:p>
        </p:txBody>
      </p:sp>
      <p:sp>
        <p:nvSpPr>
          <p:cNvPr id="6" name="Oval 5"/>
          <p:cNvSpPr/>
          <p:nvPr/>
        </p:nvSpPr>
        <p:spPr>
          <a:xfrm>
            <a:off x="154214" y="4697940"/>
            <a:ext cx="802822" cy="441024"/>
          </a:xfrm>
          <a:prstGeom prst="ellipse">
            <a:avLst/>
          </a:prstGeom>
          <a:noFill/>
          <a:ln w="38100" cmpd="sng">
            <a:solidFill>
              <a:srgbClr val="33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128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400"/>
              </a:spcAft>
            </a:pPr>
            <a:r>
              <a:rPr lang="en-AU" sz="2400" dirty="0">
                <a:latin typeface="Arial"/>
                <a:cs typeface="Arial"/>
              </a:rPr>
              <a:t>Rain can occur during a declared period of drought. </a:t>
            </a:r>
          </a:p>
          <a:p>
            <a:pPr>
              <a:spcAft>
                <a:spcPts val="2400"/>
              </a:spcAft>
            </a:pPr>
            <a:r>
              <a:rPr lang="en-AU" sz="2400" dirty="0">
                <a:latin typeface="Arial"/>
                <a:cs typeface="Arial"/>
              </a:rPr>
              <a:t>A drought is only considered broken when rainfall consistently exceeds 70 per cent of the average for three consecutive months. </a:t>
            </a:r>
          </a:p>
          <a:p>
            <a:pPr>
              <a:spcAft>
                <a:spcPts val="2400"/>
              </a:spcAft>
            </a:pPr>
            <a:r>
              <a:rPr lang="en-AU" sz="2400" dirty="0">
                <a:latin typeface="Arial"/>
                <a:cs typeface="Arial"/>
              </a:rPr>
              <a:t>State and federal governments are responsible for officially declaring the end of a drought.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219075"/>
            <a:ext cx="8229600" cy="983192"/>
          </a:xfrm>
          <a:prstGeom prst="rect">
            <a:avLst/>
          </a:prstGeom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4000" dirty="0">
                <a:solidFill>
                  <a:srgbClr val="17375E"/>
                </a:solidFill>
                <a:latin typeface="Arial"/>
                <a:cs typeface="Arial"/>
              </a:rPr>
              <a:t>Predicting the end of a drought</a:t>
            </a:r>
          </a:p>
        </p:txBody>
      </p:sp>
    </p:spTree>
    <p:extLst>
      <p:ext uri="{BB962C8B-B14F-4D97-AF65-F5344CB8AC3E}">
        <p14:creationId xmlns:p14="http://schemas.microsoft.com/office/powerpoint/2010/main" val="279802825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579</TotalTime>
  <Words>683</Words>
  <Application>Microsoft Office PowerPoint</Application>
  <PresentationFormat>On-screen Show (4:3)</PresentationFormat>
  <Paragraphs>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Presentation</vt:lpstr>
      <vt:lpstr>PowerPoint Presentation</vt:lpstr>
      <vt:lpstr>What is rainfall history?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Queensland Government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KING, Kylie</dc:creator>
  <cp:lastModifiedBy>SUTHERLAND, Douglas (dsuth10)</cp:lastModifiedBy>
  <cp:revision>57</cp:revision>
  <dcterms:created xsi:type="dcterms:W3CDTF">2016-03-30T22:57:46Z</dcterms:created>
  <dcterms:modified xsi:type="dcterms:W3CDTF">2023-05-22T21:39:55Z</dcterms:modified>
</cp:coreProperties>
</file>