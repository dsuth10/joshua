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61" r:id="rId3"/>
    <p:sldId id="276" r:id="rId4"/>
    <p:sldId id="267" r:id="rId5"/>
    <p:sldId id="278" r:id="rId6"/>
    <p:sldId id="269" r:id="rId7"/>
    <p:sldId id="279" r:id="rId8"/>
    <p:sldId id="270" r:id="rId9"/>
    <p:sldId id="280" r:id="rId10"/>
    <p:sldId id="272" r:id="rId11"/>
    <p:sldId id="281" r:id="rId12"/>
    <p:sldId id="264" r:id="rId13"/>
    <p:sldId id="282" r:id="rId14"/>
    <p:sldId id="271" r:id="rId15"/>
    <p:sldId id="283" r:id="rId16"/>
    <p:sldId id="263" r:id="rId17"/>
    <p:sldId id="284" r:id="rId18"/>
    <p:sldId id="273" r:id="rId19"/>
    <p:sldId id="285" r:id="rId20"/>
    <p:sldId id="274" r:id="rId21"/>
    <p:sldId id="286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493" autoAdjust="0"/>
  </p:normalViewPr>
  <p:slideViewPr>
    <p:cSldViewPr>
      <p:cViewPr varScale="1">
        <p:scale>
          <a:sx n="70" d="100"/>
          <a:sy n="70" d="100"/>
        </p:scale>
        <p:origin x="-181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B801B3-2C4C-49B3-90B1-8996C3CBA309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E554C2-F075-49A3-B47E-87FF02B61EE5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9484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466280-ACC4-4CA3-874A-DCA327121F9F}" type="slidenum">
              <a:rPr lang="en-AU"/>
              <a:pPr eaLnBrk="1" hangingPunct="1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3862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815EF2-6E97-4B19-B5FC-26A4FAA9BEFA}" type="slidenum">
              <a:rPr lang="en-AU"/>
              <a:pPr eaLnBrk="1" hangingPunct="1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66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E696C68A-BB1C-492F-80BB-889067DAB0A7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BC97E880-3224-4627-B5CE-5AC0A4995B16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71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EAB20671-DC8D-49B8-A79B-5E74A57E1DD7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6254E71B-2DB1-44B8-A287-F4960D37EC63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879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ACFD0C2E-261A-41CC-83DF-B425AC8C908C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4E8B9518-76F8-4AA6-B377-70071A673C96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77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F6AD43D7-A23E-47C1-A79C-4737188D6D68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8B03196B-C15F-4F9F-BCB2-5C72688E641B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8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024886F3-905C-46DD-A81B-37B5B83C0DF4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1BD33BE-2C9A-4403-98F1-CF7FD4885950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53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499BDB04-FC67-42D0-A998-5C8955A6BA98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085FD55-2D95-49CE-A77F-E74B262EE302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040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AFC1F441-42BC-48F2-8C71-0973CEDFB31C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00917F62-63CD-4503-B789-CC0EF665E796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42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E21C9CA7-896F-4EC4-815B-6BF604A493F5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BDB41B7-56A7-41AA-A082-72DDAB808F5F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818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99D6115F-FB37-4979-9275-75D6E8EA77C0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516A9D23-B664-402F-89CD-DA43D60170B1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139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BDB92E5C-0400-44CB-9B1C-8596463BF971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4CB4CF97-2A70-43F2-9EED-BF0FFE85245B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2314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0A74EDE4-9AA1-454F-B3BF-BB80B6FF1E1B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F1E471B9-0575-463A-847B-04814FE15463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3523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7B118B8-86F7-42CD-9184-2B5F0639B6E2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94F416-5B86-4707-AAD5-19097CEC4833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5294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50FF9A-9463-4C0D-B423-3E0DBB1A2D10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07ABC-DF56-4B5B-B928-401F975DBB1F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996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D28F04-67BB-4B1A-B456-8A71BFD6AE6D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57DA30-B3B2-4FA8-84C1-C1FD4E620430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236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86F621-578A-4EB0-A1EF-D888A7E41F32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24DE2-05C0-4C16-9448-4F0BDA550354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026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A2C9A8-CD3B-437B-B4B3-22DAB1FF2CD4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787CF-7863-4878-AAA3-CD278D073F3A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7418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3366DB-0C40-4D48-BEE8-2578B3AD4EB6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66A8FC-22FC-483E-8D86-8ED2E5BD9603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2833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500" dirty="0" smtClean="0">
                <a:solidFill>
                  <a:prstClr val="black"/>
                </a:solidFill>
                <a:latin typeface="Arial"/>
                <a:cs typeface="Arial"/>
              </a:rPr>
              <a:t>Sci_Y06_U3_SS_MeasuringWeather.pptx</a:t>
            </a:r>
          </a:p>
        </p:txBody>
      </p:sp>
      <p:pic>
        <p:nvPicPr>
          <p:cNvPr id="10" name="Picture 9" descr="C2CIcon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7" name="Picture 6" descr="C:\Users\hxsch7\AppData\Local\Microsoft\Windows\Temporary Internet Files\Content.Word\DET2016.pn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6574754"/>
            <a:ext cx="2030095" cy="24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Description: C2C_Data:Dev Area:ePub stuff:Gov Crest:Qld-CoA-Stylised-1L-Online-mono-1???.eps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6538559"/>
            <a:ext cx="1587500" cy="2806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1788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EA74AF-1250-4037-8AA9-2A96C95BA740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180E9A-F699-49C7-A0CB-DA1F38A97DBF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62198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lvl1pPr indent="-28257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endParaRPr lang="en-US" sz="3200">
              <a:latin typeface="Gill Sans MT" panose="020B0502020104020203" pitchFamily="34" charset="0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3554B2-FA1D-4576-A683-6A8DC201FC79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169A3-0716-4005-94AB-49B1F09004F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6384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C3429D-9341-4B3F-A04C-3A3612EF8A15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4A034-3698-4C8C-8A3D-C1BFDC97657A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19487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2436C2-7402-4BAD-B4AD-F0679315EDF2}" type="datetimeFigureOut">
              <a:rPr lang="en-AU"/>
              <a:pPr/>
              <a:t>27/06/2016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5A788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0442F4-7289-402E-A6F6-4BBC77345F22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700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AU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AU" altLang="en-US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Sci_Y06_U3_SS_MeasuringWeather</a:t>
            </a:r>
          </a:p>
        </p:txBody>
      </p:sp>
      <p:pic>
        <p:nvPicPr>
          <p:cNvPr id="8" name="Picture 7" descr="C2CIcon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9" descr="Qld-CoA-1LS-S-mono-webTRANS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1" name="Picture 10" descr="DET2016.png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0000" y="6593809"/>
            <a:ext cx="1584000" cy="1876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57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B5A788"/>
                </a:solidFill>
                <a:latin typeface="Gill Sans MT" panose="020B0502020104020203" pitchFamily="34" charset="0"/>
              </a:defRPr>
            </a:lvl1pPr>
          </a:lstStyle>
          <a:p>
            <a:fld id="{FA216A2D-1981-488A-9882-CEAD0A496CDA}" type="datetimeFigureOut">
              <a:rPr lang="en-US"/>
              <a:pPr/>
              <a:t>6/27/2016</a:t>
            </a:fld>
            <a:endParaRPr lang="en-US">
              <a:solidFill>
                <a:srgbClr val="AAA393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AAA393"/>
                </a:solidFill>
                <a:latin typeface="Gill Sans MT" panose="020B0502020104020203" pitchFamily="34" charset="0"/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B5A788"/>
                </a:solidFill>
                <a:latin typeface="Gill Sans MT" panose="020B0502020104020203" pitchFamily="34" charset="0"/>
              </a:defRPr>
            </a:lvl1pPr>
          </a:lstStyle>
          <a:p>
            <a:fld id="{8784D619-E4CB-442C-9B0A-C91D1BE0F57F}" type="slidenum">
              <a:rPr lang="en-US"/>
              <a:pPr/>
              <a:t>‹#›</a:t>
            </a:fld>
            <a:endParaRPr lang="en-US">
              <a:solidFill>
                <a:srgbClr val="AAA393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pic>
        <p:nvPicPr>
          <p:cNvPr id="2062" name="Picture 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4638" y="6423025"/>
            <a:ext cx="63976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3" name="Picture 6" descr="Description: C2C_Data:Dev Area:ePub stuff:Gov Crest:Qld-CoA-Stylised-1L-Online-mono-1???.ep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8688" y="6411913"/>
            <a:ext cx="15875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1"/>
          <p:cNvSpPr txBox="1">
            <a:spLocks noChangeArrowheads="1"/>
          </p:cNvSpPr>
          <p:nvPr userDrawn="1"/>
        </p:nvSpPr>
        <p:spPr bwMode="auto">
          <a:xfrm>
            <a:off x="3857625" y="6407150"/>
            <a:ext cx="1290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700" dirty="0">
                <a:solidFill>
                  <a:srgbClr val="404040"/>
                </a:solidFill>
                <a:ea typeface="Tahoma" pitchFamily="34" charset="0"/>
                <a:cs typeface="Arial" charset="0"/>
              </a:rPr>
              <a:t>Department of </a:t>
            </a:r>
            <a:r>
              <a:rPr lang="en-AU" sz="700" b="1" dirty="0">
                <a:solidFill>
                  <a:srgbClr val="404040"/>
                </a:solidFill>
                <a:ea typeface="Tahoma" pitchFamily="34" charset="0"/>
                <a:cs typeface="Arial" charset="0"/>
              </a:rPr>
              <a:t>Education, Training and Employment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260" y="158789"/>
            <a:ext cx="9144000" cy="1902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 b="1" dirty="0">
                <a:latin typeface="Arial" panose="020B0604020202020204" pitchFamily="34" charset="0"/>
              </a:rPr>
              <a:t>Measuring </a:t>
            </a:r>
          </a:p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 b="1" dirty="0" smtClean="0">
                <a:latin typeface="Arial" panose="020B0604020202020204" pitchFamily="34" charset="0"/>
              </a:rPr>
              <a:t>weather</a:t>
            </a:r>
            <a:endParaRPr lang="en-US" sz="7200" b="1" dirty="0">
              <a:latin typeface="Arial" panose="020B0604020202020204" pitchFamily="34" charset="0"/>
            </a:endParaRPr>
          </a:p>
        </p:txBody>
      </p:sp>
      <p:pic>
        <p:nvPicPr>
          <p:cNvPr id="1027" name="Picture 3" descr="C:\Users\akell87\Downloads\rain-462828_1280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5697" y="2060848"/>
            <a:ext cx="5472608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kell87\Downloads\84614158_b0e5471bab_z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63169" y="836712"/>
            <a:ext cx="5017663" cy="546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95836" y="97309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en-US" sz="3200" b="1" dirty="0" smtClean="0">
                <a:latin typeface="Arial" panose="020B0604020202020204" pitchFamily="34" charset="0"/>
              </a:rPr>
              <a:t>Weather </a:t>
            </a:r>
            <a:r>
              <a:rPr lang="en-AU" altLang="en-US" sz="3200" b="1" dirty="0">
                <a:latin typeface="Arial" panose="020B0604020202020204" pitchFamily="34" charset="0"/>
              </a:rPr>
              <a:t>vane </a:t>
            </a:r>
            <a:endParaRPr lang="en-AU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92280" y="5733256"/>
            <a:ext cx="194421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 smtClean="0">
                <a:solidFill>
                  <a:schemeClr val="bg1">
                    <a:lumMod val="50000"/>
                  </a:schemeClr>
                </a:solidFill>
              </a:rPr>
              <a:t>Robbie </a:t>
            </a:r>
            <a:r>
              <a:rPr lang="en-AU" sz="800" dirty="0">
                <a:solidFill>
                  <a:schemeClr val="bg1">
                    <a:lumMod val="50000"/>
                  </a:schemeClr>
                </a:solidFill>
              </a:rPr>
              <a:t>T, 2006, </a:t>
            </a:r>
            <a:r>
              <a:rPr lang="en-AU" sz="800" i="1" dirty="0">
                <a:solidFill>
                  <a:schemeClr val="bg1">
                    <a:lumMod val="50000"/>
                  </a:schemeClr>
                </a:solidFill>
              </a:rPr>
              <a:t>Weather vane</a:t>
            </a:r>
            <a:r>
              <a:rPr lang="en-AU" sz="800" dirty="0">
                <a:solidFill>
                  <a:schemeClr val="bg1">
                    <a:lumMod val="50000"/>
                  </a:schemeClr>
                </a:solidFill>
              </a:rPr>
              <a:t>, https://www.flickr.com/photos/rawb/84614158/ CC BY 2.0 https://creativecommons.org/licenses/by/2.0/ </a:t>
            </a:r>
            <a:r>
              <a:rPr lang="en-AU" sz="800" dirty="0" smtClean="0">
                <a:solidFill>
                  <a:schemeClr val="bg1">
                    <a:lumMod val="50000"/>
                  </a:schemeClr>
                </a:solidFill>
              </a:rPr>
              <a:t> (cropped)</a:t>
            </a:r>
            <a:endParaRPr lang="en-AU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6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905960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Weather </a:t>
            </a:r>
            <a:r>
              <a:rPr lang="en-AU" altLang="en-US" b="1" dirty="0">
                <a:latin typeface="Arial" panose="020B0604020202020204" pitchFamily="34" charset="0"/>
              </a:rPr>
              <a:t>vane </a:t>
            </a:r>
            <a:r>
              <a:rPr lang="en-AU" altLang="en-US" dirty="0">
                <a:latin typeface="Arial" panose="020B0604020202020204" pitchFamily="34" charset="0"/>
              </a:rPr>
              <a:t>— </a:t>
            </a:r>
            <a:r>
              <a:rPr lang="en-AU" altLang="en-US" sz="2400" dirty="0">
                <a:latin typeface="Arial" panose="020B0604020202020204" pitchFamily="34" charset="0"/>
              </a:rPr>
              <a:t>for measuring </a:t>
            </a:r>
            <a:r>
              <a:rPr lang="en-AU" altLang="en-US" sz="2400" dirty="0" smtClean="0">
                <a:latin typeface="Arial" panose="020B0604020202020204" pitchFamily="34" charset="0"/>
              </a:rPr>
              <a:t>wind direction direction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TextBox 30"/>
          <p:cNvSpPr txBox="1">
            <a:spLocks noChangeArrowheads="1"/>
          </p:cNvSpPr>
          <p:nvPr/>
        </p:nvSpPr>
        <p:spPr bwMode="auto">
          <a:xfrm>
            <a:off x="467544" y="836712"/>
            <a:ext cx="302433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 dirty="0" smtClean="0">
                <a:latin typeface="Arial" panose="020B0604020202020204" pitchFamily="34" charset="0"/>
              </a:rPr>
              <a:t>The wind catches on the arrow and turns it to point in the direction the wind is blowing.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  <p:pic>
        <p:nvPicPr>
          <p:cNvPr id="6" name="Picture 3" descr="C:\Users\akell87\Downloads\84614158_b0e5471bab_z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79912" y="836712"/>
            <a:ext cx="5017663" cy="546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63688" y="5733256"/>
            <a:ext cx="194421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 smtClean="0">
                <a:solidFill>
                  <a:schemeClr val="bg1">
                    <a:lumMod val="50000"/>
                  </a:schemeClr>
                </a:solidFill>
              </a:rPr>
              <a:t>Robbie </a:t>
            </a:r>
            <a:r>
              <a:rPr lang="en-AU" sz="800" dirty="0">
                <a:solidFill>
                  <a:schemeClr val="bg1">
                    <a:lumMod val="50000"/>
                  </a:schemeClr>
                </a:solidFill>
              </a:rPr>
              <a:t>T, 2006, </a:t>
            </a:r>
            <a:r>
              <a:rPr lang="en-AU" sz="800" i="1" dirty="0">
                <a:solidFill>
                  <a:schemeClr val="bg1">
                    <a:lumMod val="50000"/>
                  </a:schemeClr>
                </a:solidFill>
              </a:rPr>
              <a:t>Weather vane</a:t>
            </a:r>
            <a:r>
              <a:rPr lang="en-AU" sz="800" dirty="0">
                <a:solidFill>
                  <a:schemeClr val="bg1">
                    <a:lumMod val="50000"/>
                  </a:schemeClr>
                </a:solidFill>
              </a:rPr>
              <a:t>, https://www.flickr.com/photos/rawb/84614158/ CC BY 2.0 https://creativecommons.org/licenses/by/2.0/ </a:t>
            </a:r>
            <a:r>
              <a:rPr lang="en-AU" sz="800" dirty="0" smtClean="0">
                <a:solidFill>
                  <a:schemeClr val="bg1">
                    <a:lumMod val="50000"/>
                  </a:schemeClr>
                </a:solidFill>
              </a:rPr>
              <a:t> (cropped)</a:t>
            </a:r>
            <a:endParaRPr lang="en-AU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:\Users\akell87\Downloads\1310135462_df75dc9ef2_o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936963" y="836713"/>
            <a:ext cx="3270074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228184" y="5733256"/>
            <a:ext cx="237626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 err="1" smtClean="0">
                <a:solidFill>
                  <a:srgbClr val="7F7F7F"/>
                </a:solidFill>
                <a:latin typeface="Calibri"/>
                <a:cs typeface="Calibri"/>
              </a:rPr>
              <a:t>Badrinath</a:t>
            </a:r>
            <a:r>
              <a:rPr lang="en-AU" sz="800" dirty="0" smtClean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M, 2007, </a:t>
            </a:r>
            <a:r>
              <a:rPr lang="en-AU" sz="800" i="1" dirty="0">
                <a:solidFill>
                  <a:srgbClr val="7F7F7F"/>
                </a:solidFill>
                <a:latin typeface="Calibri"/>
                <a:cs typeface="Calibri"/>
              </a:rPr>
              <a:t>Anemometer, 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https://www.flickr.com/photos/badrri/1310135462/ </a:t>
            </a:r>
            <a:r>
              <a:rPr lang="en-AU" sz="800" dirty="0" smtClean="0">
                <a:solidFill>
                  <a:srgbClr val="7F7F7F"/>
                </a:solidFill>
                <a:latin typeface="Calibri"/>
                <a:cs typeface="Calibri"/>
              </a:rPr>
              <a:t>  CC 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BY 2.0 https://creativecommons.org/licenses/by/2.0</a:t>
            </a:r>
            <a:r>
              <a:rPr lang="en-AU" sz="800" dirty="0" smtClean="0">
                <a:solidFill>
                  <a:srgbClr val="7F7F7F"/>
                </a:solidFill>
                <a:latin typeface="Calibri"/>
                <a:cs typeface="Calibri"/>
              </a:rPr>
              <a:t>/  (cropped)</a:t>
            </a:r>
            <a:endParaRPr lang="en-AU" sz="800" dirty="0">
              <a:solidFill>
                <a:srgbClr val="7F7F7F"/>
              </a:solidFill>
              <a:latin typeface="Calibri"/>
              <a:cs typeface="Calibri"/>
            </a:endParaRPr>
          </a:p>
        </p:txBody>
      </p:sp>
      <p:sp>
        <p:nvSpPr>
          <p:cNvPr id="5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8208912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Anemometer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22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0"/>
          <p:cNvSpPr txBox="1">
            <a:spLocks noChangeArrowheads="1"/>
          </p:cNvSpPr>
          <p:nvPr/>
        </p:nvSpPr>
        <p:spPr bwMode="auto">
          <a:xfrm>
            <a:off x="467544" y="836712"/>
            <a:ext cx="30394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 dirty="0" smtClean="0">
                <a:latin typeface="Arial" panose="020B0604020202020204" pitchFamily="34" charset="0"/>
              </a:rPr>
              <a:t>Can be fixed or handheld.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  <p:sp>
        <p:nvSpPr>
          <p:cNvPr id="9" name="TextBox 30"/>
          <p:cNvSpPr txBox="1">
            <a:spLocks noChangeArrowheads="1"/>
          </p:cNvSpPr>
          <p:nvPr/>
        </p:nvSpPr>
        <p:spPr bwMode="auto">
          <a:xfrm>
            <a:off x="467544" y="1772816"/>
            <a:ext cx="289159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 dirty="0" smtClean="0">
                <a:latin typeface="Arial" panose="020B0604020202020204" pitchFamily="34" charset="0"/>
              </a:rPr>
              <a:t>Wind is caught in the cups making them spin. The greater the wind the faster the cups will spin.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  <p:pic>
        <p:nvPicPr>
          <p:cNvPr id="7" name="Picture 4" descr="C:\Users\akell87\Downloads\1310135462_df75dc9ef2_o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92080" y="836713"/>
            <a:ext cx="3270074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843808" y="5733256"/>
            <a:ext cx="237626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 err="1" smtClean="0">
                <a:solidFill>
                  <a:srgbClr val="7F7F7F"/>
                </a:solidFill>
                <a:latin typeface="Calibri"/>
                <a:cs typeface="Calibri"/>
              </a:rPr>
              <a:t>Badrinath</a:t>
            </a:r>
            <a:r>
              <a:rPr lang="en-AU" sz="800" dirty="0" smtClean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M, 2007, </a:t>
            </a:r>
            <a:r>
              <a:rPr lang="en-AU" sz="800" i="1" dirty="0">
                <a:solidFill>
                  <a:srgbClr val="7F7F7F"/>
                </a:solidFill>
                <a:latin typeface="Calibri"/>
                <a:cs typeface="Calibri"/>
              </a:rPr>
              <a:t>Anemometer, 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https://www.flickr.com/photos/badrri/1310135462/ </a:t>
            </a:r>
            <a:r>
              <a:rPr lang="en-AU" sz="800" dirty="0" smtClean="0">
                <a:solidFill>
                  <a:srgbClr val="7F7F7F"/>
                </a:solidFill>
                <a:latin typeface="Calibri"/>
                <a:cs typeface="Calibri"/>
              </a:rPr>
              <a:t>  CC 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BY 2.0 https://creativecommons.org/licenses/by/2.0</a:t>
            </a:r>
            <a:r>
              <a:rPr lang="en-AU" sz="800" dirty="0" smtClean="0">
                <a:solidFill>
                  <a:srgbClr val="7F7F7F"/>
                </a:solidFill>
                <a:latin typeface="Calibri"/>
                <a:cs typeface="Calibri"/>
              </a:rPr>
              <a:t>/  (cropped)</a:t>
            </a:r>
            <a:endParaRPr lang="en-AU" sz="800" dirty="0">
              <a:solidFill>
                <a:srgbClr val="7F7F7F"/>
              </a:solidFill>
              <a:latin typeface="Calibri"/>
              <a:cs typeface="Calibri"/>
            </a:endParaRPr>
          </a:p>
        </p:txBody>
      </p:sp>
      <p:sp>
        <p:nvSpPr>
          <p:cNvPr id="11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905960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Anemometer</a:t>
            </a:r>
            <a:r>
              <a:rPr lang="en-AU" altLang="en-US" sz="2400" dirty="0">
                <a:latin typeface="Arial" panose="020B0604020202020204" pitchFamily="34" charset="0"/>
              </a:rPr>
              <a:t> — for measuring wind speed</a:t>
            </a:r>
          </a:p>
        </p:txBody>
      </p:sp>
    </p:spTree>
    <p:extLst>
      <p:ext uri="{BB962C8B-B14F-4D97-AF65-F5344CB8AC3E}">
        <p14:creationId xmlns:p14="http://schemas.microsoft.com/office/powerpoint/2010/main" val="152038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ile:Sling psychrometer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87921" y="1412776"/>
            <a:ext cx="696815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30"/>
          <p:cNvSpPr txBox="1">
            <a:spLocks noChangeArrowheads="1"/>
          </p:cNvSpPr>
          <p:nvPr/>
        </p:nvSpPr>
        <p:spPr bwMode="auto">
          <a:xfrm>
            <a:off x="431540" y="113222"/>
            <a:ext cx="828092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err="1" smtClean="0">
                <a:latin typeface="Arial" panose="020B0604020202020204" pitchFamily="34" charset="0"/>
              </a:rPr>
              <a:t>Psychrometer</a:t>
            </a:r>
            <a:r>
              <a:rPr lang="en-AU" altLang="en-US" sz="2400" dirty="0" smtClean="0">
                <a:latin typeface="Arial" panose="020B0604020202020204" pitchFamily="34" charset="0"/>
              </a:rPr>
              <a:t> </a:t>
            </a:r>
            <a:r>
              <a:rPr lang="en-AU" altLang="en-US" sz="2400" dirty="0">
                <a:latin typeface="Arial" panose="020B0604020202020204" pitchFamily="34" charset="0"/>
              </a:rPr>
              <a:t>— </a:t>
            </a:r>
            <a:r>
              <a:rPr lang="en-AU" altLang="en-US" sz="2400" dirty="0" smtClean="0">
                <a:latin typeface="Arial" panose="020B0604020202020204" pitchFamily="34" charset="0"/>
              </a:rPr>
              <a:t>a type of hygrometer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82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ile:Sling psychrometer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31840" y="908720"/>
            <a:ext cx="5634559" cy="244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467544" y="908720"/>
            <a:ext cx="252028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 dirty="0" smtClean="0">
                <a:latin typeface="Arial" panose="020B0604020202020204" pitchFamily="34" charset="0"/>
              </a:rPr>
              <a:t>A sling </a:t>
            </a:r>
            <a:r>
              <a:rPr lang="en-AU" altLang="en-US" sz="2400" dirty="0" err="1" smtClean="0">
                <a:latin typeface="Arial" panose="020B0604020202020204" pitchFamily="34" charset="0"/>
              </a:rPr>
              <a:t>psychrometer</a:t>
            </a:r>
            <a:r>
              <a:rPr lang="en-AU" altLang="en-US" sz="2400" dirty="0" smtClean="0">
                <a:latin typeface="Arial" panose="020B0604020202020204" pitchFamily="34" charset="0"/>
              </a:rPr>
              <a:t> is used to measure the moisture in the air.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  <p:sp>
        <p:nvSpPr>
          <p:cNvPr id="5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905960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err="1" smtClean="0">
                <a:latin typeface="Arial" panose="020B0604020202020204" pitchFamily="34" charset="0"/>
              </a:rPr>
              <a:t>Psychrometer</a:t>
            </a:r>
            <a:r>
              <a:rPr lang="en-AU" altLang="en-US" sz="2400" dirty="0" smtClean="0">
                <a:latin typeface="Arial" panose="020B0604020202020204" pitchFamily="34" charset="0"/>
              </a:rPr>
              <a:t> — for measuring humidity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45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ile:Barome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5696" y="1304764"/>
            <a:ext cx="5472608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8208912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Barometer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08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File:Barometer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7984" y="836712"/>
            <a:ext cx="4191708" cy="314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7544" y="836712"/>
            <a:ext cx="371853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>
                <a:latin typeface="Arial" panose="020B0604020202020204" pitchFamily="34" charset="0"/>
              </a:rPr>
              <a:t>Barometers respond to changes in air pressure. It can indicate the likelihood of a change in the weather. When air pressure is high it is a sign of good weather.  </a:t>
            </a:r>
            <a:endParaRPr lang="en-AU" sz="2400" dirty="0">
              <a:latin typeface="Arial" panose="020B0604020202020204" pitchFamily="34" charset="0"/>
            </a:endParaRPr>
          </a:p>
        </p:txBody>
      </p:sp>
      <p:sp>
        <p:nvSpPr>
          <p:cNvPr id="6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905960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Barometer</a:t>
            </a:r>
            <a:r>
              <a:rPr lang="en-AU" altLang="en-US" sz="2400" dirty="0" smtClean="0">
                <a:latin typeface="Arial" panose="020B0604020202020204" pitchFamily="34" charset="0"/>
              </a:rPr>
              <a:t> </a:t>
            </a:r>
            <a:r>
              <a:rPr lang="en-AU" altLang="en-US" sz="2400" dirty="0">
                <a:latin typeface="Arial" panose="020B0604020202020204" pitchFamily="34" charset="0"/>
              </a:rPr>
              <a:t>— </a:t>
            </a:r>
            <a:r>
              <a:rPr lang="en-AU" altLang="en-US" sz="2400" dirty="0" smtClean="0">
                <a:latin typeface="Arial" panose="020B0604020202020204" pitchFamily="34" charset="0"/>
              </a:rPr>
              <a:t>used to measure air pressure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8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tan18\Downloads\2013-06-24_17_39_11_A_4-inch_plastic_rain_gauge_typical_of_those_used_by_the_CoCoRaHS_program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78509" y="836712"/>
            <a:ext cx="2786983" cy="502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12160" y="5013176"/>
            <a:ext cx="3024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 err="1">
                <a:solidFill>
                  <a:srgbClr val="7F7F7F"/>
                </a:solidFill>
                <a:latin typeface="Calibri"/>
                <a:cs typeface="Calibri"/>
              </a:rPr>
              <a:t>Famartin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 2013, </a:t>
            </a:r>
            <a:r>
              <a:rPr lang="en-AU" sz="800" i="1" dirty="0">
                <a:solidFill>
                  <a:srgbClr val="7F7F7F"/>
                </a:solidFill>
                <a:latin typeface="Calibri"/>
                <a:cs typeface="Calibri"/>
              </a:rPr>
              <a:t>A 4inch plastic rain gauge typical of those used by the </a:t>
            </a:r>
            <a:r>
              <a:rPr lang="en-AU" sz="800" i="1" dirty="0" err="1">
                <a:solidFill>
                  <a:srgbClr val="7F7F7F"/>
                </a:solidFill>
                <a:latin typeface="Calibri"/>
                <a:cs typeface="Calibri"/>
              </a:rPr>
              <a:t>CoCORaHS</a:t>
            </a:r>
            <a:r>
              <a:rPr lang="en-AU" sz="800" i="1" dirty="0">
                <a:solidFill>
                  <a:srgbClr val="7F7F7F"/>
                </a:solidFill>
                <a:latin typeface="Calibri"/>
                <a:cs typeface="Calibri"/>
              </a:rPr>
              <a:t> program 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https://commons.wikimedia.org/wiki/File%3A2013-06-24_17_39_11_A_4-inch_plastic_rain_gauge_typical_of_those_used_by_the_CoCoRaHS_program.jpg CC BY-SA 3.0 http://creativecommons.org/licenses/by-sa/3.0</a:t>
            </a:r>
          </a:p>
        </p:txBody>
      </p:sp>
      <p:sp>
        <p:nvSpPr>
          <p:cNvPr id="7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8208912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Rain gauge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67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67544" y="836712"/>
            <a:ext cx="5112568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400" dirty="0" smtClean="0">
                <a:latin typeface="Arial" panose="020B0604020202020204" pitchFamily="34" charset="0"/>
              </a:rPr>
              <a:t>Rain gauges collect rain as it falls in a measuring container. This can be read to indicate the amount of rainfall that has occurred over a period of time.</a:t>
            </a:r>
            <a:endParaRPr lang="en-AU" sz="2400" dirty="0">
              <a:latin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AU" sz="2400" dirty="0" smtClean="0">
                <a:latin typeface="Arial" panose="020B0604020202020204" pitchFamily="34" charset="0"/>
              </a:rPr>
              <a:t>Some weather stations have automatic rain gauges in them which will electronically record and send the data and then empty the gauge ready for the next collection.</a:t>
            </a:r>
            <a:endParaRPr lang="en-AU" sz="2400" dirty="0">
              <a:latin typeface="Arial" panose="020B0604020202020204" pitchFamily="34" charset="0"/>
            </a:endParaRPr>
          </a:p>
        </p:txBody>
      </p:sp>
      <p:pic>
        <p:nvPicPr>
          <p:cNvPr id="7" name="Picture 2" descr="C:\Users\mstan18\Downloads\2013-06-24_17_39_11_A_4-inch_plastic_rain_gauge_typical_of_those_used_by_the_CoCoRaHS_program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52120" y="836712"/>
            <a:ext cx="2786983" cy="502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627784" y="5046275"/>
            <a:ext cx="3024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 err="1">
                <a:solidFill>
                  <a:srgbClr val="7F7F7F"/>
                </a:solidFill>
                <a:latin typeface="Calibri"/>
                <a:cs typeface="Calibri"/>
              </a:rPr>
              <a:t>Famartin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 2013, </a:t>
            </a:r>
            <a:r>
              <a:rPr lang="en-AU" sz="800" i="1" dirty="0">
                <a:solidFill>
                  <a:srgbClr val="7F7F7F"/>
                </a:solidFill>
                <a:latin typeface="Calibri"/>
                <a:cs typeface="Calibri"/>
              </a:rPr>
              <a:t>A 4inch plastic rain gauge typical of those used by the </a:t>
            </a:r>
            <a:r>
              <a:rPr lang="en-AU" sz="800" i="1" dirty="0" err="1">
                <a:solidFill>
                  <a:srgbClr val="7F7F7F"/>
                </a:solidFill>
                <a:latin typeface="Calibri"/>
                <a:cs typeface="Calibri"/>
              </a:rPr>
              <a:t>CoCORaHS</a:t>
            </a:r>
            <a:r>
              <a:rPr lang="en-AU" sz="800" i="1" dirty="0">
                <a:solidFill>
                  <a:srgbClr val="7F7F7F"/>
                </a:solidFill>
                <a:latin typeface="Calibri"/>
                <a:cs typeface="Calibri"/>
              </a:rPr>
              <a:t> program 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https://commons.wikimedia.org/wiki/File%3A2013-06-24_17_39_11_A_4-inch_plastic_rain_gauge_typical_of_those_used_by_the_CoCoRaHS_program.jpg CC BY-SA 3.0 http://creativecommons.org/licenses/by-sa/3.0</a:t>
            </a:r>
          </a:p>
        </p:txBody>
      </p:sp>
      <p:sp>
        <p:nvSpPr>
          <p:cNvPr id="9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905960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Rain gauge </a:t>
            </a:r>
            <a:r>
              <a:rPr lang="en-AU" altLang="en-US" sz="2400" dirty="0">
                <a:latin typeface="Arial" panose="020B0604020202020204" pitchFamily="34" charset="0"/>
              </a:rPr>
              <a:t>—</a:t>
            </a:r>
            <a:r>
              <a:rPr lang="en-AU" altLang="en-US" sz="2400" b="1" dirty="0" smtClean="0">
                <a:latin typeface="Arial" panose="020B0604020202020204" pitchFamily="34" charset="0"/>
              </a:rPr>
              <a:t> </a:t>
            </a:r>
            <a:r>
              <a:rPr lang="en-AU" altLang="en-US" sz="2400" dirty="0" smtClean="0">
                <a:latin typeface="Arial" panose="020B0604020202020204" pitchFamily="34" charset="0"/>
              </a:rPr>
              <a:t>used to collect data about rainfall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tan18\Downloads\thermometer-799816_1920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16957" y="764704"/>
            <a:ext cx="2310086" cy="553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0"/>
          <p:cNvSpPr txBox="1">
            <a:spLocks noChangeArrowheads="1"/>
          </p:cNvSpPr>
          <p:nvPr/>
        </p:nvSpPr>
        <p:spPr bwMode="auto">
          <a:xfrm>
            <a:off x="233772" y="113222"/>
            <a:ext cx="86764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Thermometer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24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mstan18\Downloads\thermometer-799816_1920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012160" y="836713"/>
            <a:ext cx="2313720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7544" y="836712"/>
            <a:ext cx="5321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>
                <a:latin typeface="Arial" panose="020B0604020202020204" pitchFamily="34" charset="0"/>
              </a:rPr>
              <a:t>In traditional thermometers heat in the air causes the liquid inside the thermometer to expand. This means that the liquid level in the thermometer rises allowing us to read the temperature.</a:t>
            </a:r>
            <a:endParaRPr lang="en-AU" sz="2400" dirty="0">
              <a:latin typeface="Arial" panose="020B0604020202020204" pitchFamily="34" charset="0"/>
            </a:endParaRPr>
          </a:p>
        </p:txBody>
      </p:sp>
      <p:sp>
        <p:nvSpPr>
          <p:cNvPr id="5" name="TextBox 30"/>
          <p:cNvSpPr txBox="1">
            <a:spLocks noChangeArrowheads="1"/>
          </p:cNvSpPr>
          <p:nvPr/>
        </p:nvSpPr>
        <p:spPr bwMode="auto">
          <a:xfrm>
            <a:off x="467545" y="113222"/>
            <a:ext cx="86764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Thermometer </a:t>
            </a:r>
            <a:r>
              <a:rPr lang="en-AU" altLang="en-US" sz="2400" dirty="0">
                <a:latin typeface="Arial" panose="020B0604020202020204" pitchFamily="34" charset="0"/>
              </a:rPr>
              <a:t>—</a:t>
            </a:r>
            <a:r>
              <a:rPr lang="en-AU" altLang="en-US" sz="2400" b="1" dirty="0" smtClean="0">
                <a:latin typeface="Arial" panose="020B0604020202020204" pitchFamily="34" charset="0"/>
              </a:rPr>
              <a:t> </a:t>
            </a:r>
            <a:r>
              <a:rPr lang="en-AU" altLang="en-US" sz="2400" dirty="0" smtClean="0">
                <a:latin typeface="Arial" panose="020B0604020202020204" pitchFamily="34" charset="0"/>
              </a:rPr>
              <a:t>used to measure air temperature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05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mstan18\Downloads\NOAA-NDBC-discus-buo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13546" y="908720"/>
            <a:ext cx="4516908" cy="531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0"/>
          <p:cNvSpPr txBox="1">
            <a:spLocks noChangeArrowheads="1"/>
          </p:cNvSpPr>
          <p:nvPr/>
        </p:nvSpPr>
        <p:spPr bwMode="auto">
          <a:xfrm>
            <a:off x="233772" y="113222"/>
            <a:ext cx="86764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Weather buoy</a:t>
            </a:r>
            <a:endParaRPr lang="en-AU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10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stan18\Downloads\NOAA-NDBC-discus-buo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3968" y="836712"/>
            <a:ext cx="4516908" cy="531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67544" y="836712"/>
            <a:ext cx="36572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>
                <a:latin typeface="Arial" panose="020B0604020202020204" pitchFamily="34" charset="0"/>
              </a:rPr>
              <a:t>Weather buoys contain a range of different instruments for measuring the weather. </a:t>
            </a:r>
          </a:p>
          <a:p>
            <a:r>
              <a:rPr lang="en-AU" sz="2400" dirty="0" smtClean="0">
                <a:latin typeface="Arial" panose="020B0604020202020204" pitchFamily="34" charset="0"/>
              </a:rPr>
              <a:t>They collect data about: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latin typeface="Arial" panose="020B0604020202020204" pitchFamily="34" charset="0"/>
              </a:rPr>
              <a:t>air temperature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latin typeface="Arial" panose="020B0604020202020204" pitchFamily="34" charset="0"/>
              </a:rPr>
              <a:t>wind speed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latin typeface="Arial" panose="020B0604020202020204" pitchFamily="34" charset="0"/>
              </a:rPr>
              <a:t>wind direction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latin typeface="Arial" panose="020B0604020202020204" pitchFamily="34" charset="0"/>
              </a:rPr>
              <a:t>air pressure.</a:t>
            </a:r>
          </a:p>
          <a:p>
            <a:r>
              <a:rPr lang="en-AU" sz="2400" dirty="0" smtClean="0">
                <a:latin typeface="Arial" panose="020B0604020202020204" pitchFamily="34" charset="0"/>
              </a:rPr>
              <a:t>This information is often sent by radio or satellite to be used for monitoring or predicting weather patterns.</a:t>
            </a:r>
            <a:endParaRPr lang="en-AU" sz="2400" dirty="0">
              <a:latin typeface="Arial" panose="020B0604020202020204" pitchFamily="34" charset="0"/>
            </a:endParaRPr>
          </a:p>
        </p:txBody>
      </p:sp>
      <p:sp>
        <p:nvSpPr>
          <p:cNvPr id="5" name="TextBox 30"/>
          <p:cNvSpPr txBox="1">
            <a:spLocks noChangeArrowheads="1"/>
          </p:cNvSpPr>
          <p:nvPr/>
        </p:nvSpPr>
        <p:spPr bwMode="auto">
          <a:xfrm>
            <a:off x="467545" y="113222"/>
            <a:ext cx="86764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Weather buoy </a:t>
            </a:r>
            <a:r>
              <a:rPr lang="en-AU" altLang="en-US" sz="2400" dirty="0" smtClean="0">
                <a:latin typeface="Arial" panose="020B0604020202020204" pitchFamily="34" charset="0"/>
              </a:rPr>
              <a:t>—</a:t>
            </a:r>
            <a:r>
              <a:rPr lang="en-AU" altLang="en-US" sz="2400" b="1" dirty="0" smtClean="0">
                <a:latin typeface="Arial" panose="020B0604020202020204" pitchFamily="34" charset="0"/>
              </a:rPr>
              <a:t> </a:t>
            </a:r>
            <a:r>
              <a:rPr lang="en-AU" sz="2400" dirty="0">
                <a:latin typeface="Arial" panose="020B0604020202020204" pitchFamily="34" charset="0"/>
              </a:rPr>
              <a:t>for collecting weather data in the ocean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:\Users\mstan18\Downloads\US_Navy_030222-N-8029P-001_Aerographer's_Mate_3rd_Class_Mandy_Fetterman_launches_a_100-gram_weather_ballo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5796" y="1121048"/>
            <a:ext cx="3672408" cy="514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30"/>
          <p:cNvSpPr txBox="1">
            <a:spLocks noChangeArrowheads="1"/>
          </p:cNvSpPr>
          <p:nvPr/>
        </p:nvSpPr>
        <p:spPr bwMode="auto">
          <a:xfrm>
            <a:off x="233772" y="113222"/>
            <a:ext cx="86764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Weather balloons</a:t>
            </a:r>
            <a:endParaRPr lang="en-AU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58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:\Users\mstan18\Downloads\US_Navy_030222-N-8029P-001_Aerographer's_Mate_3rd_Class_Mandy_Fetterman_launches_a_100-gram_weather_ballo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3703268" cy="518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427984" y="1124744"/>
            <a:ext cx="4248472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>
                <a:latin typeface="Arial" panose="020B0604020202020204" pitchFamily="34" charset="0"/>
              </a:rPr>
              <a:t>Weather balloons carry instruments to collect data high in the atmosphere.</a:t>
            </a:r>
          </a:p>
          <a:p>
            <a:r>
              <a:rPr lang="en-AU" sz="2400" dirty="0" smtClean="0">
                <a:latin typeface="Arial" panose="020B0604020202020204" pitchFamily="34" charset="0"/>
              </a:rPr>
              <a:t>They collect information about: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latin typeface="Arial" panose="020B0604020202020204" pitchFamily="34" charset="0"/>
              </a:rPr>
              <a:t>air pressure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latin typeface="Arial" panose="020B0604020202020204" pitchFamily="34" charset="0"/>
              </a:rPr>
              <a:t>temperature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latin typeface="Arial" panose="020B0604020202020204" pitchFamily="34" charset="0"/>
              </a:rPr>
              <a:t>moisture in the air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latin typeface="Arial" panose="020B0604020202020204" pitchFamily="34" charset="0"/>
              </a:rPr>
              <a:t>wind speed.</a:t>
            </a:r>
          </a:p>
          <a:p>
            <a:endParaRPr lang="en-AU" sz="2000" dirty="0">
              <a:latin typeface="Arial" panose="020B0604020202020204" pitchFamily="34" charset="0"/>
            </a:endParaRPr>
          </a:p>
        </p:txBody>
      </p:sp>
      <p:sp>
        <p:nvSpPr>
          <p:cNvPr id="5" name="TextBox 30"/>
          <p:cNvSpPr txBox="1">
            <a:spLocks noChangeArrowheads="1"/>
          </p:cNvSpPr>
          <p:nvPr/>
        </p:nvSpPr>
        <p:spPr bwMode="auto">
          <a:xfrm>
            <a:off x="467544" y="113222"/>
            <a:ext cx="905960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Weather balloons </a:t>
            </a:r>
            <a:r>
              <a:rPr lang="en-AU" altLang="en-US" sz="2400" dirty="0">
                <a:latin typeface="Arial" panose="020B0604020202020204" pitchFamily="34" charset="0"/>
              </a:rPr>
              <a:t>—</a:t>
            </a:r>
            <a:r>
              <a:rPr lang="en-AU" altLang="en-US" sz="2400" b="1" dirty="0" smtClean="0">
                <a:latin typeface="Arial" panose="020B0604020202020204" pitchFamily="34" charset="0"/>
              </a:rPr>
              <a:t> </a:t>
            </a:r>
            <a:r>
              <a:rPr lang="en-AU" sz="2400" dirty="0">
                <a:latin typeface="Arial" panose="020B0604020202020204" pitchFamily="34" charset="0"/>
              </a:rPr>
              <a:t>for collecting weather data in the </a:t>
            </a:r>
            <a:r>
              <a:rPr lang="en-AU" sz="2400" dirty="0" smtClean="0">
                <a:latin typeface="Arial" panose="020B0604020202020204" pitchFamily="34" charset="0"/>
              </a:rPr>
              <a:t>atmosphere</a:t>
            </a:r>
            <a:endParaRPr lang="en-AU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75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mstan18\Downloads\Weather_Satellit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0908" y="980729"/>
            <a:ext cx="3942184" cy="516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0"/>
          <p:cNvSpPr txBox="1">
            <a:spLocks noChangeArrowheads="1"/>
          </p:cNvSpPr>
          <p:nvPr/>
        </p:nvSpPr>
        <p:spPr bwMode="auto">
          <a:xfrm>
            <a:off x="233772" y="113222"/>
            <a:ext cx="8676456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Weather satellite</a:t>
            </a:r>
            <a:endParaRPr lang="en-AU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90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mstan18\Downloads\Weather_Satellit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3846565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0" y="1196752"/>
            <a:ext cx="4032448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>
                <a:latin typeface="Arial" panose="020B0604020202020204" pitchFamily="34" charset="0"/>
              </a:rPr>
              <a:t>Weather satellites monitor Earth from space. They are used to monitor weather patterns on a large scale and predict weather events such as cyclones.</a:t>
            </a:r>
          </a:p>
          <a:p>
            <a:endParaRPr lang="en-AU" sz="2000" dirty="0">
              <a:latin typeface="Arial" panose="020B0604020202020204" pitchFamily="34" charset="0"/>
            </a:endParaRPr>
          </a:p>
        </p:txBody>
      </p:sp>
      <p:sp>
        <p:nvSpPr>
          <p:cNvPr id="6" name="TextBox 30"/>
          <p:cNvSpPr txBox="1">
            <a:spLocks noChangeArrowheads="1"/>
          </p:cNvSpPr>
          <p:nvPr/>
        </p:nvSpPr>
        <p:spPr bwMode="auto">
          <a:xfrm>
            <a:off x="467545" y="113222"/>
            <a:ext cx="820891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None/>
            </a:pPr>
            <a:r>
              <a:rPr lang="en-AU" altLang="en-US" b="1" dirty="0" smtClean="0">
                <a:latin typeface="Arial" panose="020B0604020202020204" pitchFamily="34" charset="0"/>
              </a:rPr>
              <a:t>Weather satellite </a:t>
            </a:r>
            <a:r>
              <a:rPr lang="en-AU" altLang="en-US" sz="2400" dirty="0">
                <a:latin typeface="Arial" panose="020B0604020202020204" pitchFamily="34" charset="0"/>
              </a:rPr>
              <a:t>—</a:t>
            </a:r>
            <a:r>
              <a:rPr lang="en-AU" altLang="en-US" sz="2400" b="1" dirty="0" smtClean="0">
                <a:latin typeface="Arial" panose="020B0604020202020204" pitchFamily="34" charset="0"/>
              </a:rPr>
              <a:t> </a:t>
            </a:r>
            <a:r>
              <a:rPr lang="en-AU" sz="2400" dirty="0">
                <a:latin typeface="Arial" panose="020B0604020202020204" pitchFamily="34" charset="0"/>
              </a:rPr>
              <a:t>for </a:t>
            </a:r>
            <a:r>
              <a:rPr lang="en-AU" sz="2400" dirty="0" smtClean="0">
                <a:latin typeface="Arial" panose="020B0604020202020204" pitchFamily="34" charset="0"/>
              </a:rPr>
              <a:t>monitoring Earth’s weather and climate</a:t>
            </a:r>
            <a:endParaRPr lang="en-AU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47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"/>
          <p:cNvSpPr txBox="1">
            <a:spLocks noChangeArrowheads="1"/>
          </p:cNvSpPr>
          <p:nvPr/>
        </p:nvSpPr>
        <p:spPr bwMode="auto">
          <a:xfrm>
            <a:off x="2915444" y="333375"/>
            <a:ext cx="33131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800" dirty="0">
                <a:latin typeface="Arial" panose="020B0604020202020204" pitchFamily="34" charset="0"/>
              </a:rPr>
              <a:t>Image Attributions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524" y="1052736"/>
            <a:ext cx="8568952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1</a:t>
            </a:r>
            <a:r>
              <a:rPr lang="en-AU" sz="900" b="1" dirty="0" smtClean="0">
                <a:latin typeface="Arial" panose="020B0604020202020204" pitchFamily="34" charset="0"/>
              </a:rPr>
              <a:t>: </a:t>
            </a:r>
            <a:r>
              <a:rPr lang="en-AU" sz="900" dirty="0" err="1" smtClean="0">
                <a:latin typeface="Arial" panose="020B0604020202020204" pitchFamily="34" charset="0"/>
              </a:rPr>
              <a:t>jingob</a:t>
            </a:r>
            <a:r>
              <a:rPr lang="en-AU" sz="900" dirty="0" smtClean="0">
                <a:latin typeface="Arial" panose="020B0604020202020204" pitchFamily="34" charset="0"/>
              </a:rPr>
              <a:t>, 2014, </a:t>
            </a:r>
            <a:r>
              <a:rPr lang="en-AU" sz="900" i="1" dirty="0" smtClean="0">
                <a:latin typeface="Arial" panose="020B0604020202020204" pitchFamily="34" charset="0"/>
              </a:rPr>
              <a:t>rain-raindrops-water-wet-weather,</a:t>
            </a:r>
            <a:r>
              <a:rPr lang="en-AU" sz="900" dirty="0" smtClean="0">
                <a:latin typeface="Arial" panose="020B0604020202020204" pitchFamily="34" charset="0"/>
              </a:rPr>
              <a:t> </a:t>
            </a:r>
            <a:r>
              <a:rPr lang="en-AU" sz="900" dirty="0">
                <a:latin typeface="Arial" panose="020B0604020202020204" pitchFamily="34" charset="0"/>
              </a:rPr>
              <a:t>https://pixabay.com/en/rain-raindrops-water-wet-weather-462828/ </a:t>
            </a:r>
            <a:r>
              <a:rPr lang="en-AU" sz="900" dirty="0" smtClean="0">
                <a:latin typeface="Arial" panose="020B0604020202020204" pitchFamily="34" charset="0"/>
              </a:rPr>
              <a:t>CC0 Public domain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2&amp;3: </a:t>
            </a:r>
            <a:r>
              <a:rPr lang="en-AU" sz="900" dirty="0" smtClean="0">
                <a:latin typeface="Arial" panose="020B0604020202020204" pitchFamily="34" charset="0"/>
              </a:rPr>
              <a:t>Robbie T 2006, </a:t>
            </a:r>
            <a:r>
              <a:rPr lang="en-AU" sz="900" i="1" dirty="0" smtClean="0">
                <a:latin typeface="Arial" panose="020B0604020202020204" pitchFamily="34" charset="0"/>
              </a:rPr>
              <a:t>Weather Vane,</a:t>
            </a:r>
            <a:r>
              <a:rPr lang="en-AU" sz="900" dirty="0" smtClean="0">
                <a:latin typeface="Arial" panose="020B0604020202020204" pitchFamily="34" charset="0"/>
              </a:rPr>
              <a:t> https://www.flickr.com/photos/rawb/84614158/ CC BY 2.0 https://creativecommons.org/licenses/by/2.0/  (cropped)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4&amp;5: </a:t>
            </a:r>
            <a:r>
              <a:rPr lang="en-AU" sz="900" dirty="0" err="1">
                <a:latin typeface="Arial" panose="020B0604020202020204" pitchFamily="34" charset="0"/>
              </a:rPr>
              <a:t>Badrinath</a:t>
            </a:r>
            <a:r>
              <a:rPr lang="en-AU" sz="900" dirty="0">
                <a:latin typeface="Arial" panose="020B0604020202020204" pitchFamily="34" charset="0"/>
              </a:rPr>
              <a:t> M, 2007 </a:t>
            </a:r>
            <a:r>
              <a:rPr lang="en-AU" sz="900" i="1" dirty="0">
                <a:latin typeface="Arial" panose="020B0604020202020204" pitchFamily="34" charset="0"/>
              </a:rPr>
              <a:t>Anemometer </a:t>
            </a:r>
            <a:r>
              <a:rPr lang="en-AU" sz="900" dirty="0">
                <a:latin typeface="Arial" panose="020B0604020202020204" pitchFamily="34" charset="0"/>
              </a:rPr>
              <a:t>https://www.flickr.com/photos/badrri/1310135462/ CC BY 2.0 https://creativecommons.org/licenses/by/2.0</a:t>
            </a:r>
            <a:r>
              <a:rPr lang="en-AU" sz="900" dirty="0" smtClean="0">
                <a:latin typeface="Arial" panose="020B0604020202020204" pitchFamily="34" charset="0"/>
              </a:rPr>
              <a:t>/ (</a:t>
            </a:r>
            <a:r>
              <a:rPr lang="en-AU" sz="900" dirty="0">
                <a:latin typeface="Arial" panose="020B0604020202020204" pitchFamily="34" charset="0"/>
              </a:rPr>
              <a:t>cropped</a:t>
            </a:r>
            <a:r>
              <a:rPr lang="en-AU" sz="900" dirty="0" smtClean="0">
                <a:latin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6&amp;7: </a:t>
            </a:r>
            <a:r>
              <a:rPr lang="en-AU" sz="900" dirty="0">
                <a:latin typeface="Arial" panose="020B0604020202020204" pitchFamily="34" charset="0"/>
              </a:rPr>
              <a:t>Cambridge Bay Weather, 2005 </a:t>
            </a:r>
            <a:r>
              <a:rPr lang="en-AU" sz="900" i="1" dirty="0">
                <a:latin typeface="Arial" panose="020B0604020202020204" pitchFamily="34" charset="0"/>
              </a:rPr>
              <a:t>Sling </a:t>
            </a:r>
            <a:r>
              <a:rPr lang="en-AU" sz="900" i="1" dirty="0" err="1">
                <a:latin typeface="Arial" panose="020B0604020202020204" pitchFamily="34" charset="0"/>
              </a:rPr>
              <a:t>psychrometer</a:t>
            </a:r>
            <a:r>
              <a:rPr lang="en-AU" sz="900" dirty="0">
                <a:latin typeface="Arial" panose="020B0604020202020204" pitchFamily="34" charset="0"/>
              </a:rPr>
              <a:t> https://</a:t>
            </a:r>
            <a:r>
              <a:rPr lang="en-AU" sz="900" dirty="0" smtClean="0">
                <a:latin typeface="Arial" panose="020B0604020202020204" pitchFamily="34" charset="0"/>
              </a:rPr>
              <a:t>commons.wikimedia.org/wiki/File:Sling_psychrometer.JPG CC0 </a:t>
            </a:r>
            <a:r>
              <a:rPr lang="en-AU" sz="900" dirty="0">
                <a:latin typeface="Arial" panose="020B0604020202020204" pitchFamily="34" charset="0"/>
              </a:rPr>
              <a:t>Public </a:t>
            </a:r>
            <a:r>
              <a:rPr lang="en-AU" sz="900" dirty="0" smtClean="0">
                <a:latin typeface="Arial" panose="020B0604020202020204" pitchFamily="34" charset="0"/>
              </a:rPr>
              <a:t>domain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8&amp;9: </a:t>
            </a:r>
            <a:r>
              <a:rPr lang="en-AU" sz="900" i="1" dirty="0" smtClean="0">
                <a:latin typeface="Arial" panose="020B0604020202020204" pitchFamily="34" charset="0"/>
              </a:rPr>
              <a:t>Barometer</a:t>
            </a:r>
            <a:r>
              <a:rPr lang="en-AU" sz="900" dirty="0" smtClean="0">
                <a:latin typeface="Arial" panose="020B0604020202020204" pitchFamily="34" charset="0"/>
              </a:rPr>
              <a:t> </a:t>
            </a:r>
            <a:r>
              <a:rPr lang="en-AU" sz="900" dirty="0">
                <a:latin typeface="Arial" panose="020B0604020202020204" pitchFamily="34" charset="0"/>
              </a:rPr>
              <a:t>https://</a:t>
            </a:r>
            <a:r>
              <a:rPr lang="en-AU" sz="900" dirty="0" smtClean="0">
                <a:latin typeface="Arial" panose="020B0604020202020204" pitchFamily="34" charset="0"/>
              </a:rPr>
              <a:t>en.wikipedia.org/wiki/File:Barometer.JPG  CC0 </a:t>
            </a:r>
            <a:r>
              <a:rPr lang="en-AU" sz="900" dirty="0">
                <a:latin typeface="Arial" panose="020B0604020202020204" pitchFamily="34" charset="0"/>
              </a:rPr>
              <a:t>Public </a:t>
            </a:r>
            <a:r>
              <a:rPr lang="en-AU" sz="900" dirty="0" smtClean="0">
                <a:latin typeface="Arial" panose="020B0604020202020204" pitchFamily="34" charset="0"/>
              </a:rPr>
              <a:t>domain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10&amp;11: </a:t>
            </a:r>
            <a:r>
              <a:rPr lang="en-AU" sz="900" dirty="0" err="1" smtClean="0">
                <a:latin typeface="Arial" panose="020B0604020202020204" pitchFamily="34" charset="0"/>
              </a:rPr>
              <a:t>Famartin</a:t>
            </a:r>
            <a:r>
              <a:rPr lang="en-AU" sz="900" dirty="0" smtClean="0">
                <a:latin typeface="Arial" panose="020B0604020202020204" pitchFamily="34" charset="0"/>
              </a:rPr>
              <a:t> 2013</a:t>
            </a:r>
            <a:r>
              <a:rPr lang="en-AU" sz="900" dirty="0">
                <a:latin typeface="Arial" panose="020B0604020202020204" pitchFamily="34" charset="0"/>
              </a:rPr>
              <a:t>, </a:t>
            </a:r>
            <a:r>
              <a:rPr lang="en-AU" sz="900" i="1" dirty="0">
                <a:latin typeface="Arial" panose="020B0604020202020204" pitchFamily="34" charset="0"/>
              </a:rPr>
              <a:t>A 4inch plastic rain gauge typical of those used by the </a:t>
            </a:r>
            <a:r>
              <a:rPr lang="en-AU" sz="900" i="1" dirty="0" err="1">
                <a:latin typeface="Arial" panose="020B0604020202020204" pitchFamily="34" charset="0"/>
              </a:rPr>
              <a:t>CoCORaHS</a:t>
            </a:r>
            <a:r>
              <a:rPr lang="en-AU" sz="900" i="1" dirty="0">
                <a:latin typeface="Arial" panose="020B0604020202020204" pitchFamily="34" charset="0"/>
              </a:rPr>
              <a:t> program </a:t>
            </a:r>
            <a:r>
              <a:rPr lang="en-AU" sz="900" dirty="0">
                <a:latin typeface="Arial" panose="020B0604020202020204" pitchFamily="34" charset="0"/>
              </a:rPr>
              <a:t>https://commons.wikimedia.org/wiki/File%3A2013-06-24_17_39_11_A_4-inch_plastic_rain_gauge_typical_of_those_used_by_the_CoCoRaHS_program.jpg </a:t>
            </a:r>
            <a:r>
              <a:rPr lang="en-AU" sz="900" dirty="0" smtClean="0">
                <a:latin typeface="Arial" panose="020B0604020202020204" pitchFamily="34" charset="0"/>
              </a:rPr>
              <a:t>CC </a:t>
            </a:r>
            <a:r>
              <a:rPr lang="en-AU" sz="900" dirty="0">
                <a:latin typeface="Arial" panose="020B0604020202020204" pitchFamily="34" charset="0"/>
              </a:rPr>
              <a:t>BY-SA 3.0 </a:t>
            </a:r>
            <a:r>
              <a:rPr lang="en-AU" sz="900" dirty="0" smtClean="0">
                <a:latin typeface="Arial" panose="020B0604020202020204" pitchFamily="34" charset="0"/>
              </a:rPr>
              <a:t>http</a:t>
            </a:r>
            <a:r>
              <a:rPr lang="en-AU" sz="900" dirty="0">
                <a:latin typeface="Arial" panose="020B0604020202020204" pitchFamily="34" charset="0"/>
              </a:rPr>
              <a:t>://</a:t>
            </a:r>
            <a:r>
              <a:rPr lang="en-AU" sz="900" dirty="0" smtClean="0">
                <a:latin typeface="Arial" panose="020B0604020202020204" pitchFamily="34" charset="0"/>
              </a:rPr>
              <a:t>creativecommons.org/licenses/by-sa/3.0 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13&amp;14: </a:t>
            </a:r>
            <a:r>
              <a:rPr lang="en-AU" sz="900" i="1" dirty="0" smtClean="0">
                <a:latin typeface="Arial" panose="020B0604020202020204" pitchFamily="34" charset="0"/>
              </a:rPr>
              <a:t>Thermometer-degrees </a:t>
            </a:r>
            <a:r>
              <a:rPr lang="en-AU" sz="900" i="1" dirty="0" err="1" smtClean="0">
                <a:latin typeface="Arial" panose="020B0604020202020204" pitchFamily="34" charset="0"/>
              </a:rPr>
              <a:t>celsius</a:t>
            </a:r>
            <a:r>
              <a:rPr lang="en-AU" sz="900" i="1" dirty="0" smtClean="0">
                <a:latin typeface="Arial" panose="020B0604020202020204" pitchFamily="34" charset="0"/>
              </a:rPr>
              <a:t>-scale-temperature</a:t>
            </a:r>
            <a:r>
              <a:rPr lang="en-AU" sz="900" dirty="0">
                <a:latin typeface="Arial" panose="020B0604020202020204" pitchFamily="34" charset="0"/>
              </a:rPr>
              <a:t> </a:t>
            </a:r>
            <a:r>
              <a:rPr lang="en-AU" sz="900" dirty="0" smtClean="0">
                <a:latin typeface="Arial" panose="020B0604020202020204" pitchFamily="34" charset="0"/>
              </a:rPr>
              <a:t>https</a:t>
            </a:r>
            <a:r>
              <a:rPr lang="en-AU" sz="900" dirty="0">
                <a:latin typeface="Arial" panose="020B0604020202020204" pitchFamily="34" charset="0"/>
              </a:rPr>
              <a:t>://</a:t>
            </a:r>
            <a:r>
              <a:rPr lang="en-AU" sz="900" dirty="0" smtClean="0">
                <a:latin typeface="Arial" panose="020B0604020202020204" pitchFamily="34" charset="0"/>
              </a:rPr>
              <a:t>pixabay.com/en/thermometer-degrees-celsius-scale-799816/ CC0 </a:t>
            </a:r>
            <a:r>
              <a:rPr lang="en-AU" sz="900" dirty="0">
                <a:latin typeface="Arial" panose="020B0604020202020204" pitchFamily="34" charset="0"/>
              </a:rPr>
              <a:t>Public </a:t>
            </a:r>
            <a:r>
              <a:rPr lang="en-AU" sz="900" dirty="0" smtClean="0">
                <a:latin typeface="Arial" panose="020B0604020202020204" pitchFamily="34" charset="0"/>
              </a:rPr>
              <a:t>domain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12&amp;15: </a:t>
            </a:r>
            <a:r>
              <a:rPr lang="en-AU" sz="900" dirty="0" smtClean="0">
                <a:latin typeface="Arial" panose="020B0604020202020204" pitchFamily="34" charset="0"/>
              </a:rPr>
              <a:t>NOAA-NDBC-discus-buoy https</a:t>
            </a:r>
            <a:r>
              <a:rPr lang="en-AU" sz="900" dirty="0">
                <a:latin typeface="Arial" panose="020B0604020202020204" pitchFamily="34" charset="0"/>
              </a:rPr>
              <a:t>://commons.wikimedia.org/wiki/File:NOAA-NDBC-discus-buoy.jpg#/</a:t>
            </a:r>
            <a:r>
              <a:rPr lang="en-AU" sz="900" dirty="0" smtClean="0">
                <a:latin typeface="Arial" panose="020B0604020202020204" pitchFamily="34" charset="0"/>
              </a:rPr>
              <a:t>media/File:NOAA-NDBC-discus-buoy.jpg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16&amp;17: </a:t>
            </a:r>
            <a:r>
              <a:rPr lang="en-AU" sz="900" dirty="0" smtClean="0">
                <a:latin typeface="Arial" panose="020B0604020202020204" pitchFamily="34" charset="0"/>
              </a:rPr>
              <a:t>U.S</a:t>
            </a:r>
            <a:r>
              <a:rPr lang="en-AU" sz="900" dirty="0">
                <a:latin typeface="Arial" panose="020B0604020202020204" pitchFamily="34" charset="0"/>
              </a:rPr>
              <a:t>. Navy photo by Photographer’s Mate 3rd Class Ramon Preciado. </a:t>
            </a:r>
            <a:r>
              <a:rPr lang="en-AU" sz="900" dirty="0" smtClean="0">
                <a:latin typeface="Arial" panose="020B0604020202020204" pitchFamily="34" charset="0"/>
              </a:rPr>
              <a:t>https</a:t>
            </a:r>
            <a:r>
              <a:rPr lang="en-AU" sz="900" dirty="0">
                <a:latin typeface="Arial" panose="020B0604020202020204" pitchFamily="34" charset="0"/>
              </a:rPr>
              <a:t>://</a:t>
            </a:r>
            <a:r>
              <a:rPr lang="en-AU" sz="900" dirty="0" smtClean="0">
                <a:latin typeface="Arial" panose="020B0604020202020204" pitchFamily="34" charset="0"/>
              </a:rPr>
              <a:t>commons.wikimedia.org/wiki/File%3AUS_Navy_030222-N-8029P-001_Aerographer's_Mate_3rd_Class_Mandy_Fetterman_launches_a_100-gram_weather_balloon.jpg</a:t>
            </a:r>
          </a:p>
          <a:p>
            <a:pPr>
              <a:spcAft>
                <a:spcPts val="600"/>
              </a:spcAft>
            </a:pPr>
            <a:r>
              <a:rPr lang="en-AU" sz="1200" b="1" dirty="0" smtClean="0">
                <a:latin typeface="Arial" panose="020B0604020202020204" pitchFamily="34" charset="0"/>
              </a:rPr>
              <a:t>Slide 18&amp;19: </a:t>
            </a:r>
            <a:r>
              <a:rPr lang="en-AU" sz="900" dirty="0" smtClean="0">
                <a:latin typeface="Arial" panose="020B0604020202020204" pitchFamily="34" charset="0"/>
              </a:rPr>
              <a:t>Greg </a:t>
            </a:r>
            <a:r>
              <a:rPr lang="en-AU" sz="900" dirty="0">
                <a:latin typeface="Arial" panose="020B0604020202020204" pitchFamily="34" charset="0"/>
              </a:rPr>
              <a:t>Goebel </a:t>
            </a:r>
            <a:r>
              <a:rPr lang="en-AU" sz="900" dirty="0" smtClean="0">
                <a:latin typeface="Arial" panose="020B0604020202020204" pitchFamily="34" charset="0"/>
              </a:rPr>
              <a:t>https</a:t>
            </a:r>
            <a:r>
              <a:rPr lang="en-AU" sz="900" dirty="0">
                <a:latin typeface="Arial" panose="020B0604020202020204" pitchFamily="34" charset="0"/>
              </a:rPr>
              <a:t>://commons.wikimedia.org/wiki/File%3AWeather_Satellite.jpg</a:t>
            </a:r>
          </a:p>
          <a:p>
            <a:endParaRPr lang="en-AU" sz="900" dirty="0">
              <a:latin typeface="Arial" panose="020B0604020202020204" pitchFamily="34" charset="0"/>
            </a:endParaRPr>
          </a:p>
          <a:p>
            <a:endParaRPr lang="en-A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7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C2C blank power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C2C blank powerpoint template</Template>
  <TotalTime>1351</TotalTime>
  <Words>678</Words>
  <Application>Microsoft Office PowerPoint</Application>
  <PresentationFormat>On-screen Show (4:3)</PresentationFormat>
  <Paragraphs>61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C2C blank powerpoint template</vt:lpstr>
      <vt:lpstr>Solstice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LAWRANCE, Mel</dc:creator>
  <cp:lastModifiedBy>VARGA, Joanna</cp:lastModifiedBy>
  <cp:revision>117</cp:revision>
  <dcterms:created xsi:type="dcterms:W3CDTF">2012-11-15T21:57:46Z</dcterms:created>
  <dcterms:modified xsi:type="dcterms:W3CDTF">2016-06-27T04:20:19Z</dcterms:modified>
</cp:coreProperties>
</file>