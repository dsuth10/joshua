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handoutMasterIdLst>
    <p:handoutMasterId r:id="rId10"/>
  </p:handout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D759C7-F78D-4BE6-97D9-1EAABA170F6D}" v="2" dt="2023-07-20T01:32:16.3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943" autoAdjust="0"/>
  </p:normalViewPr>
  <p:slideViewPr>
    <p:cSldViewPr snapToGrid="0" snapToObjects="1">
      <p:cViewPr varScale="1">
        <p:scale>
          <a:sx n="87" d="100"/>
          <a:sy n="87" d="100"/>
        </p:scale>
        <p:origin x="1584" y="84"/>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8" d="100"/>
          <a:sy n="88" d="100"/>
        </p:scale>
        <p:origin x="-387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A8B8910-78E8-4A4D-98F8-A5232B12D934}" type="datetimeFigureOut">
              <a:rPr lang="en-AU" smtClean="0"/>
              <a:t>20/07/2023</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8E12294-1B20-4A70-913D-037F372EF99E}" type="slidenum">
              <a:rPr lang="en-AU" smtClean="0"/>
              <a:t>‹#›</a:t>
            </a:fld>
            <a:endParaRPr lang="en-AU"/>
          </a:p>
        </p:txBody>
      </p:sp>
    </p:spTree>
    <p:extLst>
      <p:ext uri="{BB962C8B-B14F-4D97-AF65-F5344CB8AC3E}">
        <p14:creationId xmlns:p14="http://schemas.microsoft.com/office/powerpoint/2010/main" val="24181081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C0219FA-514B-4E22-819C-D51E66407DEC}" type="datetimeFigureOut">
              <a:rPr lang="en-AU" smtClean="0"/>
              <a:t>20/07/2023</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3DAB876-1C29-40C4-863C-0643DF1FF613}" type="slidenum">
              <a:rPr lang="en-AU" smtClean="0"/>
              <a:t>‹#›</a:t>
            </a:fld>
            <a:endParaRPr lang="en-AU"/>
          </a:p>
        </p:txBody>
      </p:sp>
    </p:spTree>
    <p:extLst>
      <p:ext uri="{BB962C8B-B14F-4D97-AF65-F5344CB8AC3E}">
        <p14:creationId xmlns:p14="http://schemas.microsoft.com/office/powerpoint/2010/main" val="3143380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A3DAB876-1C29-40C4-863C-0643DF1FF613}" type="slidenum">
              <a:rPr lang="en-AU" smtClean="0"/>
              <a:t>1</a:t>
            </a:fld>
            <a:endParaRPr lang="en-AU"/>
          </a:p>
        </p:txBody>
      </p:sp>
    </p:spTree>
    <p:extLst>
      <p:ext uri="{BB962C8B-B14F-4D97-AF65-F5344CB8AC3E}">
        <p14:creationId xmlns:p14="http://schemas.microsoft.com/office/powerpoint/2010/main" val="425864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Student responses may include:</a:t>
            </a:r>
          </a:p>
          <a:p>
            <a:r>
              <a:rPr lang="en-AU" i="1" dirty="0"/>
              <a:t>Why is the situation dangerous? </a:t>
            </a:r>
            <a:r>
              <a:rPr lang="en-AU" dirty="0"/>
              <a:t>The fork</a:t>
            </a:r>
            <a:r>
              <a:rPr lang="en-AU" baseline="0" dirty="0"/>
              <a:t> is made of metal which means it conducts electricity. The person holding it will get an electrical shock.</a:t>
            </a:r>
          </a:p>
          <a:p>
            <a:endParaRPr lang="en-AU" i="1" baseline="0" dirty="0"/>
          </a:p>
          <a:p>
            <a:r>
              <a:rPr lang="en-AU" i="1" baseline="0" dirty="0"/>
              <a:t>What might happen?  </a:t>
            </a:r>
            <a:r>
              <a:rPr lang="en-AU" baseline="0" dirty="0"/>
              <a:t>The person holding the fork may get injured badly from the electrical shock or die.</a:t>
            </a:r>
          </a:p>
          <a:p>
            <a:endParaRPr lang="en-AU" i="1" baseline="0" dirty="0"/>
          </a:p>
          <a:p>
            <a:r>
              <a:rPr lang="en-AU" i="1" baseline="0" dirty="0"/>
              <a:t>How could you minimise the risk of someone being harmed? </a:t>
            </a:r>
            <a:r>
              <a:rPr lang="en-AU" i="0" baseline="0" dirty="0"/>
              <a:t>Tell an adult so they can supervise. I</a:t>
            </a:r>
            <a:r>
              <a:rPr lang="en-AU" baseline="0" dirty="0"/>
              <a:t>f a piece of toast is stuck in the toaster, unplug the toaster from the power point at the wall so no electricity is connected to the toaster. Then use a plastic utensil such as a plastic fork or plastic spatula (which are insulators) to remove the toast.</a:t>
            </a:r>
            <a:endParaRPr lang="en-AU" dirty="0"/>
          </a:p>
        </p:txBody>
      </p:sp>
      <p:sp>
        <p:nvSpPr>
          <p:cNvPr id="4" name="Slide Number Placeholder 3"/>
          <p:cNvSpPr>
            <a:spLocks noGrp="1"/>
          </p:cNvSpPr>
          <p:nvPr>
            <p:ph type="sldNum" sz="quarter" idx="10"/>
          </p:nvPr>
        </p:nvSpPr>
        <p:spPr/>
        <p:txBody>
          <a:bodyPr/>
          <a:lstStyle/>
          <a:p>
            <a:fld id="{A3DAB876-1C29-40C4-863C-0643DF1FF613}" type="slidenum">
              <a:rPr lang="en-AU" smtClean="0"/>
              <a:t>2</a:t>
            </a:fld>
            <a:endParaRPr lang="en-AU"/>
          </a:p>
        </p:txBody>
      </p:sp>
    </p:spTree>
    <p:extLst>
      <p:ext uri="{BB962C8B-B14F-4D97-AF65-F5344CB8AC3E}">
        <p14:creationId xmlns:p14="http://schemas.microsoft.com/office/powerpoint/2010/main" val="933265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i="1" dirty="0"/>
              <a:t>Why is the situation dangerous? </a:t>
            </a:r>
            <a:r>
              <a:rPr lang="en-AU" i="0" dirty="0"/>
              <a:t> Water conducts electricity so</a:t>
            </a:r>
            <a:r>
              <a:rPr lang="en-AU" i="0" baseline="0" dirty="0"/>
              <a:t> the hairdryer and water are now very dangerous because they are possibly conducting electricity.</a:t>
            </a:r>
          </a:p>
          <a:p>
            <a:endParaRPr lang="en-AU" i="1" baseline="0" dirty="0"/>
          </a:p>
          <a:p>
            <a:r>
              <a:rPr lang="en-AU" i="1" baseline="0" dirty="0"/>
              <a:t>What might happen? </a:t>
            </a:r>
            <a:r>
              <a:rPr lang="en-AU" i="0" baseline="0" dirty="0"/>
              <a:t>If someone touches the hairdryer or the water, they will receive a very bad electrical shock or die.</a:t>
            </a:r>
          </a:p>
          <a:p>
            <a:endParaRPr lang="en-AU" i="1" baseline="0" dirty="0"/>
          </a:p>
          <a:p>
            <a:r>
              <a:rPr lang="en-AU" i="1" baseline="0" dirty="0"/>
              <a:t>How could you minimise the risk of someone being harmed?  </a:t>
            </a:r>
            <a:r>
              <a:rPr lang="en-AU" i="0" baseline="0" dirty="0"/>
              <a:t>Tell an adult and get their help. Turn off the hairdryer at the switch on the wall. Pull the plug out of the power point. Remove the hairdryer from the water and throw it away.</a:t>
            </a:r>
            <a:endParaRPr lang="en-AU" i="1" dirty="0"/>
          </a:p>
        </p:txBody>
      </p:sp>
      <p:sp>
        <p:nvSpPr>
          <p:cNvPr id="4" name="Slide Number Placeholder 3"/>
          <p:cNvSpPr>
            <a:spLocks noGrp="1"/>
          </p:cNvSpPr>
          <p:nvPr>
            <p:ph type="sldNum" sz="quarter" idx="10"/>
          </p:nvPr>
        </p:nvSpPr>
        <p:spPr/>
        <p:txBody>
          <a:bodyPr/>
          <a:lstStyle/>
          <a:p>
            <a:fld id="{A3DAB876-1C29-40C4-863C-0643DF1FF613}" type="slidenum">
              <a:rPr lang="en-AU" smtClean="0"/>
              <a:t>3</a:t>
            </a:fld>
            <a:endParaRPr lang="en-AU"/>
          </a:p>
        </p:txBody>
      </p:sp>
    </p:spTree>
    <p:extLst>
      <p:ext uri="{BB962C8B-B14F-4D97-AF65-F5344CB8AC3E}">
        <p14:creationId xmlns:p14="http://schemas.microsoft.com/office/powerpoint/2010/main" val="1008204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i="1" dirty="0"/>
              <a:t>Why is the situation dangerous? </a:t>
            </a:r>
            <a:r>
              <a:rPr lang="en-AU" i="0" dirty="0"/>
              <a:t>The plastic coating which acts</a:t>
            </a:r>
            <a:r>
              <a:rPr lang="en-AU" i="0" baseline="0" dirty="0"/>
              <a:t> as an insulator to stop the electricity is broken and the metal wires are exposed. It is plugged in and turned on so, electricity is flowing.</a:t>
            </a:r>
            <a:endParaRPr lang="en-AU" i="1" dirty="0"/>
          </a:p>
          <a:p>
            <a:endParaRPr lang="en-AU" i="1" dirty="0"/>
          </a:p>
          <a:p>
            <a:r>
              <a:rPr lang="en-AU" i="1" dirty="0"/>
              <a:t>What might happen? </a:t>
            </a:r>
            <a:r>
              <a:rPr lang="en-AU" i="0" dirty="0"/>
              <a:t>If</a:t>
            </a:r>
            <a:r>
              <a:rPr lang="en-AU" i="0" baseline="0" dirty="0"/>
              <a:t> someone touched the metal wires, they will receive an electrical shock and may die.</a:t>
            </a:r>
            <a:endParaRPr lang="en-AU" i="1" dirty="0"/>
          </a:p>
          <a:p>
            <a:endParaRPr lang="en-AU" i="1" dirty="0"/>
          </a:p>
          <a:p>
            <a:r>
              <a:rPr lang="en-AU" i="1" dirty="0"/>
              <a:t>How</a:t>
            </a:r>
            <a:r>
              <a:rPr lang="en-AU" i="1" baseline="0" dirty="0"/>
              <a:t> could you minimise the risk of someone being harmed?  </a:t>
            </a:r>
            <a:r>
              <a:rPr lang="en-AU" i="0" baseline="0" dirty="0"/>
              <a:t>Tell an adult so they can supervise. Turn the plug off at the wall and then remove it from the power point.  Have the cord fixed so that the electrical wires are properly insulated.</a:t>
            </a:r>
            <a:endParaRPr lang="en-AU" i="1" baseline="0" dirty="0"/>
          </a:p>
          <a:p>
            <a:endParaRPr lang="en-AU" i="1" dirty="0"/>
          </a:p>
        </p:txBody>
      </p:sp>
      <p:sp>
        <p:nvSpPr>
          <p:cNvPr id="4" name="Slide Number Placeholder 3"/>
          <p:cNvSpPr>
            <a:spLocks noGrp="1"/>
          </p:cNvSpPr>
          <p:nvPr>
            <p:ph type="sldNum" sz="quarter" idx="10"/>
          </p:nvPr>
        </p:nvSpPr>
        <p:spPr/>
        <p:txBody>
          <a:bodyPr/>
          <a:lstStyle/>
          <a:p>
            <a:fld id="{A3DAB876-1C29-40C4-863C-0643DF1FF613}" type="slidenum">
              <a:rPr lang="en-AU" smtClean="0"/>
              <a:t>4</a:t>
            </a:fld>
            <a:endParaRPr lang="en-AU"/>
          </a:p>
        </p:txBody>
      </p:sp>
    </p:spTree>
    <p:extLst>
      <p:ext uri="{BB962C8B-B14F-4D97-AF65-F5344CB8AC3E}">
        <p14:creationId xmlns:p14="http://schemas.microsoft.com/office/powerpoint/2010/main" val="3246760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50000"/>
              </a:lnSpc>
            </a:pPr>
            <a:r>
              <a:rPr lang="en-AU" i="1" dirty="0">
                <a:latin typeface="Arial" panose="020B0604020202020204" pitchFamily="34" charset="0"/>
                <a:cs typeface="Arial" panose="020B0604020202020204" pitchFamily="34" charset="0"/>
              </a:rPr>
              <a:t>Why is the situation dangerous? </a:t>
            </a:r>
            <a:r>
              <a:rPr lang="en-AU" i="0" dirty="0">
                <a:latin typeface="Arial" panose="020B0604020202020204" pitchFamily="34" charset="0"/>
                <a:cs typeface="Arial" panose="020B0604020202020204" pitchFamily="34" charset="0"/>
              </a:rPr>
              <a:t>The</a:t>
            </a:r>
            <a:r>
              <a:rPr lang="en-AU" i="0" baseline="0" dirty="0">
                <a:latin typeface="Arial" panose="020B0604020202020204" pitchFamily="34" charset="0"/>
                <a:cs typeface="Arial" panose="020B0604020202020204" pitchFamily="34" charset="0"/>
              </a:rPr>
              <a:t> child is carrying a long metal pole near overhead power lines.</a:t>
            </a:r>
            <a:endParaRPr lang="en-AU" i="1" dirty="0">
              <a:latin typeface="Arial" panose="020B0604020202020204" pitchFamily="34" charset="0"/>
              <a:cs typeface="Arial" panose="020B0604020202020204" pitchFamily="34" charset="0"/>
            </a:endParaRPr>
          </a:p>
          <a:p>
            <a:pPr algn="l">
              <a:lnSpc>
                <a:spcPct val="150000"/>
              </a:lnSpc>
            </a:pPr>
            <a:endParaRPr lang="en-AU" i="1" dirty="0">
              <a:latin typeface="Arial" panose="020B0604020202020204" pitchFamily="34" charset="0"/>
              <a:cs typeface="Arial" panose="020B0604020202020204" pitchFamily="34" charset="0"/>
            </a:endParaRPr>
          </a:p>
          <a:p>
            <a:pPr algn="l">
              <a:lnSpc>
                <a:spcPct val="150000"/>
              </a:lnSpc>
            </a:pPr>
            <a:r>
              <a:rPr lang="en-AU" i="1" dirty="0">
                <a:latin typeface="Arial" panose="020B0604020202020204" pitchFamily="34" charset="0"/>
                <a:cs typeface="Arial" panose="020B0604020202020204" pitchFamily="34" charset="0"/>
              </a:rPr>
              <a:t>What might happen? </a:t>
            </a:r>
            <a:r>
              <a:rPr lang="en-AU" i="0" dirty="0">
                <a:latin typeface="Arial" panose="020B0604020202020204" pitchFamily="34" charset="0"/>
                <a:cs typeface="Arial" panose="020B0604020202020204" pitchFamily="34" charset="0"/>
              </a:rPr>
              <a:t>The metal pole may touch the power lines</a:t>
            </a:r>
            <a:r>
              <a:rPr lang="en-AU" i="0" baseline="0" dirty="0">
                <a:latin typeface="Arial" panose="020B0604020202020204" pitchFamily="34" charset="0"/>
                <a:cs typeface="Arial" panose="020B0604020202020204" pitchFamily="34" charset="0"/>
              </a:rPr>
              <a:t> and conduct electricity and electrocute the boy.</a:t>
            </a:r>
            <a:endParaRPr lang="en-AU" i="1" dirty="0">
              <a:latin typeface="Arial" panose="020B0604020202020204" pitchFamily="34" charset="0"/>
              <a:cs typeface="Arial" panose="020B0604020202020204" pitchFamily="34" charset="0"/>
            </a:endParaRPr>
          </a:p>
          <a:p>
            <a:pPr algn="l">
              <a:lnSpc>
                <a:spcPct val="150000"/>
              </a:lnSpc>
            </a:pPr>
            <a:endParaRPr lang="en-AU" i="1" dirty="0">
              <a:latin typeface="Arial" panose="020B0604020202020204" pitchFamily="34" charset="0"/>
              <a:cs typeface="Arial" panose="020B0604020202020204" pitchFamily="34" charset="0"/>
            </a:endParaRPr>
          </a:p>
          <a:p>
            <a:pPr algn="l">
              <a:lnSpc>
                <a:spcPct val="150000"/>
              </a:lnSpc>
            </a:pPr>
            <a:r>
              <a:rPr lang="en-AU" i="1" dirty="0">
                <a:latin typeface="Arial" panose="020B0604020202020204" pitchFamily="34" charset="0"/>
                <a:cs typeface="Arial" panose="020B0604020202020204" pitchFamily="34" charset="0"/>
              </a:rPr>
              <a:t>How could you minimise the risk of someone being harmed?</a:t>
            </a:r>
            <a:r>
              <a:rPr lang="en-AU" i="0" dirty="0">
                <a:latin typeface="Arial" panose="020B0604020202020204" pitchFamily="34" charset="0"/>
                <a:cs typeface="Arial" panose="020B0604020202020204" pitchFamily="34" charset="0"/>
              </a:rPr>
              <a:t> Tell</a:t>
            </a:r>
            <a:r>
              <a:rPr lang="en-AU" i="0" baseline="0" dirty="0">
                <a:latin typeface="Arial" panose="020B0604020202020204" pitchFamily="34" charset="0"/>
                <a:cs typeface="Arial" panose="020B0604020202020204" pitchFamily="34" charset="0"/>
              </a:rPr>
              <a:t> the boy of the dangers of carrying metal poles near power lines and make sure he plays somewhere else.</a:t>
            </a:r>
            <a:endParaRPr lang="en-AU" i="1" dirty="0">
              <a:latin typeface="Arial" panose="020B0604020202020204" pitchFamily="34" charset="0"/>
              <a:cs typeface="Arial" panose="020B0604020202020204" pitchFamily="34" charset="0"/>
            </a:endParaRPr>
          </a:p>
          <a:p>
            <a:pPr algn="l"/>
            <a:endParaRPr lang="en-AU" dirty="0"/>
          </a:p>
        </p:txBody>
      </p:sp>
      <p:sp>
        <p:nvSpPr>
          <p:cNvPr id="4" name="Slide Number Placeholder 3"/>
          <p:cNvSpPr>
            <a:spLocks noGrp="1"/>
          </p:cNvSpPr>
          <p:nvPr>
            <p:ph type="sldNum" sz="quarter" idx="10"/>
          </p:nvPr>
        </p:nvSpPr>
        <p:spPr/>
        <p:txBody>
          <a:bodyPr/>
          <a:lstStyle/>
          <a:p>
            <a:fld id="{A3DAB876-1C29-40C4-863C-0643DF1FF613}" type="slidenum">
              <a:rPr lang="en-AU" smtClean="0"/>
              <a:t>5</a:t>
            </a:fld>
            <a:endParaRPr lang="en-AU"/>
          </a:p>
        </p:txBody>
      </p:sp>
    </p:spTree>
    <p:extLst>
      <p:ext uri="{BB962C8B-B14F-4D97-AF65-F5344CB8AC3E}">
        <p14:creationId xmlns:p14="http://schemas.microsoft.com/office/powerpoint/2010/main" val="3836493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50000"/>
              </a:lnSpc>
            </a:pPr>
            <a:r>
              <a:rPr lang="en-AU" i="1" dirty="0">
                <a:latin typeface="Arial" panose="020B0604020202020204" pitchFamily="34" charset="0"/>
                <a:cs typeface="Arial" panose="020B0604020202020204" pitchFamily="34" charset="0"/>
              </a:rPr>
              <a:t>Why is the situation dangerous? </a:t>
            </a:r>
            <a:r>
              <a:rPr lang="en-AU" i="0" dirty="0">
                <a:latin typeface="Arial" panose="020B0604020202020204" pitchFamily="34" charset="0"/>
                <a:cs typeface="Arial" panose="020B0604020202020204" pitchFamily="34" charset="0"/>
              </a:rPr>
              <a:t>The</a:t>
            </a:r>
            <a:r>
              <a:rPr lang="en-AU" i="0" baseline="0" dirty="0">
                <a:latin typeface="Arial" panose="020B0604020202020204" pitchFamily="34" charset="0"/>
                <a:cs typeface="Arial" panose="020B0604020202020204" pitchFamily="34" charset="0"/>
              </a:rPr>
              <a:t> power point is switched on so electricity will conduct into the knife because the knife is metal.</a:t>
            </a:r>
          </a:p>
          <a:p>
            <a:pPr algn="l">
              <a:lnSpc>
                <a:spcPct val="150000"/>
              </a:lnSpc>
            </a:pPr>
            <a:endParaRPr lang="en-AU" i="1" baseline="0" dirty="0">
              <a:latin typeface="Arial" panose="020B0604020202020204" pitchFamily="34" charset="0"/>
              <a:cs typeface="Arial" panose="020B0604020202020204" pitchFamily="34" charset="0"/>
            </a:endParaRPr>
          </a:p>
          <a:p>
            <a:pPr algn="l">
              <a:lnSpc>
                <a:spcPct val="150000"/>
              </a:lnSpc>
            </a:pPr>
            <a:r>
              <a:rPr lang="en-AU" i="1" baseline="0" dirty="0">
                <a:latin typeface="Arial" panose="020B0604020202020204" pitchFamily="34" charset="0"/>
                <a:cs typeface="Arial" panose="020B0604020202020204" pitchFamily="34" charset="0"/>
              </a:rPr>
              <a:t>What might happen? </a:t>
            </a:r>
            <a:r>
              <a:rPr lang="en-AU" i="0" baseline="0" dirty="0">
                <a:latin typeface="Arial" panose="020B0604020202020204" pitchFamily="34" charset="0"/>
                <a:cs typeface="Arial" panose="020B0604020202020204" pitchFamily="34" charset="0"/>
              </a:rPr>
              <a:t>The person holding the knife may receive an electrical shock and possibly die. Even though the handle looks like it is plastic, if the electrical current is large enough, it will conduct through the plastic handle.</a:t>
            </a:r>
            <a:endParaRPr lang="en-AU" i="1" dirty="0">
              <a:latin typeface="Arial" panose="020B0604020202020204" pitchFamily="34" charset="0"/>
              <a:cs typeface="Arial" panose="020B0604020202020204" pitchFamily="34" charset="0"/>
            </a:endParaRPr>
          </a:p>
          <a:p>
            <a:pPr algn="l">
              <a:lnSpc>
                <a:spcPct val="150000"/>
              </a:lnSpc>
            </a:pPr>
            <a:endParaRPr lang="en-AU" i="1" dirty="0">
              <a:latin typeface="Arial" panose="020B0604020202020204" pitchFamily="34" charset="0"/>
              <a:cs typeface="Arial" panose="020B0604020202020204" pitchFamily="34" charset="0"/>
            </a:endParaRPr>
          </a:p>
          <a:p>
            <a:pPr algn="l">
              <a:lnSpc>
                <a:spcPct val="150000"/>
              </a:lnSpc>
            </a:pPr>
            <a:r>
              <a:rPr lang="en-AU" i="1" dirty="0">
                <a:latin typeface="Arial" panose="020B0604020202020204" pitchFamily="34" charset="0"/>
                <a:cs typeface="Arial" panose="020B0604020202020204" pitchFamily="34" charset="0"/>
              </a:rPr>
              <a:t>How could you minimise the risk of someone being harmed? </a:t>
            </a:r>
            <a:r>
              <a:rPr lang="en-AU" i="0" dirty="0">
                <a:latin typeface="Arial" panose="020B0604020202020204" pitchFamily="34" charset="0"/>
                <a:cs typeface="Arial" panose="020B0604020202020204" pitchFamily="34" charset="0"/>
              </a:rPr>
              <a:t>Turn off power points not being used and put safety plugs</a:t>
            </a:r>
            <a:r>
              <a:rPr lang="en-AU" i="0" baseline="0" dirty="0">
                <a:latin typeface="Arial" panose="020B0604020202020204" pitchFamily="34" charset="0"/>
                <a:cs typeface="Arial" panose="020B0604020202020204" pitchFamily="34" charset="0"/>
              </a:rPr>
              <a:t> into the holes so strange objects can’t be put into them.</a:t>
            </a:r>
            <a:endParaRPr lang="en-AU" i="0" dirty="0">
              <a:latin typeface="Arial" panose="020B0604020202020204" pitchFamily="34" charset="0"/>
              <a:cs typeface="Arial" panose="020B0604020202020204" pitchFamily="34" charset="0"/>
            </a:endParaRPr>
          </a:p>
          <a:p>
            <a:pPr algn="l"/>
            <a:endParaRPr lang="en-AU" dirty="0"/>
          </a:p>
        </p:txBody>
      </p:sp>
      <p:sp>
        <p:nvSpPr>
          <p:cNvPr id="4" name="Slide Number Placeholder 3"/>
          <p:cNvSpPr>
            <a:spLocks noGrp="1"/>
          </p:cNvSpPr>
          <p:nvPr>
            <p:ph type="sldNum" sz="quarter" idx="10"/>
          </p:nvPr>
        </p:nvSpPr>
        <p:spPr/>
        <p:txBody>
          <a:bodyPr/>
          <a:lstStyle/>
          <a:p>
            <a:fld id="{A3DAB876-1C29-40C4-863C-0643DF1FF613}" type="slidenum">
              <a:rPr lang="en-AU" smtClean="0"/>
              <a:t>6</a:t>
            </a:fld>
            <a:endParaRPr lang="en-AU"/>
          </a:p>
        </p:txBody>
      </p:sp>
    </p:spTree>
    <p:extLst>
      <p:ext uri="{BB962C8B-B14F-4D97-AF65-F5344CB8AC3E}">
        <p14:creationId xmlns:p14="http://schemas.microsoft.com/office/powerpoint/2010/main" val="2361912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50000"/>
              </a:lnSpc>
            </a:pPr>
            <a:r>
              <a:rPr lang="en-AU" i="1" dirty="0">
                <a:latin typeface="Arial" panose="020B0604020202020204" pitchFamily="34" charset="0"/>
                <a:cs typeface="Arial" panose="020B0604020202020204" pitchFamily="34" charset="0"/>
              </a:rPr>
              <a:t>Why is the situation dangerous? </a:t>
            </a:r>
            <a:r>
              <a:rPr lang="en-AU" i="0" dirty="0">
                <a:latin typeface="Arial" panose="020B0604020202020204" pitchFamily="34" charset="0"/>
                <a:cs typeface="Arial" panose="020B0604020202020204" pitchFamily="34" charset="0"/>
              </a:rPr>
              <a:t> One of the power lines has</a:t>
            </a:r>
            <a:r>
              <a:rPr lang="en-AU" i="0" baseline="0" dirty="0">
                <a:latin typeface="Arial" panose="020B0604020202020204" pitchFamily="34" charset="0"/>
                <a:cs typeface="Arial" panose="020B0604020202020204" pitchFamily="34" charset="0"/>
              </a:rPr>
              <a:t> fallen down.</a:t>
            </a:r>
            <a:endParaRPr lang="en-AU" i="1" dirty="0">
              <a:latin typeface="Arial" panose="020B0604020202020204" pitchFamily="34" charset="0"/>
              <a:cs typeface="Arial" panose="020B0604020202020204" pitchFamily="34" charset="0"/>
            </a:endParaRPr>
          </a:p>
          <a:p>
            <a:pPr algn="l">
              <a:lnSpc>
                <a:spcPct val="150000"/>
              </a:lnSpc>
            </a:pPr>
            <a:endParaRPr lang="en-AU" i="1" dirty="0">
              <a:latin typeface="Arial" panose="020B0604020202020204" pitchFamily="34" charset="0"/>
              <a:cs typeface="Arial" panose="020B0604020202020204" pitchFamily="34" charset="0"/>
            </a:endParaRPr>
          </a:p>
          <a:p>
            <a:pPr algn="l">
              <a:lnSpc>
                <a:spcPct val="150000"/>
              </a:lnSpc>
            </a:pPr>
            <a:r>
              <a:rPr lang="en-AU" i="1" dirty="0">
                <a:latin typeface="Arial" panose="020B0604020202020204" pitchFamily="34" charset="0"/>
                <a:cs typeface="Arial" panose="020B0604020202020204" pitchFamily="34" charset="0"/>
              </a:rPr>
              <a:t>What might happen? </a:t>
            </a:r>
            <a:r>
              <a:rPr lang="en-AU" i="0" baseline="0" dirty="0">
                <a:latin typeface="Arial" panose="020B0604020202020204" pitchFamily="34" charset="0"/>
                <a:cs typeface="Arial" panose="020B0604020202020204" pitchFamily="34" charset="0"/>
              </a:rPr>
              <a:t> It could electrocute someone if it touched them.</a:t>
            </a:r>
            <a:endParaRPr lang="en-AU" i="1" dirty="0">
              <a:latin typeface="Arial" panose="020B0604020202020204" pitchFamily="34" charset="0"/>
              <a:cs typeface="Arial" panose="020B0604020202020204" pitchFamily="34" charset="0"/>
            </a:endParaRPr>
          </a:p>
          <a:p>
            <a:pPr algn="l">
              <a:lnSpc>
                <a:spcPct val="150000"/>
              </a:lnSpc>
            </a:pPr>
            <a:endParaRPr lang="en-AU" i="1" dirty="0">
              <a:latin typeface="Arial" panose="020B0604020202020204" pitchFamily="34" charset="0"/>
              <a:cs typeface="Arial" panose="020B0604020202020204" pitchFamily="34" charset="0"/>
            </a:endParaRPr>
          </a:p>
          <a:p>
            <a:pPr algn="l">
              <a:lnSpc>
                <a:spcPct val="150000"/>
              </a:lnSpc>
            </a:pPr>
            <a:r>
              <a:rPr lang="en-AU" i="1" dirty="0">
                <a:latin typeface="Arial" panose="020B0604020202020204" pitchFamily="34" charset="0"/>
                <a:cs typeface="Arial" panose="020B0604020202020204" pitchFamily="34" charset="0"/>
              </a:rPr>
              <a:t>How could you minimise the risk of someone being harmed? </a:t>
            </a:r>
            <a:r>
              <a:rPr lang="en-AU" i="0" dirty="0">
                <a:latin typeface="Arial" panose="020B0604020202020204" pitchFamily="34" charset="0"/>
                <a:cs typeface="Arial" panose="020B0604020202020204" pitchFamily="34" charset="0"/>
              </a:rPr>
              <a:t>Tell an adult</a:t>
            </a:r>
            <a:r>
              <a:rPr lang="en-AU" i="0" baseline="0" dirty="0">
                <a:latin typeface="Arial" panose="020B0604020202020204" pitchFamily="34" charset="0"/>
                <a:cs typeface="Arial" panose="020B0604020202020204" pitchFamily="34" charset="0"/>
              </a:rPr>
              <a:t> so they can call the electricians who fix power lines. </a:t>
            </a:r>
            <a:r>
              <a:rPr lang="en-AU" i="0" baseline="0">
                <a:latin typeface="Arial" panose="020B0604020202020204" pitchFamily="34" charset="0"/>
                <a:cs typeface="Arial" panose="020B0604020202020204" pitchFamily="34" charset="0"/>
              </a:rPr>
              <a:t>Make </a:t>
            </a:r>
            <a:r>
              <a:rPr lang="en-AU" i="0" baseline="0" dirty="0">
                <a:latin typeface="Arial" panose="020B0604020202020204" pitchFamily="34" charset="0"/>
                <a:cs typeface="Arial" panose="020B0604020202020204" pitchFamily="34" charset="0"/>
              </a:rPr>
              <a:t>sure that no one touches the fallen wire.</a:t>
            </a:r>
            <a:endParaRPr lang="en-AU" i="1" dirty="0">
              <a:latin typeface="Arial" panose="020B0604020202020204" pitchFamily="34" charset="0"/>
              <a:cs typeface="Arial" panose="020B0604020202020204" pitchFamily="34" charset="0"/>
            </a:endParaRPr>
          </a:p>
          <a:p>
            <a:endParaRPr lang="en-AU" dirty="0"/>
          </a:p>
        </p:txBody>
      </p:sp>
      <p:sp>
        <p:nvSpPr>
          <p:cNvPr id="4" name="Slide Number Placeholder 3"/>
          <p:cNvSpPr>
            <a:spLocks noGrp="1"/>
          </p:cNvSpPr>
          <p:nvPr>
            <p:ph type="sldNum" sz="quarter" idx="10"/>
          </p:nvPr>
        </p:nvSpPr>
        <p:spPr/>
        <p:txBody>
          <a:bodyPr/>
          <a:lstStyle/>
          <a:p>
            <a:fld id="{A3DAB876-1C29-40C4-863C-0643DF1FF613}" type="slidenum">
              <a:rPr lang="en-AU" smtClean="0"/>
              <a:t>7</a:t>
            </a:fld>
            <a:endParaRPr lang="en-AU"/>
          </a:p>
        </p:txBody>
      </p:sp>
    </p:spTree>
    <p:extLst>
      <p:ext uri="{BB962C8B-B14F-4D97-AF65-F5344CB8AC3E}">
        <p14:creationId xmlns:p14="http://schemas.microsoft.com/office/powerpoint/2010/main" val="2476248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7/20/2023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1F7A02DC-2446-6448-A6DA-18D630DE2ED7}" type="slidenum">
              <a:rPr lang="en-US" smtClean="0"/>
              <a:t>‹#›</a:t>
            </a:fld>
            <a:endParaRPr lang="en-US"/>
          </a:p>
        </p:txBody>
      </p:sp>
    </p:spTree>
    <p:extLst>
      <p:ext uri="{BB962C8B-B14F-4D97-AF65-F5344CB8AC3E}">
        <p14:creationId xmlns:p14="http://schemas.microsoft.com/office/powerpoint/2010/main" val="4193814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592979"/>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7/20/2023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1F7A02DC-2446-6448-A6DA-18D630DE2ED7}" type="slidenum">
              <a:rPr lang="en-US" smtClean="0"/>
              <a:t>‹#›</a:t>
            </a:fld>
            <a:endParaRPr lang="en-US"/>
          </a:p>
        </p:txBody>
      </p:sp>
    </p:spTree>
    <p:extLst>
      <p:ext uri="{BB962C8B-B14F-4D97-AF65-F5344CB8AC3E}">
        <p14:creationId xmlns:p14="http://schemas.microsoft.com/office/powerpoint/2010/main" val="920924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7/20/2023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1F7A02DC-2446-6448-A6DA-18D630DE2ED7}" type="slidenum">
              <a:rPr lang="en-US" smtClean="0"/>
              <a:t>‹#›</a:t>
            </a:fld>
            <a:endParaRPr lang="en-US"/>
          </a:p>
        </p:txBody>
      </p:sp>
    </p:spTree>
    <p:extLst>
      <p:ext uri="{BB962C8B-B14F-4D97-AF65-F5344CB8AC3E}">
        <p14:creationId xmlns:p14="http://schemas.microsoft.com/office/powerpoint/2010/main" val="1937650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7/20/2023</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1F7A02DC-2446-6448-A6DA-18D630DE2ED7}" type="slidenum">
              <a:rPr lang="en-US" smtClean="0"/>
              <a:t>‹#›</a:t>
            </a:fld>
            <a:endParaRPr lang="en-US"/>
          </a:p>
        </p:txBody>
      </p:sp>
    </p:spTree>
    <p:extLst>
      <p:ext uri="{BB962C8B-B14F-4D97-AF65-F5344CB8AC3E}">
        <p14:creationId xmlns:p14="http://schemas.microsoft.com/office/powerpoint/2010/main" val="2174501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7/20/2023</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1F7A02DC-2446-6448-A6DA-18D630DE2ED7}" type="slidenum">
              <a:rPr lang="en-US" smtClean="0"/>
              <a:t>‹#›</a:t>
            </a:fld>
            <a:endParaRPr lang="en-US"/>
          </a:p>
        </p:txBody>
      </p:sp>
    </p:spTree>
    <p:extLst>
      <p:ext uri="{BB962C8B-B14F-4D97-AF65-F5344CB8AC3E}">
        <p14:creationId xmlns:p14="http://schemas.microsoft.com/office/powerpoint/2010/main" val="656676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7/20/2023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1F7A02DC-2446-6448-A6DA-18D630DE2ED7}" type="slidenum">
              <a:rPr lang="en-US" smtClean="0"/>
              <a:t>‹#›</a:t>
            </a:fld>
            <a:endParaRPr lang="en-US"/>
          </a:p>
        </p:txBody>
      </p:sp>
    </p:spTree>
    <p:extLst>
      <p:ext uri="{BB962C8B-B14F-4D97-AF65-F5344CB8AC3E}">
        <p14:creationId xmlns:p14="http://schemas.microsoft.com/office/powerpoint/2010/main" val="2528162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7/20/2023</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1F7A02DC-2446-6448-A6DA-18D630DE2ED7}" type="slidenum">
              <a:rPr lang="en-US" smtClean="0"/>
              <a:t>‹#›</a:t>
            </a:fld>
            <a:endParaRPr lang="en-US"/>
          </a:p>
        </p:txBody>
      </p:sp>
    </p:spTree>
    <p:extLst>
      <p:ext uri="{BB962C8B-B14F-4D97-AF65-F5344CB8AC3E}">
        <p14:creationId xmlns:p14="http://schemas.microsoft.com/office/powerpoint/2010/main" val="741066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7/20/2023</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1F7A02DC-2446-6448-A6DA-18D630DE2ED7}" type="slidenum">
              <a:rPr lang="en-US" smtClean="0"/>
              <a:t>‹#›</a:t>
            </a:fld>
            <a:endParaRPr lang="en-US"/>
          </a:p>
        </p:txBody>
      </p:sp>
    </p:spTree>
    <p:extLst>
      <p:ext uri="{BB962C8B-B14F-4D97-AF65-F5344CB8AC3E}">
        <p14:creationId xmlns:p14="http://schemas.microsoft.com/office/powerpoint/2010/main" val="485598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7/20/2023</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1F7A02DC-2446-6448-A6DA-18D630DE2ED7}" type="slidenum">
              <a:rPr lang="en-US" smtClean="0"/>
              <a:t>‹#›</a:t>
            </a:fld>
            <a:endParaRPr lang="en-US"/>
          </a:p>
        </p:txBody>
      </p:sp>
    </p:spTree>
    <p:extLst>
      <p:ext uri="{BB962C8B-B14F-4D97-AF65-F5344CB8AC3E}">
        <p14:creationId xmlns:p14="http://schemas.microsoft.com/office/powerpoint/2010/main" val="1635948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592979"/>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7/20/2023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1F7A02DC-2446-6448-A6DA-18D630DE2ED7}" type="slidenum">
              <a:rPr lang="en-US" smtClean="0"/>
              <a:t>‹#›</a:t>
            </a:fld>
            <a:endParaRPr lang="en-US"/>
          </a:p>
        </p:txBody>
      </p:sp>
    </p:spTree>
    <p:extLst>
      <p:ext uri="{BB962C8B-B14F-4D97-AF65-F5344CB8AC3E}">
        <p14:creationId xmlns:p14="http://schemas.microsoft.com/office/powerpoint/2010/main" val="1356078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B760003-A20F-B343-A11C-B1DB6062DF0C}" type="datetimeFigureOut">
              <a:rPr lang="en-US" smtClean="0"/>
              <a:t>7/20/2023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1F7A02DC-2446-6448-A6DA-18D630DE2ED7}" type="slidenum">
              <a:rPr lang="en-US" smtClean="0"/>
              <a:t>‹#›</a:t>
            </a:fld>
            <a:endParaRPr lang="en-US"/>
          </a:p>
        </p:txBody>
      </p:sp>
    </p:spTree>
    <p:extLst>
      <p:ext uri="{BB962C8B-B14F-4D97-AF65-F5344CB8AC3E}">
        <p14:creationId xmlns:p14="http://schemas.microsoft.com/office/powerpoint/2010/main" val="438566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7421732" y="6538553"/>
            <a:ext cx="1544715" cy="267194"/>
          </a:xfrm>
          <a:prstGeom prst="rect">
            <a:avLst/>
          </a:prstGeom>
        </p:spPr>
      </p:pic>
      <p:pic>
        <p:nvPicPr>
          <p:cNvPr id="2" name="Picture 1" descr="DET2016 Rev.png"/>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3644267" y="6517252"/>
            <a:ext cx="2106168" cy="252984"/>
          </a:xfrm>
          <a:prstGeom prst="rect">
            <a:avLst/>
          </a:prstGeom>
        </p:spPr>
      </p:pic>
      <p:sp>
        <p:nvSpPr>
          <p:cNvPr id="9" name="Rectangle 8"/>
          <p:cNvSpPr/>
          <p:nvPr userDrawn="1"/>
        </p:nvSpPr>
        <p:spPr>
          <a:xfrm>
            <a:off x="0" y="6704929"/>
            <a:ext cx="1940280" cy="169277"/>
          </a:xfrm>
          <a:prstGeom prst="rect">
            <a:avLst/>
          </a:prstGeom>
        </p:spPr>
        <p:txBody>
          <a:bodyPr wrap="square">
            <a:spAutoFit/>
          </a:bodyPr>
          <a:lstStyle/>
          <a:p>
            <a:pPr algn="l" rtl="0"/>
            <a:r>
              <a:rPr lang="en-US" sz="500" b="0" i="0" u="none" strike="noStrike" kern="1200" baseline="0" dirty="0">
                <a:solidFill>
                  <a:schemeClr val="tx1"/>
                </a:solidFill>
                <a:latin typeface="Arial"/>
                <a:ea typeface="+mn-ea"/>
                <a:cs typeface="Arial"/>
              </a:rPr>
              <a:t>Sci_Y06_U2_SS_ElectrialSafetyHazards</a:t>
            </a:r>
          </a:p>
        </p:txBody>
      </p:sp>
      <p:pic>
        <p:nvPicPr>
          <p:cNvPr id="10" name="Picture 9" descr="C2CIcon.png"/>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76144" y="6520911"/>
            <a:ext cx="424150" cy="184018"/>
          </a:xfrm>
          <a:prstGeom prst="rect">
            <a:avLst/>
          </a:prstGeom>
        </p:spPr>
      </p:pic>
    </p:spTree>
    <p:extLst>
      <p:ext uri="{BB962C8B-B14F-4D97-AF65-F5344CB8AC3E}">
        <p14:creationId xmlns:p14="http://schemas.microsoft.com/office/powerpoint/2010/main" val="4084714567"/>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1922689" y="387803"/>
            <a:ext cx="5298622" cy="3139321"/>
          </a:xfrm>
          <a:prstGeom prst="rect">
            <a:avLst/>
          </a:prstGeom>
          <a:solidFill>
            <a:srgbClr val="FF0000"/>
          </a:solidFill>
        </p:spPr>
        <p:txBody>
          <a:bodyPr wrap="square" rtlCol="0">
            <a:spAutoFit/>
          </a:bodyPr>
          <a:lstStyle/>
          <a:p>
            <a:pPr algn="ctr"/>
            <a:r>
              <a:rPr lang="en-AU" sz="6600" dirty="0">
                <a:latin typeface="Arial" panose="020B0604020202020204" pitchFamily="34" charset="0"/>
                <a:cs typeface="Arial" panose="020B0604020202020204" pitchFamily="34" charset="0"/>
              </a:rPr>
              <a:t>Electrical safety hazards</a:t>
            </a:r>
          </a:p>
        </p:txBody>
      </p:sp>
      <p:sp>
        <p:nvSpPr>
          <p:cNvPr id="3" name="TextBox 2"/>
          <p:cNvSpPr txBox="1"/>
          <p:nvPr/>
        </p:nvSpPr>
        <p:spPr>
          <a:xfrm>
            <a:off x="959303" y="3787210"/>
            <a:ext cx="7225394" cy="2499533"/>
          </a:xfrm>
          <a:prstGeom prst="rect">
            <a:avLst/>
          </a:prstGeom>
          <a:solidFill>
            <a:schemeClr val="accent6"/>
          </a:solidFill>
        </p:spPr>
        <p:txBody>
          <a:bodyPr wrap="square" lIns="180000" tIns="140400" rIns="180000" bIns="140400" rtlCol="0">
            <a:spAutoFit/>
          </a:bodyPr>
          <a:lstStyle/>
          <a:p>
            <a:r>
              <a:rPr lang="en-AU" sz="2400" dirty="0">
                <a:solidFill>
                  <a:schemeClr val="bg1"/>
                </a:solidFill>
                <a:latin typeface="Arial" panose="020B0604020202020204" pitchFamily="34" charset="0"/>
                <a:cs typeface="Arial" panose="020B0604020202020204" pitchFamily="34" charset="0"/>
              </a:rPr>
              <a:t>Look at some of the following images and discuss the following questions:</a:t>
            </a:r>
          </a:p>
          <a:p>
            <a:pPr marL="342900" indent="-342900">
              <a:buFont typeface="Arial" panose="020B0604020202020204" pitchFamily="34" charset="0"/>
              <a:buChar char="•"/>
            </a:pPr>
            <a:r>
              <a:rPr lang="en-AU" sz="2400" dirty="0">
                <a:solidFill>
                  <a:schemeClr val="bg1"/>
                </a:solidFill>
                <a:latin typeface="Arial" panose="020B0604020202020204" pitchFamily="34" charset="0"/>
                <a:cs typeface="Arial" panose="020B0604020202020204" pitchFamily="34" charset="0"/>
              </a:rPr>
              <a:t>Why is the situation dangerous?</a:t>
            </a:r>
          </a:p>
          <a:p>
            <a:pPr marL="342900" indent="-342900">
              <a:buFont typeface="Arial" panose="020B0604020202020204" pitchFamily="34" charset="0"/>
              <a:buChar char="•"/>
            </a:pPr>
            <a:r>
              <a:rPr lang="en-AU" sz="2400" dirty="0">
                <a:solidFill>
                  <a:schemeClr val="bg1"/>
                </a:solidFill>
                <a:latin typeface="Arial" panose="020B0604020202020204" pitchFamily="34" charset="0"/>
                <a:cs typeface="Arial" panose="020B0604020202020204" pitchFamily="34" charset="0"/>
              </a:rPr>
              <a:t>What might happen?</a:t>
            </a:r>
          </a:p>
          <a:p>
            <a:pPr marL="342900" indent="-342900">
              <a:buFont typeface="Arial" panose="020B0604020202020204" pitchFamily="34" charset="0"/>
              <a:buChar char="•"/>
            </a:pPr>
            <a:r>
              <a:rPr lang="en-AU" sz="2400" dirty="0">
                <a:solidFill>
                  <a:schemeClr val="bg1"/>
                </a:solidFill>
                <a:latin typeface="Arial" panose="020B0604020202020204" pitchFamily="34" charset="0"/>
                <a:cs typeface="Arial" panose="020B0604020202020204" pitchFamily="34" charset="0"/>
              </a:rPr>
              <a:t>How could you minimise the risk of someone being harmed?</a:t>
            </a:r>
          </a:p>
        </p:txBody>
      </p:sp>
    </p:spTree>
    <p:extLst>
      <p:ext uri="{BB962C8B-B14F-4D97-AF65-F5344CB8AC3E}">
        <p14:creationId xmlns:p14="http://schemas.microsoft.com/office/powerpoint/2010/main" val="1463122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cstate="screen">
            <a:extLst>
              <a:ext uri="{28A0092B-C50C-407E-A947-70E740481C1C}">
                <a14:useLocalDpi xmlns:a14="http://schemas.microsoft.com/office/drawing/2010/main"/>
              </a:ext>
            </a:extLst>
          </a:blip>
          <a:srcRect b="6942"/>
          <a:stretch/>
        </p:blipFill>
        <p:spPr>
          <a:xfrm>
            <a:off x="967954" y="169095"/>
            <a:ext cx="7208093" cy="4843588"/>
          </a:xfrm>
          <a:prstGeom prst="rect">
            <a:avLst/>
          </a:prstGeom>
        </p:spPr>
      </p:pic>
      <p:sp>
        <p:nvSpPr>
          <p:cNvPr id="4" name="TextBox 3"/>
          <p:cNvSpPr txBox="1"/>
          <p:nvPr/>
        </p:nvSpPr>
        <p:spPr>
          <a:xfrm>
            <a:off x="1080545" y="5012682"/>
            <a:ext cx="6982911" cy="1615827"/>
          </a:xfrm>
          <a:prstGeom prst="rect">
            <a:avLst/>
          </a:prstGeom>
          <a:noFill/>
        </p:spPr>
        <p:txBody>
          <a:bodyPr wrap="square" rtlCol="0">
            <a:spAutoFit/>
          </a:bodyPr>
          <a:lstStyle/>
          <a:p>
            <a:pPr algn="ctr">
              <a:lnSpc>
                <a:spcPct val="150000"/>
              </a:lnSpc>
            </a:pPr>
            <a:r>
              <a:rPr lang="en-AU" i="1" dirty="0">
                <a:latin typeface="Arial" panose="020B0604020202020204" pitchFamily="34" charset="0"/>
                <a:cs typeface="Arial" panose="020B0604020202020204" pitchFamily="34" charset="0"/>
              </a:rPr>
              <a:t>Why is the situation dangerous?</a:t>
            </a:r>
          </a:p>
          <a:p>
            <a:pPr algn="ctr">
              <a:lnSpc>
                <a:spcPct val="150000"/>
              </a:lnSpc>
            </a:pPr>
            <a:r>
              <a:rPr lang="en-AU" i="1" dirty="0">
                <a:latin typeface="Arial" panose="020B0604020202020204" pitchFamily="34" charset="0"/>
                <a:cs typeface="Arial" panose="020B0604020202020204" pitchFamily="34" charset="0"/>
              </a:rPr>
              <a:t>What might happen?</a:t>
            </a:r>
          </a:p>
          <a:p>
            <a:pPr algn="ctr">
              <a:lnSpc>
                <a:spcPct val="150000"/>
              </a:lnSpc>
            </a:pPr>
            <a:r>
              <a:rPr lang="en-AU" i="1" dirty="0">
                <a:latin typeface="Arial" panose="020B0604020202020204" pitchFamily="34" charset="0"/>
                <a:cs typeface="Arial" panose="020B0604020202020204" pitchFamily="34" charset="0"/>
              </a:rPr>
              <a:t>How could you minimise the risk of someone being harmed?</a:t>
            </a:r>
          </a:p>
          <a:p>
            <a:pPr algn="ctr"/>
            <a:endParaRPr lang="en-AU" b="1" dirty="0"/>
          </a:p>
        </p:txBody>
      </p:sp>
    </p:spTree>
    <p:extLst>
      <p:ext uri="{BB962C8B-B14F-4D97-AF65-F5344CB8AC3E}">
        <p14:creationId xmlns:p14="http://schemas.microsoft.com/office/powerpoint/2010/main" val="326444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0546" y="226590"/>
            <a:ext cx="6982910" cy="4696366"/>
          </a:xfrm>
          <a:prstGeom prst="rect">
            <a:avLst/>
          </a:prstGeom>
        </p:spPr>
      </p:pic>
      <p:sp>
        <p:nvSpPr>
          <p:cNvPr id="3" name="TextBox 2"/>
          <p:cNvSpPr txBox="1"/>
          <p:nvPr/>
        </p:nvSpPr>
        <p:spPr>
          <a:xfrm>
            <a:off x="1080545" y="4906085"/>
            <a:ext cx="6982911" cy="1338828"/>
          </a:xfrm>
          <a:prstGeom prst="rect">
            <a:avLst/>
          </a:prstGeom>
          <a:noFill/>
        </p:spPr>
        <p:txBody>
          <a:bodyPr wrap="square" rtlCol="0">
            <a:spAutoFit/>
          </a:bodyPr>
          <a:lstStyle/>
          <a:p>
            <a:pPr algn="ctr">
              <a:lnSpc>
                <a:spcPct val="150000"/>
              </a:lnSpc>
            </a:pPr>
            <a:r>
              <a:rPr lang="en-AU" i="1" dirty="0">
                <a:latin typeface="Arial" panose="020B0604020202020204" pitchFamily="34" charset="0"/>
                <a:cs typeface="Arial" panose="020B0604020202020204" pitchFamily="34" charset="0"/>
              </a:rPr>
              <a:t>Why is the situation dangerous?</a:t>
            </a:r>
          </a:p>
          <a:p>
            <a:pPr algn="ctr">
              <a:lnSpc>
                <a:spcPct val="150000"/>
              </a:lnSpc>
            </a:pPr>
            <a:r>
              <a:rPr lang="en-AU" i="1" dirty="0">
                <a:latin typeface="Arial" panose="020B0604020202020204" pitchFamily="34" charset="0"/>
                <a:cs typeface="Arial" panose="020B0604020202020204" pitchFamily="34" charset="0"/>
              </a:rPr>
              <a:t>What might happen?</a:t>
            </a:r>
          </a:p>
          <a:p>
            <a:pPr algn="ctr">
              <a:lnSpc>
                <a:spcPct val="150000"/>
              </a:lnSpc>
            </a:pPr>
            <a:r>
              <a:rPr lang="en-AU" i="1" dirty="0">
                <a:latin typeface="Arial" panose="020B0604020202020204" pitchFamily="34" charset="0"/>
                <a:cs typeface="Arial" panose="020B0604020202020204" pitchFamily="34" charset="0"/>
              </a:rPr>
              <a:t>How could you minimise the risk of someone being harmed?</a:t>
            </a:r>
          </a:p>
        </p:txBody>
      </p:sp>
    </p:spTree>
    <p:extLst>
      <p:ext uri="{BB962C8B-B14F-4D97-AF65-F5344CB8AC3E}">
        <p14:creationId xmlns:p14="http://schemas.microsoft.com/office/powerpoint/2010/main" val="817086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0545" y="204004"/>
            <a:ext cx="6982910" cy="4695062"/>
          </a:xfrm>
          <a:prstGeom prst="rect">
            <a:avLst/>
          </a:prstGeom>
        </p:spPr>
      </p:pic>
      <p:sp>
        <p:nvSpPr>
          <p:cNvPr id="3" name="TextBox 2"/>
          <p:cNvSpPr txBox="1"/>
          <p:nvPr/>
        </p:nvSpPr>
        <p:spPr>
          <a:xfrm>
            <a:off x="1080545" y="4899066"/>
            <a:ext cx="6982911" cy="1315745"/>
          </a:xfrm>
          <a:prstGeom prst="rect">
            <a:avLst/>
          </a:prstGeom>
          <a:noFill/>
        </p:spPr>
        <p:txBody>
          <a:bodyPr wrap="square" rtlCol="0">
            <a:spAutoFit/>
          </a:bodyPr>
          <a:lstStyle/>
          <a:p>
            <a:pPr algn="ctr">
              <a:lnSpc>
                <a:spcPct val="150000"/>
              </a:lnSpc>
            </a:pPr>
            <a:r>
              <a:rPr lang="en-AU" i="1" dirty="0">
                <a:latin typeface="Arial" panose="020B0604020202020204" pitchFamily="34" charset="0"/>
                <a:cs typeface="Arial" panose="020B0604020202020204" pitchFamily="34" charset="0"/>
              </a:rPr>
              <a:t>Why is the situation dangerous?</a:t>
            </a:r>
          </a:p>
          <a:p>
            <a:pPr algn="ctr">
              <a:lnSpc>
                <a:spcPct val="150000"/>
              </a:lnSpc>
            </a:pPr>
            <a:r>
              <a:rPr lang="en-AU" i="1" dirty="0">
                <a:latin typeface="Arial" panose="020B0604020202020204" pitchFamily="34" charset="0"/>
                <a:cs typeface="Arial" panose="020B0604020202020204" pitchFamily="34" charset="0"/>
              </a:rPr>
              <a:t>What might happen?</a:t>
            </a:r>
          </a:p>
          <a:p>
            <a:pPr algn="ctr">
              <a:lnSpc>
                <a:spcPct val="150000"/>
              </a:lnSpc>
            </a:pPr>
            <a:r>
              <a:rPr lang="en-AU" i="1" dirty="0">
                <a:latin typeface="Arial" panose="020B0604020202020204" pitchFamily="34" charset="0"/>
                <a:cs typeface="Arial" panose="020B0604020202020204" pitchFamily="34" charset="0"/>
              </a:rPr>
              <a:t>How could you minimise the risk of someone being harmed?</a:t>
            </a:r>
          </a:p>
        </p:txBody>
      </p:sp>
    </p:spTree>
    <p:extLst>
      <p:ext uri="{BB962C8B-B14F-4D97-AF65-F5344CB8AC3E}">
        <p14:creationId xmlns:p14="http://schemas.microsoft.com/office/powerpoint/2010/main" val="573013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l="1745" r="1392" b="3073"/>
          <a:stretch/>
        </p:blipFill>
        <p:spPr>
          <a:xfrm>
            <a:off x="485588" y="-127590"/>
            <a:ext cx="8202706" cy="5297238"/>
          </a:xfrm>
          <a:prstGeom prst="rect">
            <a:avLst/>
          </a:prstGeom>
        </p:spPr>
      </p:pic>
      <p:sp>
        <p:nvSpPr>
          <p:cNvPr id="3" name="TextBox 2"/>
          <p:cNvSpPr txBox="1"/>
          <p:nvPr/>
        </p:nvSpPr>
        <p:spPr>
          <a:xfrm>
            <a:off x="1080545" y="4985838"/>
            <a:ext cx="6982911" cy="1315745"/>
          </a:xfrm>
          <a:prstGeom prst="rect">
            <a:avLst/>
          </a:prstGeom>
          <a:noFill/>
        </p:spPr>
        <p:txBody>
          <a:bodyPr wrap="square" rtlCol="0">
            <a:spAutoFit/>
          </a:bodyPr>
          <a:lstStyle/>
          <a:p>
            <a:pPr algn="ctr">
              <a:lnSpc>
                <a:spcPct val="150000"/>
              </a:lnSpc>
            </a:pPr>
            <a:r>
              <a:rPr lang="en-AU" i="1" dirty="0">
                <a:latin typeface="Arial" panose="020B0604020202020204" pitchFamily="34" charset="0"/>
                <a:cs typeface="Arial" panose="020B0604020202020204" pitchFamily="34" charset="0"/>
              </a:rPr>
              <a:t>Why is the situation dangerous?</a:t>
            </a:r>
          </a:p>
          <a:p>
            <a:pPr algn="ctr">
              <a:lnSpc>
                <a:spcPct val="150000"/>
              </a:lnSpc>
            </a:pPr>
            <a:r>
              <a:rPr lang="en-AU" i="1" dirty="0">
                <a:latin typeface="Arial" panose="020B0604020202020204" pitchFamily="34" charset="0"/>
                <a:cs typeface="Arial" panose="020B0604020202020204" pitchFamily="34" charset="0"/>
              </a:rPr>
              <a:t>What might happen?</a:t>
            </a:r>
          </a:p>
          <a:p>
            <a:pPr algn="ctr">
              <a:lnSpc>
                <a:spcPct val="150000"/>
              </a:lnSpc>
            </a:pPr>
            <a:r>
              <a:rPr lang="en-AU" i="1" dirty="0">
                <a:latin typeface="Arial" panose="020B0604020202020204" pitchFamily="34" charset="0"/>
                <a:cs typeface="Arial" panose="020B0604020202020204" pitchFamily="34" charset="0"/>
              </a:rPr>
              <a:t>How could you minimise the risk of someone being harmed?</a:t>
            </a:r>
          </a:p>
        </p:txBody>
      </p:sp>
    </p:spTree>
    <p:extLst>
      <p:ext uri="{BB962C8B-B14F-4D97-AF65-F5344CB8AC3E}">
        <p14:creationId xmlns:p14="http://schemas.microsoft.com/office/powerpoint/2010/main" val="2948777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8764" y="-13654"/>
            <a:ext cx="8146473" cy="4976181"/>
          </a:xfrm>
          <a:prstGeom prst="rect">
            <a:avLst/>
          </a:prstGeom>
        </p:spPr>
      </p:pic>
      <p:sp>
        <p:nvSpPr>
          <p:cNvPr id="3" name="Rectangle 2"/>
          <p:cNvSpPr/>
          <p:nvPr/>
        </p:nvSpPr>
        <p:spPr>
          <a:xfrm>
            <a:off x="972590" y="4938640"/>
            <a:ext cx="7198821" cy="1338828"/>
          </a:xfrm>
          <a:prstGeom prst="rect">
            <a:avLst/>
          </a:prstGeom>
        </p:spPr>
        <p:txBody>
          <a:bodyPr wrap="square">
            <a:spAutoFit/>
          </a:bodyPr>
          <a:lstStyle/>
          <a:p>
            <a:pPr algn="ctr">
              <a:lnSpc>
                <a:spcPct val="150000"/>
              </a:lnSpc>
            </a:pPr>
            <a:r>
              <a:rPr lang="en-AU" i="1" dirty="0">
                <a:latin typeface="Arial" panose="020B0604020202020204" pitchFamily="34" charset="0"/>
                <a:cs typeface="Arial" panose="020B0604020202020204" pitchFamily="34" charset="0"/>
              </a:rPr>
              <a:t>Why is the situation dangerous?</a:t>
            </a:r>
          </a:p>
          <a:p>
            <a:pPr algn="ctr">
              <a:lnSpc>
                <a:spcPct val="150000"/>
              </a:lnSpc>
            </a:pPr>
            <a:r>
              <a:rPr lang="en-AU" i="1" dirty="0">
                <a:latin typeface="Arial" panose="020B0604020202020204" pitchFamily="34" charset="0"/>
                <a:cs typeface="Arial" panose="020B0604020202020204" pitchFamily="34" charset="0"/>
              </a:rPr>
              <a:t>What might happen?</a:t>
            </a:r>
          </a:p>
          <a:p>
            <a:pPr algn="ctr">
              <a:lnSpc>
                <a:spcPct val="150000"/>
              </a:lnSpc>
            </a:pPr>
            <a:r>
              <a:rPr lang="en-AU" i="1" dirty="0">
                <a:latin typeface="Arial" panose="020B0604020202020204" pitchFamily="34" charset="0"/>
                <a:cs typeface="Arial" panose="020B0604020202020204" pitchFamily="34" charset="0"/>
              </a:rPr>
              <a:t>How could you minimise the risk of someone being harmed?</a:t>
            </a:r>
          </a:p>
        </p:txBody>
      </p:sp>
    </p:spTree>
    <p:extLst>
      <p:ext uri="{BB962C8B-B14F-4D97-AF65-F5344CB8AC3E}">
        <p14:creationId xmlns:p14="http://schemas.microsoft.com/office/powerpoint/2010/main" val="728741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66588" y="117446"/>
            <a:ext cx="7410824" cy="4982778"/>
          </a:xfrm>
          <a:prstGeom prst="rect">
            <a:avLst/>
          </a:prstGeom>
        </p:spPr>
      </p:pic>
      <p:sp>
        <p:nvSpPr>
          <p:cNvPr id="4" name="TextBox 3"/>
          <p:cNvSpPr txBox="1"/>
          <p:nvPr/>
        </p:nvSpPr>
        <p:spPr>
          <a:xfrm>
            <a:off x="1080545" y="5100224"/>
            <a:ext cx="6982911" cy="1315745"/>
          </a:xfrm>
          <a:prstGeom prst="rect">
            <a:avLst/>
          </a:prstGeom>
          <a:noFill/>
        </p:spPr>
        <p:txBody>
          <a:bodyPr wrap="square" rtlCol="0" anchor="t">
            <a:spAutoFit/>
          </a:bodyPr>
          <a:lstStyle/>
          <a:p>
            <a:pPr algn="ctr">
              <a:lnSpc>
                <a:spcPct val="150000"/>
              </a:lnSpc>
            </a:pPr>
            <a:r>
              <a:rPr lang="en-AU" i="1" dirty="0">
                <a:latin typeface="Arial" panose="020B0604020202020204" pitchFamily="34" charset="0"/>
                <a:cs typeface="Arial" panose="020B0604020202020204" pitchFamily="34" charset="0"/>
              </a:rPr>
              <a:t>Why is the situation dangerous?</a:t>
            </a:r>
          </a:p>
          <a:p>
            <a:pPr algn="ctr">
              <a:lnSpc>
                <a:spcPct val="150000"/>
              </a:lnSpc>
            </a:pPr>
            <a:r>
              <a:rPr lang="en-AU" i="1" dirty="0">
                <a:latin typeface="Arial" panose="020B0604020202020204" pitchFamily="34" charset="0"/>
                <a:cs typeface="Arial" panose="020B0604020202020204" pitchFamily="34" charset="0"/>
              </a:rPr>
              <a:t>What might happen?</a:t>
            </a:r>
          </a:p>
          <a:p>
            <a:pPr algn="ctr">
              <a:lnSpc>
                <a:spcPct val="150000"/>
              </a:lnSpc>
            </a:pPr>
            <a:r>
              <a:rPr lang="en-AU" i="1" dirty="0">
                <a:latin typeface="Arial" panose="020B0604020202020204" pitchFamily="34" charset="0"/>
                <a:cs typeface="Arial" panose="020B0604020202020204" pitchFamily="34" charset="0"/>
              </a:rPr>
              <a:t>How could you minimise the risk of someone being harmed?</a:t>
            </a:r>
          </a:p>
        </p:txBody>
      </p:sp>
    </p:spTree>
    <p:extLst>
      <p:ext uri="{BB962C8B-B14F-4D97-AF65-F5344CB8AC3E}">
        <p14:creationId xmlns:p14="http://schemas.microsoft.com/office/powerpoint/2010/main" val="1574847452"/>
      </p:ext>
    </p:extLst>
  </p:cSld>
  <p:clrMapOvr>
    <a:masterClrMapping/>
  </p:clrMapOvr>
</p:sld>
</file>

<file path=ppt/theme/theme1.xml><?xml version="1.0" encoding="utf-8"?>
<a:theme xmlns:a="http://schemas.openxmlformats.org/drawingml/2006/main" name="PresentationRever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PresentationReverse</Template>
  <TotalTime>344</TotalTime>
  <Words>740</Words>
  <Application>Microsoft Office PowerPoint</Application>
  <PresentationFormat>On-screen Show (4:3)</PresentationFormat>
  <Paragraphs>61</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PresentationReverse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Queensland Government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MAYNES, Anne</dc:creator>
  <cp:lastModifiedBy>SUTHERLAND, Douglas (dsuth10)</cp:lastModifiedBy>
  <cp:revision>22</cp:revision>
  <dcterms:created xsi:type="dcterms:W3CDTF">2015-04-07T21:52:06Z</dcterms:created>
  <dcterms:modified xsi:type="dcterms:W3CDTF">2023-07-20T01:32:24Z</dcterms:modified>
</cp:coreProperties>
</file>