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306" r:id="rId2"/>
    <p:sldId id="307" r:id="rId3"/>
    <p:sldId id="281" r:id="rId4"/>
    <p:sldId id="282" r:id="rId5"/>
    <p:sldId id="283" r:id="rId6"/>
    <p:sldId id="284" r:id="rId7"/>
    <p:sldId id="285" r:id="rId8"/>
    <p:sldId id="286" r:id="rId9"/>
    <p:sldId id="288" r:id="rId10"/>
    <p:sldId id="287" r:id="rId11"/>
    <p:sldId id="289" r:id="rId12"/>
  </p:sldIdLst>
  <p:sldSz cx="9144000" cy="6858000" type="screen4x3"/>
  <p:notesSz cx="6858000" cy="9144000"/>
  <p:defaultTextStyle>
    <a:defPPr>
      <a:defRPr lang="en-A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EEFA"/>
    <a:srgbClr val="1A49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378C45-E194-4DCE-811C-39A5DF1BA8E5}" v="2" dt="2023-07-29T23:55:06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764" autoAdjust="0"/>
  </p:normalViewPr>
  <p:slideViewPr>
    <p:cSldViewPr snapToGrid="0">
      <p:cViewPr varScale="1">
        <p:scale>
          <a:sx n="101" d="100"/>
          <a:sy n="101" d="100"/>
        </p:scale>
        <p:origin x="115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8AD249-81F7-429E-B25B-3BFCD6542FCF}" type="datetimeFigureOut">
              <a:rPr lang="en-AU" smtClean="0"/>
              <a:t>30/07/2023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952476-F4B4-43A7-A4F4-61D4C36DE766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48305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952476-F4B4-43A7-A4F4-61D4C36DE766}" type="slidenum">
              <a:rPr lang="en-AU" smtClean="0"/>
              <a:t>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83041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176963"/>
            <a:ext cx="2133600" cy="5445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F3AD5D-0B40-4B29-BDF3-6E53C8434698}" type="slidenum">
              <a:rPr lang="en-AU"/>
              <a:pPr>
                <a:defRPr/>
              </a:pPr>
              <a:t>‹#›</a:t>
            </a:fld>
            <a:endParaRPr lang="en-AU" dirty="0"/>
          </a:p>
          <a:p>
            <a:pPr>
              <a:defRPr/>
            </a:pPr>
            <a:r>
              <a:rPr lang="en-AU" dirty="0"/>
              <a:t>Sci_Y06_U2_SS_Sustainable source of energy_ water</a:t>
            </a:r>
          </a:p>
          <a:p>
            <a:pPr>
              <a:defRPr/>
            </a:pPr>
            <a:r>
              <a:rPr lang="en-AU" dirty="0"/>
              <a:t>Draft for consultation</a:t>
            </a:r>
          </a:p>
        </p:txBody>
      </p:sp>
    </p:spTree>
    <p:extLst>
      <p:ext uri="{BB962C8B-B14F-4D97-AF65-F5344CB8AC3E}">
        <p14:creationId xmlns:p14="http://schemas.microsoft.com/office/powerpoint/2010/main" val="1310756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176963"/>
            <a:ext cx="2133600" cy="5445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C79664-ED42-453E-86EB-940123381242}" type="slidenum">
              <a:rPr lang="en-AU" smtClean="0"/>
              <a:pPr>
                <a:defRPr/>
              </a:pPr>
              <a:t>‹#›</a:t>
            </a:fld>
            <a:endParaRPr lang="en-AU" dirty="0"/>
          </a:p>
          <a:p>
            <a:pPr>
              <a:defRPr/>
            </a:pPr>
            <a:r>
              <a:rPr lang="en-AU" dirty="0"/>
              <a:t>Sci_Y06_U2_SS_Renewable source of energy_ water</a:t>
            </a:r>
          </a:p>
          <a:p>
            <a:pPr>
              <a:defRPr/>
            </a:pPr>
            <a:r>
              <a:rPr lang="en-AU" dirty="0"/>
              <a:t>Draft for consultation</a:t>
            </a:r>
          </a:p>
        </p:txBody>
      </p:sp>
    </p:spTree>
    <p:extLst>
      <p:ext uri="{BB962C8B-B14F-4D97-AF65-F5344CB8AC3E}">
        <p14:creationId xmlns:p14="http://schemas.microsoft.com/office/powerpoint/2010/main" val="12241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176963"/>
            <a:ext cx="2133600" cy="5445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09FBC2-85B2-4F24-8C41-FD7034A8465F}" type="slidenum">
              <a:rPr lang="en-AU"/>
              <a:pPr>
                <a:defRPr/>
              </a:pPr>
              <a:t>‹#›</a:t>
            </a:fld>
            <a:endParaRPr lang="en-AU" dirty="0"/>
          </a:p>
          <a:p>
            <a:pPr>
              <a:defRPr/>
            </a:pPr>
            <a:r>
              <a:rPr lang="en-AU" dirty="0"/>
              <a:t>Sci_Y06_U2_SS_Sustainable source of energy_ water</a:t>
            </a:r>
          </a:p>
          <a:p>
            <a:pPr>
              <a:defRPr/>
            </a:pPr>
            <a:r>
              <a:rPr lang="en-AU" dirty="0"/>
              <a:t>Draft for consultation</a:t>
            </a:r>
          </a:p>
        </p:txBody>
      </p:sp>
    </p:spTree>
    <p:extLst>
      <p:ext uri="{BB962C8B-B14F-4D97-AF65-F5344CB8AC3E}">
        <p14:creationId xmlns:p14="http://schemas.microsoft.com/office/powerpoint/2010/main" val="3072293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176963"/>
            <a:ext cx="2133600" cy="5445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A70B51-0F8D-43BF-B53F-EF864E437BD0}" type="slidenum">
              <a:rPr lang="en-AU"/>
              <a:pPr>
                <a:defRPr/>
              </a:pPr>
              <a:t>‹#›</a:t>
            </a:fld>
            <a:endParaRPr lang="en-AU" dirty="0"/>
          </a:p>
          <a:p>
            <a:pPr>
              <a:defRPr/>
            </a:pPr>
            <a:r>
              <a:rPr lang="en-AU" dirty="0"/>
              <a:t>Sci_Y06_U2_SS_Sustainable source of energy_ water</a:t>
            </a:r>
          </a:p>
          <a:p>
            <a:pPr>
              <a:defRPr/>
            </a:pPr>
            <a:r>
              <a:rPr lang="en-AU" dirty="0"/>
              <a:t>Draft for consultation</a:t>
            </a:r>
          </a:p>
        </p:txBody>
      </p:sp>
    </p:spTree>
    <p:extLst>
      <p:ext uri="{BB962C8B-B14F-4D97-AF65-F5344CB8AC3E}">
        <p14:creationId xmlns:p14="http://schemas.microsoft.com/office/powerpoint/2010/main" val="982788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176963"/>
            <a:ext cx="2133600" cy="5445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DBF0F2-776B-4402-B3B7-2DB8B9978F20}" type="slidenum">
              <a:rPr lang="en-AU"/>
              <a:pPr>
                <a:defRPr/>
              </a:pPr>
              <a:t>‹#›</a:t>
            </a:fld>
            <a:endParaRPr lang="en-AU" dirty="0"/>
          </a:p>
          <a:p>
            <a:pPr>
              <a:defRPr/>
            </a:pPr>
            <a:r>
              <a:rPr lang="en-AU" dirty="0"/>
              <a:t>Sci_Y06_U2_SS_Sustainable source of energy_ water</a:t>
            </a:r>
          </a:p>
          <a:p>
            <a:pPr>
              <a:defRPr/>
            </a:pPr>
            <a:r>
              <a:rPr lang="en-AU" dirty="0"/>
              <a:t>Draft for consultation</a:t>
            </a:r>
          </a:p>
        </p:txBody>
      </p:sp>
    </p:spTree>
    <p:extLst>
      <p:ext uri="{BB962C8B-B14F-4D97-AF65-F5344CB8AC3E}">
        <p14:creationId xmlns:p14="http://schemas.microsoft.com/office/powerpoint/2010/main" val="1415601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176963"/>
            <a:ext cx="2133600" cy="5445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6A8D5C-E763-4220-B874-56DA52E84DA7}" type="slidenum">
              <a:rPr lang="en-AU"/>
              <a:pPr>
                <a:defRPr/>
              </a:pPr>
              <a:t>‹#›</a:t>
            </a:fld>
            <a:endParaRPr lang="en-AU" dirty="0"/>
          </a:p>
          <a:p>
            <a:pPr>
              <a:defRPr/>
            </a:pPr>
            <a:r>
              <a:rPr lang="en-AU" dirty="0"/>
              <a:t>Sci_Y06_U2_SS_Sustainable source of energy_ water</a:t>
            </a:r>
          </a:p>
          <a:p>
            <a:pPr>
              <a:defRPr/>
            </a:pPr>
            <a:r>
              <a:rPr lang="en-AU" dirty="0"/>
              <a:t>Draft for consultation</a:t>
            </a:r>
          </a:p>
        </p:txBody>
      </p:sp>
    </p:spTree>
    <p:extLst>
      <p:ext uri="{BB962C8B-B14F-4D97-AF65-F5344CB8AC3E}">
        <p14:creationId xmlns:p14="http://schemas.microsoft.com/office/powerpoint/2010/main" val="4090870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176963"/>
            <a:ext cx="2133600" cy="5445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868469-C87B-4A5A-8BDF-F43B30D14D9B}" type="slidenum">
              <a:rPr lang="en-AU"/>
              <a:pPr>
                <a:defRPr/>
              </a:pPr>
              <a:t>‹#›</a:t>
            </a:fld>
            <a:endParaRPr lang="en-AU" dirty="0"/>
          </a:p>
          <a:p>
            <a:pPr>
              <a:defRPr/>
            </a:pPr>
            <a:r>
              <a:rPr lang="en-AU" dirty="0"/>
              <a:t>Sci_Y06_U2_SS_Sustainable source of energy_ water</a:t>
            </a:r>
          </a:p>
          <a:p>
            <a:pPr>
              <a:defRPr/>
            </a:pPr>
            <a:r>
              <a:rPr lang="en-AU" dirty="0"/>
              <a:t>Draft for consultation</a:t>
            </a:r>
          </a:p>
        </p:txBody>
      </p:sp>
    </p:spTree>
    <p:extLst>
      <p:ext uri="{BB962C8B-B14F-4D97-AF65-F5344CB8AC3E}">
        <p14:creationId xmlns:p14="http://schemas.microsoft.com/office/powerpoint/2010/main" val="814417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176963"/>
            <a:ext cx="2133600" cy="5445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A27C10-48DA-4871-8320-65BF62EA3A8A}" type="slidenum">
              <a:rPr lang="en-AU"/>
              <a:pPr>
                <a:defRPr/>
              </a:pPr>
              <a:t>‹#›</a:t>
            </a:fld>
            <a:endParaRPr lang="en-AU" dirty="0"/>
          </a:p>
          <a:p>
            <a:pPr>
              <a:defRPr/>
            </a:pPr>
            <a:r>
              <a:rPr lang="en-AU" dirty="0"/>
              <a:t>Sci_Y06_U2_SS_Sustainable source of energy_ water</a:t>
            </a:r>
          </a:p>
          <a:p>
            <a:pPr>
              <a:defRPr/>
            </a:pPr>
            <a:r>
              <a:rPr lang="en-AU" dirty="0"/>
              <a:t>Draft for consultation</a:t>
            </a:r>
          </a:p>
        </p:txBody>
      </p:sp>
    </p:spTree>
    <p:extLst>
      <p:ext uri="{BB962C8B-B14F-4D97-AF65-F5344CB8AC3E}">
        <p14:creationId xmlns:p14="http://schemas.microsoft.com/office/powerpoint/2010/main" val="1065803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176963"/>
            <a:ext cx="2133600" cy="5445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D7867F-1062-4B61-9463-91234FF897AD}" type="slidenum">
              <a:rPr lang="en-AU"/>
              <a:pPr>
                <a:defRPr/>
              </a:pPr>
              <a:t>‹#›</a:t>
            </a:fld>
            <a:endParaRPr lang="en-AU" dirty="0"/>
          </a:p>
          <a:p>
            <a:pPr>
              <a:defRPr/>
            </a:pPr>
            <a:r>
              <a:rPr lang="en-AU" dirty="0"/>
              <a:t>Sci_Y06_U2_SS_Sustainable source of energy_ water</a:t>
            </a:r>
          </a:p>
          <a:p>
            <a:pPr>
              <a:defRPr/>
            </a:pPr>
            <a:r>
              <a:rPr lang="en-AU" dirty="0"/>
              <a:t>Draft for consultation</a:t>
            </a:r>
          </a:p>
        </p:txBody>
      </p:sp>
    </p:spTree>
    <p:extLst>
      <p:ext uri="{BB962C8B-B14F-4D97-AF65-F5344CB8AC3E}">
        <p14:creationId xmlns:p14="http://schemas.microsoft.com/office/powerpoint/2010/main" val="3775167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176963"/>
            <a:ext cx="2133600" cy="5445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5802-DEC1-47C9-B3C3-F6D0A584913B}" type="slidenum">
              <a:rPr lang="en-AU"/>
              <a:pPr>
                <a:defRPr/>
              </a:pPr>
              <a:t>‹#›</a:t>
            </a:fld>
            <a:endParaRPr lang="en-AU" dirty="0"/>
          </a:p>
          <a:p>
            <a:pPr>
              <a:defRPr/>
            </a:pPr>
            <a:r>
              <a:rPr lang="en-AU" dirty="0"/>
              <a:t>Sci_Y06_U2_SS_Sustainable source of energy_ water</a:t>
            </a:r>
          </a:p>
          <a:p>
            <a:pPr>
              <a:defRPr/>
            </a:pPr>
            <a:r>
              <a:rPr lang="en-AU" dirty="0"/>
              <a:t>Draft for consultation</a:t>
            </a:r>
          </a:p>
        </p:txBody>
      </p:sp>
    </p:spTree>
    <p:extLst>
      <p:ext uri="{BB962C8B-B14F-4D97-AF65-F5344CB8AC3E}">
        <p14:creationId xmlns:p14="http://schemas.microsoft.com/office/powerpoint/2010/main" val="910567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176963"/>
            <a:ext cx="2133600" cy="5445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39C58E-0481-49A2-AE81-34847D662A87}" type="slidenum">
              <a:rPr lang="en-AU"/>
              <a:pPr>
                <a:defRPr/>
              </a:pPr>
              <a:t>‹#›</a:t>
            </a:fld>
            <a:endParaRPr lang="en-AU" dirty="0"/>
          </a:p>
          <a:p>
            <a:pPr>
              <a:defRPr/>
            </a:pPr>
            <a:r>
              <a:rPr lang="en-AU" dirty="0"/>
              <a:t>Sci_Y06_U2_SS_Sustainable source of energy_ water</a:t>
            </a:r>
          </a:p>
          <a:p>
            <a:pPr>
              <a:defRPr/>
            </a:pPr>
            <a:r>
              <a:rPr lang="en-AU" dirty="0"/>
              <a:t>Draft for consultation</a:t>
            </a:r>
          </a:p>
        </p:txBody>
      </p:sp>
    </p:spTree>
    <p:extLst>
      <p:ext uri="{BB962C8B-B14F-4D97-AF65-F5344CB8AC3E}">
        <p14:creationId xmlns:p14="http://schemas.microsoft.com/office/powerpoint/2010/main" val="2197726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8" name="Rectangle 7"/>
          <p:cNvSpPr/>
          <p:nvPr userDrawn="1"/>
        </p:nvSpPr>
        <p:spPr>
          <a:xfrm>
            <a:off x="0" y="6704929"/>
            <a:ext cx="1940280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500" b="0" i="0" u="none" strike="noStrike" kern="1200" baseline="0" dirty="0">
                <a:solidFill>
                  <a:srgbClr val="000000"/>
                </a:solidFill>
                <a:latin typeface="Arial"/>
                <a:ea typeface="+mn-ea"/>
                <a:cs typeface="Arial"/>
              </a:rPr>
              <a:t>Sci_Y06_U2_SS_Renewable_water</a:t>
            </a:r>
          </a:p>
        </p:txBody>
      </p:sp>
      <p:pic>
        <p:nvPicPr>
          <p:cNvPr id="9" name="Picture 8" descr="C2CIcon.png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44" y="6520911"/>
            <a:ext cx="424150" cy="184018"/>
          </a:xfrm>
          <a:prstGeom prst="rect">
            <a:avLst/>
          </a:prstGeom>
        </p:spPr>
      </p:pic>
      <p:pic>
        <p:nvPicPr>
          <p:cNvPr id="10" name="Picture 9" descr="Description: Description: Description: Description: C2C_Data:Dev Area:ePub stuff:Gov Crest:Qld-CoA-Stylised-1L-Online-mono-1???.eps"/>
          <p:cNvPicPr/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53964" y="6571602"/>
            <a:ext cx="1313166" cy="231117"/>
          </a:xfrm>
          <a:prstGeom prst="rect">
            <a:avLst/>
          </a:prstGeom>
          <a:noFill/>
        </p:spPr>
      </p:pic>
      <p:pic>
        <p:nvPicPr>
          <p:cNvPr id="13" name="Picture 12" descr="../../../../../../../../Volumes/Data/Coredata/DevArea/C2C/ePublishing/Templates/logos/201"/>
          <p:cNvPicPr/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80000" y="6593809"/>
            <a:ext cx="1584000" cy="19168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6" descr="http://upload.wikimedia.org/wikipedia/commons/a/ae/Ocean_waves_%281%29.jpg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9144000" cy="629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8" name="AutoShape 6"/>
          <p:cNvSpPr>
            <a:spLocks noGrp="1" noChangeAspect="1" noChangeArrowheads="1"/>
          </p:cNvSpPr>
          <p:nvPr>
            <p:ph type="body" idx="1"/>
          </p:nvPr>
        </p:nvSpPr>
        <p:spPr>
          <a:xfrm>
            <a:off x="245102" y="4047359"/>
            <a:ext cx="7174824" cy="1556009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buFontTx/>
              <a:buNone/>
              <a:defRPr/>
            </a:pPr>
            <a:r>
              <a:rPr lang="en-AU" sz="3600" b="1" dirty="0">
                <a:solidFill>
                  <a:schemeClr val="bg1"/>
                </a:solidFill>
              </a:rPr>
              <a:t>Renewable source of energy: </a:t>
            </a:r>
            <a:br>
              <a:rPr lang="en-AU" sz="3600" b="1" dirty="0">
                <a:solidFill>
                  <a:schemeClr val="bg1"/>
                </a:solidFill>
              </a:rPr>
            </a:br>
            <a:r>
              <a:rPr lang="en-AU" sz="6000" b="1" dirty="0">
                <a:solidFill>
                  <a:schemeClr val="bg1"/>
                </a:solidFill>
              </a:rPr>
              <a:t>Water</a:t>
            </a:r>
          </a:p>
        </p:txBody>
      </p:sp>
      <p:sp>
        <p:nvSpPr>
          <p:cNvPr id="13316" name="Rectangle 1"/>
          <p:cNvSpPr>
            <a:spLocks noChangeArrowheads="1"/>
          </p:cNvSpPr>
          <p:nvPr/>
        </p:nvSpPr>
        <p:spPr bwMode="auto">
          <a:xfrm>
            <a:off x="466725" y="6254586"/>
            <a:ext cx="867727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AU" sz="800" dirty="0">
                <a:solidFill>
                  <a:schemeClr val="bg1">
                    <a:lumMod val="50000"/>
                  </a:schemeClr>
                </a:solidFill>
              </a:rPr>
              <a:t>http://commons.wikimedia.org/wiki/File:Ocean_waves_(1).jpg</a:t>
            </a:r>
            <a:endParaRPr lang="en-AU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6" descr="http://upload.wikimedia.org/wikipedia/commons/c/cd/Low_tide_sea_beach.jp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4732" y="825500"/>
            <a:ext cx="7094537" cy="532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84238"/>
          </a:xfrm>
        </p:spPr>
        <p:txBody>
          <a:bodyPr/>
          <a:lstStyle/>
          <a:p>
            <a:pPr eaLnBrk="1" hangingPunct="1">
              <a:defRPr/>
            </a:pPr>
            <a:r>
              <a:rPr lang="en-AU" sz="3600" b="1" dirty="0"/>
              <a:t>Tidal power: Energy from tides</a:t>
            </a:r>
          </a:p>
        </p:txBody>
      </p:sp>
      <p:sp>
        <p:nvSpPr>
          <p:cNvPr id="14340" name="Rectangle 1"/>
          <p:cNvSpPr>
            <a:spLocks noChangeArrowheads="1"/>
          </p:cNvSpPr>
          <p:nvPr/>
        </p:nvSpPr>
        <p:spPr bwMode="auto">
          <a:xfrm>
            <a:off x="1024167" y="6151563"/>
            <a:ext cx="7094537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AU" sz="800" dirty="0">
                <a:solidFill>
                  <a:schemeClr val="bg1">
                    <a:lumMod val="65000"/>
                  </a:schemeClr>
                </a:solidFill>
              </a:rPr>
              <a:t>http://commons.wikimedia.org/wiki/File:Low_tide_sea_beach.jpg</a:t>
            </a:r>
            <a:endParaRPr lang="en-AU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AU" sz="3600" b="1" dirty="0"/>
              <a:t>Tidal barrages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37008" y="2242211"/>
            <a:ext cx="3045113" cy="1296988"/>
          </a:xfrm>
        </p:spPr>
        <p:txBody>
          <a:bodyPr/>
          <a:lstStyle/>
          <a:p>
            <a:pPr marL="0" indent="0" eaLnBrk="1" hangingPunct="1">
              <a:buFontTx/>
              <a:buNone/>
              <a:defRPr/>
            </a:pPr>
            <a:r>
              <a:rPr lang="en-AU" sz="2400" dirty="0"/>
              <a:t>Tides move a huge amount of water twice each day.</a:t>
            </a:r>
          </a:p>
        </p:txBody>
      </p:sp>
      <p:pic>
        <p:nvPicPr>
          <p:cNvPr id="15364" name="Picture 5" descr="tidal barrages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6533" y="1101725"/>
            <a:ext cx="4902200" cy="496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5" name="Rectangle 7"/>
          <p:cNvSpPr>
            <a:spLocks noChangeArrowheads="1"/>
          </p:cNvSpPr>
          <p:nvPr/>
        </p:nvSpPr>
        <p:spPr bwMode="auto">
          <a:xfrm>
            <a:off x="5525896" y="4889535"/>
            <a:ext cx="305435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AU" sz="2400" dirty="0">
                <a:ea typeface="ＭＳ Ｐゴシック" charset="0"/>
              </a:rPr>
              <a:t>Using this force could provide a great amount of energy.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AU" sz="3600" b="1" dirty="0"/>
              <a:t>How does it work?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69275"/>
            <a:ext cx="8229600" cy="3788498"/>
          </a:xfrm>
        </p:spPr>
        <p:txBody>
          <a:bodyPr/>
          <a:lstStyle/>
          <a:p>
            <a:pPr eaLnBrk="1" hangingPunct="1">
              <a:defRPr/>
            </a:pPr>
            <a:r>
              <a:rPr lang="en-AU" sz="2400" dirty="0"/>
              <a:t>A huge dam (called a</a:t>
            </a:r>
            <a:r>
              <a:rPr lang="ja-JP" altLang="en-US" sz="2400" dirty="0"/>
              <a:t> </a:t>
            </a:r>
            <a:r>
              <a:rPr lang="en-AU" altLang="ja-JP" sz="2400" dirty="0"/>
              <a:t>‘barrage’) is built across a river estuary. </a:t>
            </a:r>
            <a:br>
              <a:rPr lang="en-AU" altLang="ja-JP" sz="2400" dirty="0"/>
            </a:br>
            <a:endParaRPr lang="en-AU" altLang="ja-JP" sz="2400" dirty="0"/>
          </a:p>
          <a:p>
            <a:pPr eaLnBrk="1" hangingPunct="1">
              <a:defRPr/>
            </a:pPr>
            <a:r>
              <a:rPr lang="en-AU" sz="2400" dirty="0"/>
              <a:t>When the tide goes in and out, the water flows through tunnels in the dam.</a:t>
            </a:r>
            <a:br>
              <a:rPr lang="en-AU" sz="2400" dirty="0"/>
            </a:br>
            <a:endParaRPr lang="en-AU" sz="2400" dirty="0"/>
          </a:p>
          <a:p>
            <a:pPr eaLnBrk="1" hangingPunct="1">
              <a:defRPr/>
            </a:pPr>
            <a:r>
              <a:rPr lang="en-AU" sz="2400" dirty="0"/>
              <a:t>The movement of the tides can be used to turn a turbine, or it can be used to push air through a pipe, which then turns a turbine.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535187" y="386038"/>
            <a:ext cx="8229600" cy="900112"/>
          </a:xfrm>
        </p:spPr>
        <p:txBody>
          <a:bodyPr/>
          <a:lstStyle/>
          <a:p>
            <a:pPr algn="l" eaLnBrk="1" hangingPunct="1">
              <a:defRPr/>
            </a:pPr>
            <a:r>
              <a:rPr lang="en-AU" sz="2800" b="1" dirty="0"/>
              <a:t>Advantages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2387" y="1222431"/>
            <a:ext cx="7374944" cy="1214438"/>
          </a:xfrm>
        </p:spPr>
        <p:txBody>
          <a:bodyPr/>
          <a:lstStyle/>
          <a:p>
            <a:pPr eaLnBrk="1" hangingPunct="1">
              <a:defRPr/>
            </a:pPr>
            <a:r>
              <a:rPr lang="en-AU" sz="2400" dirty="0"/>
              <a:t>Tides are predictable, so we can plan to have other power stations generating at those times when the tidal station is out of action. </a:t>
            </a:r>
          </a:p>
          <a:p>
            <a:pPr eaLnBrk="1" hangingPunct="1">
              <a:defRPr/>
            </a:pPr>
            <a:endParaRPr lang="en-AU" sz="2400" dirty="0"/>
          </a:p>
          <a:p>
            <a:pPr eaLnBrk="1" hangingPunct="1">
              <a:defRPr/>
            </a:pPr>
            <a:endParaRPr lang="en-AU" sz="2400" dirty="0"/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535187" y="2538768"/>
            <a:ext cx="8229600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r>
              <a:rPr lang="en-AU" sz="2800" b="1" dirty="0">
                <a:solidFill>
                  <a:schemeClr val="tx2"/>
                </a:solidFill>
                <a:ea typeface="ＭＳ Ｐゴシック" charset="0"/>
              </a:rPr>
              <a:t>Disadvantages</a:t>
            </a:r>
          </a:p>
        </p:txBody>
      </p:sp>
      <p:sp>
        <p:nvSpPr>
          <p:cNvPr id="29701" name="Rectangle 5"/>
          <p:cNvSpPr>
            <a:spLocks noChangeArrowheads="1"/>
          </p:cNvSpPr>
          <p:nvPr/>
        </p:nvSpPr>
        <p:spPr bwMode="auto">
          <a:xfrm>
            <a:off x="992387" y="3454891"/>
            <a:ext cx="7419090" cy="105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AU" sz="2400" dirty="0">
                <a:ea typeface="ＭＳ Ｐゴシック" charset="0"/>
              </a:rPr>
              <a:t>Tidal barrages can only generate when the tide is flowing in or out, e.g. only for 10 hours each day.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AU" sz="3600" b="1" dirty="0"/>
              <a:t>Hydro-electric power: </a:t>
            </a:r>
            <a:br>
              <a:rPr lang="en-AU" sz="3600" b="1" dirty="0"/>
            </a:br>
            <a:r>
              <a:rPr lang="en-AU" sz="3600" b="1" dirty="0"/>
              <a:t>E</a:t>
            </a:r>
            <a:r>
              <a:rPr lang="en-AU" sz="3200" b="1" dirty="0"/>
              <a:t>nergy from falling water</a:t>
            </a:r>
          </a:p>
        </p:txBody>
      </p:sp>
      <p:pic>
        <p:nvPicPr>
          <p:cNvPr id="18435" name="Picture 5" descr="falling wa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73200" y="1892878"/>
            <a:ext cx="6197600" cy="394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AU" sz="3600" b="1" dirty="0"/>
              <a:t>Hydro-electric dam</a:t>
            </a:r>
          </a:p>
        </p:txBody>
      </p:sp>
      <p:pic>
        <p:nvPicPr>
          <p:cNvPr id="19459" name="Picture 5" descr="File:Hydro electric da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0" y="1019533"/>
            <a:ext cx="7620000" cy="511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Rectangle 1"/>
          <p:cNvSpPr>
            <a:spLocks noChangeArrowheads="1"/>
          </p:cNvSpPr>
          <p:nvPr/>
        </p:nvSpPr>
        <p:spPr bwMode="auto">
          <a:xfrm>
            <a:off x="762000" y="6134458"/>
            <a:ext cx="755650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AU" sz="800" dirty="0">
                <a:solidFill>
                  <a:srgbClr val="A6A6A6"/>
                </a:solidFill>
              </a:rPr>
              <a:t>http://commons.wikimedia.org/wiki/File:Hydro_electric_dam.jpg</a:t>
            </a:r>
            <a:endParaRPr lang="en-AU" altLang="en-US" sz="700" dirty="0">
              <a:solidFill>
                <a:srgbClr val="A6A6A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613"/>
            <a:ext cx="9144000" cy="901700"/>
          </a:xfrm>
        </p:spPr>
        <p:txBody>
          <a:bodyPr/>
          <a:lstStyle/>
          <a:p>
            <a:pPr eaLnBrk="1" hangingPunct="1">
              <a:defRPr/>
            </a:pPr>
            <a:r>
              <a:rPr lang="en-AU" sz="3600" b="1" dirty="0"/>
              <a:t>How does it work?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81963"/>
            <a:ext cx="8229600" cy="3998350"/>
          </a:xfrm>
        </p:spPr>
        <p:txBody>
          <a:bodyPr/>
          <a:lstStyle/>
          <a:p>
            <a:pPr eaLnBrk="1" hangingPunct="1">
              <a:spcBef>
                <a:spcPts val="0"/>
              </a:spcBef>
              <a:spcAft>
                <a:spcPts val="3000"/>
              </a:spcAft>
              <a:defRPr/>
            </a:pPr>
            <a:r>
              <a:rPr lang="en-AU" sz="2400" dirty="0"/>
              <a:t>A dam is built to trap water, usually in a valley where there is an existing lake. </a:t>
            </a:r>
          </a:p>
          <a:p>
            <a:pPr eaLnBrk="1" hangingPunct="1">
              <a:spcBef>
                <a:spcPts val="0"/>
              </a:spcBef>
              <a:spcAft>
                <a:spcPts val="3000"/>
              </a:spcAft>
              <a:defRPr/>
            </a:pPr>
            <a:r>
              <a:rPr lang="en-AU" sz="2400" dirty="0"/>
              <a:t>Water is allowed to flow through tunnels in the dam to turn turbines and drive generators.</a:t>
            </a:r>
          </a:p>
          <a:p>
            <a:pPr eaLnBrk="1" hangingPunct="1">
              <a:spcBef>
                <a:spcPts val="0"/>
              </a:spcBef>
              <a:spcAft>
                <a:spcPts val="3000"/>
              </a:spcAft>
              <a:defRPr/>
            </a:pPr>
            <a:r>
              <a:rPr lang="en-AU" sz="2400" dirty="0"/>
              <a:t>Hydro-electric power stations can generate a great deal of power very cheaply.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AU" sz="3600" b="1" dirty="0"/>
              <a:t>Water cycle keeps the dam supplied with water for free</a:t>
            </a:r>
          </a:p>
        </p:txBody>
      </p:sp>
      <p:pic>
        <p:nvPicPr>
          <p:cNvPr id="34821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84400" y="1518281"/>
            <a:ext cx="4775200" cy="425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1508" name="Rectangle 1"/>
          <p:cNvSpPr>
            <a:spLocks noChangeArrowheads="1"/>
          </p:cNvSpPr>
          <p:nvPr/>
        </p:nvSpPr>
        <p:spPr bwMode="auto">
          <a:xfrm>
            <a:off x="1102519" y="5864692"/>
            <a:ext cx="69389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>
              <a:buNone/>
            </a:pPr>
            <a:r>
              <a:rPr lang="en-AU" sz="800" dirty="0"/>
              <a:t>‘</a:t>
            </a:r>
            <a:r>
              <a:rPr lang="en-AU" sz="800" dirty="0">
                <a:solidFill>
                  <a:srgbClr val="7F7F7F"/>
                </a:solidFill>
              </a:rPr>
              <a:t>Climate change may alter how water moves through the water cycle’ in </a:t>
            </a:r>
            <a:r>
              <a:rPr lang="en-AU" sz="800" i="1" dirty="0">
                <a:solidFill>
                  <a:srgbClr val="7F7F7F"/>
                </a:solidFill>
              </a:rPr>
              <a:t>Wisconsin's Changing Climate: Impacts and Adaptation </a:t>
            </a:r>
            <a:r>
              <a:rPr lang="en-AU" sz="800" dirty="0">
                <a:solidFill>
                  <a:srgbClr val="7F7F7F"/>
                </a:solidFill>
              </a:rPr>
              <a:t>(page 46). 2011. Wisconsin Initiative on Climate Change Impacts. Nelson Institute for Environmental Studies, University of Wisconsin-Madison and the Wisconsin Department of Natural Resources, Madison, Wisconsin. http://www.wicci.wisc.edu/report/2011_WICCI-Report.pdf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0398" y="1423359"/>
            <a:ext cx="8003204" cy="40797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AU" sz="2400" dirty="0"/>
              <a:t>Once the dam is built, the energy is virtually free.</a:t>
            </a:r>
            <a:br>
              <a:rPr lang="en-AU" sz="2400" dirty="0"/>
            </a:br>
            <a:r>
              <a:rPr lang="en-AU" sz="2400" dirty="0"/>
              <a:t> 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AU" sz="2400" dirty="0"/>
              <a:t>No waste or pollution is produced.</a:t>
            </a:r>
            <a:br>
              <a:rPr lang="en-AU" sz="2400" dirty="0"/>
            </a:br>
            <a:endParaRPr lang="en-AU" sz="2400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AU" sz="2400" dirty="0"/>
              <a:t>Much more reliable than wind, solar or wave power. Electricity can be generated constantly.</a:t>
            </a:r>
            <a:br>
              <a:rPr lang="en-AU" sz="2400" dirty="0"/>
            </a:br>
            <a:r>
              <a:rPr lang="en-AU" sz="2400" dirty="0"/>
              <a:t> 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AU" sz="2400" dirty="0"/>
              <a:t>Water can be stored above the dam ready to cope with peaks in demand.</a:t>
            </a:r>
            <a:br>
              <a:rPr lang="en-AU" sz="2400" dirty="0"/>
            </a:br>
            <a:endParaRPr lang="en-AU" sz="2400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AU" sz="2400" dirty="0"/>
              <a:t>Hydro-electric power stations can increase to full power very quickly, unlike other power stations. 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 sz="3600" b="1" dirty="0"/>
              <a:t>Advantages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11658"/>
            <a:ext cx="8229600" cy="846138"/>
          </a:xfrm>
        </p:spPr>
        <p:txBody>
          <a:bodyPr/>
          <a:lstStyle/>
          <a:p>
            <a:pPr eaLnBrk="1" hangingPunct="1">
              <a:defRPr/>
            </a:pPr>
            <a:r>
              <a:rPr lang="en-AU" sz="3600" b="1" dirty="0"/>
              <a:t>Disadvantages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83373"/>
            <a:ext cx="8229600" cy="4598234"/>
          </a:xfrm>
        </p:spPr>
        <p:txBody>
          <a:bodyPr/>
          <a:lstStyle/>
          <a:p>
            <a:pPr eaLnBrk="1" hangingPunct="1">
              <a:spcBef>
                <a:spcPts val="0"/>
              </a:spcBef>
              <a:spcAft>
                <a:spcPts val="2400"/>
              </a:spcAft>
              <a:defRPr/>
            </a:pPr>
            <a:r>
              <a:rPr lang="en-AU" sz="2400" dirty="0"/>
              <a:t>The dams are expensive to build. However, many dams are also used for flood control or irrigation, so building costs can be shared.</a:t>
            </a:r>
          </a:p>
          <a:p>
            <a:pPr eaLnBrk="1" hangingPunct="1">
              <a:spcBef>
                <a:spcPts val="0"/>
              </a:spcBef>
              <a:spcAft>
                <a:spcPts val="2400"/>
              </a:spcAft>
              <a:defRPr/>
            </a:pPr>
            <a:r>
              <a:rPr lang="en-AU" sz="2400" dirty="0"/>
              <a:t>Building a large dam will flood a very large area upstream, causing problems for the people, animals and plants living there.</a:t>
            </a:r>
          </a:p>
          <a:p>
            <a:pPr eaLnBrk="1" hangingPunct="1">
              <a:spcBef>
                <a:spcPts val="0"/>
              </a:spcBef>
              <a:spcAft>
                <a:spcPts val="2400"/>
              </a:spcAft>
              <a:defRPr/>
            </a:pPr>
            <a:r>
              <a:rPr lang="en-AU" sz="2400" dirty="0"/>
              <a:t>Finding a suitable site can be difficult — the impact on residents and the environment may be unacceptable.</a:t>
            </a:r>
          </a:p>
          <a:p>
            <a:pPr eaLnBrk="1" hangingPunct="1">
              <a:spcBef>
                <a:spcPts val="0"/>
              </a:spcBef>
              <a:spcAft>
                <a:spcPts val="2400"/>
              </a:spcAft>
              <a:defRPr/>
            </a:pPr>
            <a:r>
              <a:rPr lang="en-AU" sz="2400" dirty="0"/>
              <a:t>Water quality and quantity downstream can be affected, which can have an impact on plant life.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VISE_Sci_Y06_U2_SS_Sustainable source of energy_ water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REVISE_Sci_Y06_U2_SS_Sustainable source of energy_ water</Template>
  <TotalTime>284</TotalTime>
  <Words>530</Words>
  <Application>Microsoft Office PowerPoint</Application>
  <PresentationFormat>On-screen Show (4:3)</PresentationFormat>
  <Paragraphs>36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REVISE_Sci_Y06_U2_SS_Sustainable source of energy_ water</vt:lpstr>
      <vt:lpstr>PowerPoint Presentation</vt:lpstr>
      <vt:lpstr>Tidal power: Energy from tides</vt:lpstr>
      <vt:lpstr>Tidal barrages</vt:lpstr>
      <vt:lpstr>How does it work?</vt:lpstr>
      <vt:lpstr>Advantages</vt:lpstr>
      <vt:lpstr>Hydro-electric power:  Energy from falling water</vt:lpstr>
      <vt:lpstr>Hydro-electric dam</vt:lpstr>
      <vt:lpstr>How does it work?</vt:lpstr>
      <vt:lpstr>Water cycle keeps the dam supplied with water for free</vt:lpstr>
      <vt:lpstr>Advantages</vt:lpstr>
      <vt:lpstr>Disadvantages</vt:lpstr>
    </vt:vector>
  </TitlesOfParts>
  <Company>Queensland Government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ROBERTSON, Jacquelyn</dc:creator>
  <cp:lastModifiedBy>Douglas Sutherland</cp:lastModifiedBy>
  <cp:revision>54</cp:revision>
  <dcterms:created xsi:type="dcterms:W3CDTF">2013-11-10T21:33:10Z</dcterms:created>
  <dcterms:modified xsi:type="dcterms:W3CDTF">2023-07-29T23:55:14Z</dcterms:modified>
</cp:coreProperties>
</file>