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6" r:id="rId2"/>
    <p:sldId id="258" r:id="rId3"/>
    <p:sldId id="260" r:id="rId4"/>
    <p:sldId id="262" r:id="rId5"/>
    <p:sldId id="263" r:id="rId6"/>
    <p:sldId id="267" r:id="rId7"/>
  </p:sldIdLst>
  <p:sldSz cx="9144000" cy="6858000" type="screen4x3"/>
  <p:notesSz cx="6858000" cy="9144000"/>
  <p:defaultTextStyle>
    <a:defPPr>
      <a:defRPr lang="en-AU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D798C"/>
    <a:srgbClr val="5E8AD0"/>
    <a:srgbClr val="592F1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105B1ED-4ED8-4E72-A0D9-AB34F4C0AE31}" v="2" dt="2023-07-30T00:40:12.52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50" d="100"/>
          <a:sy n="150" d="100"/>
        </p:scale>
        <p:origin x="137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9B5B9CF-E4CF-4025-B202-6C6E262C9DFC}" type="datetimeFigureOut">
              <a:rPr lang="en-AU" smtClean="0"/>
              <a:t>30/07/2023</a:t>
            </a:fld>
            <a:endParaRPr lang="en-AU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894306F-3298-4F08-91E7-5788FCA37FEA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287104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894306F-3298-4F08-91E7-5788FCA37FEA}" type="slidenum">
              <a:rPr lang="en-AU" smtClean="0"/>
              <a:t>1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1777599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176963"/>
            <a:ext cx="2133600" cy="5445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1168D2-4BC3-479D-9E82-2589A2E0E0B8}" type="slidenum">
              <a:rPr lang="en-AU"/>
              <a:pPr>
                <a:defRPr/>
              </a:pPr>
              <a:t>‹#›</a:t>
            </a:fld>
            <a:endParaRPr lang="en-AU" dirty="0"/>
          </a:p>
          <a:p>
            <a:pPr>
              <a:defRPr/>
            </a:pPr>
            <a:r>
              <a:rPr lang="en-AU" dirty="0"/>
              <a:t>Sci_Y06_U2_SS_Sustainable source of energy_ wind</a:t>
            </a:r>
          </a:p>
          <a:p>
            <a:pPr>
              <a:defRPr/>
            </a:pPr>
            <a:r>
              <a:rPr lang="en-AU" dirty="0"/>
              <a:t>Draft for consultation</a:t>
            </a:r>
          </a:p>
        </p:txBody>
      </p:sp>
    </p:spTree>
    <p:extLst>
      <p:ext uri="{BB962C8B-B14F-4D97-AF65-F5344CB8AC3E}">
        <p14:creationId xmlns:p14="http://schemas.microsoft.com/office/powerpoint/2010/main" val="175486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176963"/>
            <a:ext cx="2133600" cy="5445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1289B85-457F-460A-B315-C791A67B0FC5}" type="slidenum">
              <a:rPr lang="en-AU"/>
              <a:pPr>
                <a:defRPr/>
              </a:pPr>
              <a:t>‹#›</a:t>
            </a:fld>
            <a:endParaRPr lang="en-AU" dirty="0"/>
          </a:p>
          <a:p>
            <a:pPr>
              <a:defRPr/>
            </a:pPr>
            <a:r>
              <a:rPr lang="en-AU" dirty="0"/>
              <a:t>Sci_Y06_U2_SS_Sustainable source of energy_ wind</a:t>
            </a:r>
          </a:p>
          <a:p>
            <a:pPr>
              <a:defRPr/>
            </a:pPr>
            <a:r>
              <a:rPr lang="en-AU" dirty="0"/>
              <a:t>Draft for consultation</a:t>
            </a:r>
          </a:p>
        </p:txBody>
      </p:sp>
    </p:spTree>
    <p:extLst>
      <p:ext uri="{BB962C8B-B14F-4D97-AF65-F5344CB8AC3E}">
        <p14:creationId xmlns:p14="http://schemas.microsoft.com/office/powerpoint/2010/main" val="25360135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176963"/>
            <a:ext cx="2133600" cy="5445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0147C1B-3ECE-4BB8-971C-AF376607DED2}" type="slidenum">
              <a:rPr lang="en-AU"/>
              <a:pPr>
                <a:defRPr/>
              </a:pPr>
              <a:t>‹#›</a:t>
            </a:fld>
            <a:endParaRPr lang="en-AU" dirty="0"/>
          </a:p>
          <a:p>
            <a:pPr>
              <a:defRPr/>
            </a:pPr>
            <a:r>
              <a:rPr lang="en-AU" dirty="0"/>
              <a:t>Sci_Y06_U2_SS_Sustainable source of energy_ wind</a:t>
            </a:r>
          </a:p>
          <a:p>
            <a:pPr>
              <a:defRPr/>
            </a:pPr>
            <a:r>
              <a:rPr lang="en-AU" dirty="0"/>
              <a:t>Draft for consultation</a:t>
            </a:r>
          </a:p>
        </p:txBody>
      </p:sp>
    </p:spTree>
    <p:extLst>
      <p:ext uri="{BB962C8B-B14F-4D97-AF65-F5344CB8AC3E}">
        <p14:creationId xmlns:p14="http://schemas.microsoft.com/office/powerpoint/2010/main" val="9883322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176963"/>
            <a:ext cx="2133600" cy="5445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14B21BC-1664-4628-B9F7-F04AE6F3AF17}" type="slidenum">
              <a:rPr lang="en-AU"/>
              <a:pPr>
                <a:defRPr/>
              </a:pPr>
              <a:t>‹#›</a:t>
            </a:fld>
            <a:endParaRPr lang="en-AU" dirty="0"/>
          </a:p>
          <a:p>
            <a:pPr>
              <a:defRPr/>
            </a:pPr>
            <a:r>
              <a:rPr lang="en-AU" dirty="0"/>
              <a:t>Sci_Y06_U2_SS_Sustainable source of energy_ wind</a:t>
            </a:r>
          </a:p>
          <a:p>
            <a:pPr>
              <a:defRPr/>
            </a:pPr>
            <a:r>
              <a:rPr lang="en-AU" dirty="0"/>
              <a:t>Draft for consultation</a:t>
            </a:r>
          </a:p>
        </p:txBody>
      </p:sp>
    </p:spTree>
    <p:extLst>
      <p:ext uri="{BB962C8B-B14F-4D97-AF65-F5344CB8AC3E}">
        <p14:creationId xmlns:p14="http://schemas.microsoft.com/office/powerpoint/2010/main" val="1641038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176963"/>
            <a:ext cx="2133600" cy="5445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24A98B0-8BA7-4F3D-B1E8-3B9E7CD35C54}" type="slidenum">
              <a:rPr lang="en-AU"/>
              <a:pPr>
                <a:defRPr/>
              </a:pPr>
              <a:t>‹#›</a:t>
            </a:fld>
            <a:endParaRPr lang="en-AU" dirty="0"/>
          </a:p>
          <a:p>
            <a:pPr>
              <a:defRPr/>
            </a:pPr>
            <a:r>
              <a:rPr lang="en-AU" dirty="0"/>
              <a:t>Sci_Y06_U2_SS_Sustainable source of energy_ wind</a:t>
            </a:r>
          </a:p>
          <a:p>
            <a:pPr>
              <a:defRPr/>
            </a:pPr>
            <a:r>
              <a:rPr lang="en-AU" dirty="0"/>
              <a:t>Draft for consultation</a:t>
            </a:r>
          </a:p>
        </p:txBody>
      </p:sp>
    </p:spTree>
    <p:extLst>
      <p:ext uri="{BB962C8B-B14F-4D97-AF65-F5344CB8AC3E}">
        <p14:creationId xmlns:p14="http://schemas.microsoft.com/office/powerpoint/2010/main" val="4865023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176963"/>
            <a:ext cx="2133600" cy="5445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A8AAC8-2E66-44FC-81BC-2B1A5B18E822}" type="slidenum">
              <a:rPr lang="en-AU"/>
              <a:pPr>
                <a:defRPr/>
              </a:pPr>
              <a:t>‹#›</a:t>
            </a:fld>
            <a:endParaRPr lang="en-AU" dirty="0"/>
          </a:p>
          <a:p>
            <a:pPr>
              <a:defRPr/>
            </a:pPr>
            <a:r>
              <a:rPr lang="en-AU" dirty="0"/>
              <a:t>Sci_Y06_U2_SS_Sustainable source of energy_ wind</a:t>
            </a:r>
          </a:p>
          <a:p>
            <a:pPr>
              <a:defRPr/>
            </a:pPr>
            <a:r>
              <a:rPr lang="en-AU" dirty="0"/>
              <a:t>Draft for consultation</a:t>
            </a:r>
          </a:p>
        </p:txBody>
      </p:sp>
    </p:spTree>
    <p:extLst>
      <p:ext uri="{BB962C8B-B14F-4D97-AF65-F5344CB8AC3E}">
        <p14:creationId xmlns:p14="http://schemas.microsoft.com/office/powerpoint/2010/main" val="12500778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176963"/>
            <a:ext cx="2133600" cy="5445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CED3DD9-52C1-48B8-97CC-EF1DB58B64A4}" type="slidenum">
              <a:rPr lang="en-AU"/>
              <a:pPr>
                <a:defRPr/>
              </a:pPr>
              <a:t>‹#›</a:t>
            </a:fld>
            <a:endParaRPr lang="en-AU" dirty="0"/>
          </a:p>
          <a:p>
            <a:pPr>
              <a:defRPr/>
            </a:pPr>
            <a:r>
              <a:rPr lang="en-AU" dirty="0"/>
              <a:t>Sci_Y06_U2_SS_Sustainable source of energy_ wind</a:t>
            </a:r>
          </a:p>
          <a:p>
            <a:pPr>
              <a:defRPr/>
            </a:pPr>
            <a:r>
              <a:rPr lang="en-AU" dirty="0"/>
              <a:t>Draft for consultation</a:t>
            </a:r>
          </a:p>
        </p:txBody>
      </p:sp>
    </p:spTree>
    <p:extLst>
      <p:ext uri="{BB962C8B-B14F-4D97-AF65-F5344CB8AC3E}">
        <p14:creationId xmlns:p14="http://schemas.microsoft.com/office/powerpoint/2010/main" val="16718069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176963"/>
            <a:ext cx="2133600" cy="5445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A4A242D-6795-4732-907B-A1ABEAA88EF8}" type="slidenum">
              <a:rPr lang="en-AU"/>
              <a:pPr>
                <a:defRPr/>
              </a:pPr>
              <a:t>‹#›</a:t>
            </a:fld>
            <a:endParaRPr lang="en-AU" dirty="0"/>
          </a:p>
          <a:p>
            <a:pPr>
              <a:defRPr/>
            </a:pPr>
            <a:r>
              <a:rPr lang="en-AU" dirty="0"/>
              <a:t>Sci_Y06_U2_SS_Sustainable source of energy_ wind</a:t>
            </a:r>
          </a:p>
          <a:p>
            <a:pPr>
              <a:defRPr/>
            </a:pPr>
            <a:r>
              <a:rPr lang="en-AU" dirty="0"/>
              <a:t>Draft for consultation</a:t>
            </a:r>
          </a:p>
        </p:txBody>
      </p:sp>
    </p:spTree>
    <p:extLst>
      <p:ext uri="{BB962C8B-B14F-4D97-AF65-F5344CB8AC3E}">
        <p14:creationId xmlns:p14="http://schemas.microsoft.com/office/powerpoint/2010/main" val="21627001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176963"/>
            <a:ext cx="2133600" cy="5445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6CEF12-F904-4B41-86BA-AE37359865EB}" type="slidenum">
              <a:rPr lang="en-AU"/>
              <a:pPr>
                <a:defRPr/>
              </a:pPr>
              <a:t>‹#›</a:t>
            </a:fld>
            <a:endParaRPr lang="en-AU" dirty="0"/>
          </a:p>
          <a:p>
            <a:pPr>
              <a:defRPr/>
            </a:pPr>
            <a:r>
              <a:rPr lang="en-AU" dirty="0"/>
              <a:t>Sci_Y06_U2_SS_Sustainable source of energy_ wind</a:t>
            </a:r>
          </a:p>
          <a:p>
            <a:pPr>
              <a:defRPr/>
            </a:pPr>
            <a:r>
              <a:rPr lang="en-AU" dirty="0"/>
              <a:t>Draft for consultation</a:t>
            </a:r>
          </a:p>
        </p:txBody>
      </p:sp>
    </p:spTree>
    <p:extLst>
      <p:ext uri="{BB962C8B-B14F-4D97-AF65-F5344CB8AC3E}">
        <p14:creationId xmlns:p14="http://schemas.microsoft.com/office/powerpoint/2010/main" val="30719316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176963"/>
            <a:ext cx="2133600" cy="5445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C8E801-7853-4456-8D12-FAFAB473E418}" type="slidenum">
              <a:rPr lang="en-AU"/>
              <a:pPr>
                <a:defRPr/>
              </a:pPr>
              <a:t>‹#›</a:t>
            </a:fld>
            <a:endParaRPr lang="en-AU" dirty="0"/>
          </a:p>
          <a:p>
            <a:pPr>
              <a:defRPr/>
            </a:pPr>
            <a:r>
              <a:rPr lang="en-AU" dirty="0"/>
              <a:t>Sci_Y06_U2_SS_Sustainable source of energy_ wind</a:t>
            </a:r>
          </a:p>
          <a:p>
            <a:pPr>
              <a:defRPr/>
            </a:pPr>
            <a:r>
              <a:rPr lang="en-AU" dirty="0"/>
              <a:t>Draft for consultation</a:t>
            </a:r>
          </a:p>
        </p:txBody>
      </p:sp>
    </p:spTree>
    <p:extLst>
      <p:ext uri="{BB962C8B-B14F-4D97-AF65-F5344CB8AC3E}">
        <p14:creationId xmlns:p14="http://schemas.microsoft.com/office/powerpoint/2010/main" val="164624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176963"/>
            <a:ext cx="2133600" cy="54451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237E20-A902-42D9-A3C3-BB012F2464D4}" type="slidenum">
              <a:rPr lang="en-AU"/>
              <a:pPr>
                <a:defRPr/>
              </a:pPr>
              <a:t>‹#›</a:t>
            </a:fld>
            <a:endParaRPr lang="en-AU" dirty="0"/>
          </a:p>
          <a:p>
            <a:pPr>
              <a:defRPr/>
            </a:pPr>
            <a:r>
              <a:rPr lang="en-AU" dirty="0"/>
              <a:t>Sci_Y06_U2_SS_Sustainable source of energy_ wind</a:t>
            </a:r>
          </a:p>
          <a:p>
            <a:pPr>
              <a:defRPr/>
            </a:pPr>
            <a:r>
              <a:rPr lang="en-AU" dirty="0"/>
              <a:t>Draft for consultation</a:t>
            </a:r>
          </a:p>
        </p:txBody>
      </p:sp>
    </p:spTree>
    <p:extLst>
      <p:ext uri="{BB962C8B-B14F-4D97-AF65-F5344CB8AC3E}">
        <p14:creationId xmlns:p14="http://schemas.microsoft.com/office/powerpoint/2010/main" val="33276467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emf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8" name="Rectangle 7"/>
          <p:cNvSpPr/>
          <p:nvPr userDrawn="1"/>
        </p:nvSpPr>
        <p:spPr>
          <a:xfrm>
            <a:off x="0" y="6704929"/>
            <a:ext cx="1940280" cy="1692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 rtl="0"/>
            <a:r>
              <a:rPr lang="en-US" sz="500" b="0" i="0" u="none" strike="noStrike" kern="1200" baseline="0" dirty="0">
                <a:solidFill>
                  <a:srgbClr val="000000"/>
                </a:solidFill>
                <a:latin typeface="Arial"/>
                <a:ea typeface="+mn-ea"/>
                <a:cs typeface="Arial"/>
              </a:rPr>
              <a:t>Sci_Y06_U2_SS_Renewable_wind</a:t>
            </a:r>
          </a:p>
        </p:txBody>
      </p:sp>
      <p:pic>
        <p:nvPicPr>
          <p:cNvPr id="9" name="Picture 8" descr="C2CIcon.png"/>
          <p:cNvPicPr>
            <a:picLocks noChangeAspect="1"/>
          </p:cNvPicPr>
          <p:nvPr userDrawn="1"/>
        </p:nvPicPr>
        <p:blipFill>
          <a:blip r:embed="rId1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6144" y="6520911"/>
            <a:ext cx="424150" cy="184018"/>
          </a:xfrm>
          <a:prstGeom prst="rect">
            <a:avLst/>
          </a:prstGeom>
        </p:spPr>
      </p:pic>
      <p:pic>
        <p:nvPicPr>
          <p:cNvPr id="10" name="Picture 9" descr="Description: Description: Description: Description: C2C_Data:Dev Area:ePub stuff:Gov Crest:Qld-CoA-Stylised-1L-Online-mono-1???.eps"/>
          <p:cNvPicPr/>
          <p:nvPr userDrawn="1"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53964" y="6571602"/>
            <a:ext cx="1313166" cy="231117"/>
          </a:xfrm>
          <a:prstGeom prst="rect">
            <a:avLst/>
          </a:prstGeom>
          <a:noFill/>
        </p:spPr>
      </p:pic>
      <p:pic>
        <p:nvPicPr>
          <p:cNvPr id="13" name="Picture 12" descr="../../../../../../../../Volumes/Data/Coredata/DevArea/C2C/ePublishing/Templates/logos/201"/>
          <p:cNvPicPr/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0000" y="6593809"/>
            <a:ext cx="1584000" cy="191688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</p:sldLayoutIdLst>
  <p:hf sldNum="0" hdr="0" ft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charset="0"/>
          <a:ea typeface="ＭＳ Ｐゴシック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14" descr="7adab92a-6935-42c9-bdf7-c20815666415@qed"/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0" y="332656"/>
            <a:ext cx="9144000" cy="60618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4" name="AutoShape 9" descr="627588-truenergy-039-s-yallourn-north-brown-coal-power-station"/>
          <p:cNvSpPr>
            <a:spLocks noChangeAspect="1" noChangeArrowheads="1"/>
          </p:cNvSpPr>
          <p:nvPr/>
        </p:nvSpPr>
        <p:spPr bwMode="auto">
          <a:xfrm>
            <a:off x="179388" y="0"/>
            <a:ext cx="3048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1pPr>
            <a:lvl2pPr marL="742950" indent="-285750" eaLnBrk="0" hangingPunct="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2pPr>
            <a:lvl3pPr marL="1143000" indent="-228600" eaLnBrk="0" hangingPunct="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3pPr>
            <a:lvl4pPr marL="1600200" indent="-228600" eaLnBrk="0" hangingPunct="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4pPr>
            <a:lvl5pPr marL="2057400" indent="-228600" eaLnBrk="0" hangingPunct="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charset="0"/>
                <a:ea typeface="ＭＳ Ｐゴシック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endParaRPr lang="en-US" altLang="en-US" sz="1800" dirty="0"/>
          </a:p>
        </p:txBody>
      </p:sp>
      <p:sp>
        <p:nvSpPr>
          <p:cNvPr id="14348" name="Rectangle 12"/>
          <p:cNvSpPr>
            <a:spLocks noChangeArrowheads="1"/>
          </p:cNvSpPr>
          <p:nvPr/>
        </p:nvSpPr>
        <p:spPr bwMode="auto">
          <a:xfrm>
            <a:off x="107504" y="332656"/>
            <a:ext cx="6552728" cy="1512168"/>
          </a:xfrm>
          <a:prstGeom prst="rect">
            <a:avLst/>
          </a:prstGeom>
          <a:solidFill>
            <a:srgbClr val="5E8AD0"/>
          </a:solidFill>
          <a:ln>
            <a:noFill/>
          </a:ln>
          <a:effectLst/>
        </p:spPr>
        <p:txBody>
          <a:bodyPr anchor="ctr"/>
          <a:lstStyle/>
          <a:p>
            <a:pPr>
              <a:defRPr/>
            </a:pPr>
            <a:r>
              <a:rPr lang="en-AU" sz="3600" b="1" dirty="0">
                <a:solidFill>
                  <a:srgbClr val="592F1B"/>
                </a:solidFill>
                <a:ea typeface="ＭＳ Ｐゴシック" charset="0"/>
              </a:rPr>
              <a:t>Renewable source of energy: </a:t>
            </a:r>
            <a:r>
              <a:rPr lang="en-AU" sz="6000" b="1" dirty="0">
                <a:solidFill>
                  <a:srgbClr val="592F1B"/>
                </a:solidFill>
                <a:ea typeface="ＭＳ Ｐゴシック" charset="0"/>
              </a:rPr>
              <a:t>Wind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94065" y="0"/>
            <a:ext cx="8555870" cy="64164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AU" sz="4000" b="1" dirty="0">
                <a:solidFill>
                  <a:schemeClr val="bg1"/>
                </a:solidFill>
              </a:rPr>
              <a:t>Wind energy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67544" y="1268761"/>
            <a:ext cx="8229600" cy="4176464"/>
          </a:xfrm>
          <a:solidFill>
            <a:srgbClr val="5E8AD0">
              <a:alpha val="80000"/>
            </a:srgbClr>
          </a:solidFill>
        </p:spPr>
        <p:txBody>
          <a:bodyPr/>
          <a:lstStyle/>
          <a:p>
            <a:pPr marL="360000" eaLnBrk="1" hangingPunct="1">
              <a:spcBef>
                <a:spcPts val="0"/>
              </a:spcBef>
              <a:spcAft>
                <a:spcPts val="1200"/>
              </a:spcAft>
              <a:defRPr/>
            </a:pPr>
            <a:r>
              <a:rPr lang="en-AU" sz="2400" dirty="0">
                <a:solidFill>
                  <a:srgbClr val="592F1B"/>
                </a:solidFill>
              </a:rPr>
              <a:t>Wind energy is defined as the ‘</a:t>
            </a:r>
            <a:r>
              <a:rPr lang="en-AU" altLang="ja-JP" sz="2400" dirty="0">
                <a:solidFill>
                  <a:srgbClr val="592F1B"/>
                </a:solidFill>
              </a:rPr>
              <a:t>power generated by harnessing the wind’. </a:t>
            </a:r>
            <a:endParaRPr lang="en-AU" sz="2400" dirty="0">
              <a:solidFill>
                <a:srgbClr val="592F1B"/>
              </a:solidFill>
            </a:endParaRPr>
          </a:p>
          <a:p>
            <a:pPr marL="360000" eaLnBrk="1" hangingPunct="1">
              <a:spcBef>
                <a:spcPts val="0"/>
              </a:spcBef>
              <a:spcAft>
                <a:spcPts val="1200"/>
              </a:spcAft>
              <a:defRPr/>
            </a:pPr>
            <a:r>
              <a:rPr lang="en-AU" sz="2400" dirty="0">
                <a:solidFill>
                  <a:srgbClr val="592F1B"/>
                </a:solidFill>
              </a:rPr>
              <a:t>Wind is the ‘</a:t>
            </a:r>
            <a:r>
              <a:rPr lang="en-AU" altLang="ja-JP" sz="2400" dirty="0">
                <a:solidFill>
                  <a:srgbClr val="592F1B"/>
                </a:solidFill>
              </a:rPr>
              <a:t>force’ of air blowing across Earth’s surface.</a:t>
            </a:r>
            <a:endParaRPr lang="en-AU" sz="2400" dirty="0">
              <a:solidFill>
                <a:srgbClr val="592F1B"/>
              </a:solidFill>
            </a:endParaRPr>
          </a:p>
          <a:p>
            <a:pPr marL="360000" eaLnBrk="1" hangingPunct="1">
              <a:spcBef>
                <a:spcPts val="0"/>
              </a:spcBef>
              <a:spcAft>
                <a:spcPts val="1200"/>
              </a:spcAft>
              <a:defRPr/>
            </a:pPr>
            <a:r>
              <a:rPr lang="en-GB" sz="2400" dirty="0">
                <a:solidFill>
                  <a:srgbClr val="592F1B"/>
                </a:solidFill>
              </a:rPr>
              <a:t>Over 4000 years ago wind power was used by the Babylonians and Chinese to pump water for irrigating crops.</a:t>
            </a:r>
          </a:p>
          <a:p>
            <a:pPr marL="360000" eaLnBrk="1" hangingPunct="1">
              <a:spcBef>
                <a:spcPts val="0"/>
              </a:spcBef>
              <a:spcAft>
                <a:spcPts val="1200"/>
              </a:spcAft>
              <a:defRPr/>
            </a:pPr>
            <a:r>
              <a:rPr lang="en-GB" sz="2400" dirty="0">
                <a:solidFill>
                  <a:srgbClr val="592F1B"/>
                </a:solidFill>
              </a:rPr>
              <a:t>In the Middle Ages in Europe windmills were used to grind corn.</a:t>
            </a:r>
            <a:endParaRPr lang="en-AU" sz="2400" dirty="0">
              <a:solidFill>
                <a:srgbClr val="592F1B"/>
              </a:solidFill>
            </a:endParaRPr>
          </a:p>
          <a:p>
            <a:pPr marL="0" indent="0" eaLnBrk="1" hangingPunct="1">
              <a:lnSpc>
                <a:spcPct val="80000"/>
              </a:lnSpc>
              <a:buNone/>
              <a:defRPr/>
            </a:pPr>
            <a:endParaRPr lang="en-AU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4" name="Picture 4" descr="5ce2c297-0e14-428b-bc11-33ce26a350a1@qed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99361" y="1340768"/>
            <a:ext cx="7237977" cy="4824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AU" sz="4000" b="1" dirty="0">
                <a:solidFill>
                  <a:srgbClr val="5D798C"/>
                </a:solidFill>
              </a:rPr>
              <a:t>How does it work?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07504" y="1340768"/>
            <a:ext cx="3322638" cy="4824536"/>
          </a:xfrm>
          <a:solidFill>
            <a:srgbClr val="5D798C"/>
          </a:solidFill>
        </p:spPr>
        <p:txBody>
          <a:bodyPr anchor="ctr"/>
          <a:lstStyle/>
          <a:p>
            <a:pPr eaLnBrk="1" hangingPunct="1">
              <a:spcBef>
                <a:spcPts val="0"/>
              </a:spcBef>
              <a:spcAft>
                <a:spcPts val="1200"/>
              </a:spcAft>
              <a:defRPr/>
            </a:pPr>
            <a:r>
              <a:rPr lang="en-AU" sz="2400" dirty="0"/>
              <a:t>We use the energy in the wind by building a tall tower, with a large propeller / wind turbine on the top. </a:t>
            </a:r>
          </a:p>
          <a:p>
            <a:pPr eaLnBrk="1" hangingPunct="1">
              <a:spcBef>
                <a:spcPts val="0"/>
              </a:spcBef>
              <a:spcAft>
                <a:spcPts val="1200"/>
              </a:spcAft>
              <a:defRPr/>
            </a:pPr>
            <a:r>
              <a:rPr lang="en-AU" sz="2400" dirty="0"/>
              <a:t>The wind blows the propeller around, which turns a generator to produce electricity</a:t>
            </a:r>
            <a:r>
              <a:rPr lang="en-AU" sz="2400" b="1" dirty="0"/>
              <a:t>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4" descr="35eafb38-54e2-4e20-ab59-0a236b5c8577@qed"/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95537" y="927545"/>
            <a:ext cx="8352928" cy="52950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468313" y="0"/>
            <a:ext cx="8229600" cy="1143000"/>
          </a:xfrm>
        </p:spPr>
        <p:txBody>
          <a:bodyPr/>
          <a:lstStyle/>
          <a:p>
            <a:pPr eaLnBrk="1" hangingPunct="1">
              <a:defRPr/>
            </a:pPr>
            <a:r>
              <a:rPr lang="en-AU" sz="4000" b="1" dirty="0">
                <a:solidFill>
                  <a:srgbClr val="5D798C"/>
                </a:solidFill>
              </a:rPr>
              <a:t>Advantages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84438" y="1379538"/>
            <a:ext cx="6264026" cy="4391025"/>
          </a:xfrm>
          <a:solidFill>
            <a:srgbClr val="5D798C">
              <a:alpha val="64000"/>
            </a:srgbClr>
          </a:solidFill>
        </p:spPr>
        <p:txBody>
          <a:bodyPr/>
          <a:lstStyle/>
          <a:p>
            <a:pPr eaLnBrk="1" hangingPunct="1">
              <a:defRPr/>
            </a:pPr>
            <a:r>
              <a:rPr lang="en-AU" sz="2400" dirty="0">
                <a:solidFill>
                  <a:schemeClr val="bg1"/>
                </a:solidFill>
              </a:rPr>
              <a:t>Wind is free.</a:t>
            </a:r>
          </a:p>
          <a:p>
            <a:pPr eaLnBrk="1" hangingPunct="1">
              <a:defRPr/>
            </a:pPr>
            <a:r>
              <a:rPr lang="en-AU" sz="2400" dirty="0">
                <a:solidFill>
                  <a:schemeClr val="bg1"/>
                </a:solidFill>
              </a:rPr>
              <a:t>No pollution is produced as no fossil fuels are needed to power machinery. </a:t>
            </a:r>
          </a:p>
          <a:p>
            <a:pPr eaLnBrk="1" hangingPunct="1">
              <a:defRPr/>
            </a:pPr>
            <a:r>
              <a:rPr lang="en-AU" sz="2400" dirty="0">
                <a:solidFill>
                  <a:schemeClr val="bg1"/>
                </a:solidFill>
              </a:rPr>
              <a:t>The land where wind turbines are situated can still be used, e.g. cattle can graze around wind turbines. </a:t>
            </a:r>
          </a:p>
          <a:p>
            <a:pPr eaLnBrk="1" hangingPunct="1">
              <a:defRPr/>
            </a:pPr>
            <a:r>
              <a:rPr lang="en-AU" sz="2400" dirty="0">
                <a:solidFill>
                  <a:schemeClr val="bg1"/>
                </a:solidFill>
              </a:rPr>
              <a:t>Power can be easily supplied to remote areas through local wind farms. </a:t>
            </a:r>
          </a:p>
          <a:p>
            <a:pPr eaLnBrk="1" hangingPunct="1">
              <a:defRPr/>
            </a:pPr>
            <a:r>
              <a:rPr lang="en-AU" sz="2400" dirty="0">
                <a:solidFill>
                  <a:schemeClr val="bg1"/>
                </a:solidFill>
              </a:rPr>
              <a:t>Wind turbines are available in a range of sizes depending on need.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410" name="Picture 1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51520" y="0"/>
            <a:ext cx="8568952" cy="63813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1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0825" y="1125091"/>
            <a:ext cx="8569647" cy="4464149"/>
          </a:xfrm>
          <a:solidFill>
            <a:srgbClr val="5E8AD0">
              <a:alpha val="75000"/>
            </a:srgbClr>
          </a:solidFill>
        </p:spPr>
        <p:txBody>
          <a:bodyPr/>
          <a:lstStyle/>
          <a:p>
            <a:pPr eaLnBrk="1" hangingPunct="1">
              <a:spcBef>
                <a:spcPts val="0"/>
              </a:spcBef>
              <a:spcAft>
                <a:spcPts val="1200"/>
              </a:spcAft>
              <a:defRPr/>
            </a:pPr>
            <a:r>
              <a:rPr lang="en-AU" sz="2400" dirty="0">
                <a:solidFill>
                  <a:srgbClr val="592F1B"/>
                </a:solidFill>
              </a:rPr>
              <a:t>There may be interruptions to electricity supply because wind is unpredictable.</a:t>
            </a:r>
          </a:p>
          <a:p>
            <a:pPr eaLnBrk="1" hangingPunct="1">
              <a:spcBef>
                <a:spcPts val="0"/>
              </a:spcBef>
              <a:spcAft>
                <a:spcPts val="1200"/>
              </a:spcAft>
              <a:defRPr/>
            </a:pPr>
            <a:r>
              <a:rPr lang="en-AU" sz="2400" dirty="0">
                <a:solidFill>
                  <a:srgbClr val="592F1B"/>
                </a:solidFill>
              </a:rPr>
              <a:t>Areas of high wind are usually near the coast, so land may be expensive.</a:t>
            </a:r>
          </a:p>
          <a:p>
            <a:pPr eaLnBrk="1" hangingPunct="1">
              <a:spcBef>
                <a:spcPts val="0"/>
              </a:spcBef>
              <a:spcAft>
                <a:spcPts val="1200"/>
              </a:spcAft>
              <a:defRPr/>
            </a:pPr>
            <a:r>
              <a:rPr lang="en-AU" sz="2400" dirty="0">
                <a:solidFill>
                  <a:srgbClr val="592F1B"/>
                </a:solidFill>
              </a:rPr>
              <a:t>Migrating flocks of birds tend to like strong winds and might collide with wind generators.</a:t>
            </a:r>
          </a:p>
          <a:p>
            <a:pPr eaLnBrk="1" hangingPunct="1">
              <a:spcBef>
                <a:spcPts val="0"/>
              </a:spcBef>
              <a:spcAft>
                <a:spcPts val="1200"/>
              </a:spcAft>
              <a:defRPr/>
            </a:pPr>
            <a:r>
              <a:rPr lang="en-AU" sz="2400" dirty="0">
                <a:solidFill>
                  <a:srgbClr val="592F1B"/>
                </a:solidFill>
              </a:rPr>
              <a:t>Wind generators may affect telecommunication reception.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title"/>
          </p:nvPr>
        </p:nvSpPr>
        <p:spPr>
          <a:xfrm>
            <a:off x="0" y="260350"/>
            <a:ext cx="9144000" cy="647700"/>
          </a:xfrm>
        </p:spPr>
        <p:txBody>
          <a:bodyPr/>
          <a:lstStyle/>
          <a:p>
            <a:pPr eaLnBrk="1" hangingPunct="1">
              <a:defRPr/>
            </a:pPr>
            <a:r>
              <a:rPr lang="en-AU" sz="4000" b="1" dirty="0">
                <a:solidFill>
                  <a:schemeClr val="bg1"/>
                </a:solidFill>
              </a:rPr>
              <a:t>Disadvantages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AU" sz="3600" b="1" dirty="0">
                <a:solidFill>
                  <a:srgbClr val="5E8AD0"/>
                </a:solidFill>
              </a:rPr>
              <a:t>Attributions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spcBef>
                <a:spcPts val="1200"/>
              </a:spcBef>
              <a:buFontTx/>
              <a:buNone/>
              <a:defRPr/>
            </a:pPr>
            <a:r>
              <a:rPr lang="en-AU" sz="1400" b="1" dirty="0"/>
              <a:t>Slides 1, 3 &amp; 4: </a:t>
            </a:r>
            <a:r>
              <a:rPr lang="en-AU" altLang="en-US" sz="1400" dirty="0"/>
              <a:t>Image courtesy of Joseph Sambono. Used with permission.</a:t>
            </a:r>
          </a:p>
          <a:p>
            <a:pPr marL="0" indent="0">
              <a:spcBef>
                <a:spcPts val="1200"/>
              </a:spcBef>
              <a:buFontTx/>
              <a:buNone/>
              <a:defRPr/>
            </a:pPr>
            <a:r>
              <a:rPr lang="en-AU" sz="1400" b="1" dirty="0"/>
              <a:t>Slides 2 &amp; 5: </a:t>
            </a:r>
            <a:r>
              <a:rPr lang="en-AU" sz="1400" dirty="0"/>
              <a:t>Image courtesy of Kerenza Misso. Used with permission.</a:t>
            </a:r>
          </a:p>
          <a:p>
            <a:pPr marL="0" indent="0">
              <a:buFontTx/>
              <a:buNone/>
              <a:defRPr/>
            </a:pPr>
            <a:endParaRPr lang="en-AU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VISE_Sci_Y06_U2_SS_Sustainable source of energy_ wind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Arial"/>
        <a:ea typeface="ＭＳ Ｐゴシック"/>
        <a:cs typeface=""/>
      </a:majorFont>
      <a:minorFont>
        <a:latin typeface="Arial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REVISE_Sci_Y06_U2_SS_Sustainable source of energy_ wind</Template>
  <TotalTime>177</TotalTime>
  <Words>266</Words>
  <Application>Microsoft Office PowerPoint</Application>
  <PresentationFormat>On-screen Show (4:3)</PresentationFormat>
  <Paragraphs>24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REVISE_Sci_Y06_U2_SS_Sustainable source of energy_ wind</vt:lpstr>
      <vt:lpstr>PowerPoint Presentation</vt:lpstr>
      <vt:lpstr>Wind energy</vt:lpstr>
      <vt:lpstr>How does it work?</vt:lpstr>
      <vt:lpstr>Advantages</vt:lpstr>
      <vt:lpstr>Disadvantages</vt:lpstr>
      <vt:lpstr>Attributions</vt:lpstr>
    </vt:vector>
  </TitlesOfParts>
  <Company>Queensland Government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PRYCE, Ricky</dc:creator>
  <cp:lastModifiedBy>Douglas Sutherland</cp:lastModifiedBy>
  <cp:revision>36</cp:revision>
  <dcterms:created xsi:type="dcterms:W3CDTF">2013-11-10T21:34:52Z</dcterms:created>
  <dcterms:modified xsi:type="dcterms:W3CDTF">2023-07-30T00:40:20Z</dcterms:modified>
</cp:coreProperties>
</file>