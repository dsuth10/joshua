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03a1534e7644e0" /><Relationship Type="http://schemas.openxmlformats.org/officeDocument/2006/relationships/extended-properties" Target="/docProps/app.xml" Id="R6420376163dc43e9" /><Relationship Type="http://schemas.openxmlformats.org/officeDocument/2006/relationships/officeDocument" Target="/ppt/presentation.xml" Id="Rf504d2b7abca4672" /></Relationships>
</file>

<file path=ppt/presentation.xml><?xml version="1.0" encoding="utf-8"?>
<p:presentation xmlns:p="http://schemas.openxmlformats.org/presentationml/2006/main">
  <p:sldMasterIdLst>
    <p:sldMasterId xmlns:r="http://schemas.openxmlformats.org/officeDocument/2006/relationships" id="2147483648" r:id="Rb2dbd0f9858e43a9"/>
  </p:sldMasterIdLst>
  <p:notesMasterIdLst>
    <p:notesMasterId xmlns:r="http://schemas.openxmlformats.org/officeDocument/2006/relationships" r:id="Rb4930984d2404023"/>
  </p:notesMasterIdLst>
  <p:sldIdLst>
    <p:sldId xmlns:r="http://schemas.openxmlformats.org/officeDocument/2006/relationships" id="256" r:id="Rb3f623eff97a47b9"/>
    <p:sldId xmlns:r="http://schemas.openxmlformats.org/officeDocument/2006/relationships" id="257" r:id="Raf29634e5ee046f5"/>
    <p:sldId xmlns:r="http://schemas.openxmlformats.org/officeDocument/2006/relationships" id="258" r:id="R4a44554d796a4036"/>
    <p:sldId xmlns:r="http://schemas.openxmlformats.org/officeDocument/2006/relationships" id="259" r:id="R73bda33523f145b9"/>
    <p:sldId xmlns:r="http://schemas.openxmlformats.org/officeDocument/2006/relationships" id="260" r:id="Rd564bd53d4ab4f8b"/>
    <p:sldId xmlns:r="http://schemas.openxmlformats.org/officeDocument/2006/relationships" id="261" r:id="R637da4de8a7e418e"/>
    <p:sldId xmlns:r="http://schemas.openxmlformats.org/officeDocument/2006/relationships" id="262" r:id="R311ae4adaf39419b"/>
    <p:sldId xmlns:r="http://schemas.openxmlformats.org/officeDocument/2006/relationships" id="263" r:id="R565942b4ffca402b"/>
    <p:sldId xmlns:r="http://schemas.openxmlformats.org/officeDocument/2006/relationships" id="264" r:id="R95160fcc1327403e"/>
    <p:sldId xmlns:r="http://schemas.openxmlformats.org/officeDocument/2006/relationships" id="265" r:id="Rcb302c0e8e924480"/>
    <p:sldId xmlns:r="http://schemas.openxmlformats.org/officeDocument/2006/relationships" id="266" r:id="R7d0d2c508fcf4526"/>
    <p:sldId xmlns:r="http://schemas.openxmlformats.org/officeDocument/2006/relationships" id="267" r:id="Re3239eafc2c844f9"/>
    <p:sldId xmlns:r="http://schemas.openxmlformats.org/officeDocument/2006/relationships" id="268" r:id="R999eafd72c624e53"/>
    <p:sldId xmlns:r="http://schemas.openxmlformats.org/officeDocument/2006/relationships" id="269" r:id="Re1c382afd9c84b73"/>
    <p:sldId xmlns:r="http://schemas.openxmlformats.org/officeDocument/2006/relationships" id="270" r:id="R0de8a56a6708439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e5c8fe1f9c44a4" /><Relationship Type="http://schemas.openxmlformats.org/officeDocument/2006/relationships/slideMaster" Target="/ppt/slideMasters/slideMaster1.xml" Id="Rb2dbd0f9858e43a9" /><Relationship Type="http://schemas.openxmlformats.org/officeDocument/2006/relationships/notesMaster" Target="/ppt/notesMasters/notesMaster1.xml" Id="Rb4930984d2404023" /><Relationship Type="http://schemas.openxmlformats.org/officeDocument/2006/relationships/presProps" Target="/ppt/presProps.xml" Id="R55563d4d97f3416c" /><Relationship Type="http://schemas.openxmlformats.org/officeDocument/2006/relationships/tableStyles" Target="/ppt/tableStyles.xml" Id="Re03aa07f97734def" /><Relationship Type="http://schemas.openxmlformats.org/officeDocument/2006/relationships/slide" Target="/ppt/slides/slide1.xml" Id="Rb3f623eff97a47b9" /><Relationship Type="http://schemas.openxmlformats.org/officeDocument/2006/relationships/slide" Target="/ppt/slides/slide2.xml" Id="Raf29634e5ee046f5" /><Relationship Type="http://schemas.openxmlformats.org/officeDocument/2006/relationships/slide" Target="/ppt/slides/slide3.xml" Id="R4a44554d796a4036" /><Relationship Type="http://schemas.openxmlformats.org/officeDocument/2006/relationships/slide" Target="/ppt/slides/slide4.xml" Id="R73bda33523f145b9" /><Relationship Type="http://schemas.openxmlformats.org/officeDocument/2006/relationships/slide" Target="/ppt/slides/slide5.xml" Id="Rd564bd53d4ab4f8b" /><Relationship Type="http://schemas.openxmlformats.org/officeDocument/2006/relationships/slide" Target="/ppt/slides/slide6.xml" Id="R637da4de8a7e418e" /><Relationship Type="http://schemas.openxmlformats.org/officeDocument/2006/relationships/slide" Target="/ppt/slides/slide7.xml" Id="R311ae4adaf39419b" /><Relationship Type="http://schemas.openxmlformats.org/officeDocument/2006/relationships/slide" Target="/ppt/slides/slide8.xml" Id="R565942b4ffca402b" /><Relationship Type="http://schemas.openxmlformats.org/officeDocument/2006/relationships/slide" Target="/ppt/slides/slide9.xml" Id="R95160fcc1327403e" /><Relationship Type="http://schemas.openxmlformats.org/officeDocument/2006/relationships/slide" Target="/ppt/slides/slide10.xml" Id="Rcb302c0e8e924480" /><Relationship Type="http://schemas.openxmlformats.org/officeDocument/2006/relationships/slide" Target="/ppt/slides/slide11.xml" Id="R7d0d2c508fcf4526" /><Relationship Type="http://schemas.openxmlformats.org/officeDocument/2006/relationships/slide" Target="/ppt/slides/slide12.xml" Id="Re3239eafc2c844f9" /><Relationship Type="http://schemas.openxmlformats.org/officeDocument/2006/relationships/slide" Target="/ppt/slides/slide13.xml" Id="R999eafd72c624e53" /><Relationship Type="http://schemas.openxmlformats.org/officeDocument/2006/relationships/slide" Target="/ppt/slides/slide14.xml" Id="Re1c382afd9c84b73" /><Relationship Type="http://schemas.openxmlformats.org/officeDocument/2006/relationships/slide" Target="/ppt/slides/slide15.xml" Id="R0de8a56a670843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1add1fef5b4f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a198ca6bcb4c2d" /><Relationship Type="http://schemas.openxmlformats.org/officeDocument/2006/relationships/notesMaster" Target="/ppt/notesMasters/notesMaster1.xml" Id="R0c4ed34ce90543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78cb1ffd964410" /><Relationship Type="http://schemas.openxmlformats.org/officeDocument/2006/relationships/notesMaster" Target="/ppt/notesMasters/notesMaster1.xml" Id="R7b974e847f1642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eb73ebd70843db" /><Relationship Type="http://schemas.openxmlformats.org/officeDocument/2006/relationships/notesMaster" Target="/ppt/notesMasters/notesMaster1.xml" Id="Rc8d80151d99142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85c69f37ed4e40" /><Relationship Type="http://schemas.openxmlformats.org/officeDocument/2006/relationships/notesMaster" Target="/ppt/notesMasters/notesMaster1.xml" Id="R1c0170bd82e04d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b7475fdd504e45" /><Relationship Type="http://schemas.openxmlformats.org/officeDocument/2006/relationships/notesMaster" Target="/ppt/notesMasters/notesMaster1.xml" Id="R80237e6e56fb4a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640d06e05a477d" /><Relationship Type="http://schemas.openxmlformats.org/officeDocument/2006/relationships/notesMaster" Target="/ppt/notesMasters/notesMaster1.xml" Id="R0aee81e455dd4b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b277d1af7d430d" /><Relationship Type="http://schemas.openxmlformats.org/officeDocument/2006/relationships/notesMaster" Target="/ppt/notesMasters/notesMaster1.xml" Id="R4cfcc6736da944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d41c6be29f4ff6" /><Relationship Type="http://schemas.openxmlformats.org/officeDocument/2006/relationships/notesMaster" Target="/ppt/notesMasters/notesMaster1.xml" Id="R13c19064c56547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95f79a85d84c6b" /><Relationship Type="http://schemas.openxmlformats.org/officeDocument/2006/relationships/notesMaster" Target="/ppt/notesMasters/notesMaster1.xml" Id="R86d428e2fea34d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ea514b7990418c" /><Relationship Type="http://schemas.openxmlformats.org/officeDocument/2006/relationships/notesMaster" Target="/ppt/notesMasters/notesMaster1.xml" Id="R6c46c958a1ff45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6c760612d84c5d" /><Relationship Type="http://schemas.openxmlformats.org/officeDocument/2006/relationships/notesMaster" Target="/ppt/notesMasters/notesMaster1.xml" Id="R9bacacdde05e4b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dbd5496639455b" /><Relationship Type="http://schemas.openxmlformats.org/officeDocument/2006/relationships/notesMaster" Target="/ppt/notesMasters/notesMaster1.xml" Id="R09a019aeb20049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19c22eba9f4a00" /><Relationship Type="http://schemas.openxmlformats.org/officeDocument/2006/relationships/notesMaster" Target="/ppt/notesMasters/notesMaster1.xml" Id="Rfab201bbe85940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5883c2187d4be6" /><Relationship Type="http://schemas.openxmlformats.org/officeDocument/2006/relationships/notesMaster" Target="/ppt/notesMasters/notesMaster1.xml" Id="R2d26855b0b5b48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a27db20d3848b6" /><Relationship Type="http://schemas.openxmlformats.org/officeDocument/2006/relationships/notesMaster" Target="/ppt/notesMasters/notesMaster1.xml" Id="Reb15c7ef6c354c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revealing any method, ask: What might the missing length be? Students silently estimate and record a range. Then invite two estimates with reasons. Do not confirm the answer yet. (3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complete two silent stems: I notice… / I wonder… Then pair-share. Listen for: rectangle, area is 217 m², one side is 7 m, length is unknown. Ask which information describes space covered and which describes distance. (5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read each clue aloud with a partner. Ask: Which clue rules out multiplication? Establish that we know the whole area and one equal side-length factor, so division finds the missing factor. (4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vote with 1, 2 or 3 fingers, then justify to a partner using: I chose ___ because ___. Ask a student who changed their mind to explain what changed it. Correct choice: 217 ÷ 7 = ?. Misconceptions revealed: multiplying all visible numbers; subtracting because a number is missing. (5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rectangle: 7 metres wide means 7 equal rows across the width. The unknown length tells how many metre-columns fit along it. Connect A = l × w to 217 = ? × 7. Avoid saying 'move the 7'; name the inverse relationship. (5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complete solution once, narrating decisions. Then revisit each line and ask students to name its job. 217 = 210 + 7; 210 ÷ 7 = 30; 7 ÷ 7 = 1; 30 + 1 = 31. This uses known multiplication facts and place-value partitioning. (7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point to the matching line in the worked example as each move appears. Emphasise that 'show your working' means the equation and division reasoning are visible, not only the answer. (3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Pairs compare the two responses using the success criteria. Response B is stronger: correct operation, working, check and correct linear units. Ask students to revise Response A rather than merely label it wrong. (5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quick call-and-response: area? square metres; side length? metres. Ask why 31 m² cannot label one side. Students annotate the units on Worksheet 2. (3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solve on mini-whiteboards. Require the four moves: name, relate, solve, check. Reveal solutions only after partner comparison. A: 168 ÷ 6 = 28 m. B: 216 ÷ 24 = 9 m. Use B to check whether students can identify whichever side is missing. (7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complete Worksheet 3 independently. They choose one area and one side from the menu, calculate the missing side, draw and label the garden, and write a check. Support: use the 180 m², 6 m option and the partition strip. Extend: create a different factor pair for the same area and compare perimeters. (10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Partners exchange one solution. Reviewer checks each item and gives one precise comment. Creator immediately revises one element. Stems: Your equation shows… / To make your proof clearer… (4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now complete the original assessment item independently in the boxed space on Worksheet 4. Give quiet time and do not scaffold the operation. Collect evidence of readiness against the four criteria. Expected: 217 ÷ 7 = 31; check 31 × 7 = 217; length 31 m. (6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answer on Worksheet 4: A rectangle has area 252 m² and width 7 m. Find the length and explain why division is the correct operation. Expected length 36 m; explanation identifies area as the product/whole and 7 as a known factor. Use responses to group next lesson: secure, calculation support, or concept/operation support. (4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estimate. Ask: Was 31 m reasonable? What evidence now makes us certain? Celebrate changed thinking, not speed. (1 minute)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c6ecdd8f5f42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fd299d28ac4f6a" /><Relationship Type="http://schemas.openxmlformats.org/officeDocument/2006/relationships/slideLayout" Target="/ppt/slideLayouts/slideLayout1.xml" Id="Rd9a00e78d33d40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a00e78d33d40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bb577d7d014a81" /><Relationship Type="http://schemas.openxmlformats.org/officeDocument/2006/relationships/image" Target="/ppt/media/image.png" Id="Re26bb9853a12410c" /><Relationship Type="http://schemas.openxmlformats.org/officeDocument/2006/relationships/notesSlide" Target="/ppt/notesSlides/notesSlide1.xml" Id="R263f8322273247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a9a6aab7324dc9" /><Relationship Type="http://schemas.openxmlformats.org/officeDocument/2006/relationships/image" Target="/ppt/media/image2.png" Id="Rd8583a3da43f4acf" /><Relationship Type="http://schemas.openxmlformats.org/officeDocument/2006/relationships/notesSlide" Target="/ppt/notesSlides/notesSlide2.xml" Id="R67bcf315d8c244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9c7f03b7dc4cd2" /><Relationship Type="http://schemas.openxmlformats.org/officeDocument/2006/relationships/notesSlide" Target="/ppt/notesSlides/notesSlide3.xml" Id="R68078a7a59b349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280f44b26e440b" /><Relationship Type="http://schemas.openxmlformats.org/officeDocument/2006/relationships/notesSlide" Target="/ppt/notesSlides/notesSlide4.xml" Id="Rc0108a5086394e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67c114ba944b32" /><Relationship Type="http://schemas.openxmlformats.org/officeDocument/2006/relationships/notesSlide" Target="/ppt/notesSlides/notesSlide5.xml" Id="Rca91b6abaf9b40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61293c89734bb8" /><Relationship Type="http://schemas.openxmlformats.org/officeDocument/2006/relationships/notesSlide" Target="/ppt/notesSlides/notesSlide6.xml" Id="R04e652026b7943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8074c46dfd4227" /><Relationship Type="http://schemas.openxmlformats.org/officeDocument/2006/relationships/notesSlide" Target="/ppt/notesSlides/notesSlide7.xml" Id="R34a58a336aaf4d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74f0eed00d4494" /><Relationship Type="http://schemas.openxmlformats.org/officeDocument/2006/relationships/notesSlide" Target="/ppt/notesSlides/notesSlide8.xml" Id="R5eb78c38d51849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6f297e1bd3465d" /><Relationship Type="http://schemas.openxmlformats.org/officeDocument/2006/relationships/notesSlide" Target="/ppt/notesSlides/notesSlide9.xml" Id="Rf39c8ff9406048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d4e1d2574c4ac9" /><Relationship Type="http://schemas.openxmlformats.org/officeDocument/2006/relationships/notesSlide" Target="/ppt/notesSlides/notesSlide10.xml" Id="Rbac881b396964f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7dddd8ee6440b8" /><Relationship Type="http://schemas.openxmlformats.org/officeDocument/2006/relationships/notesSlide" Target="/ppt/notesSlides/notesSlide11.xml" Id="Rf17a5be54da04a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c39b4df2774482" /><Relationship Type="http://schemas.openxmlformats.org/officeDocument/2006/relationships/notesSlide" Target="/ppt/notesSlides/notesSlide12.xml" Id="R6a5a4410431241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780171a02694e22" /><Relationship Type="http://schemas.openxmlformats.org/officeDocument/2006/relationships/image" Target="/ppt/media/image3.png" Id="Re43b5f6ef4f54275" /><Relationship Type="http://schemas.openxmlformats.org/officeDocument/2006/relationships/notesSlide" Target="/ppt/notesSlides/notesSlide13.xml" Id="R936211c1c7f943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98bc83b42034248" /><Relationship Type="http://schemas.openxmlformats.org/officeDocument/2006/relationships/notesSlide" Target="/ppt/notesSlides/notesSlide14.xml" Id="R3d6a4f54ab3248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f5cdcc791d454d" /><Relationship Type="http://schemas.openxmlformats.org/officeDocument/2006/relationships/notesSlide" Target="/ppt/notesSlides/notesSlide15.xml" Id="Rb2a421cab09646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586A0D-9196-4750-9D7C-0A495B45DA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3F6EE"/>
          </a:solidFill>
          <a:ln xmlns:a="http://schemas.openxmlformats.org/drawingml/2006/main" w="9525">
            <a:solidFill>
              <a:srgbClr val="F3F6EE"/>
            </a:solidFill>
            <a:prstDash val="solid"/>
          </a:ln>
        </p:spPr>
      </p:sp>
      <p:sp>
        <p:nvSpPr>
          <p:cNvPr id="2" name="">
            <a:extLst xmlns:a="http://schemas.openxmlformats.org/drawingml/2006/main">
              <a:ext uri="{FF2B5EF4-FFF2-40B4-BE49-F238E27FC236}">
                <a16:creationId xmlns:a16="http://schemas.microsoft.com/office/drawing/2014/main" id="{FAF38319-46A4-4B8B-A0D8-68AEA796C567}"/>
              </a:ext>
            </a:extLst>
          </p:cNvPr>
          <p:cNvSpPr>
            <a:spLocks xmlns:a="http://schemas.openxmlformats.org/drawingml/2006/main" noGrp="1"/>
          </p:cNvSpPr>
          <p:nvPr/>
        </p:nvSpPr>
        <p:spPr>
          <a:xfrm xmlns:a="http://schemas.openxmlformats.org/drawingml/2006/main">
            <a:off x="400050" y="400050"/>
            <a:ext cx="5219700" cy="6057900"/>
          </a:xfrm>
          <a:prstGeom xmlns:a="http://schemas.openxmlformats.org/drawingml/2006/main" prst="roundRect">
            <a:avLst>
              <a:gd name="adj" fmla="val 2555"/>
            </a:avLst>
          </a:prstGeom>
          <a:solidFill xmlns:a="http://schemas.openxmlformats.org/drawingml/2006/main">
            <a:srgbClr val="FFFFFF"/>
          </a:solidFill>
          <a:ln xmlns:a="http://schemas.openxmlformats.org/drawingml/2006/main" w="9525">
            <a:solidFill>
              <a:srgbClr val="B8C6B6"/>
            </a:solidFill>
            <a:prstDash val="solid"/>
          </a:ln>
        </p:spPr>
      </p:sp>
      <p:sp>
        <p:nvSpPr>
          <p:cNvPr id="3" name="">
            <a:extLst xmlns:a="http://schemas.openxmlformats.org/drawingml/2006/main">
              <a:ext uri="{FF2B5EF4-FFF2-40B4-BE49-F238E27FC236}">
                <a16:creationId xmlns:a16="http://schemas.microsoft.com/office/drawing/2014/main" id="{85A05FC3-879E-40E1-8022-15FF778B3BDD}"/>
              </a:ext>
            </a:extLst>
          </p:cNvPr>
          <p:cNvSpPr>
            <a:spLocks xmlns:a="http://schemas.openxmlformats.org/drawingml/2006/main" noGrp="1"/>
          </p:cNvSpPr>
          <p:nvPr/>
        </p:nvSpPr>
        <p:spPr>
          <a:xfrm xmlns:a="http://schemas.openxmlformats.org/drawingml/2006/main">
            <a:off x="685800" y="762000"/>
            <a:ext cx="4286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F6B3C"/>
                </a:solidFill>
                <a:latin typeface="Arial"/>
                <a:ea typeface="Arial"/>
                <a:cs typeface="Arial"/>
              </a:defRPr>
            </a:pPr>
            <a:r>
              <a:t>GREAT GARDEN</a:t>
            </a:r>
          </a:p>
        </p:txBody>
      </p:sp>
      <p:sp>
        <p:nvSpPr>
          <p:cNvPr id="4" name="">
            <a:extLst xmlns:a="http://schemas.openxmlformats.org/drawingml/2006/main">
              <a:ext uri="{FF2B5EF4-FFF2-40B4-BE49-F238E27FC236}">
                <a16:creationId xmlns:a16="http://schemas.microsoft.com/office/drawing/2014/main" id="{8AE9EEC8-C4EB-4057-8060-6D0DC64F1747}"/>
              </a:ext>
            </a:extLst>
          </p:cNvPr>
          <p:cNvSpPr>
            <a:spLocks xmlns:a="http://schemas.openxmlformats.org/drawingml/2006/main" noGrp="1"/>
          </p:cNvSpPr>
          <p:nvPr/>
        </p:nvSpPr>
        <p:spPr>
          <a:xfrm xmlns:a="http://schemas.openxmlformats.org/drawingml/2006/main">
            <a:off x="685800" y="1381125"/>
            <a:ext cx="4381500"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800" b="1">
                <a:solidFill>
                  <a:srgbClr val="17351F"/>
                </a:solidFill>
                <a:latin typeface="Arial"/>
                <a:ea typeface="Arial"/>
                <a:cs typeface="Arial"/>
              </a:defRPr>
            </a:pPr>
            <a:r>
              <a:t>Find the missing side</a:t>
            </a:r>
          </a:p>
        </p:txBody>
      </p:sp>
      <p:sp>
        <p:nvSpPr>
          <p:cNvPr id="5" name="">
            <a:extLst xmlns:a="http://schemas.openxmlformats.org/drawingml/2006/main">
              <a:ext uri="{FF2B5EF4-FFF2-40B4-BE49-F238E27FC236}">
                <a16:creationId xmlns:a16="http://schemas.microsoft.com/office/drawing/2014/main" id="{86ABD05B-D818-47CB-85A0-1F4CFCF20859}"/>
              </a:ext>
            </a:extLst>
          </p:cNvPr>
          <p:cNvSpPr>
            <a:spLocks xmlns:a="http://schemas.openxmlformats.org/drawingml/2006/main" noGrp="1"/>
          </p:cNvSpPr>
          <p:nvPr/>
        </p:nvSpPr>
        <p:spPr>
          <a:xfrm xmlns:a="http://schemas.openxmlformats.org/drawingml/2006/main">
            <a:off x="685800" y="3333750"/>
            <a:ext cx="4095750"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a:solidFill>
                  <a:srgbClr val="2F6B3C"/>
                </a:solidFill>
                <a:latin typeface="Arial"/>
                <a:ea typeface="Arial"/>
                <a:cs typeface="Arial"/>
              </a:defRPr>
            </a:pPr>
            <a:r>
              <a:t>Use area, division and a convincing check.</a:t>
            </a:r>
          </a:p>
        </p:txBody>
      </p:sp>
      <p:sp>
        <p:nvSpPr>
          <p:cNvPr id="6" name="">
            <a:extLst xmlns:a="http://schemas.openxmlformats.org/drawingml/2006/main">
              <a:ext uri="{FF2B5EF4-FFF2-40B4-BE49-F238E27FC236}">
                <a16:creationId xmlns:a16="http://schemas.microsoft.com/office/drawing/2014/main" id="{DF97E98D-73C2-40C3-9790-76A0000BC331}"/>
              </a:ext>
            </a:extLst>
          </p:cNvPr>
          <p:cNvSpPr>
            <a:spLocks xmlns:a="http://schemas.openxmlformats.org/drawingml/2006/main" noGrp="1"/>
          </p:cNvSpPr>
          <p:nvPr/>
        </p:nvSpPr>
        <p:spPr>
          <a:xfrm xmlns:a="http://schemas.openxmlformats.org/drawingml/2006/main">
            <a:off x="685800" y="5791200"/>
            <a:ext cx="4095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8A5A3B"/>
                </a:solidFill>
                <a:latin typeface="Arial"/>
                <a:ea typeface="Arial"/>
                <a:cs typeface="Arial"/>
              </a:defRPr>
            </a:pPr>
            <a:r>
              <a:t>Year 5 mathematics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6bb9853a12410c"/>
          <a:stretch xmlns:a="http://schemas.openxmlformats.org/drawingml/2006/main"/>
        </p:blipFill>
        <p:spPr>
          <a:xfrm xmlns:a="http://schemas.openxmlformats.org/drawingml/2006/main">
            <a:off x="5962650" y="1540877"/>
            <a:ext cx="5810250" cy="3776246"/>
          </a:xfrm>
          <a:prstGeom xmlns:a="http://schemas.openxmlformats.org/drawingml/2006/main" prst="roundRect">
            <a:avLst>
              <a:gd name="adj" fmla="val 1838"/>
            </a:avLst>
          </a:prstGeom>
        </p:spPr>
      </p:pic>
    </p:spTree>
    <p:extLst>
      <p:ext uri="{BB962C8B-B14F-4D97-AF65-F5344CB8AC3E}">
        <p14:creationId xmlns:p14="http://schemas.microsoft.com/office/powerpoint/2010/main" val="16577987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D0853E-0F9D-41FA-AE73-BE80682FA4CB}"/>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A0673F33-09A7-4884-979D-6AC0152E38A1}"/>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What do you notice — and what is hidden?</a:t>
            </a:r>
          </a:p>
        </p:txBody>
      </p:sp>
      <p:cxnSp>
        <p:nvCxnSpPr>
          <p:cNvPr id="14"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C61B2FB3-0FF6-4B49-985D-BAD54B0F6DF5}"/>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583a3da43f4acf"/>
          <a:stretch xmlns:a="http://schemas.openxmlformats.org/drawingml/2006/main"/>
        </p:blipFill>
        <p:spPr>
          <a:xfrm xmlns:a="http://schemas.openxmlformats.org/drawingml/2006/main">
            <a:off x="514350" y="1731391"/>
            <a:ext cx="6191250" cy="4023868"/>
          </a:xfrm>
          <a:prstGeom xmlns:a="http://schemas.openxmlformats.org/drawingml/2006/main" prst="roundRect">
            <a:avLst>
              <a:gd name="adj" fmla="val 2326"/>
            </a:avLst>
          </a:prstGeom>
        </p:spPr>
      </p:pic>
      <p:sp>
        <p:nvSpPr>
          <p:cNvPr id="6" name="">
            <a:extLst xmlns:a="http://schemas.openxmlformats.org/drawingml/2006/main">
              <a:ext uri="{FF2B5EF4-FFF2-40B4-BE49-F238E27FC236}">
                <a16:creationId xmlns:a16="http://schemas.microsoft.com/office/drawing/2014/main" id="{A55C0B84-5A8E-4CD4-BE01-FBFF3D0FB5B8}"/>
              </a:ext>
            </a:extLst>
          </p:cNvPr>
          <p:cNvSpPr>
            <a:spLocks xmlns:a="http://schemas.openxmlformats.org/drawingml/2006/main" noGrp="1"/>
          </p:cNvSpPr>
          <p:nvPr/>
        </p:nvSpPr>
        <p:spPr>
          <a:xfrm xmlns:a="http://schemas.openxmlformats.org/drawingml/2006/main">
            <a:off x="7334250" y="2095500"/>
            <a:ext cx="371475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F6B3C"/>
                </a:solidFill>
                <a:latin typeface="Arial"/>
                <a:ea typeface="Arial"/>
                <a:cs typeface="Arial"/>
              </a:defRPr>
            </a:pPr>
            <a:r>
              <a:t>I notice…</a:t>
            </a:r>
          </a:p>
        </p:txBody>
      </p:sp>
      <p:cxnSp>
        <p:nvCxnSpPr>
          <p:cNvPr id="18" name=""/>
          <p:cNvCxnSpPr/>
          <p:nvPr/>
        </p:nvCxnSpPr>
        <p:spPr>
          <a:xfrm xmlns:a="http://schemas.openxmlformats.org/drawingml/2006/main">
            <a:off x="7334250" y="2781300"/>
            <a:ext cx="3714750" cy="9525"/>
          </a:xfrm>
          <a:prstGeom xmlns:a="http://schemas.openxmlformats.org/drawingml/2006/main" prst="straightConnector1">
            <a:avLst/>
          </a:prstGeom>
          <a:ln xmlns:a="http://schemas.openxmlformats.org/drawingml/2006/main" w="19050">
            <a:solidFill>
              <a:srgbClr val="B8C6B6"/>
            </a:solidFill>
            <a:prstDash val="solid"/>
          </a:ln>
        </p:spPr>
      </p:cxnSp>
      <p:cxnSp>
        <p:nvCxnSpPr>
          <p:cNvPr id="19" name=""/>
          <p:cNvCxnSpPr/>
          <p:nvPr/>
        </p:nvCxnSpPr>
        <p:spPr>
          <a:xfrm xmlns:a="http://schemas.openxmlformats.org/drawingml/2006/main">
            <a:off x="7334250" y="3333750"/>
            <a:ext cx="3714750" cy="9525"/>
          </a:xfrm>
          <a:prstGeom xmlns:a="http://schemas.openxmlformats.org/drawingml/2006/main" prst="straightConnector1">
            <a:avLst/>
          </a:prstGeom>
          <a:ln xmlns:a="http://schemas.openxmlformats.org/drawingml/2006/main" w="19050">
            <a:solidFill>
              <a:srgbClr val="B8C6B6"/>
            </a:solidFill>
            <a:prstDash val="solid"/>
          </a:ln>
        </p:spPr>
      </p:cxnSp>
      <p:sp>
        <p:nvSpPr>
          <p:cNvPr id="9" name="">
            <a:extLst xmlns:a="http://schemas.openxmlformats.org/drawingml/2006/main">
              <a:ext uri="{FF2B5EF4-FFF2-40B4-BE49-F238E27FC236}">
                <a16:creationId xmlns:a16="http://schemas.microsoft.com/office/drawing/2014/main" id="{ECF6A6F1-FB78-4013-AE0D-A1190DDA1733}"/>
              </a:ext>
            </a:extLst>
          </p:cNvPr>
          <p:cNvSpPr>
            <a:spLocks xmlns:a="http://schemas.openxmlformats.org/drawingml/2006/main" noGrp="1"/>
          </p:cNvSpPr>
          <p:nvPr/>
        </p:nvSpPr>
        <p:spPr>
          <a:xfrm xmlns:a="http://schemas.openxmlformats.org/drawingml/2006/main">
            <a:off x="7334250" y="4000500"/>
            <a:ext cx="371475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8A5A3B"/>
                </a:solidFill>
                <a:latin typeface="Arial"/>
                <a:ea typeface="Arial"/>
                <a:cs typeface="Arial"/>
              </a:defRPr>
            </a:pPr>
            <a:r>
              <a:t>I wonder…</a:t>
            </a:r>
          </a:p>
        </p:txBody>
      </p:sp>
      <p:cxnSp>
        <p:nvCxnSpPr>
          <p:cNvPr id="21" name=""/>
          <p:cNvCxnSpPr/>
          <p:nvPr/>
        </p:nvCxnSpPr>
        <p:spPr>
          <a:xfrm xmlns:a="http://schemas.openxmlformats.org/drawingml/2006/main">
            <a:off x="7334250" y="4686300"/>
            <a:ext cx="3714750" cy="9525"/>
          </a:xfrm>
          <a:prstGeom xmlns:a="http://schemas.openxmlformats.org/drawingml/2006/main" prst="straightConnector1">
            <a:avLst/>
          </a:prstGeom>
          <a:ln xmlns:a="http://schemas.openxmlformats.org/drawingml/2006/main" w="19050">
            <a:solidFill>
              <a:srgbClr val="B8C6B6"/>
            </a:solidFill>
            <a:prstDash val="solid"/>
          </a:ln>
        </p:spPr>
      </p:cxnSp>
      <p:cxnSp>
        <p:nvCxnSpPr>
          <p:cNvPr id="22" name=""/>
          <p:cNvCxnSpPr/>
          <p:nvPr/>
        </p:nvCxnSpPr>
        <p:spPr>
          <a:xfrm xmlns:a="http://schemas.openxmlformats.org/drawingml/2006/main">
            <a:off x="7334250" y="5238750"/>
            <a:ext cx="3714750" cy="9525"/>
          </a:xfrm>
          <a:prstGeom xmlns:a="http://schemas.openxmlformats.org/drawingml/2006/main" prst="straightConnector1">
            <a:avLst/>
          </a:prstGeom>
          <a:ln xmlns:a="http://schemas.openxmlformats.org/drawingml/2006/main" w="19050">
            <a:solidFill>
              <a:srgbClr val="B8C6B6"/>
            </a:solidFill>
            <a:prstDash val="solid"/>
          </a:ln>
        </p:spPr>
      </p:cxnSp>
    </p:spTree>
    <p:extLst>
      <p:ext uri="{BB962C8B-B14F-4D97-AF65-F5344CB8AC3E}">
        <p14:creationId xmlns:p14="http://schemas.microsoft.com/office/powerpoint/2010/main" val="9482686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1BF73DB-EFF9-44D0-94FA-F3CF213DCC29}"/>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02932E25-0166-4E75-9688-9BF76544263F}"/>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Three clues tell us what operation to choose</a:t>
            </a:r>
          </a:p>
        </p:txBody>
      </p:sp>
      <p:cxnSp>
        <p:nvCxnSpPr>
          <p:cNvPr id="19"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EA22C4DE-5CC9-417F-940D-D5770FF663C7}"/>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03</a:t>
            </a:r>
          </a:p>
        </p:txBody>
      </p:sp>
      <p:sp>
        <p:nvSpPr>
          <p:cNvPr id="5" name="">
            <a:extLst xmlns:a="http://schemas.openxmlformats.org/drawingml/2006/main">
              <a:ext uri="{FF2B5EF4-FFF2-40B4-BE49-F238E27FC236}">
                <a16:creationId xmlns:a16="http://schemas.microsoft.com/office/drawing/2014/main" id="{55B71CA9-EE29-4823-BE12-F27CEEB311F3}"/>
              </a:ext>
            </a:extLst>
          </p:cNvPr>
          <p:cNvSpPr>
            <a:spLocks xmlns:a="http://schemas.openxmlformats.org/drawingml/2006/main" noGrp="1"/>
          </p:cNvSpPr>
          <p:nvPr/>
        </p:nvSpPr>
        <p:spPr>
          <a:xfrm xmlns:a="http://schemas.openxmlformats.org/drawingml/2006/main">
            <a:off x="400050" y="2095500"/>
            <a:ext cx="3581400" cy="3143250"/>
          </a:xfrm>
          <a:prstGeom xmlns:a="http://schemas.openxmlformats.org/drawingml/2006/main" prst="roundRect">
            <a:avLst>
              <a:gd name="adj" fmla="val 3636"/>
            </a:avLst>
          </a:prstGeom>
          <a:solidFill xmlns:a="http://schemas.openxmlformats.org/drawingml/2006/main">
            <a:srgbClr val="E8EFE5"/>
          </a:solidFill>
          <a:ln xmlns:a="http://schemas.openxmlformats.org/drawingml/2006/main" w="9525">
            <a:solidFill>
              <a:srgbClr val="B8C6B6"/>
            </a:solidFill>
            <a:prstDash val="solid"/>
          </a:ln>
        </p:spPr>
      </p:sp>
      <p:sp>
        <p:nvSpPr>
          <p:cNvPr id="6" name="">
            <a:extLst xmlns:a="http://schemas.openxmlformats.org/drawingml/2006/main">
              <a:ext uri="{FF2B5EF4-FFF2-40B4-BE49-F238E27FC236}">
                <a16:creationId xmlns:a16="http://schemas.microsoft.com/office/drawing/2014/main" id="{0DC0313A-1837-44B7-959A-0988ECE98993}"/>
              </a:ext>
            </a:extLst>
          </p:cNvPr>
          <p:cNvSpPr>
            <a:spLocks xmlns:a="http://schemas.openxmlformats.org/drawingml/2006/main" noGrp="1"/>
          </p:cNvSpPr>
          <p:nvPr/>
        </p:nvSpPr>
        <p:spPr>
          <a:xfrm xmlns:a="http://schemas.openxmlformats.org/drawingml/2006/main">
            <a:off x="685800" y="2457450"/>
            <a:ext cx="30099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2F6B3C"/>
                </a:solidFill>
                <a:latin typeface="Arial"/>
                <a:ea typeface="Arial"/>
                <a:cs typeface="Arial"/>
              </a:defRPr>
            </a:pPr>
            <a:r>
              <a:t>217 m²</a:t>
            </a:r>
          </a:p>
        </p:txBody>
      </p:sp>
      <p:sp>
        <p:nvSpPr>
          <p:cNvPr id="7" name="">
            <a:extLst xmlns:a="http://schemas.openxmlformats.org/drawingml/2006/main">
              <a:ext uri="{FF2B5EF4-FFF2-40B4-BE49-F238E27FC236}">
                <a16:creationId xmlns:a16="http://schemas.microsoft.com/office/drawing/2014/main" id="{82CEA5D2-01C1-41D4-81AE-D8341B83C84C}"/>
              </a:ext>
            </a:extLst>
          </p:cNvPr>
          <p:cNvSpPr>
            <a:spLocks xmlns:a="http://schemas.openxmlformats.org/drawingml/2006/main" noGrp="1"/>
          </p:cNvSpPr>
          <p:nvPr/>
        </p:nvSpPr>
        <p:spPr>
          <a:xfrm xmlns:a="http://schemas.openxmlformats.org/drawingml/2006/main">
            <a:off x="685800" y="3543300"/>
            <a:ext cx="30099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the whole area</a:t>
            </a:r>
          </a:p>
        </p:txBody>
      </p:sp>
      <p:sp>
        <p:nvSpPr>
          <p:cNvPr id="8" name="">
            <a:extLst xmlns:a="http://schemas.openxmlformats.org/drawingml/2006/main">
              <a:ext uri="{FF2B5EF4-FFF2-40B4-BE49-F238E27FC236}">
                <a16:creationId xmlns:a16="http://schemas.microsoft.com/office/drawing/2014/main" id="{1D33ED4C-03D2-4E8C-BA6D-5E506AF3CE92}"/>
              </a:ext>
            </a:extLst>
          </p:cNvPr>
          <p:cNvSpPr>
            <a:spLocks xmlns:a="http://schemas.openxmlformats.org/drawingml/2006/main" noGrp="1"/>
          </p:cNvSpPr>
          <p:nvPr/>
        </p:nvSpPr>
        <p:spPr>
          <a:xfrm xmlns:a="http://schemas.openxmlformats.org/drawingml/2006/main">
            <a:off x="685800" y="4381500"/>
            <a:ext cx="30099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F6B3C"/>
                </a:solidFill>
                <a:latin typeface="Arial"/>
                <a:ea typeface="Arial"/>
                <a:cs typeface="Arial"/>
              </a:defRPr>
            </a:pPr>
            <a:r>
              <a:t>space covered</a:t>
            </a:r>
          </a:p>
        </p:txBody>
      </p:sp>
      <p:sp>
        <p:nvSpPr>
          <p:cNvPr id="9" name="">
            <a:extLst xmlns:a="http://schemas.openxmlformats.org/drawingml/2006/main">
              <a:ext uri="{FF2B5EF4-FFF2-40B4-BE49-F238E27FC236}">
                <a16:creationId xmlns:a16="http://schemas.microsoft.com/office/drawing/2014/main" id="{9812115E-D302-45A0-A8E1-B5E521E5EA30}"/>
              </a:ext>
            </a:extLst>
          </p:cNvPr>
          <p:cNvSpPr>
            <a:spLocks xmlns:a="http://schemas.openxmlformats.org/drawingml/2006/main" noGrp="1"/>
          </p:cNvSpPr>
          <p:nvPr/>
        </p:nvSpPr>
        <p:spPr>
          <a:xfrm xmlns:a="http://schemas.openxmlformats.org/drawingml/2006/main">
            <a:off x="4305300" y="2095500"/>
            <a:ext cx="3581400" cy="3143250"/>
          </a:xfrm>
          <a:prstGeom xmlns:a="http://schemas.openxmlformats.org/drawingml/2006/main" prst="roundRect">
            <a:avLst>
              <a:gd name="adj" fmla="val 3636"/>
            </a:avLst>
          </a:prstGeom>
          <a:solidFill xmlns:a="http://schemas.openxmlformats.org/drawingml/2006/main">
            <a:srgbClr val="E9F4D0"/>
          </a:solidFill>
          <a:ln xmlns:a="http://schemas.openxmlformats.org/drawingml/2006/main" w="9525">
            <a:solidFill>
              <a:srgbClr val="B8C6B6"/>
            </a:solidFill>
            <a:prstDash val="solid"/>
          </a:ln>
        </p:spPr>
      </p:sp>
      <p:sp>
        <p:nvSpPr>
          <p:cNvPr id="10" name="">
            <a:extLst xmlns:a="http://schemas.openxmlformats.org/drawingml/2006/main">
              <a:ext uri="{FF2B5EF4-FFF2-40B4-BE49-F238E27FC236}">
                <a16:creationId xmlns:a16="http://schemas.microsoft.com/office/drawing/2014/main" id="{7E9A8077-5B2E-4584-ACD3-FA55F43F4EFE}"/>
              </a:ext>
            </a:extLst>
          </p:cNvPr>
          <p:cNvSpPr>
            <a:spLocks xmlns:a="http://schemas.openxmlformats.org/drawingml/2006/main" noGrp="1"/>
          </p:cNvSpPr>
          <p:nvPr/>
        </p:nvSpPr>
        <p:spPr>
          <a:xfrm xmlns:a="http://schemas.openxmlformats.org/drawingml/2006/main">
            <a:off x="4591050" y="2457450"/>
            <a:ext cx="30099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2F6B3C"/>
                </a:solidFill>
                <a:latin typeface="Arial"/>
                <a:ea typeface="Arial"/>
                <a:cs typeface="Arial"/>
              </a:defRPr>
            </a:pPr>
            <a:r>
              <a:t>7 m</a:t>
            </a:r>
          </a:p>
        </p:txBody>
      </p:sp>
      <p:sp>
        <p:nvSpPr>
          <p:cNvPr id="11" name="">
            <a:extLst xmlns:a="http://schemas.openxmlformats.org/drawingml/2006/main">
              <a:ext uri="{FF2B5EF4-FFF2-40B4-BE49-F238E27FC236}">
                <a16:creationId xmlns:a16="http://schemas.microsoft.com/office/drawing/2014/main" id="{CF6A3882-1D74-4907-9B5F-F5A0E5C0B4D4}"/>
              </a:ext>
            </a:extLst>
          </p:cNvPr>
          <p:cNvSpPr>
            <a:spLocks xmlns:a="http://schemas.openxmlformats.org/drawingml/2006/main" noGrp="1"/>
          </p:cNvSpPr>
          <p:nvPr/>
        </p:nvSpPr>
        <p:spPr>
          <a:xfrm xmlns:a="http://schemas.openxmlformats.org/drawingml/2006/main">
            <a:off x="4591050" y="3543300"/>
            <a:ext cx="30099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one known side</a:t>
            </a:r>
          </a:p>
        </p:txBody>
      </p:sp>
      <p:sp>
        <p:nvSpPr>
          <p:cNvPr id="12" name="">
            <a:extLst xmlns:a="http://schemas.openxmlformats.org/drawingml/2006/main">
              <a:ext uri="{FF2B5EF4-FFF2-40B4-BE49-F238E27FC236}">
                <a16:creationId xmlns:a16="http://schemas.microsoft.com/office/drawing/2014/main" id="{BE438025-E2A3-4782-A9C7-60374A36EF09}"/>
              </a:ext>
            </a:extLst>
          </p:cNvPr>
          <p:cNvSpPr>
            <a:spLocks xmlns:a="http://schemas.openxmlformats.org/drawingml/2006/main" noGrp="1"/>
          </p:cNvSpPr>
          <p:nvPr/>
        </p:nvSpPr>
        <p:spPr>
          <a:xfrm xmlns:a="http://schemas.openxmlformats.org/drawingml/2006/main">
            <a:off x="4591050" y="4381500"/>
            <a:ext cx="30099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F6B3C"/>
                </a:solidFill>
                <a:latin typeface="Arial"/>
                <a:ea typeface="Arial"/>
                <a:cs typeface="Arial"/>
              </a:defRPr>
            </a:pPr>
            <a:r>
              <a:t>a length</a:t>
            </a:r>
          </a:p>
        </p:txBody>
      </p:sp>
      <p:sp>
        <p:nvSpPr>
          <p:cNvPr id="13" name="">
            <a:extLst xmlns:a="http://schemas.openxmlformats.org/drawingml/2006/main">
              <a:ext uri="{FF2B5EF4-FFF2-40B4-BE49-F238E27FC236}">
                <a16:creationId xmlns:a16="http://schemas.microsoft.com/office/drawing/2014/main" id="{A72C203C-AA9C-43C0-A4E3-2015C727D95E}"/>
              </a:ext>
            </a:extLst>
          </p:cNvPr>
          <p:cNvSpPr>
            <a:spLocks xmlns:a="http://schemas.openxmlformats.org/drawingml/2006/main" noGrp="1"/>
          </p:cNvSpPr>
          <p:nvPr/>
        </p:nvSpPr>
        <p:spPr>
          <a:xfrm xmlns:a="http://schemas.openxmlformats.org/drawingml/2006/main">
            <a:off x="8210550" y="2095500"/>
            <a:ext cx="3581400" cy="3143250"/>
          </a:xfrm>
          <a:prstGeom xmlns:a="http://schemas.openxmlformats.org/drawingml/2006/main" prst="roundRect">
            <a:avLst>
              <a:gd name="adj" fmla="val 3636"/>
            </a:avLst>
          </a:prstGeom>
          <a:solidFill xmlns:a="http://schemas.openxmlformats.org/drawingml/2006/main">
            <a:srgbClr val="E8EFE5"/>
          </a:solidFill>
          <a:ln xmlns:a="http://schemas.openxmlformats.org/drawingml/2006/main" w="9525">
            <a:solidFill>
              <a:srgbClr val="B8C6B6"/>
            </a:solidFill>
            <a:prstDash val="solid"/>
          </a:ln>
        </p:spPr>
      </p:sp>
      <p:sp>
        <p:nvSpPr>
          <p:cNvPr id="14" name="">
            <a:extLst xmlns:a="http://schemas.openxmlformats.org/drawingml/2006/main">
              <a:ext uri="{FF2B5EF4-FFF2-40B4-BE49-F238E27FC236}">
                <a16:creationId xmlns:a16="http://schemas.microsoft.com/office/drawing/2014/main" id="{4CA5B540-8C95-4CB2-921F-D2C41878783C}"/>
              </a:ext>
            </a:extLst>
          </p:cNvPr>
          <p:cNvSpPr>
            <a:spLocks xmlns:a="http://schemas.openxmlformats.org/drawingml/2006/main" noGrp="1"/>
          </p:cNvSpPr>
          <p:nvPr/>
        </p:nvSpPr>
        <p:spPr>
          <a:xfrm xmlns:a="http://schemas.openxmlformats.org/drawingml/2006/main">
            <a:off x="8496300" y="2457450"/>
            <a:ext cx="30099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8A5A3B"/>
                </a:solidFill>
                <a:latin typeface="Arial"/>
                <a:ea typeface="Arial"/>
                <a:cs typeface="Arial"/>
              </a:defRPr>
            </a:pPr>
            <a:r>
              <a:t>? m</a:t>
            </a:r>
          </a:p>
        </p:txBody>
      </p:sp>
      <p:sp>
        <p:nvSpPr>
          <p:cNvPr id="15" name="">
            <a:extLst xmlns:a="http://schemas.openxmlformats.org/drawingml/2006/main">
              <a:ext uri="{FF2B5EF4-FFF2-40B4-BE49-F238E27FC236}">
                <a16:creationId xmlns:a16="http://schemas.microsoft.com/office/drawing/2014/main" id="{84349C8C-931A-421A-8E45-DA5F172618B8}"/>
              </a:ext>
            </a:extLst>
          </p:cNvPr>
          <p:cNvSpPr>
            <a:spLocks xmlns:a="http://schemas.openxmlformats.org/drawingml/2006/main" noGrp="1"/>
          </p:cNvSpPr>
          <p:nvPr/>
        </p:nvSpPr>
        <p:spPr>
          <a:xfrm xmlns:a="http://schemas.openxmlformats.org/drawingml/2006/main">
            <a:off x="8496300" y="3543300"/>
            <a:ext cx="30099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the missing side</a:t>
            </a:r>
          </a:p>
        </p:txBody>
      </p:sp>
      <p:sp>
        <p:nvSpPr>
          <p:cNvPr id="16" name="">
            <a:extLst xmlns:a="http://schemas.openxmlformats.org/drawingml/2006/main">
              <a:ext uri="{FF2B5EF4-FFF2-40B4-BE49-F238E27FC236}">
                <a16:creationId xmlns:a16="http://schemas.microsoft.com/office/drawing/2014/main" id="{710CFA30-1031-41C7-99F6-EC6415241FE3}"/>
              </a:ext>
            </a:extLst>
          </p:cNvPr>
          <p:cNvSpPr>
            <a:spLocks xmlns:a="http://schemas.openxmlformats.org/drawingml/2006/main" noGrp="1"/>
          </p:cNvSpPr>
          <p:nvPr/>
        </p:nvSpPr>
        <p:spPr>
          <a:xfrm xmlns:a="http://schemas.openxmlformats.org/drawingml/2006/main">
            <a:off x="8496300" y="4381500"/>
            <a:ext cx="30099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F6B3C"/>
                </a:solidFill>
                <a:latin typeface="Arial"/>
                <a:ea typeface="Arial"/>
                <a:cs typeface="Arial"/>
              </a:defRPr>
            </a:pPr>
            <a:r>
              <a:t>another length</a:t>
            </a:r>
          </a:p>
        </p:txBody>
      </p:sp>
    </p:spTree>
    <p:extLst>
      <p:ext uri="{BB962C8B-B14F-4D97-AF65-F5344CB8AC3E}">
        <p14:creationId xmlns:p14="http://schemas.microsoft.com/office/powerpoint/2010/main" val="17625022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21E6FF6-4BF5-4660-B373-08C98B4294FF}"/>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AF96EDDF-C728-47AA-9FC2-14993E7EEBA4}"/>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Which equation matches the garden?</a:t>
            </a:r>
          </a:p>
        </p:txBody>
      </p:sp>
      <p:cxnSp>
        <p:nvCxnSpPr>
          <p:cNvPr id="17"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A2C4A543-DA7C-4694-B8D3-BE357CBDF886}"/>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04</a:t>
            </a:r>
          </a:p>
        </p:txBody>
      </p:sp>
      <p:sp>
        <p:nvSpPr>
          <p:cNvPr id="5" name="">
            <a:extLst xmlns:a="http://schemas.openxmlformats.org/drawingml/2006/main">
              <a:ext uri="{FF2B5EF4-FFF2-40B4-BE49-F238E27FC236}">
                <a16:creationId xmlns:a16="http://schemas.microsoft.com/office/drawing/2014/main" id="{48CFA325-5BE8-4341-A39F-D9FF1EE10867}"/>
              </a:ext>
            </a:extLst>
          </p:cNvPr>
          <p:cNvSpPr>
            <a:spLocks xmlns:a="http://schemas.openxmlformats.org/drawingml/2006/main" noGrp="1"/>
          </p:cNvSpPr>
          <p:nvPr/>
        </p:nvSpPr>
        <p:spPr>
          <a:xfrm xmlns:a="http://schemas.openxmlformats.org/drawingml/2006/main">
            <a:off x="666750" y="2286000"/>
            <a:ext cx="3429000" cy="1714500"/>
          </a:xfrm>
          <a:prstGeom xmlns:a="http://schemas.openxmlformats.org/drawingml/2006/main" prst="roundRect">
            <a:avLst>
              <a:gd name="adj" fmla="val 6667"/>
            </a:avLst>
          </a:prstGeom>
          <a:solidFill xmlns:a="http://schemas.openxmlformats.org/drawingml/2006/main">
            <a:srgbClr val="F3F6EE"/>
          </a:solidFill>
          <a:ln xmlns:a="http://schemas.openxmlformats.org/drawingml/2006/main" w="9525">
            <a:solidFill>
              <a:srgbClr val="B8C6B6"/>
            </a:solidFill>
            <a:prstDash val="solid"/>
          </a:ln>
        </p:spPr>
      </p:sp>
      <p:sp>
        <p:nvSpPr>
          <p:cNvPr id="6" name="">
            <a:extLst xmlns:a="http://schemas.openxmlformats.org/drawingml/2006/main">
              <a:ext uri="{FF2B5EF4-FFF2-40B4-BE49-F238E27FC236}">
                <a16:creationId xmlns:a16="http://schemas.microsoft.com/office/drawing/2014/main" id="{6146DBDF-2C72-4B7B-A3AE-0E2E9974B477}"/>
              </a:ext>
            </a:extLst>
          </p:cNvPr>
          <p:cNvSpPr>
            <a:spLocks xmlns:a="http://schemas.openxmlformats.org/drawingml/2006/main" noGrp="1"/>
          </p:cNvSpPr>
          <p:nvPr/>
        </p:nvSpPr>
        <p:spPr>
          <a:xfrm xmlns:a="http://schemas.openxmlformats.org/drawingml/2006/main">
            <a:off x="895350" y="2514600"/>
            <a:ext cx="4572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8A5A3B"/>
                </a:solidFill>
                <a:latin typeface="Arial"/>
                <a:ea typeface="Arial"/>
                <a:cs typeface="Arial"/>
              </a:defRPr>
            </a:pPr>
            <a:r>
              <a:t>1</a:t>
            </a:r>
          </a:p>
        </p:txBody>
      </p:sp>
      <p:sp>
        <p:nvSpPr>
          <p:cNvPr id="7" name="">
            <a:extLst xmlns:a="http://schemas.openxmlformats.org/drawingml/2006/main">
              <a:ext uri="{FF2B5EF4-FFF2-40B4-BE49-F238E27FC236}">
                <a16:creationId xmlns:a16="http://schemas.microsoft.com/office/drawing/2014/main" id="{EF58F4D9-1324-436F-A90C-242994434809}"/>
              </a:ext>
            </a:extLst>
          </p:cNvPr>
          <p:cNvSpPr>
            <a:spLocks xmlns:a="http://schemas.openxmlformats.org/drawingml/2006/main" noGrp="1"/>
          </p:cNvSpPr>
          <p:nvPr/>
        </p:nvSpPr>
        <p:spPr>
          <a:xfrm xmlns:a="http://schemas.openxmlformats.org/drawingml/2006/main">
            <a:off x="952500" y="3105150"/>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51F"/>
                </a:solidFill>
                <a:latin typeface="Arial"/>
                <a:ea typeface="Arial"/>
                <a:cs typeface="Arial"/>
              </a:defRPr>
            </a:pPr>
            <a:r>
              <a:t>217 × 7 = ?</a:t>
            </a:r>
          </a:p>
        </p:txBody>
      </p:sp>
      <p:sp>
        <p:nvSpPr>
          <p:cNvPr id="8" name="">
            <a:extLst xmlns:a="http://schemas.openxmlformats.org/drawingml/2006/main">
              <a:ext uri="{FF2B5EF4-FFF2-40B4-BE49-F238E27FC236}">
                <a16:creationId xmlns:a16="http://schemas.microsoft.com/office/drawing/2014/main" id="{B9704FF8-FC2E-41A9-A1ED-91972A103380}"/>
              </a:ext>
            </a:extLst>
          </p:cNvPr>
          <p:cNvSpPr>
            <a:spLocks xmlns:a="http://schemas.openxmlformats.org/drawingml/2006/main" noGrp="1"/>
          </p:cNvSpPr>
          <p:nvPr/>
        </p:nvSpPr>
        <p:spPr>
          <a:xfrm xmlns:a="http://schemas.openxmlformats.org/drawingml/2006/main">
            <a:off x="4524375" y="2286000"/>
            <a:ext cx="3429000" cy="1714500"/>
          </a:xfrm>
          <a:prstGeom xmlns:a="http://schemas.openxmlformats.org/drawingml/2006/main" prst="roundRect">
            <a:avLst>
              <a:gd name="adj" fmla="val 6667"/>
            </a:avLst>
          </a:prstGeom>
          <a:solidFill xmlns:a="http://schemas.openxmlformats.org/drawingml/2006/main">
            <a:srgbClr val="E9F4D0"/>
          </a:solidFill>
          <a:ln xmlns:a="http://schemas.openxmlformats.org/drawingml/2006/main" w="9525">
            <a:solidFill>
              <a:srgbClr val="2F6B3C"/>
            </a:solidFill>
            <a:prstDash val="solid"/>
          </a:ln>
        </p:spPr>
      </p:sp>
      <p:sp>
        <p:nvSpPr>
          <p:cNvPr id="9" name="">
            <a:extLst xmlns:a="http://schemas.openxmlformats.org/drawingml/2006/main">
              <a:ext uri="{FF2B5EF4-FFF2-40B4-BE49-F238E27FC236}">
                <a16:creationId xmlns:a16="http://schemas.microsoft.com/office/drawing/2014/main" id="{D92FF62B-6BFC-453C-A303-A5B9A415213B}"/>
              </a:ext>
            </a:extLst>
          </p:cNvPr>
          <p:cNvSpPr>
            <a:spLocks xmlns:a="http://schemas.openxmlformats.org/drawingml/2006/main" noGrp="1"/>
          </p:cNvSpPr>
          <p:nvPr/>
        </p:nvSpPr>
        <p:spPr>
          <a:xfrm xmlns:a="http://schemas.openxmlformats.org/drawingml/2006/main">
            <a:off x="4752975" y="2514600"/>
            <a:ext cx="4572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8A5A3B"/>
                </a:solidFill>
                <a:latin typeface="Arial"/>
                <a:ea typeface="Arial"/>
                <a:cs typeface="Arial"/>
              </a:defRPr>
            </a:pPr>
            <a:r>
              <a:t>2</a:t>
            </a:r>
          </a:p>
        </p:txBody>
      </p:sp>
      <p:sp>
        <p:nvSpPr>
          <p:cNvPr id="10" name="">
            <a:extLst xmlns:a="http://schemas.openxmlformats.org/drawingml/2006/main">
              <a:ext uri="{FF2B5EF4-FFF2-40B4-BE49-F238E27FC236}">
                <a16:creationId xmlns:a16="http://schemas.microsoft.com/office/drawing/2014/main" id="{A9C33614-CAA6-46FD-A31A-D4F9914B5A3D}"/>
              </a:ext>
            </a:extLst>
          </p:cNvPr>
          <p:cNvSpPr>
            <a:spLocks xmlns:a="http://schemas.openxmlformats.org/drawingml/2006/main" noGrp="1"/>
          </p:cNvSpPr>
          <p:nvPr/>
        </p:nvSpPr>
        <p:spPr>
          <a:xfrm xmlns:a="http://schemas.openxmlformats.org/drawingml/2006/main">
            <a:off x="4810125" y="3105150"/>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51F"/>
                </a:solidFill>
                <a:latin typeface="Arial"/>
                <a:ea typeface="Arial"/>
                <a:cs typeface="Arial"/>
              </a:defRPr>
            </a:pPr>
            <a:r>
              <a:t>217 ÷ 7 = ?</a:t>
            </a:r>
          </a:p>
        </p:txBody>
      </p:sp>
      <p:sp>
        <p:nvSpPr>
          <p:cNvPr id="11" name="">
            <a:extLst xmlns:a="http://schemas.openxmlformats.org/drawingml/2006/main">
              <a:ext uri="{FF2B5EF4-FFF2-40B4-BE49-F238E27FC236}">
                <a16:creationId xmlns:a16="http://schemas.microsoft.com/office/drawing/2014/main" id="{EDE013BD-8034-4C62-A37A-237D0A0CC099}"/>
              </a:ext>
            </a:extLst>
          </p:cNvPr>
          <p:cNvSpPr>
            <a:spLocks xmlns:a="http://schemas.openxmlformats.org/drawingml/2006/main" noGrp="1"/>
          </p:cNvSpPr>
          <p:nvPr/>
        </p:nvSpPr>
        <p:spPr>
          <a:xfrm xmlns:a="http://schemas.openxmlformats.org/drawingml/2006/main">
            <a:off x="8382000" y="2286000"/>
            <a:ext cx="3429000" cy="1714500"/>
          </a:xfrm>
          <a:prstGeom xmlns:a="http://schemas.openxmlformats.org/drawingml/2006/main" prst="roundRect">
            <a:avLst>
              <a:gd name="adj" fmla="val 6667"/>
            </a:avLst>
          </a:prstGeom>
          <a:solidFill xmlns:a="http://schemas.openxmlformats.org/drawingml/2006/main">
            <a:srgbClr val="F3F6EE"/>
          </a:solidFill>
          <a:ln xmlns:a="http://schemas.openxmlformats.org/drawingml/2006/main" w="9525">
            <a:solidFill>
              <a:srgbClr val="B8C6B6"/>
            </a:solidFill>
            <a:prstDash val="solid"/>
          </a:ln>
        </p:spPr>
      </p:sp>
      <p:sp>
        <p:nvSpPr>
          <p:cNvPr id="12" name="">
            <a:extLst xmlns:a="http://schemas.openxmlformats.org/drawingml/2006/main">
              <a:ext uri="{FF2B5EF4-FFF2-40B4-BE49-F238E27FC236}">
                <a16:creationId xmlns:a16="http://schemas.microsoft.com/office/drawing/2014/main" id="{759F0D21-0BC5-44FA-BB9B-C1239015620F}"/>
              </a:ext>
            </a:extLst>
          </p:cNvPr>
          <p:cNvSpPr>
            <a:spLocks xmlns:a="http://schemas.openxmlformats.org/drawingml/2006/main" noGrp="1"/>
          </p:cNvSpPr>
          <p:nvPr/>
        </p:nvSpPr>
        <p:spPr>
          <a:xfrm xmlns:a="http://schemas.openxmlformats.org/drawingml/2006/main">
            <a:off x="8610600" y="2514600"/>
            <a:ext cx="4572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8A5A3B"/>
                </a:solidFill>
                <a:latin typeface="Arial"/>
                <a:ea typeface="Arial"/>
                <a:cs typeface="Arial"/>
              </a:defRPr>
            </a:pPr>
            <a:r>
              <a:t>3</a:t>
            </a:r>
          </a:p>
        </p:txBody>
      </p:sp>
      <p:sp>
        <p:nvSpPr>
          <p:cNvPr id="13" name="">
            <a:extLst xmlns:a="http://schemas.openxmlformats.org/drawingml/2006/main">
              <a:ext uri="{FF2B5EF4-FFF2-40B4-BE49-F238E27FC236}">
                <a16:creationId xmlns:a16="http://schemas.microsoft.com/office/drawing/2014/main" id="{6A444DA1-B67D-446E-BAD3-5C06CBB8AFA7}"/>
              </a:ext>
            </a:extLst>
          </p:cNvPr>
          <p:cNvSpPr>
            <a:spLocks xmlns:a="http://schemas.openxmlformats.org/drawingml/2006/main" noGrp="1"/>
          </p:cNvSpPr>
          <p:nvPr/>
        </p:nvSpPr>
        <p:spPr>
          <a:xfrm xmlns:a="http://schemas.openxmlformats.org/drawingml/2006/main">
            <a:off x="8667750" y="3105150"/>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51F"/>
                </a:solidFill>
                <a:latin typeface="Arial"/>
                <a:ea typeface="Arial"/>
                <a:cs typeface="Arial"/>
              </a:defRPr>
            </a:pPr>
            <a:r>
              <a:t>217 − 7 = ?</a:t>
            </a:r>
          </a:p>
        </p:txBody>
      </p:sp>
      <p:sp>
        <p:nvSpPr>
          <p:cNvPr id="14" name="">
            <a:extLst xmlns:a="http://schemas.openxmlformats.org/drawingml/2006/main">
              <a:ext uri="{FF2B5EF4-FFF2-40B4-BE49-F238E27FC236}">
                <a16:creationId xmlns:a16="http://schemas.microsoft.com/office/drawing/2014/main" id="{ECAE40A4-04FC-4492-A109-783C8D3F01D9}"/>
              </a:ext>
            </a:extLst>
          </p:cNvPr>
          <p:cNvSpPr>
            <a:spLocks xmlns:a="http://schemas.openxmlformats.org/drawingml/2006/main" noGrp="1"/>
          </p:cNvSpPr>
          <p:nvPr/>
        </p:nvSpPr>
        <p:spPr>
          <a:xfrm xmlns:a="http://schemas.openxmlformats.org/drawingml/2006/main">
            <a:off x="2000250" y="4857750"/>
            <a:ext cx="81915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2F6B3C"/>
                </a:solidFill>
                <a:latin typeface="Arial"/>
                <a:ea typeface="Arial"/>
                <a:cs typeface="Arial"/>
              </a:defRPr>
            </a:pPr>
            <a:r>
              <a:t>Choose. Justify. Be ready to change your mind.</a:t>
            </a:r>
          </a:p>
        </p:txBody>
      </p:sp>
    </p:spTree>
    <p:extLst>
      <p:ext uri="{BB962C8B-B14F-4D97-AF65-F5344CB8AC3E}">
        <p14:creationId xmlns:p14="http://schemas.microsoft.com/office/powerpoint/2010/main" val="4234133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2DB717-9AD9-434B-B818-F1969E99730B}"/>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55EA6148-2736-4A52-870E-18FCFA95F900}"/>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Area is a product: rows × length</a:t>
            </a:r>
          </a:p>
        </p:txBody>
      </p:sp>
      <p:cxnSp>
        <p:nvCxnSpPr>
          <p:cNvPr id="17"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EDDDCA7F-A74C-46D0-ADD2-6546A4E6C08A}"/>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05</a:t>
            </a:r>
          </a:p>
        </p:txBody>
      </p:sp>
      <p:sp>
        <p:nvSpPr>
          <p:cNvPr id="5" name="">
            <a:extLst xmlns:a="http://schemas.openxmlformats.org/drawingml/2006/main">
              <a:ext uri="{FF2B5EF4-FFF2-40B4-BE49-F238E27FC236}">
                <a16:creationId xmlns:a16="http://schemas.microsoft.com/office/drawing/2014/main" id="{A6FE6F15-32A9-473A-B6B6-82179F542953}"/>
              </a:ext>
            </a:extLst>
          </p:cNvPr>
          <p:cNvSpPr>
            <a:spLocks xmlns:a="http://schemas.openxmlformats.org/drawingml/2006/main" noGrp="1"/>
          </p:cNvSpPr>
          <p:nvPr/>
        </p:nvSpPr>
        <p:spPr>
          <a:xfrm xmlns:a="http://schemas.openxmlformats.org/drawingml/2006/main">
            <a:off x="1447800" y="2047875"/>
            <a:ext cx="8572500" cy="2667000"/>
          </a:xfrm>
          <a:prstGeom xmlns:a="http://schemas.openxmlformats.org/drawingml/2006/main" prst="rect">
            <a:avLst/>
          </a:prstGeom>
          <a:solidFill xmlns:a="http://schemas.openxmlformats.org/drawingml/2006/main">
            <a:srgbClr val="E6D3C0"/>
          </a:solidFill>
          <a:ln xmlns:a="http://schemas.openxmlformats.org/drawingml/2006/main" w="9525">
            <a:solidFill>
              <a:srgbClr val="8A5A3B"/>
            </a:solidFill>
            <a:prstDash val="solid"/>
          </a:ln>
        </p:spPr>
      </p:sp>
      <p:sp>
        <p:nvSpPr>
          <p:cNvPr id="6" name="">
            <a:extLst xmlns:a="http://schemas.openxmlformats.org/drawingml/2006/main">
              <a:ext uri="{FF2B5EF4-FFF2-40B4-BE49-F238E27FC236}">
                <a16:creationId xmlns:a16="http://schemas.microsoft.com/office/drawing/2014/main" id="{8DB44268-E719-449B-BC8D-4A5C24F0A3D8}"/>
              </a:ext>
            </a:extLst>
          </p:cNvPr>
          <p:cNvSpPr>
            <a:spLocks xmlns:a="http://schemas.openxmlformats.org/drawingml/2006/main" noGrp="1"/>
          </p:cNvSpPr>
          <p:nvPr/>
        </p:nvSpPr>
        <p:spPr>
          <a:xfrm xmlns:a="http://schemas.openxmlformats.org/drawingml/2006/main">
            <a:off x="3810000" y="2857500"/>
            <a:ext cx="38100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050" b="1">
                <a:solidFill>
                  <a:srgbClr val="8A5A3B"/>
                </a:solidFill>
                <a:latin typeface="Arial"/>
                <a:ea typeface="Arial"/>
                <a:cs typeface="Arial"/>
              </a:defRPr>
            </a:pPr>
            <a:r>
              <a:t>217 m²</a:t>
            </a:r>
          </a:p>
        </p:txBody>
      </p:sp>
      <p:sp>
        <p:nvSpPr>
          <p:cNvPr id="7" name="">
            <a:extLst xmlns:a="http://schemas.openxmlformats.org/drawingml/2006/main">
              <a:ext uri="{FF2B5EF4-FFF2-40B4-BE49-F238E27FC236}">
                <a16:creationId xmlns:a16="http://schemas.microsoft.com/office/drawing/2014/main" id="{C78B8535-F8B5-414E-95DF-9FCEB5A016AB}"/>
              </a:ext>
            </a:extLst>
          </p:cNvPr>
          <p:cNvSpPr>
            <a:spLocks xmlns:a="http://schemas.openxmlformats.org/drawingml/2006/main" noGrp="1"/>
          </p:cNvSpPr>
          <p:nvPr/>
        </p:nvSpPr>
        <p:spPr>
          <a:xfrm xmlns:a="http://schemas.openxmlformats.org/drawingml/2006/main">
            <a:off x="666750" y="3028950"/>
            <a:ext cx="7620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2F6B3C"/>
                </a:solidFill>
                <a:latin typeface="Arial"/>
                <a:ea typeface="Arial"/>
                <a:cs typeface="Arial"/>
              </a:defRPr>
            </a:pPr>
            <a:r>
              <a:t>7 m</a:t>
            </a:r>
          </a:p>
        </p:txBody>
      </p:sp>
      <p:sp>
        <p:nvSpPr>
          <p:cNvPr id="8" name="">
            <a:extLst xmlns:a="http://schemas.openxmlformats.org/drawingml/2006/main">
              <a:ext uri="{FF2B5EF4-FFF2-40B4-BE49-F238E27FC236}">
                <a16:creationId xmlns:a16="http://schemas.microsoft.com/office/drawing/2014/main" id="{F429709D-6C1B-4EAA-9427-3E05FDE6BCB6}"/>
              </a:ext>
            </a:extLst>
          </p:cNvPr>
          <p:cNvSpPr>
            <a:spLocks xmlns:a="http://schemas.openxmlformats.org/drawingml/2006/main" noGrp="1"/>
          </p:cNvSpPr>
          <p:nvPr/>
        </p:nvSpPr>
        <p:spPr>
          <a:xfrm xmlns:a="http://schemas.openxmlformats.org/drawingml/2006/main">
            <a:off x="5048250" y="4953000"/>
            <a:ext cx="13335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2F6B3C"/>
                </a:solidFill>
                <a:latin typeface="Arial"/>
                <a:ea typeface="Arial"/>
                <a:cs typeface="Arial"/>
              </a:defRPr>
            </a:pPr>
            <a:r>
              <a:t>? m</a:t>
            </a:r>
          </a:p>
        </p:txBody>
      </p:sp>
      <p:cxnSp>
        <p:nvCxnSpPr>
          <p:cNvPr id="23" name=""/>
          <p:cNvCxnSpPr/>
          <p:nvPr/>
        </p:nvCxnSpPr>
        <p:spPr>
          <a:xfrm xmlns:a="http://schemas.openxmlformats.org/drawingml/2006/main">
            <a:off x="1447800" y="2428875"/>
            <a:ext cx="8572500" cy="9525"/>
          </a:xfrm>
          <a:prstGeom xmlns:a="http://schemas.openxmlformats.org/drawingml/2006/main" prst="straightConnector1">
            <a:avLst/>
          </a:prstGeom>
          <a:ln xmlns:a="http://schemas.openxmlformats.org/drawingml/2006/main" w="9525">
            <a:solidFill>
              <a:srgbClr val="B98D6A"/>
            </a:solidFill>
            <a:prstDash val="solid"/>
          </a:ln>
        </p:spPr>
      </p:cxnSp>
      <p:cxnSp>
        <p:nvCxnSpPr>
          <p:cNvPr id="24" name=""/>
          <p:cNvCxnSpPr/>
          <p:nvPr/>
        </p:nvCxnSpPr>
        <p:spPr>
          <a:xfrm xmlns:a="http://schemas.openxmlformats.org/drawingml/2006/main">
            <a:off x="1447800" y="2809875"/>
            <a:ext cx="8572500" cy="9525"/>
          </a:xfrm>
          <a:prstGeom xmlns:a="http://schemas.openxmlformats.org/drawingml/2006/main" prst="straightConnector1">
            <a:avLst/>
          </a:prstGeom>
          <a:ln xmlns:a="http://schemas.openxmlformats.org/drawingml/2006/main" w="9525">
            <a:solidFill>
              <a:srgbClr val="B98D6A"/>
            </a:solidFill>
            <a:prstDash val="solid"/>
          </a:ln>
        </p:spPr>
      </p:cxnSp>
      <p:cxnSp>
        <p:nvCxnSpPr>
          <p:cNvPr id="25" name=""/>
          <p:cNvCxnSpPr/>
          <p:nvPr/>
        </p:nvCxnSpPr>
        <p:spPr>
          <a:xfrm xmlns:a="http://schemas.openxmlformats.org/drawingml/2006/main">
            <a:off x="1447800" y="3190875"/>
            <a:ext cx="8572500" cy="9525"/>
          </a:xfrm>
          <a:prstGeom xmlns:a="http://schemas.openxmlformats.org/drawingml/2006/main" prst="straightConnector1">
            <a:avLst/>
          </a:prstGeom>
          <a:ln xmlns:a="http://schemas.openxmlformats.org/drawingml/2006/main" w="9525">
            <a:solidFill>
              <a:srgbClr val="B98D6A"/>
            </a:solidFill>
            <a:prstDash val="solid"/>
          </a:ln>
        </p:spPr>
      </p:cxnSp>
      <p:cxnSp>
        <p:nvCxnSpPr>
          <p:cNvPr id="26" name=""/>
          <p:cNvCxnSpPr/>
          <p:nvPr/>
        </p:nvCxnSpPr>
        <p:spPr>
          <a:xfrm xmlns:a="http://schemas.openxmlformats.org/drawingml/2006/main">
            <a:off x="1447800" y="3571875"/>
            <a:ext cx="8572500" cy="9525"/>
          </a:xfrm>
          <a:prstGeom xmlns:a="http://schemas.openxmlformats.org/drawingml/2006/main" prst="straightConnector1">
            <a:avLst/>
          </a:prstGeom>
          <a:ln xmlns:a="http://schemas.openxmlformats.org/drawingml/2006/main" w="9525">
            <a:solidFill>
              <a:srgbClr val="B98D6A"/>
            </a:solidFill>
            <a:prstDash val="solid"/>
          </a:ln>
        </p:spPr>
      </p:cxnSp>
      <p:cxnSp>
        <p:nvCxnSpPr>
          <p:cNvPr id="27" name=""/>
          <p:cNvCxnSpPr/>
          <p:nvPr/>
        </p:nvCxnSpPr>
        <p:spPr>
          <a:xfrm xmlns:a="http://schemas.openxmlformats.org/drawingml/2006/main">
            <a:off x="1447800" y="3952875"/>
            <a:ext cx="8572500" cy="9525"/>
          </a:xfrm>
          <a:prstGeom xmlns:a="http://schemas.openxmlformats.org/drawingml/2006/main" prst="straightConnector1">
            <a:avLst/>
          </a:prstGeom>
          <a:ln xmlns:a="http://schemas.openxmlformats.org/drawingml/2006/main" w="9525">
            <a:solidFill>
              <a:srgbClr val="B98D6A"/>
            </a:solidFill>
            <a:prstDash val="solid"/>
          </a:ln>
        </p:spPr>
      </p:cxnSp>
      <p:cxnSp>
        <p:nvCxnSpPr>
          <p:cNvPr id="28" name=""/>
          <p:cNvCxnSpPr/>
          <p:nvPr/>
        </p:nvCxnSpPr>
        <p:spPr>
          <a:xfrm xmlns:a="http://schemas.openxmlformats.org/drawingml/2006/main">
            <a:off x="1447800" y="4333875"/>
            <a:ext cx="8572500" cy="9525"/>
          </a:xfrm>
          <a:prstGeom xmlns:a="http://schemas.openxmlformats.org/drawingml/2006/main" prst="straightConnector1">
            <a:avLst/>
          </a:prstGeom>
          <a:ln xmlns:a="http://schemas.openxmlformats.org/drawingml/2006/main" w="9525">
            <a:solidFill>
              <a:srgbClr val="B98D6A"/>
            </a:solidFill>
            <a:prstDash val="solid"/>
          </a:ln>
        </p:spPr>
      </p:cxnSp>
    </p:spTree>
    <p:extLst>
      <p:ext uri="{BB962C8B-B14F-4D97-AF65-F5344CB8AC3E}">
        <p14:creationId xmlns:p14="http://schemas.microsoft.com/office/powerpoint/2010/main" val="9763291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80074D-7317-425E-BE4D-D6867C69250B}"/>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F727E764-8DC4-4D36-8713-F71AF9DCFE91}"/>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Think in chunks: 217 ÷ 7</a:t>
            </a:r>
          </a:p>
        </p:txBody>
      </p:sp>
      <p:cxnSp>
        <p:nvCxnSpPr>
          <p:cNvPr id="15"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65004428-48EC-4EB6-994E-5AD7BF2ECD08}"/>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06</a:t>
            </a:r>
          </a:p>
        </p:txBody>
      </p:sp>
      <p:sp>
        <p:nvSpPr>
          <p:cNvPr id="5" name="">
            <a:extLst xmlns:a="http://schemas.openxmlformats.org/drawingml/2006/main">
              <a:ext uri="{FF2B5EF4-FFF2-40B4-BE49-F238E27FC236}">
                <a16:creationId xmlns:a16="http://schemas.microsoft.com/office/drawing/2014/main" id="{674DE392-6E13-471C-8D2C-0D1F026EABAD}"/>
              </a:ext>
            </a:extLst>
          </p:cNvPr>
          <p:cNvSpPr>
            <a:spLocks xmlns:a="http://schemas.openxmlformats.org/drawingml/2006/main" noGrp="1"/>
          </p:cNvSpPr>
          <p:nvPr/>
        </p:nvSpPr>
        <p:spPr>
          <a:xfrm xmlns:a="http://schemas.openxmlformats.org/drawingml/2006/main">
            <a:off x="857250" y="2095500"/>
            <a:ext cx="45720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7351F"/>
                </a:solidFill>
                <a:latin typeface="Arial"/>
                <a:ea typeface="Arial"/>
                <a:cs typeface="Arial"/>
              </a:defRPr>
            </a:pPr>
            <a:r>
              <a:t>217 = 210 + 7</a:t>
            </a:r>
          </a:p>
        </p:txBody>
      </p:sp>
      <p:sp>
        <p:nvSpPr>
          <p:cNvPr id="6" name="">
            <a:extLst xmlns:a="http://schemas.openxmlformats.org/drawingml/2006/main">
              <a:ext uri="{FF2B5EF4-FFF2-40B4-BE49-F238E27FC236}">
                <a16:creationId xmlns:a16="http://schemas.microsoft.com/office/drawing/2014/main" id="{F9E7D88E-B0FB-4003-A640-443B070F8ABB}"/>
              </a:ext>
            </a:extLst>
          </p:cNvPr>
          <p:cNvSpPr>
            <a:spLocks xmlns:a="http://schemas.openxmlformats.org/drawingml/2006/main" noGrp="1"/>
          </p:cNvSpPr>
          <p:nvPr/>
        </p:nvSpPr>
        <p:spPr>
          <a:xfrm xmlns:a="http://schemas.openxmlformats.org/drawingml/2006/main">
            <a:off x="857250" y="2952750"/>
            <a:ext cx="45720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7351F"/>
                </a:solidFill>
                <a:latin typeface="Arial"/>
                <a:ea typeface="Arial"/>
                <a:cs typeface="Arial"/>
              </a:defRPr>
            </a:pPr>
            <a:r>
              <a:t>210 ÷ 7 = 30</a:t>
            </a:r>
          </a:p>
        </p:txBody>
      </p:sp>
      <p:sp>
        <p:nvSpPr>
          <p:cNvPr id="7" name="">
            <a:extLst xmlns:a="http://schemas.openxmlformats.org/drawingml/2006/main">
              <a:ext uri="{FF2B5EF4-FFF2-40B4-BE49-F238E27FC236}">
                <a16:creationId xmlns:a16="http://schemas.microsoft.com/office/drawing/2014/main" id="{EEB306A9-7AF5-46C4-A550-8773E1499BD9}"/>
              </a:ext>
            </a:extLst>
          </p:cNvPr>
          <p:cNvSpPr>
            <a:spLocks xmlns:a="http://schemas.openxmlformats.org/drawingml/2006/main" noGrp="1"/>
          </p:cNvSpPr>
          <p:nvPr/>
        </p:nvSpPr>
        <p:spPr>
          <a:xfrm xmlns:a="http://schemas.openxmlformats.org/drawingml/2006/main">
            <a:off x="857250" y="3810000"/>
            <a:ext cx="45720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7351F"/>
                </a:solidFill>
                <a:latin typeface="Arial"/>
                <a:ea typeface="Arial"/>
                <a:cs typeface="Arial"/>
              </a:defRPr>
            </a:pPr>
            <a:r>
              <a:t>7 ÷ 7 = 1</a:t>
            </a:r>
          </a:p>
        </p:txBody>
      </p:sp>
      <p:sp>
        <p:nvSpPr>
          <p:cNvPr id="8" name="">
            <a:extLst xmlns:a="http://schemas.openxmlformats.org/drawingml/2006/main">
              <a:ext uri="{FF2B5EF4-FFF2-40B4-BE49-F238E27FC236}">
                <a16:creationId xmlns:a16="http://schemas.microsoft.com/office/drawing/2014/main" id="{70C0535D-3CF6-48DF-99A0-68CE36BC8ED3}"/>
              </a:ext>
            </a:extLst>
          </p:cNvPr>
          <p:cNvSpPr>
            <a:spLocks xmlns:a="http://schemas.openxmlformats.org/drawingml/2006/main" noGrp="1"/>
          </p:cNvSpPr>
          <p:nvPr/>
        </p:nvSpPr>
        <p:spPr>
          <a:xfrm xmlns:a="http://schemas.openxmlformats.org/drawingml/2006/main">
            <a:off x="857250" y="4667250"/>
            <a:ext cx="45720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2F6B3C"/>
                </a:solidFill>
                <a:latin typeface="Arial"/>
                <a:ea typeface="Arial"/>
                <a:cs typeface="Arial"/>
              </a:defRPr>
            </a:pPr>
            <a:r>
              <a:t>30 + 1 = 31</a:t>
            </a:r>
          </a:p>
        </p:txBody>
      </p:sp>
      <p:sp>
        <p:nvSpPr>
          <p:cNvPr id="9" name="">
            <a:extLst xmlns:a="http://schemas.openxmlformats.org/drawingml/2006/main">
              <a:ext uri="{FF2B5EF4-FFF2-40B4-BE49-F238E27FC236}">
                <a16:creationId xmlns:a16="http://schemas.microsoft.com/office/drawing/2014/main" id="{54C06F39-6ED7-4EE6-9DF2-20D10B2FABD7}"/>
              </a:ext>
            </a:extLst>
          </p:cNvPr>
          <p:cNvSpPr>
            <a:spLocks xmlns:a="http://schemas.openxmlformats.org/drawingml/2006/main" noGrp="1"/>
          </p:cNvSpPr>
          <p:nvPr/>
        </p:nvSpPr>
        <p:spPr>
          <a:xfrm xmlns:a="http://schemas.openxmlformats.org/drawingml/2006/main">
            <a:off x="6572250" y="2095500"/>
            <a:ext cx="4476750" cy="2857500"/>
          </a:xfrm>
          <a:prstGeom xmlns:a="http://schemas.openxmlformats.org/drawingml/2006/main" prst="roundRect">
            <a:avLst>
              <a:gd name="adj" fmla="val 4000"/>
            </a:avLst>
          </a:prstGeom>
          <a:solidFill xmlns:a="http://schemas.openxmlformats.org/drawingml/2006/main">
            <a:srgbClr val="F3F6EE"/>
          </a:solidFill>
          <a:ln xmlns:a="http://schemas.openxmlformats.org/drawingml/2006/main" w="9525">
            <a:solidFill>
              <a:srgbClr val="B8C6B6"/>
            </a:solidFill>
            <a:prstDash val="solid"/>
          </a:ln>
        </p:spPr>
      </p:sp>
      <p:sp>
        <p:nvSpPr>
          <p:cNvPr id="10" name="">
            <a:extLst xmlns:a="http://schemas.openxmlformats.org/drawingml/2006/main">
              <a:ext uri="{FF2B5EF4-FFF2-40B4-BE49-F238E27FC236}">
                <a16:creationId xmlns:a16="http://schemas.microsoft.com/office/drawing/2014/main" id="{7357DA9C-990C-41A5-80BF-8EA5C9EEEFD8}"/>
              </a:ext>
            </a:extLst>
          </p:cNvPr>
          <p:cNvSpPr>
            <a:spLocks xmlns:a="http://schemas.openxmlformats.org/drawingml/2006/main" noGrp="1"/>
          </p:cNvSpPr>
          <p:nvPr/>
        </p:nvSpPr>
        <p:spPr>
          <a:xfrm xmlns:a="http://schemas.openxmlformats.org/drawingml/2006/main">
            <a:off x="6953250" y="2476500"/>
            <a:ext cx="3619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8A5A3B"/>
                </a:solidFill>
                <a:latin typeface="Arial"/>
                <a:ea typeface="Arial"/>
                <a:cs typeface="Arial"/>
              </a:defRPr>
            </a:pPr>
            <a:r>
              <a:t>Why this works</a:t>
            </a:r>
          </a:p>
        </p:txBody>
      </p:sp>
      <p:sp>
        <p:nvSpPr>
          <p:cNvPr id="11" name="">
            <a:extLst xmlns:a="http://schemas.openxmlformats.org/drawingml/2006/main">
              <a:ext uri="{FF2B5EF4-FFF2-40B4-BE49-F238E27FC236}">
                <a16:creationId xmlns:a16="http://schemas.microsoft.com/office/drawing/2014/main" id="{625A9282-C8E2-4A5B-AD59-A903450499A2}"/>
              </a:ext>
            </a:extLst>
          </p:cNvPr>
          <p:cNvSpPr>
            <a:spLocks xmlns:a="http://schemas.openxmlformats.org/drawingml/2006/main" noGrp="1"/>
          </p:cNvSpPr>
          <p:nvPr/>
        </p:nvSpPr>
        <p:spPr>
          <a:xfrm xmlns:a="http://schemas.openxmlformats.org/drawingml/2006/main">
            <a:off x="6953250" y="3181350"/>
            <a:ext cx="3619500" cy="1428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7351F"/>
                </a:solidFill>
                <a:latin typeface="Arial"/>
                <a:ea typeface="Arial"/>
                <a:cs typeface="Arial"/>
              </a:defRPr>
            </a:pPr>
            <a:r>
              <a:t>Break 217 into friendly multiples of 7. Divide each part. Recombine the quotients.</a:t>
            </a:r>
          </a:p>
        </p:txBody>
      </p:sp>
      <p:sp>
        <p:nvSpPr>
          <p:cNvPr id="12" name="">
            <a:extLst xmlns:a="http://schemas.openxmlformats.org/drawingml/2006/main">
              <a:ext uri="{FF2B5EF4-FFF2-40B4-BE49-F238E27FC236}">
                <a16:creationId xmlns:a16="http://schemas.microsoft.com/office/drawing/2014/main" id="{1D141AE9-71D1-4BC3-89A7-9E37A4080A82}"/>
              </a:ext>
            </a:extLst>
          </p:cNvPr>
          <p:cNvSpPr>
            <a:spLocks xmlns:a="http://schemas.openxmlformats.org/drawingml/2006/main" noGrp="1"/>
          </p:cNvSpPr>
          <p:nvPr/>
        </p:nvSpPr>
        <p:spPr>
          <a:xfrm xmlns:a="http://schemas.openxmlformats.org/drawingml/2006/main">
            <a:off x="6953250" y="4953000"/>
            <a:ext cx="361950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F6B3C"/>
                </a:solidFill>
                <a:latin typeface="Arial"/>
                <a:ea typeface="Arial"/>
                <a:cs typeface="Arial"/>
              </a:defRPr>
            </a:pPr>
            <a:r>
              <a:t>So the length is 31 m.</a:t>
            </a:r>
          </a:p>
        </p:txBody>
      </p:sp>
    </p:spTree>
    <p:extLst>
      <p:ext uri="{BB962C8B-B14F-4D97-AF65-F5344CB8AC3E}">
        <p14:creationId xmlns:p14="http://schemas.microsoft.com/office/powerpoint/2010/main" val="13266190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BDD9A4-C137-4F68-BE1D-705550519B7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6826303A-C22A-439F-A550-BDE943D4AC22}"/>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A reliable solution has four moves</a:t>
            </a:r>
          </a:p>
        </p:txBody>
      </p:sp>
      <p:cxnSp>
        <p:nvCxnSpPr>
          <p:cNvPr id="20"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7252EB86-0B8F-4E1E-A26B-5D26604627F2}"/>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07</a:t>
            </a:r>
          </a:p>
        </p:txBody>
      </p:sp>
      <p:cxnSp>
        <p:nvCxnSpPr>
          <p:cNvPr id="22" name=""/>
          <p:cNvCxnSpPr/>
          <p:nvPr/>
        </p:nvCxnSpPr>
        <p:spPr>
          <a:xfrm xmlns:a="http://schemas.openxmlformats.org/drawingml/2006/main">
            <a:off x="1047750" y="2952750"/>
            <a:ext cx="9810750" cy="9525"/>
          </a:xfrm>
          <a:prstGeom xmlns:a="http://schemas.openxmlformats.org/drawingml/2006/main" prst="straightConnector1">
            <a:avLst/>
          </a:prstGeom>
          <a:ln xmlns:a="http://schemas.openxmlformats.org/drawingml/2006/main" w="28575">
            <a:solidFill>
              <a:srgbClr val="B8C6B6"/>
            </a:solidFill>
            <a:prstDash val="solid"/>
          </a:ln>
        </p:spPr>
      </p:cxnSp>
      <p:sp>
        <p:nvSpPr>
          <p:cNvPr id="6" name="">
            <a:extLst xmlns:a="http://schemas.openxmlformats.org/drawingml/2006/main">
              <a:ext uri="{FF2B5EF4-FFF2-40B4-BE49-F238E27FC236}">
                <a16:creationId xmlns:a16="http://schemas.microsoft.com/office/drawing/2014/main" id="{75CF6911-B312-4EC5-884E-CC90F3B6AF8D}"/>
              </a:ext>
            </a:extLst>
          </p:cNvPr>
          <p:cNvSpPr>
            <a:spLocks xmlns:a="http://schemas.openxmlformats.org/drawingml/2006/main" noGrp="1"/>
          </p:cNvSpPr>
          <p:nvPr/>
        </p:nvSpPr>
        <p:spPr>
          <a:xfrm xmlns:a="http://schemas.openxmlformats.org/drawingml/2006/main">
            <a:off x="1704975" y="2781300"/>
            <a:ext cx="342900" cy="342900"/>
          </a:xfrm>
          <a:prstGeom xmlns:a="http://schemas.openxmlformats.org/drawingml/2006/main" prst="ellipse">
            <a:avLst/>
          </a:prstGeom>
          <a:solidFill xmlns:a="http://schemas.openxmlformats.org/drawingml/2006/main">
            <a:srgbClr val="B7D96C"/>
          </a:solidFill>
          <a:ln xmlns:a="http://schemas.openxmlformats.org/drawingml/2006/main" w="9525">
            <a:solidFill>
              <a:srgbClr val="2F6B3C"/>
            </a:solidFill>
            <a:prstDash val="solid"/>
          </a:ln>
        </p:spPr>
      </p:sp>
      <p:sp>
        <p:nvSpPr>
          <p:cNvPr id="7" name="">
            <a:extLst xmlns:a="http://schemas.openxmlformats.org/drawingml/2006/main">
              <a:ext uri="{FF2B5EF4-FFF2-40B4-BE49-F238E27FC236}">
                <a16:creationId xmlns:a16="http://schemas.microsoft.com/office/drawing/2014/main" id="{3D3845B1-84DB-4600-8B85-A915686C179F}"/>
              </a:ext>
            </a:extLst>
          </p:cNvPr>
          <p:cNvSpPr>
            <a:spLocks xmlns:a="http://schemas.openxmlformats.org/drawingml/2006/main" noGrp="1"/>
          </p:cNvSpPr>
          <p:nvPr/>
        </p:nvSpPr>
        <p:spPr>
          <a:xfrm xmlns:a="http://schemas.openxmlformats.org/drawingml/2006/main">
            <a:off x="704850" y="2000250"/>
            <a:ext cx="2381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2F6B3C"/>
                </a:solidFill>
                <a:latin typeface="Arial"/>
                <a:ea typeface="Arial"/>
                <a:cs typeface="Arial"/>
              </a:defRPr>
            </a:pPr>
            <a:r>
              <a:t>1 • Name</a:t>
            </a:r>
          </a:p>
        </p:txBody>
      </p:sp>
      <p:sp>
        <p:nvSpPr>
          <p:cNvPr id="8" name="">
            <a:extLst xmlns:a="http://schemas.openxmlformats.org/drawingml/2006/main">
              <a:ext uri="{FF2B5EF4-FFF2-40B4-BE49-F238E27FC236}">
                <a16:creationId xmlns:a16="http://schemas.microsoft.com/office/drawing/2014/main" id="{EF2D3508-DD17-4DA7-84C0-5F3F46CE5C58}"/>
              </a:ext>
            </a:extLst>
          </p:cNvPr>
          <p:cNvSpPr>
            <a:spLocks xmlns:a="http://schemas.openxmlformats.org/drawingml/2006/main" noGrp="1"/>
          </p:cNvSpPr>
          <p:nvPr/>
        </p:nvSpPr>
        <p:spPr>
          <a:xfrm xmlns:a="http://schemas.openxmlformats.org/drawingml/2006/main">
            <a:off x="704850" y="3476625"/>
            <a:ext cx="238125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a:solidFill>
                  <a:srgbClr val="17351F"/>
                </a:solidFill>
                <a:latin typeface="Arial"/>
                <a:ea typeface="Arial"/>
                <a:cs typeface="Arial"/>
              </a:defRPr>
            </a:pPr>
            <a:r>
              <a:t>Known: 217 m² and 7 m
Unknown: length</a:t>
            </a:r>
          </a:p>
        </p:txBody>
      </p:sp>
      <p:sp>
        <p:nvSpPr>
          <p:cNvPr id="9" name="">
            <a:extLst xmlns:a="http://schemas.openxmlformats.org/drawingml/2006/main">
              <a:ext uri="{FF2B5EF4-FFF2-40B4-BE49-F238E27FC236}">
                <a16:creationId xmlns:a16="http://schemas.microsoft.com/office/drawing/2014/main" id="{6226F3B9-69D3-42FE-9EAC-255D46D85B6B}"/>
              </a:ext>
            </a:extLst>
          </p:cNvPr>
          <p:cNvSpPr>
            <a:spLocks xmlns:a="http://schemas.openxmlformats.org/drawingml/2006/main" noGrp="1"/>
          </p:cNvSpPr>
          <p:nvPr/>
        </p:nvSpPr>
        <p:spPr>
          <a:xfrm xmlns:a="http://schemas.openxmlformats.org/drawingml/2006/main">
            <a:off x="4467225" y="2781300"/>
            <a:ext cx="342900" cy="342900"/>
          </a:xfrm>
          <a:prstGeom xmlns:a="http://schemas.openxmlformats.org/drawingml/2006/main" prst="ellipse">
            <a:avLst/>
          </a:prstGeom>
          <a:solidFill xmlns:a="http://schemas.openxmlformats.org/drawingml/2006/main">
            <a:srgbClr val="B7D96C"/>
          </a:solidFill>
          <a:ln xmlns:a="http://schemas.openxmlformats.org/drawingml/2006/main" w="9525">
            <a:solidFill>
              <a:srgbClr val="2F6B3C"/>
            </a:solidFill>
            <a:prstDash val="solid"/>
          </a:ln>
        </p:spPr>
      </p:sp>
      <p:sp>
        <p:nvSpPr>
          <p:cNvPr id="10" name="">
            <a:extLst xmlns:a="http://schemas.openxmlformats.org/drawingml/2006/main">
              <a:ext uri="{FF2B5EF4-FFF2-40B4-BE49-F238E27FC236}">
                <a16:creationId xmlns:a16="http://schemas.microsoft.com/office/drawing/2014/main" id="{64851E7F-2604-4802-A0C4-EA664162262B}"/>
              </a:ext>
            </a:extLst>
          </p:cNvPr>
          <p:cNvSpPr>
            <a:spLocks xmlns:a="http://schemas.openxmlformats.org/drawingml/2006/main" noGrp="1"/>
          </p:cNvSpPr>
          <p:nvPr/>
        </p:nvSpPr>
        <p:spPr>
          <a:xfrm xmlns:a="http://schemas.openxmlformats.org/drawingml/2006/main">
            <a:off x="3467100" y="2000250"/>
            <a:ext cx="2381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2F6B3C"/>
                </a:solidFill>
                <a:latin typeface="Arial"/>
                <a:ea typeface="Arial"/>
                <a:cs typeface="Arial"/>
              </a:defRPr>
            </a:pPr>
            <a:r>
              <a:t>2 • Relate</a:t>
            </a:r>
          </a:p>
        </p:txBody>
      </p:sp>
      <p:sp>
        <p:nvSpPr>
          <p:cNvPr id="11" name="">
            <a:extLst xmlns:a="http://schemas.openxmlformats.org/drawingml/2006/main">
              <a:ext uri="{FF2B5EF4-FFF2-40B4-BE49-F238E27FC236}">
                <a16:creationId xmlns:a16="http://schemas.microsoft.com/office/drawing/2014/main" id="{79D0B0A1-CE19-4241-BEA1-7E50CE5D27CC}"/>
              </a:ext>
            </a:extLst>
          </p:cNvPr>
          <p:cNvSpPr>
            <a:spLocks xmlns:a="http://schemas.openxmlformats.org/drawingml/2006/main" noGrp="1"/>
          </p:cNvSpPr>
          <p:nvPr/>
        </p:nvSpPr>
        <p:spPr>
          <a:xfrm xmlns:a="http://schemas.openxmlformats.org/drawingml/2006/main">
            <a:off x="3467100" y="3476625"/>
            <a:ext cx="238125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a:solidFill>
                  <a:srgbClr val="17351F"/>
                </a:solidFill>
                <a:latin typeface="Arial"/>
                <a:ea typeface="Arial"/>
                <a:cs typeface="Arial"/>
              </a:defRPr>
            </a:pPr>
            <a:r>
              <a:t>217 = 7 × ?
so ? = 217 ÷ 7</a:t>
            </a:r>
          </a:p>
        </p:txBody>
      </p:sp>
      <p:sp>
        <p:nvSpPr>
          <p:cNvPr id="12" name="">
            <a:extLst xmlns:a="http://schemas.openxmlformats.org/drawingml/2006/main">
              <a:ext uri="{FF2B5EF4-FFF2-40B4-BE49-F238E27FC236}">
                <a16:creationId xmlns:a16="http://schemas.microsoft.com/office/drawing/2014/main" id="{4D3C5E71-3BC3-4359-A3A2-7425554BA753}"/>
              </a:ext>
            </a:extLst>
          </p:cNvPr>
          <p:cNvSpPr>
            <a:spLocks xmlns:a="http://schemas.openxmlformats.org/drawingml/2006/main" noGrp="1"/>
          </p:cNvSpPr>
          <p:nvPr/>
        </p:nvSpPr>
        <p:spPr>
          <a:xfrm xmlns:a="http://schemas.openxmlformats.org/drawingml/2006/main">
            <a:off x="7229475" y="2781300"/>
            <a:ext cx="342900" cy="342900"/>
          </a:xfrm>
          <a:prstGeom xmlns:a="http://schemas.openxmlformats.org/drawingml/2006/main" prst="ellipse">
            <a:avLst/>
          </a:prstGeom>
          <a:solidFill xmlns:a="http://schemas.openxmlformats.org/drawingml/2006/main">
            <a:srgbClr val="B7D96C"/>
          </a:solidFill>
          <a:ln xmlns:a="http://schemas.openxmlformats.org/drawingml/2006/main" w="9525">
            <a:solidFill>
              <a:srgbClr val="2F6B3C"/>
            </a:solidFill>
            <a:prstDash val="solid"/>
          </a:ln>
        </p:spPr>
      </p:sp>
      <p:sp>
        <p:nvSpPr>
          <p:cNvPr id="13" name="">
            <a:extLst xmlns:a="http://schemas.openxmlformats.org/drawingml/2006/main">
              <a:ext uri="{FF2B5EF4-FFF2-40B4-BE49-F238E27FC236}">
                <a16:creationId xmlns:a16="http://schemas.microsoft.com/office/drawing/2014/main" id="{BA55D16F-E7A1-46C7-A737-E543DFB208A2}"/>
              </a:ext>
            </a:extLst>
          </p:cNvPr>
          <p:cNvSpPr>
            <a:spLocks xmlns:a="http://schemas.openxmlformats.org/drawingml/2006/main" noGrp="1"/>
          </p:cNvSpPr>
          <p:nvPr/>
        </p:nvSpPr>
        <p:spPr>
          <a:xfrm xmlns:a="http://schemas.openxmlformats.org/drawingml/2006/main">
            <a:off x="6229350" y="2000250"/>
            <a:ext cx="2381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2F6B3C"/>
                </a:solidFill>
                <a:latin typeface="Arial"/>
                <a:ea typeface="Arial"/>
                <a:cs typeface="Arial"/>
              </a:defRPr>
            </a:pPr>
            <a:r>
              <a:t>3 • Solve</a:t>
            </a:r>
          </a:p>
        </p:txBody>
      </p:sp>
      <p:sp>
        <p:nvSpPr>
          <p:cNvPr id="14" name="">
            <a:extLst xmlns:a="http://schemas.openxmlformats.org/drawingml/2006/main">
              <a:ext uri="{FF2B5EF4-FFF2-40B4-BE49-F238E27FC236}">
                <a16:creationId xmlns:a16="http://schemas.microsoft.com/office/drawing/2014/main" id="{0240CA0F-05D5-4D38-AA6D-5D607ED6F87C}"/>
              </a:ext>
            </a:extLst>
          </p:cNvPr>
          <p:cNvSpPr>
            <a:spLocks xmlns:a="http://schemas.openxmlformats.org/drawingml/2006/main" noGrp="1"/>
          </p:cNvSpPr>
          <p:nvPr/>
        </p:nvSpPr>
        <p:spPr>
          <a:xfrm xmlns:a="http://schemas.openxmlformats.org/drawingml/2006/main">
            <a:off x="6229350" y="3476625"/>
            <a:ext cx="238125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a:solidFill>
                  <a:srgbClr val="17351F"/>
                </a:solidFill>
                <a:latin typeface="Arial"/>
                <a:ea typeface="Arial"/>
                <a:cs typeface="Arial"/>
              </a:defRPr>
            </a:pPr>
            <a:r>
              <a:t>217 ÷ 7 = 31</a:t>
            </a:r>
          </a:p>
        </p:txBody>
      </p:sp>
      <p:sp>
        <p:nvSpPr>
          <p:cNvPr id="15" name="">
            <a:extLst xmlns:a="http://schemas.openxmlformats.org/drawingml/2006/main">
              <a:ext uri="{FF2B5EF4-FFF2-40B4-BE49-F238E27FC236}">
                <a16:creationId xmlns:a16="http://schemas.microsoft.com/office/drawing/2014/main" id="{D4AB8A65-FEB2-46C8-A7EF-2DDFFAD2F014}"/>
              </a:ext>
            </a:extLst>
          </p:cNvPr>
          <p:cNvSpPr>
            <a:spLocks xmlns:a="http://schemas.openxmlformats.org/drawingml/2006/main" noGrp="1"/>
          </p:cNvSpPr>
          <p:nvPr/>
        </p:nvSpPr>
        <p:spPr>
          <a:xfrm xmlns:a="http://schemas.openxmlformats.org/drawingml/2006/main">
            <a:off x="9991725" y="2781300"/>
            <a:ext cx="342900" cy="342900"/>
          </a:xfrm>
          <a:prstGeom xmlns:a="http://schemas.openxmlformats.org/drawingml/2006/main" prst="ellipse">
            <a:avLst/>
          </a:prstGeom>
          <a:solidFill xmlns:a="http://schemas.openxmlformats.org/drawingml/2006/main">
            <a:srgbClr val="2F6B3C"/>
          </a:solidFill>
          <a:ln xmlns:a="http://schemas.openxmlformats.org/drawingml/2006/main" w="9525">
            <a:solidFill>
              <a:srgbClr val="2F6B3C"/>
            </a:solidFill>
            <a:prstDash val="solid"/>
          </a:ln>
        </p:spPr>
      </p:sp>
      <p:sp>
        <p:nvSpPr>
          <p:cNvPr id="16" name="">
            <a:extLst xmlns:a="http://schemas.openxmlformats.org/drawingml/2006/main">
              <a:ext uri="{FF2B5EF4-FFF2-40B4-BE49-F238E27FC236}">
                <a16:creationId xmlns:a16="http://schemas.microsoft.com/office/drawing/2014/main" id="{0BCA5460-3158-4D22-83FC-F8F9216ADE5F}"/>
              </a:ext>
            </a:extLst>
          </p:cNvPr>
          <p:cNvSpPr>
            <a:spLocks xmlns:a="http://schemas.openxmlformats.org/drawingml/2006/main" noGrp="1"/>
          </p:cNvSpPr>
          <p:nvPr/>
        </p:nvSpPr>
        <p:spPr>
          <a:xfrm xmlns:a="http://schemas.openxmlformats.org/drawingml/2006/main">
            <a:off x="8991600" y="2000250"/>
            <a:ext cx="2381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2F6B3C"/>
                </a:solidFill>
                <a:latin typeface="Arial"/>
                <a:ea typeface="Arial"/>
                <a:cs typeface="Arial"/>
              </a:defRPr>
            </a:pPr>
            <a:r>
              <a:t>4 • Check</a:t>
            </a:r>
          </a:p>
        </p:txBody>
      </p:sp>
      <p:sp>
        <p:nvSpPr>
          <p:cNvPr id="17" name="">
            <a:extLst xmlns:a="http://schemas.openxmlformats.org/drawingml/2006/main">
              <a:ext uri="{FF2B5EF4-FFF2-40B4-BE49-F238E27FC236}">
                <a16:creationId xmlns:a16="http://schemas.microsoft.com/office/drawing/2014/main" id="{57E84FB6-F7C0-4B04-B245-BC923CD6652F}"/>
              </a:ext>
            </a:extLst>
          </p:cNvPr>
          <p:cNvSpPr>
            <a:spLocks xmlns:a="http://schemas.openxmlformats.org/drawingml/2006/main" noGrp="1"/>
          </p:cNvSpPr>
          <p:nvPr/>
        </p:nvSpPr>
        <p:spPr>
          <a:xfrm xmlns:a="http://schemas.openxmlformats.org/drawingml/2006/main">
            <a:off x="8991600" y="3476625"/>
            <a:ext cx="238125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51F"/>
                </a:solidFill>
                <a:latin typeface="Arial"/>
                <a:ea typeface="Arial"/>
                <a:cs typeface="Arial"/>
              </a:defRPr>
            </a:pPr>
            <a:r>
              <a:t>31 × 7 = 217
Answer: 31 m</a:t>
            </a:r>
          </a:p>
        </p:txBody>
      </p:sp>
    </p:spTree>
    <p:extLst>
      <p:ext uri="{BB962C8B-B14F-4D97-AF65-F5344CB8AC3E}">
        <p14:creationId xmlns:p14="http://schemas.microsoft.com/office/powerpoint/2010/main" val="14646999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F758CB-5E7B-4CE3-87A5-306A0CF7E41C}"/>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629F9673-D947-4930-93B3-5BBC987B3996}"/>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Which student has convinced you?</a:t>
            </a:r>
          </a:p>
        </p:txBody>
      </p:sp>
      <p:cxnSp>
        <p:nvCxnSpPr>
          <p:cNvPr id="14"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37D5E119-F00A-4647-9247-EEECAF863896}"/>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08</a:t>
            </a:r>
          </a:p>
        </p:txBody>
      </p:sp>
      <p:sp>
        <p:nvSpPr>
          <p:cNvPr id="5" name="">
            <a:extLst xmlns:a="http://schemas.openxmlformats.org/drawingml/2006/main">
              <a:ext uri="{FF2B5EF4-FFF2-40B4-BE49-F238E27FC236}">
                <a16:creationId xmlns:a16="http://schemas.microsoft.com/office/drawing/2014/main" id="{FC16A73D-E49B-4F79-813B-5A7F579884D1}"/>
              </a:ext>
            </a:extLst>
          </p:cNvPr>
          <p:cNvSpPr>
            <a:spLocks xmlns:a="http://schemas.openxmlformats.org/drawingml/2006/main" noGrp="1"/>
          </p:cNvSpPr>
          <p:nvPr/>
        </p:nvSpPr>
        <p:spPr>
          <a:xfrm xmlns:a="http://schemas.openxmlformats.org/drawingml/2006/main">
            <a:off x="552450" y="1952625"/>
            <a:ext cx="4953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B33A3A"/>
                </a:solidFill>
                <a:latin typeface="Arial"/>
                <a:ea typeface="Arial"/>
                <a:cs typeface="Arial"/>
              </a:defRPr>
            </a:pPr>
            <a:r>
              <a:t>Response A</a:t>
            </a:r>
          </a:p>
        </p:txBody>
      </p:sp>
      <p:sp>
        <p:nvSpPr>
          <p:cNvPr id="6" name="">
            <a:extLst xmlns:a="http://schemas.openxmlformats.org/drawingml/2006/main">
              <a:ext uri="{FF2B5EF4-FFF2-40B4-BE49-F238E27FC236}">
                <a16:creationId xmlns:a16="http://schemas.microsoft.com/office/drawing/2014/main" id="{94B54543-9F77-4F1E-BA57-D0CAA428C9AD}"/>
              </a:ext>
            </a:extLst>
          </p:cNvPr>
          <p:cNvSpPr>
            <a:spLocks xmlns:a="http://schemas.openxmlformats.org/drawingml/2006/main" noGrp="1"/>
          </p:cNvSpPr>
          <p:nvPr/>
        </p:nvSpPr>
        <p:spPr>
          <a:xfrm xmlns:a="http://schemas.openxmlformats.org/drawingml/2006/main">
            <a:off x="476250" y="2524125"/>
            <a:ext cx="5286375" cy="2381250"/>
          </a:xfrm>
          <a:prstGeom xmlns:a="http://schemas.openxmlformats.org/drawingml/2006/main" prst="roundRect">
            <a:avLst>
              <a:gd name="adj" fmla="val 4800"/>
            </a:avLst>
          </a:prstGeom>
          <a:solidFill xmlns:a="http://schemas.openxmlformats.org/drawingml/2006/main">
            <a:srgbClr val="FAEEEE"/>
          </a:solidFill>
          <a:ln xmlns:a="http://schemas.openxmlformats.org/drawingml/2006/main" w="9525">
            <a:solidFill>
              <a:srgbClr val="E5BABA"/>
            </a:solidFill>
            <a:prstDash val="solid"/>
          </a:ln>
        </p:spPr>
      </p:sp>
      <p:sp>
        <p:nvSpPr>
          <p:cNvPr id="7" name="">
            <a:extLst xmlns:a="http://schemas.openxmlformats.org/drawingml/2006/main">
              <a:ext uri="{FF2B5EF4-FFF2-40B4-BE49-F238E27FC236}">
                <a16:creationId xmlns:a16="http://schemas.microsoft.com/office/drawing/2014/main" id="{CF51DFA1-DCA8-4107-8C2E-95C331F11366}"/>
              </a:ext>
            </a:extLst>
          </p:cNvPr>
          <p:cNvSpPr>
            <a:spLocks xmlns:a="http://schemas.openxmlformats.org/drawingml/2006/main" noGrp="1"/>
          </p:cNvSpPr>
          <p:nvPr/>
        </p:nvSpPr>
        <p:spPr>
          <a:xfrm xmlns:a="http://schemas.openxmlformats.org/drawingml/2006/main">
            <a:off x="838200" y="2952750"/>
            <a:ext cx="4524375" cy="1238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7351F"/>
                </a:solidFill>
                <a:latin typeface="Arial"/>
                <a:ea typeface="Arial"/>
                <a:cs typeface="Arial"/>
              </a:defRPr>
            </a:pPr>
            <a:r>
              <a:t>217 × 7 = 1519
The length is 1519 m².</a:t>
            </a:r>
          </a:p>
        </p:txBody>
      </p:sp>
      <p:sp>
        <p:nvSpPr>
          <p:cNvPr id="8" name="">
            <a:extLst xmlns:a="http://schemas.openxmlformats.org/drawingml/2006/main">
              <a:ext uri="{FF2B5EF4-FFF2-40B4-BE49-F238E27FC236}">
                <a16:creationId xmlns:a16="http://schemas.microsoft.com/office/drawing/2014/main" id="{48626F4E-399F-48C1-8028-9BEF371B1516}"/>
              </a:ext>
            </a:extLst>
          </p:cNvPr>
          <p:cNvSpPr>
            <a:spLocks xmlns:a="http://schemas.openxmlformats.org/drawingml/2006/main" noGrp="1"/>
          </p:cNvSpPr>
          <p:nvPr/>
        </p:nvSpPr>
        <p:spPr>
          <a:xfrm xmlns:a="http://schemas.openxmlformats.org/drawingml/2006/main">
            <a:off x="6477000" y="1952625"/>
            <a:ext cx="4953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F6B3C"/>
                </a:solidFill>
                <a:latin typeface="Arial"/>
                <a:ea typeface="Arial"/>
                <a:cs typeface="Arial"/>
              </a:defRPr>
            </a:pPr>
            <a:r>
              <a:t>Response B</a:t>
            </a:r>
          </a:p>
        </p:txBody>
      </p:sp>
      <p:sp>
        <p:nvSpPr>
          <p:cNvPr id="9" name="">
            <a:extLst xmlns:a="http://schemas.openxmlformats.org/drawingml/2006/main">
              <a:ext uri="{FF2B5EF4-FFF2-40B4-BE49-F238E27FC236}">
                <a16:creationId xmlns:a16="http://schemas.microsoft.com/office/drawing/2014/main" id="{BD6E1D91-2049-4283-803A-0F977E7FE505}"/>
              </a:ext>
            </a:extLst>
          </p:cNvPr>
          <p:cNvSpPr>
            <a:spLocks xmlns:a="http://schemas.openxmlformats.org/drawingml/2006/main" noGrp="1"/>
          </p:cNvSpPr>
          <p:nvPr/>
        </p:nvSpPr>
        <p:spPr>
          <a:xfrm xmlns:a="http://schemas.openxmlformats.org/drawingml/2006/main">
            <a:off x="6400800" y="2524125"/>
            <a:ext cx="5286375" cy="2381250"/>
          </a:xfrm>
          <a:prstGeom xmlns:a="http://schemas.openxmlformats.org/drawingml/2006/main" prst="roundRect">
            <a:avLst>
              <a:gd name="adj" fmla="val 4800"/>
            </a:avLst>
          </a:prstGeom>
          <a:solidFill xmlns:a="http://schemas.openxmlformats.org/drawingml/2006/main">
            <a:srgbClr val="EDF6E9"/>
          </a:solidFill>
          <a:ln xmlns:a="http://schemas.openxmlformats.org/drawingml/2006/main" w="9525">
            <a:solidFill>
              <a:srgbClr val="BDD4B8"/>
            </a:solidFill>
            <a:prstDash val="solid"/>
          </a:ln>
        </p:spPr>
      </p:sp>
      <p:sp>
        <p:nvSpPr>
          <p:cNvPr id="10" name="">
            <a:extLst xmlns:a="http://schemas.openxmlformats.org/drawingml/2006/main">
              <a:ext uri="{FF2B5EF4-FFF2-40B4-BE49-F238E27FC236}">
                <a16:creationId xmlns:a16="http://schemas.microsoft.com/office/drawing/2014/main" id="{94ABED1A-B350-4494-A07A-53D3FC2FF297}"/>
              </a:ext>
            </a:extLst>
          </p:cNvPr>
          <p:cNvSpPr>
            <a:spLocks xmlns:a="http://schemas.openxmlformats.org/drawingml/2006/main" noGrp="1"/>
          </p:cNvSpPr>
          <p:nvPr/>
        </p:nvSpPr>
        <p:spPr>
          <a:xfrm xmlns:a="http://schemas.openxmlformats.org/drawingml/2006/main">
            <a:off x="6781800" y="2857500"/>
            <a:ext cx="4524375" cy="1571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351F"/>
                </a:solidFill>
                <a:latin typeface="Arial"/>
                <a:ea typeface="Arial"/>
                <a:cs typeface="Arial"/>
              </a:defRPr>
            </a:pPr>
            <a:r>
              <a:t>217 ÷ 7 = 31
Check: 31 × 7 = 217
The length is 31 m.</a:t>
            </a:r>
          </a:p>
        </p:txBody>
      </p:sp>
      <p:sp>
        <p:nvSpPr>
          <p:cNvPr id="11" name="">
            <a:extLst xmlns:a="http://schemas.openxmlformats.org/drawingml/2006/main">
              <a:ext uri="{FF2B5EF4-FFF2-40B4-BE49-F238E27FC236}">
                <a16:creationId xmlns:a16="http://schemas.microsoft.com/office/drawing/2014/main" id="{D8AA83EB-8EF1-4A28-ADC6-976C0FF070A9}"/>
              </a:ext>
            </a:extLst>
          </p:cNvPr>
          <p:cNvSpPr>
            <a:spLocks xmlns:a="http://schemas.openxmlformats.org/drawingml/2006/main" noGrp="1"/>
          </p:cNvSpPr>
          <p:nvPr/>
        </p:nvSpPr>
        <p:spPr>
          <a:xfrm xmlns:a="http://schemas.openxmlformats.org/drawingml/2006/main">
            <a:off x="2857500" y="5334000"/>
            <a:ext cx="6477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8A5A3B"/>
                </a:solidFill>
                <a:latin typeface="Arial"/>
                <a:ea typeface="Arial"/>
                <a:cs typeface="Arial"/>
              </a:defRPr>
            </a:pPr>
            <a:r>
              <a:t>Revise one line in the weaker response.</a:t>
            </a:r>
          </a:p>
        </p:txBody>
      </p:sp>
    </p:spTree>
    <p:extLst>
      <p:ext uri="{BB962C8B-B14F-4D97-AF65-F5344CB8AC3E}">
        <p14:creationId xmlns:p14="http://schemas.microsoft.com/office/powerpoint/2010/main" val="9228698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0B2725-740A-4414-8C2D-A76DE31CBFBA}"/>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3EB26A12-AAD4-4C8E-9063-334C45079F29}"/>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m² measures area; m measures length</a:t>
            </a:r>
          </a:p>
        </p:txBody>
      </p:sp>
      <p:cxnSp>
        <p:nvCxnSpPr>
          <p:cNvPr id="14"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FB05B1D8-FF29-42DF-804A-3224DE85B631}"/>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09</a:t>
            </a:r>
          </a:p>
        </p:txBody>
      </p:sp>
      <p:sp>
        <p:nvSpPr>
          <p:cNvPr id="5" name="">
            <a:extLst xmlns:a="http://schemas.openxmlformats.org/drawingml/2006/main">
              <a:ext uri="{FF2B5EF4-FFF2-40B4-BE49-F238E27FC236}">
                <a16:creationId xmlns:a16="http://schemas.microsoft.com/office/drawing/2014/main" id="{584F7D05-72C3-463C-AEB8-BA9321CA6E22}"/>
              </a:ext>
            </a:extLst>
          </p:cNvPr>
          <p:cNvSpPr>
            <a:spLocks xmlns:a="http://schemas.openxmlformats.org/drawingml/2006/main" noGrp="1"/>
          </p:cNvSpPr>
          <p:nvPr/>
        </p:nvSpPr>
        <p:spPr>
          <a:xfrm xmlns:a="http://schemas.openxmlformats.org/drawingml/2006/main">
            <a:off x="723900" y="2190750"/>
            <a:ext cx="4762500" cy="2571750"/>
          </a:xfrm>
          <a:prstGeom xmlns:a="http://schemas.openxmlformats.org/drawingml/2006/main" prst="roundRect">
            <a:avLst>
              <a:gd name="adj" fmla="val 4444"/>
            </a:avLst>
          </a:prstGeom>
          <a:solidFill xmlns:a="http://schemas.openxmlformats.org/drawingml/2006/main">
            <a:srgbClr val="E8EFE5"/>
          </a:solidFill>
          <a:ln xmlns:a="http://schemas.openxmlformats.org/drawingml/2006/main" w="9525">
            <a:solidFill>
              <a:srgbClr val="B8C6B6"/>
            </a:solidFill>
            <a:prstDash val="solid"/>
          </a:ln>
        </p:spPr>
      </p:sp>
      <p:sp>
        <p:nvSpPr>
          <p:cNvPr id="6" name="">
            <a:extLst xmlns:a="http://schemas.openxmlformats.org/drawingml/2006/main">
              <a:ext uri="{FF2B5EF4-FFF2-40B4-BE49-F238E27FC236}">
                <a16:creationId xmlns:a16="http://schemas.microsoft.com/office/drawing/2014/main" id="{1306F446-1F95-4646-8F0C-1755589E2AAE}"/>
              </a:ext>
            </a:extLst>
          </p:cNvPr>
          <p:cNvSpPr>
            <a:spLocks xmlns:a="http://schemas.openxmlformats.org/drawingml/2006/main" noGrp="1"/>
          </p:cNvSpPr>
          <p:nvPr/>
        </p:nvSpPr>
        <p:spPr>
          <a:xfrm xmlns:a="http://schemas.openxmlformats.org/drawingml/2006/main">
            <a:off x="1619250" y="2476500"/>
            <a:ext cx="295275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250" b="1">
                <a:solidFill>
                  <a:srgbClr val="8A5A3B"/>
                </a:solidFill>
                <a:latin typeface="Arial"/>
                <a:ea typeface="Arial"/>
                <a:cs typeface="Arial"/>
              </a:defRPr>
            </a:pPr>
            <a:r>
              <a:t>m²</a:t>
            </a:r>
          </a:p>
        </p:txBody>
      </p:sp>
      <p:sp>
        <p:nvSpPr>
          <p:cNvPr id="7" name="">
            <a:extLst xmlns:a="http://schemas.openxmlformats.org/drawingml/2006/main">
              <a:ext uri="{FF2B5EF4-FFF2-40B4-BE49-F238E27FC236}">
                <a16:creationId xmlns:a16="http://schemas.microsoft.com/office/drawing/2014/main" id="{FE3CCC1B-1B04-4404-AAF4-CDE03CC85848}"/>
              </a:ext>
            </a:extLst>
          </p:cNvPr>
          <p:cNvSpPr>
            <a:spLocks xmlns:a="http://schemas.openxmlformats.org/drawingml/2006/main" noGrp="1"/>
          </p:cNvSpPr>
          <p:nvPr/>
        </p:nvSpPr>
        <p:spPr>
          <a:xfrm xmlns:a="http://schemas.openxmlformats.org/drawingml/2006/main">
            <a:off x="1619250" y="3714750"/>
            <a:ext cx="2952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17351F"/>
                </a:solidFill>
                <a:latin typeface="Arial"/>
                <a:ea typeface="Arial"/>
                <a:cs typeface="Arial"/>
              </a:defRPr>
            </a:pPr>
            <a:r>
              <a:t>space covered</a:t>
            </a:r>
          </a:p>
        </p:txBody>
      </p:sp>
      <p:sp>
        <p:nvSpPr>
          <p:cNvPr id="8" name="">
            <a:extLst xmlns:a="http://schemas.openxmlformats.org/drawingml/2006/main">
              <a:ext uri="{FF2B5EF4-FFF2-40B4-BE49-F238E27FC236}">
                <a16:creationId xmlns:a16="http://schemas.microsoft.com/office/drawing/2014/main" id="{1EAE0B94-EC97-4FCD-8247-00E6FD7EF981}"/>
              </a:ext>
            </a:extLst>
          </p:cNvPr>
          <p:cNvSpPr>
            <a:spLocks xmlns:a="http://schemas.openxmlformats.org/drawingml/2006/main" noGrp="1"/>
          </p:cNvSpPr>
          <p:nvPr/>
        </p:nvSpPr>
        <p:spPr>
          <a:xfrm xmlns:a="http://schemas.openxmlformats.org/drawingml/2006/main">
            <a:off x="6705600" y="2190750"/>
            <a:ext cx="4762500" cy="2571750"/>
          </a:xfrm>
          <a:prstGeom xmlns:a="http://schemas.openxmlformats.org/drawingml/2006/main" prst="roundRect">
            <a:avLst>
              <a:gd name="adj" fmla="val 4444"/>
            </a:avLst>
          </a:prstGeom>
          <a:solidFill xmlns:a="http://schemas.openxmlformats.org/drawingml/2006/main">
            <a:srgbClr val="E9F4D0"/>
          </a:solidFill>
          <a:ln xmlns:a="http://schemas.openxmlformats.org/drawingml/2006/main" w="9525">
            <a:solidFill>
              <a:srgbClr val="2F6B3C"/>
            </a:solidFill>
            <a:prstDash val="solid"/>
          </a:ln>
        </p:spPr>
      </p:sp>
      <p:sp>
        <p:nvSpPr>
          <p:cNvPr id="9" name="">
            <a:extLst xmlns:a="http://schemas.openxmlformats.org/drawingml/2006/main">
              <a:ext uri="{FF2B5EF4-FFF2-40B4-BE49-F238E27FC236}">
                <a16:creationId xmlns:a16="http://schemas.microsoft.com/office/drawing/2014/main" id="{9EBD55F2-25AE-4194-963E-DD8DCF4F2769}"/>
              </a:ext>
            </a:extLst>
          </p:cNvPr>
          <p:cNvSpPr>
            <a:spLocks xmlns:a="http://schemas.openxmlformats.org/drawingml/2006/main" noGrp="1"/>
          </p:cNvSpPr>
          <p:nvPr/>
        </p:nvSpPr>
        <p:spPr>
          <a:xfrm xmlns:a="http://schemas.openxmlformats.org/drawingml/2006/main">
            <a:off x="7620000" y="2476500"/>
            <a:ext cx="295275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250" b="1">
                <a:solidFill>
                  <a:srgbClr val="2F6B3C"/>
                </a:solidFill>
                <a:latin typeface="Arial"/>
                <a:ea typeface="Arial"/>
                <a:cs typeface="Arial"/>
              </a:defRPr>
            </a:pPr>
            <a:r>
              <a:t>m</a:t>
            </a:r>
          </a:p>
        </p:txBody>
      </p:sp>
      <p:sp>
        <p:nvSpPr>
          <p:cNvPr id="10" name="">
            <a:extLst xmlns:a="http://schemas.openxmlformats.org/drawingml/2006/main">
              <a:ext uri="{FF2B5EF4-FFF2-40B4-BE49-F238E27FC236}">
                <a16:creationId xmlns:a16="http://schemas.microsoft.com/office/drawing/2014/main" id="{630D0A2C-4371-4141-9738-6CA6B3244B93}"/>
              </a:ext>
            </a:extLst>
          </p:cNvPr>
          <p:cNvSpPr>
            <a:spLocks xmlns:a="http://schemas.openxmlformats.org/drawingml/2006/main" noGrp="1"/>
          </p:cNvSpPr>
          <p:nvPr/>
        </p:nvSpPr>
        <p:spPr>
          <a:xfrm xmlns:a="http://schemas.openxmlformats.org/drawingml/2006/main">
            <a:off x="7239000" y="3714750"/>
            <a:ext cx="3714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17351F"/>
                </a:solidFill>
                <a:latin typeface="Arial"/>
                <a:ea typeface="Arial"/>
                <a:cs typeface="Arial"/>
              </a:defRPr>
            </a:pPr>
            <a:r>
              <a:t>distance along a side</a:t>
            </a:r>
          </a:p>
        </p:txBody>
      </p:sp>
      <p:sp>
        <p:nvSpPr>
          <p:cNvPr id="11" name="">
            <a:extLst xmlns:a="http://schemas.openxmlformats.org/drawingml/2006/main">
              <a:ext uri="{FF2B5EF4-FFF2-40B4-BE49-F238E27FC236}">
                <a16:creationId xmlns:a16="http://schemas.microsoft.com/office/drawing/2014/main" id="{47F0FB81-2051-471A-B629-F31478AC11E8}"/>
              </a:ext>
            </a:extLst>
          </p:cNvPr>
          <p:cNvSpPr>
            <a:spLocks xmlns:a="http://schemas.openxmlformats.org/drawingml/2006/main" noGrp="1"/>
          </p:cNvSpPr>
          <p:nvPr/>
        </p:nvSpPr>
        <p:spPr>
          <a:xfrm xmlns:a="http://schemas.openxmlformats.org/drawingml/2006/main">
            <a:off x="3048000" y="5238750"/>
            <a:ext cx="6096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a:solidFill>
                  <a:srgbClr val="17351F"/>
                </a:solidFill>
                <a:latin typeface="Arial"/>
                <a:ea typeface="Arial"/>
                <a:cs typeface="Arial"/>
              </a:defRPr>
            </a:pPr>
            <a:r>
              <a:t>The unknown is a side length → 31 m</a:t>
            </a:r>
          </a:p>
        </p:txBody>
      </p:sp>
    </p:spTree>
    <p:extLst>
      <p:ext uri="{BB962C8B-B14F-4D97-AF65-F5344CB8AC3E}">
        <p14:creationId xmlns:p14="http://schemas.microsoft.com/office/powerpoint/2010/main" val="19777544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F8FC2A-500A-441D-98C1-85EF239FD013}"/>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B7BF7E0E-9F5E-4101-BDF4-F8DA1BBA2D95}"/>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We do: prove the missing side</a:t>
            </a:r>
          </a:p>
        </p:txBody>
      </p:sp>
      <p:cxnSp>
        <p:nvCxnSpPr>
          <p:cNvPr id="14"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52C4BDAF-31DB-4717-BD55-53A6B98C29A5}"/>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10</a:t>
            </a:r>
          </a:p>
        </p:txBody>
      </p:sp>
      <p:sp>
        <p:nvSpPr>
          <p:cNvPr id="5" name="">
            <a:extLst xmlns:a="http://schemas.openxmlformats.org/drawingml/2006/main">
              <a:ext uri="{FF2B5EF4-FFF2-40B4-BE49-F238E27FC236}">
                <a16:creationId xmlns:a16="http://schemas.microsoft.com/office/drawing/2014/main" id="{552AB655-CDE3-49A2-833A-36C4B395B181}"/>
              </a:ext>
            </a:extLst>
          </p:cNvPr>
          <p:cNvSpPr>
            <a:spLocks xmlns:a="http://schemas.openxmlformats.org/drawingml/2006/main" noGrp="1"/>
          </p:cNvSpPr>
          <p:nvPr/>
        </p:nvSpPr>
        <p:spPr>
          <a:xfrm xmlns:a="http://schemas.openxmlformats.org/drawingml/2006/main">
            <a:off x="523875" y="2000250"/>
            <a:ext cx="5286375" cy="3048000"/>
          </a:xfrm>
          <a:prstGeom xmlns:a="http://schemas.openxmlformats.org/drawingml/2006/main" prst="roundRect">
            <a:avLst>
              <a:gd name="adj" fmla="val 3750"/>
            </a:avLst>
          </a:prstGeom>
          <a:solidFill xmlns:a="http://schemas.openxmlformats.org/drawingml/2006/main">
            <a:srgbClr val="F3F6EE"/>
          </a:solidFill>
          <a:ln xmlns:a="http://schemas.openxmlformats.org/drawingml/2006/main" w="9525">
            <a:solidFill>
              <a:srgbClr val="B8C6B6"/>
            </a:solidFill>
            <a:prstDash val="solid"/>
          </a:ln>
        </p:spPr>
      </p:sp>
      <p:sp>
        <p:nvSpPr>
          <p:cNvPr id="6" name="">
            <a:extLst xmlns:a="http://schemas.openxmlformats.org/drawingml/2006/main">
              <a:ext uri="{FF2B5EF4-FFF2-40B4-BE49-F238E27FC236}">
                <a16:creationId xmlns:a16="http://schemas.microsoft.com/office/drawing/2014/main" id="{916B97A4-7454-4404-A6F9-1BE942525551}"/>
              </a:ext>
            </a:extLst>
          </p:cNvPr>
          <p:cNvSpPr>
            <a:spLocks xmlns:a="http://schemas.openxmlformats.org/drawingml/2006/main" noGrp="1"/>
          </p:cNvSpPr>
          <p:nvPr/>
        </p:nvSpPr>
        <p:spPr>
          <a:xfrm xmlns:a="http://schemas.openxmlformats.org/drawingml/2006/main">
            <a:off x="838200" y="2286000"/>
            <a:ext cx="28575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F6B3C"/>
                </a:solidFill>
                <a:latin typeface="Arial"/>
                <a:ea typeface="Arial"/>
                <a:cs typeface="Arial"/>
              </a:defRPr>
            </a:pPr>
            <a:r>
              <a:t>Garden A</a:t>
            </a:r>
          </a:p>
        </p:txBody>
      </p:sp>
      <p:sp>
        <p:nvSpPr>
          <p:cNvPr id="7" name="">
            <a:extLst xmlns:a="http://schemas.openxmlformats.org/drawingml/2006/main">
              <a:ext uri="{FF2B5EF4-FFF2-40B4-BE49-F238E27FC236}">
                <a16:creationId xmlns:a16="http://schemas.microsoft.com/office/drawing/2014/main" id="{03AF6E42-B6BC-4214-B6BE-371D06209ADA}"/>
              </a:ext>
            </a:extLst>
          </p:cNvPr>
          <p:cNvSpPr>
            <a:spLocks xmlns:a="http://schemas.openxmlformats.org/drawingml/2006/main" noGrp="1"/>
          </p:cNvSpPr>
          <p:nvPr/>
        </p:nvSpPr>
        <p:spPr>
          <a:xfrm xmlns:a="http://schemas.openxmlformats.org/drawingml/2006/main">
            <a:off x="838200" y="3000375"/>
            <a:ext cx="4000500" cy="1428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7351F"/>
                </a:solidFill>
                <a:latin typeface="Arial"/>
                <a:ea typeface="Arial"/>
                <a:cs typeface="Arial"/>
              </a:defRPr>
            </a:pPr>
            <a:r>
              <a:t>Area = 168 m²
Width = 6 m
Length = ?</a:t>
            </a:r>
          </a:p>
        </p:txBody>
      </p:sp>
      <p:sp>
        <p:nvSpPr>
          <p:cNvPr id="8" name="">
            <a:extLst xmlns:a="http://schemas.openxmlformats.org/drawingml/2006/main">
              <a:ext uri="{FF2B5EF4-FFF2-40B4-BE49-F238E27FC236}">
                <a16:creationId xmlns:a16="http://schemas.microsoft.com/office/drawing/2014/main" id="{9F070719-DB06-4698-876B-B0BDA74CEE4F}"/>
              </a:ext>
            </a:extLst>
          </p:cNvPr>
          <p:cNvSpPr>
            <a:spLocks xmlns:a="http://schemas.openxmlformats.org/drawingml/2006/main" noGrp="1"/>
          </p:cNvSpPr>
          <p:nvPr/>
        </p:nvSpPr>
        <p:spPr>
          <a:xfrm xmlns:a="http://schemas.openxmlformats.org/drawingml/2006/main">
            <a:off x="6381750" y="2000250"/>
            <a:ext cx="5286375" cy="3048000"/>
          </a:xfrm>
          <a:prstGeom xmlns:a="http://schemas.openxmlformats.org/drawingml/2006/main" prst="roundRect">
            <a:avLst>
              <a:gd name="adj" fmla="val 3750"/>
            </a:avLst>
          </a:prstGeom>
          <a:solidFill xmlns:a="http://schemas.openxmlformats.org/drawingml/2006/main">
            <a:srgbClr val="E9F4D0"/>
          </a:solidFill>
          <a:ln xmlns:a="http://schemas.openxmlformats.org/drawingml/2006/main" w="9525">
            <a:solidFill>
              <a:srgbClr val="2F6B3C"/>
            </a:solidFill>
            <a:prstDash val="solid"/>
          </a:ln>
        </p:spPr>
      </p:sp>
      <p:sp>
        <p:nvSpPr>
          <p:cNvPr id="9" name="">
            <a:extLst xmlns:a="http://schemas.openxmlformats.org/drawingml/2006/main">
              <a:ext uri="{FF2B5EF4-FFF2-40B4-BE49-F238E27FC236}">
                <a16:creationId xmlns:a16="http://schemas.microsoft.com/office/drawing/2014/main" id="{AA6B36F2-99AF-43B6-9529-6FD5B190B15C}"/>
              </a:ext>
            </a:extLst>
          </p:cNvPr>
          <p:cNvSpPr>
            <a:spLocks xmlns:a="http://schemas.openxmlformats.org/drawingml/2006/main" noGrp="1"/>
          </p:cNvSpPr>
          <p:nvPr/>
        </p:nvSpPr>
        <p:spPr>
          <a:xfrm xmlns:a="http://schemas.openxmlformats.org/drawingml/2006/main">
            <a:off x="6696075" y="2286000"/>
            <a:ext cx="28575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F6B3C"/>
                </a:solidFill>
                <a:latin typeface="Arial"/>
                <a:ea typeface="Arial"/>
                <a:cs typeface="Arial"/>
              </a:defRPr>
            </a:pPr>
            <a:r>
              <a:t>Garden B</a:t>
            </a:r>
          </a:p>
        </p:txBody>
      </p:sp>
      <p:sp>
        <p:nvSpPr>
          <p:cNvPr id="10" name="">
            <a:extLst xmlns:a="http://schemas.openxmlformats.org/drawingml/2006/main">
              <a:ext uri="{FF2B5EF4-FFF2-40B4-BE49-F238E27FC236}">
                <a16:creationId xmlns:a16="http://schemas.microsoft.com/office/drawing/2014/main" id="{B9BA00AC-0715-4ADB-A896-F4D4106D2D14}"/>
              </a:ext>
            </a:extLst>
          </p:cNvPr>
          <p:cNvSpPr>
            <a:spLocks xmlns:a="http://schemas.openxmlformats.org/drawingml/2006/main" noGrp="1"/>
          </p:cNvSpPr>
          <p:nvPr/>
        </p:nvSpPr>
        <p:spPr>
          <a:xfrm xmlns:a="http://schemas.openxmlformats.org/drawingml/2006/main">
            <a:off x="6696075" y="3000375"/>
            <a:ext cx="4191000" cy="1428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7351F"/>
                </a:solidFill>
                <a:latin typeface="Arial"/>
                <a:ea typeface="Arial"/>
                <a:cs typeface="Arial"/>
              </a:defRPr>
            </a:pPr>
            <a:r>
              <a:t>Area = 216 m²
Length = 24 m
Width = ?</a:t>
            </a:r>
          </a:p>
        </p:txBody>
      </p:sp>
      <p:sp>
        <p:nvSpPr>
          <p:cNvPr id="11" name="">
            <a:extLst xmlns:a="http://schemas.openxmlformats.org/drawingml/2006/main">
              <a:ext uri="{FF2B5EF4-FFF2-40B4-BE49-F238E27FC236}">
                <a16:creationId xmlns:a16="http://schemas.microsoft.com/office/drawing/2014/main" id="{46FD3354-036D-48FD-854A-E7E7A585ED84}"/>
              </a:ext>
            </a:extLst>
          </p:cNvPr>
          <p:cNvSpPr>
            <a:spLocks xmlns:a="http://schemas.openxmlformats.org/drawingml/2006/main" noGrp="1"/>
          </p:cNvSpPr>
          <p:nvPr/>
        </p:nvSpPr>
        <p:spPr>
          <a:xfrm xmlns:a="http://schemas.openxmlformats.org/drawingml/2006/main">
            <a:off x="2095500" y="5429250"/>
            <a:ext cx="8001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8A5A3B"/>
                </a:solidFill>
                <a:latin typeface="Arial"/>
                <a:ea typeface="Arial"/>
                <a:cs typeface="Arial"/>
              </a:defRPr>
            </a:pPr>
            <a:r>
              <a:t>Show an equation. Show division. Check by multiplying.</a:t>
            </a:r>
          </a:p>
        </p:txBody>
      </p:sp>
    </p:spTree>
    <p:extLst>
      <p:ext uri="{BB962C8B-B14F-4D97-AF65-F5344CB8AC3E}">
        <p14:creationId xmlns:p14="http://schemas.microsoft.com/office/powerpoint/2010/main" val="5469651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D87C61-A588-4D8D-AD0A-CB08A30F4E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3D8A9768-5FB3-4CA1-9921-7D5D97976CDE}"/>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You design: a garden with one hidden side</a:t>
            </a:r>
          </a:p>
        </p:txBody>
      </p:sp>
      <p:cxnSp>
        <p:nvCxnSpPr>
          <p:cNvPr id="14"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FE2557F3-855F-4735-A847-84B73FD81114}"/>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11</a:t>
            </a:r>
          </a:p>
        </p:txBody>
      </p:sp>
      <p:sp>
        <p:nvSpPr>
          <p:cNvPr id="5" name="">
            <a:extLst xmlns:a="http://schemas.openxmlformats.org/drawingml/2006/main">
              <a:ext uri="{FF2B5EF4-FFF2-40B4-BE49-F238E27FC236}">
                <a16:creationId xmlns:a16="http://schemas.microsoft.com/office/drawing/2014/main" id="{185278C1-AA47-406C-BAE9-D6D97FD844C8}"/>
              </a:ext>
            </a:extLst>
          </p:cNvPr>
          <p:cNvSpPr>
            <a:spLocks xmlns:a="http://schemas.openxmlformats.org/drawingml/2006/main" noGrp="1"/>
          </p:cNvSpPr>
          <p:nvPr/>
        </p:nvSpPr>
        <p:spPr>
          <a:xfrm xmlns:a="http://schemas.openxmlformats.org/drawingml/2006/main">
            <a:off x="714375" y="2095500"/>
            <a:ext cx="3143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F6B3C"/>
                </a:solidFill>
                <a:latin typeface="Arial"/>
                <a:ea typeface="Arial"/>
                <a:cs typeface="Arial"/>
              </a:defRPr>
            </a:pPr>
            <a:r>
              <a:t>Choose one area</a:t>
            </a:r>
          </a:p>
        </p:txBody>
      </p:sp>
      <p:sp>
        <p:nvSpPr>
          <p:cNvPr id="6" name="">
            <a:extLst xmlns:a="http://schemas.openxmlformats.org/drawingml/2006/main">
              <a:ext uri="{FF2B5EF4-FFF2-40B4-BE49-F238E27FC236}">
                <a16:creationId xmlns:a16="http://schemas.microsoft.com/office/drawing/2014/main" id="{A728232C-C709-49BD-A022-42788EF58A96}"/>
              </a:ext>
            </a:extLst>
          </p:cNvPr>
          <p:cNvSpPr>
            <a:spLocks xmlns:a="http://schemas.openxmlformats.org/drawingml/2006/main" noGrp="1"/>
          </p:cNvSpPr>
          <p:nvPr/>
        </p:nvSpPr>
        <p:spPr>
          <a:xfrm xmlns:a="http://schemas.openxmlformats.org/drawingml/2006/main">
            <a:off x="714375" y="2686050"/>
            <a:ext cx="476250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7351F"/>
                </a:solidFill>
                <a:latin typeface="Arial"/>
                <a:ea typeface="Arial"/>
                <a:cs typeface="Arial"/>
              </a:defRPr>
            </a:pPr>
            <a:r>
              <a:t>180 m²   224 m²   315 m²</a:t>
            </a:r>
          </a:p>
        </p:txBody>
      </p:sp>
      <p:sp>
        <p:nvSpPr>
          <p:cNvPr id="7" name="">
            <a:extLst xmlns:a="http://schemas.openxmlformats.org/drawingml/2006/main">
              <a:ext uri="{FF2B5EF4-FFF2-40B4-BE49-F238E27FC236}">
                <a16:creationId xmlns:a16="http://schemas.microsoft.com/office/drawing/2014/main" id="{53DBD99E-8D0E-4716-8857-301E25A9E480}"/>
              </a:ext>
            </a:extLst>
          </p:cNvPr>
          <p:cNvSpPr>
            <a:spLocks xmlns:a="http://schemas.openxmlformats.org/drawingml/2006/main" noGrp="1"/>
          </p:cNvSpPr>
          <p:nvPr/>
        </p:nvSpPr>
        <p:spPr>
          <a:xfrm xmlns:a="http://schemas.openxmlformats.org/drawingml/2006/main">
            <a:off x="714375" y="3667125"/>
            <a:ext cx="40957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F6B3C"/>
                </a:solidFill>
                <a:latin typeface="Arial"/>
                <a:ea typeface="Arial"/>
                <a:cs typeface="Arial"/>
              </a:defRPr>
            </a:pPr>
            <a:r>
              <a:t>Choose one known side</a:t>
            </a:r>
          </a:p>
        </p:txBody>
      </p:sp>
      <p:sp>
        <p:nvSpPr>
          <p:cNvPr id="8" name="">
            <a:extLst xmlns:a="http://schemas.openxmlformats.org/drawingml/2006/main">
              <a:ext uri="{FF2B5EF4-FFF2-40B4-BE49-F238E27FC236}">
                <a16:creationId xmlns:a16="http://schemas.microsoft.com/office/drawing/2014/main" id="{DB7C9188-A367-4801-AD90-F7A33B31DC94}"/>
              </a:ext>
            </a:extLst>
          </p:cNvPr>
          <p:cNvSpPr>
            <a:spLocks xmlns:a="http://schemas.openxmlformats.org/drawingml/2006/main" noGrp="1"/>
          </p:cNvSpPr>
          <p:nvPr/>
        </p:nvSpPr>
        <p:spPr>
          <a:xfrm xmlns:a="http://schemas.openxmlformats.org/drawingml/2006/main">
            <a:off x="714375" y="4257675"/>
            <a:ext cx="476250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7351F"/>
                </a:solidFill>
                <a:latin typeface="Arial"/>
                <a:ea typeface="Arial"/>
                <a:cs typeface="Arial"/>
              </a:defRPr>
            </a:pPr>
            <a:r>
              <a:t>6 m      7 m      9 m</a:t>
            </a:r>
          </a:p>
        </p:txBody>
      </p:sp>
      <p:sp>
        <p:nvSpPr>
          <p:cNvPr id="9" name="">
            <a:extLst xmlns:a="http://schemas.openxmlformats.org/drawingml/2006/main">
              <a:ext uri="{FF2B5EF4-FFF2-40B4-BE49-F238E27FC236}">
                <a16:creationId xmlns:a16="http://schemas.microsoft.com/office/drawing/2014/main" id="{49D84971-C2ED-4E62-8929-D2956E6964E1}"/>
              </a:ext>
            </a:extLst>
          </p:cNvPr>
          <p:cNvSpPr>
            <a:spLocks xmlns:a="http://schemas.openxmlformats.org/drawingml/2006/main" noGrp="1"/>
          </p:cNvSpPr>
          <p:nvPr/>
        </p:nvSpPr>
        <p:spPr>
          <a:xfrm xmlns:a="http://schemas.openxmlformats.org/drawingml/2006/main">
            <a:off x="6334125" y="1952625"/>
            <a:ext cx="4762500" cy="3238500"/>
          </a:xfrm>
          <a:prstGeom xmlns:a="http://schemas.openxmlformats.org/drawingml/2006/main" prst="rect">
            <a:avLst/>
          </a:prstGeom>
          <a:solidFill xmlns:a="http://schemas.openxmlformats.org/drawingml/2006/main">
            <a:srgbClr val="E6D3C0"/>
          </a:solidFill>
          <a:ln xmlns:a="http://schemas.openxmlformats.org/drawingml/2006/main" w="9525">
            <a:solidFill>
              <a:srgbClr val="8A5A3B"/>
            </a:solidFill>
            <a:prstDash val="solid"/>
          </a:ln>
        </p:spPr>
      </p:sp>
      <p:sp>
        <p:nvSpPr>
          <p:cNvPr id="10" name="">
            <a:extLst xmlns:a="http://schemas.openxmlformats.org/drawingml/2006/main">
              <a:ext uri="{FF2B5EF4-FFF2-40B4-BE49-F238E27FC236}">
                <a16:creationId xmlns:a16="http://schemas.microsoft.com/office/drawing/2014/main" id="{B5C7892E-51A6-4078-80A2-BCB1C22BAB4E}"/>
              </a:ext>
            </a:extLst>
          </p:cNvPr>
          <p:cNvSpPr>
            <a:spLocks xmlns:a="http://schemas.openxmlformats.org/drawingml/2006/main" noGrp="1"/>
          </p:cNvSpPr>
          <p:nvPr/>
        </p:nvSpPr>
        <p:spPr>
          <a:xfrm xmlns:a="http://schemas.openxmlformats.org/drawingml/2006/main">
            <a:off x="6762750" y="3095625"/>
            <a:ext cx="390525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a:solidFill>
                  <a:srgbClr val="8A5A3B"/>
                </a:solidFill>
                <a:latin typeface="Arial"/>
                <a:ea typeface="Arial"/>
                <a:cs typeface="Arial"/>
              </a:defRPr>
            </a:pPr>
            <a:r>
              <a:t>Draw • label • calculate • check</a:t>
            </a:r>
          </a:p>
        </p:txBody>
      </p:sp>
      <p:sp>
        <p:nvSpPr>
          <p:cNvPr id="11" name="">
            <a:extLst xmlns:a="http://schemas.openxmlformats.org/drawingml/2006/main">
              <a:ext uri="{FF2B5EF4-FFF2-40B4-BE49-F238E27FC236}">
                <a16:creationId xmlns:a16="http://schemas.microsoft.com/office/drawing/2014/main" id="{D6550EBC-A41B-4BC2-AA32-49E4CF87DAB7}"/>
              </a:ext>
            </a:extLst>
          </p:cNvPr>
          <p:cNvSpPr>
            <a:spLocks xmlns:a="http://schemas.openxmlformats.org/drawingml/2006/main" noGrp="1"/>
          </p:cNvSpPr>
          <p:nvPr/>
        </p:nvSpPr>
        <p:spPr>
          <a:xfrm xmlns:a="http://schemas.openxmlformats.org/drawingml/2006/main">
            <a:off x="7239000" y="4524375"/>
            <a:ext cx="2952750" cy="523875"/>
          </a:xfrm>
          <a:prstGeom xmlns:a="http://schemas.openxmlformats.org/drawingml/2006/main" prst="rect">
            <a:avLst/>
          </a:prstGeom>
        </p:spPr>
        <p:txBody>
          <a:bodyPr xmlns:a="http://schemas.openxmlformats.org/drawingml/2006/main" wrap="square" lIns="0" tIns="0" rIns="0" bIns="0" anchor="t">
            <a:normAutofit fontScale="95486"/>
          </a:bodyPr>
          <a:lstStyle xmlns:a="http://schemas.openxmlformats.org/drawingml/2006/main"/>
          <a:p xmlns:a="http://schemas.openxmlformats.org/drawingml/2006/main">
            <a:pPr algn="ctr">
              <a:defRPr sz="1800" b="1">
                <a:solidFill>
                  <a:srgbClr val="17351F"/>
                </a:solidFill>
                <a:latin typeface="Arial"/>
                <a:ea typeface="Arial"/>
                <a:cs typeface="Arial"/>
              </a:defRPr>
            </a:pPr>
            <a:r>
              <a:t>Make sure your choices divide exactly.</a:t>
            </a:r>
          </a:p>
        </p:txBody>
      </p:sp>
    </p:spTree>
    <p:extLst>
      <p:ext uri="{BB962C8B-B14F-4D97-AF65-F5344CB8AC3E}">
        <p14:creationId xmlns:p14="http://schemas.microsoft.com/office/powerpoint/2010/main" val="1106172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B936C6-1E97-40E1-A515-52D424F3D243}"/>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8B71F436-0019-4E0E-9893-B2EEA86E1650}"/>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Swap, test, revise</a:t>
            </a:r>
          </a:p>
        </p:txBody>
      </p:sp>
      <p:cxnSp>
        <p:nvCxnSpPr>
          <p:cNvPr id="20"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07668028-F4BA-4F16-A98F-55B7D081EEDC}"/>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12</a:t>
            </a:r>
          </a:p>
        </p:txBody>
      </p:sp>
      <p:sp>
        <p:nvSpPr>
          <p:cNvPr id="5" name="">
            <a:extLst xmlns:a="http://schemas.openxmlformats.org/drawingml/2006/main">
              <a:ext uri="{FF2B5EF4-FFF2-40B4-BE49-F238E27FC236}">
                <a16:creationId xmlns:a16="http://schemas.microsoft.com/office/drawing/2014/main" id="{A3B75EB9-1B69-4142-92AD-023CC8E05638}"/>
              </a:ext>
            </a:extLst>
          </p:cNvPr>
          <p:cNvSpPr>
            <a:spLocks xmlns:a="http://schemas.openxmlformats.org/drawingml/2006/main" noGrp="1"/>
          </p:cNvSpPr>
          <p:nvPr/>
        </p:nvSpPr>
        <p:spPr>
          <a:xfrm xmlns:a="http://schemas.openxmlformats.org/drawingml/2006/main">
            <a:off x="685800" y="1952625"/>
            <a:ext cx="4476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8A5A3B"/>
                </a:solidFill>
                <a:latin typeface="Arial"/>
                <a:ea typeface="Arial"/>
                <a:cs typeface="Arial"/>
              </a:defRPr>
            </a:pPr>
            <a:r>
              <a:t>Reviewer</a:t>
            </a:r>
          </a:p>
        </p:txBody>
      </p:sp>
      <p:sp>
        <p:nvSpPr>
          <p:cNvPr id="6" name="">
            <a:extLst xmlns:a="http://schemas.openxmlformats.org/drawingml/2006/main">
              <a:ext uri="{FF2B5EF4-FFF2-40B4-BE49-F238E27FC236}">
                <a16:creationId xmlns:a16="http://schemas.microsoft.com/office/drawing/2014/main" id="{4F2A82C5-29FE-4C0E-923C-F677CEFAAAC3}"/>
              </a:ext>
            </a:extLst>
          </p:cNvPr>
          <p:cNvSpPr>
            <a:spLocks xmlns:a="http://schemas.openxmlformats.org/drawingml/2006/main" noGrp="1"/>
          </p:cNvSpPr>
          <p:nvPr/>
        </p:nvSpPr>
        <p:spPr>
          <a:xfrm xmlns:a="http://schemas.openxmlformats.org/drawingml/2006/main">
            <a:off x="809625" y="2667000"/>
            <a:ext cx="266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6B3C"/>
            </a:solidFill>
            <a:prstDash val="solid"/>
          </a:ln>
        </p:spPr>
      </p:sp>
      <p:sp>
        <p:nvSpPr>
          <p:cNvPr id="7" name="">
            <a:extLst xmlns:a="http://schemas.openxmlformats.org/drawingml/2006/main">
              <a:ext uri="{FF2B5EF4-FFF2-40B4-BE49-F238E27FC236}">
                <a16:creationId xmlns:a16="http://schemas.microsoft.com/office/drawing/2014/main" id="{4D150DB4-7513-4429-8D41-29F8D56567BB}"/>
              </a:ext>
            </a:extLst>
          </p:cNvPr>
          <p:cNvSpPr>
            <a:spLocks xmlns:a="http://schemas.openxmlformats.org/drawingml/2006/main" noGrp="1"/>
          </p:cNvSpPr>
          <p:nvPr/>
        </p:nvSpPr>
        <p:spPr>
          <a:xfrm xmlns:a="http://schemas.openxmlformats.org/drawingml/2006/main">
            <a:off x="1257300" y="2590800"/>
            <a:ext cx="43815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Equation matches the story</a:t>
            </a:r>
          </a:p>
        </p:txBody>
      </p:sp>
      <p:sp>
        <p:nvSpPr>
          <p:cNvPr id="8" name="">
            <a:extLst xmlns:a="http://schemas.openxmlformats.org/drawingml/2006/main">
              <a:ext uri="{FF2B5EF4-FFF2-40B4-BE49-F238E27FC236}">
                <a16:creationId xmlns:a16="http://schemas.microsoft.com/office/drawing/2014/main" id="{BB3F6B70-391A-4744-8B78-48F8858E29E7}"/>
              </a:ext>
            </a:extLst>
          </p:cNvPr>
          <p:cNvSpPr>
            <a:spLocks xmlns:a="http://schemas.openxmlformats.org/drawingml/2006/main" noGrp="1"/>
          </p:cNvSpPr>
          <p:nvPr/>
        </p:nvSpPr>
        <p:spPr>
          <a:xfrm xmlns:a="http://schemas.openxmlformats.org/drawingml/2006/main">
            <a:off x="809625" y="3314700"/>
            <a:ext cx="266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6B3C"/>
            </a:solidFill>
            <a:prstDash val="solid"/>
          </a:ln>
        </p:spPr>
      </p:sp>
      <p:sp>
        <p:nvSpPr>
          <p:cNvPr id="9" name="">
            <a:extLst xmlns:a="http://schemas.openxmlformats.org/drawingml/2006/main">
              <a:ext uri="{FF2B5EF4-FFF2-40B4-BE49-F238E27FC236}">
                <a16:creationId xmlns:a16="http://schemas.microsoft.com/office/drawing/2014/main" id="{902C620A-B769-4C30-BC0B-776D33A56C8C}"/>
              </a:ext>
            </a:extLst>
          </p:cNvPr>
          <p:cNvSpPr>
            <a:spLocks xmlns:a="http://schemas.openxmlformats.org/drawingml/2006/main" noGrp="1"/>
          </p:cNvSpPr>
          <p:nvPr/>
        </p:nvSpPr>
        <p:spPr>
          <a:xfrm xmlns:a="http://schemas.openxmlformats.org/drawingml/2006/main">
            <a:off x="1257300" y="3238500"/>
            <a:ext cx="43815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Division working is visible</a:t>
            </a:r>
          </a:p>
        </p:txBody>
      </p:sp>
      <p:sp>
        <p:nvSpPr>
          <p:cNvPr id="10" name="">
            <a:extLst xmlns:a="http://schemas.openxmlformats.org/drawingml/2006/main">
              <a:ext uri="{FF2B5EF4-FFF2-40B4-BE49-F238E27FC236}">
                <a16:creationId xmlns:a16="http://schemas.microsoft.com/office/drawing/2014/main" id="{B742B9D8-5F27-45D0-82BB-161F2ABD7141}"/>
              </a:ext>
            </a:extLst>
          </p:cNvPr>
          <p:cNvSpPr>
            <a:spLocks xmlns:a="http://schemas.openxmlformats.org/drawingml/2006/main" noGrp="1"/>
          </p:cNvSpPr>
          <p:nvPr/>
        </p:nvSpPr>
        <p:spPr>
          <a:xfrm xmlns:a="http://schemas.openxmlformats.org/drawingml/2006/main">
            <a:off x="809625" y="3962400"/>
            <a:ext cx="266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6B3C"/>
            </a:solidFill>
            <a:prstDash val="solid"/>
          </a:ln>
        </p:spPr>
      </p:sp>
      <p:sp>
        <p:nvSpPr>
          <p:cNvPr id="11" name="">
            <a:extLst xmlns:a="http://schemas.openxmlformats.org/drawingml/2006/main">
              <a:ext uri="{FF2B5EF4-FFF2-40B4-BE49-F238E27FC236}">
                <a16:creationId xmlns:a16="http://schemas.microsoft.com/office/drawing/2014/main" id="{69B5E001-EE1E-463A-B3E7-64C349BD4DF5}"/>
              </a:ext>
            </a:extLst>
          </p:cNvPr>
          <p:cNvSpPr>
            <a:spLocks xmlns:a="http://schemas.openxmlformats.org/drawingml/2006/main" noGrp="1"/>
          </p:cNvSpPr>
          <p:nvPr/>
        </p:nvSpPr>
        <p:spPr>
          <a:xfrm xmlns:a="http://schemas.openxmlformats.org/drawingml/2006/main">
            <a:off x="1257300" y="3886200"/>
            <a:ext cx="43815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Check returns the area</a:t>
            </a:r>
          </a:p>
        </p:txBody>
      </p:sp>
      <p:sp>
        <p:nvSpPr>
          <p:cNvPr id="12" name="">
            <a:extLst xmlns:a="http://schemas.openxmlformats.org/drawingml/2006/main">
              <a:ext uri="{FF2B5EF4-FFF2-40B4-BE49-F238E27FC236}">
                <a16:creationId xmlns:a16="http://schemas.microsoft.com/office/drawing/2014/main" id="{AE9D7B66-2EE4-4E6C-B652-A65C730FC26F}"/>
              </a:ext>
            </a:extLst>
          </p:cNvPr>
          <p:cNvSpPr>
            <a:spLocks xmlns:a="http://schemas.openxmlformats.org/drawingml/2006/main" noGrp="1"/>
          </p:cNvSpPr>
          <p:nvPr/>
        </p:nvSpPr>
        <p:spPr>
          <a:xfrm xmlns:a="http://schemas.openxmlformats.org/drawingml/2006/main">
            <a:off x="809625" y="4610100"/>
            <a:ext cx="2667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6B3C"/>
            </a:solidFill>
            <a:prstDash val="solid"/>
          </a:ln>
        </p:spPr>
      </p:sp>
      <p:sp>
        <p:nvSpPr>
          <p:cNvPr id="13" name="">
            <a:extLst xmlns:a="http://schemas.openxmlformats.org/drawingml/2006/main">
              <a:ext uri="{FF2B5EF4-FFF2-40B4-BE49-F238E27FC236}">
                <a16:creationId xmlns:a16="http://schemas.microsoft.com/office/drawing/2014/main" id="{A8283C31-4314-4F42-93D5-31D774674234}"/>
              </a:ext>
            </a:extLst>
          </p:cNvPr>
          <p:cNvSpPr>
            <a:spLocks xmlns:a="http://schemas.openxmlformats.org/drawingml/2006/main" noGrp="1"/>
          </p:cNvSpPr>
          <p:nvPr/>
        </p:nvSpPr>
        <p:spPr>
          <a:xfrm xmlns:a="http://schemas.openxmlformats.org/drawingml/2006/main">
            <a:off x="1257300" y="4533900"/>
            <a:ext cx="43815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51F"/>
                </a:solidFill>
                <a:latin typeface="Arial"/>
                <a:ea typeface="Arial"/>
                <a:cs typeface="Arial"/>
              </a:defRPr>
            </a:pPr>
            <a:r>
              <a:t>Final unit is metres</a:t>
            </a:r>
          </a:p>
        </p:txBody>
      </p:sp>
      <p:sp>
        <p:nvSpPr>
          <p:cNvPr id="14" name="">
            <a:extLst xmlns:a="http://schemas.openxmlformats.org/drawingml/2006/main">
              <a:ext uri="{FF2B5EF4-FFF2-40B4-BE49-F238E27FC236}">
                <a16:creationId xmlns:a16="http://schemas.microsoft.com/office/drawing/2014/main" id="{9D8992B7-ECEA-4BAE-ACED-5ED5D4DB1E66}"/>
              </a:ext>
            </a:extLst>
          </p:cNvPr>
          <p:cNvSpPr>
            <a:spLocks xmlns:a="http://schemas.openxmlformats.org/drawingml/2006/main" noGrp="1"/>
          </p:cNvSpPr>
          <p:nvPr/>
        </p:nvSpPr>
        <p:spPr>
          <a:xfrm xmlns:a="http://schemas.openxmlformats.org/drawingml/2006/main">
            <a:off x="6381750" y="2047875"/>
            <a:ext cx="4953000" cy="3095625"/>
          </a:xfrm>
          <a:prstGeom xmlns:a="http://schemas.openxmlformats.org/drawingml/2006/main" prst="roundRect">
            <a:avLst>
              <a:gd name="adj" fmla="val 3692"/>
            </a:avLst>
          </a:prstGeom>
          <a:solidFill xmlns:a="http://schemas.openxmlformats.org/drawingml/2006/main">
            <a:srgbClr val="F3F6EE"/>
          </a:solidFill>
          <a:ln xmlns:a="http://schemas.openxmlformats.org/drawingml/2006/main" w="9525">
            <a:solidFill>
              <a:srgbClr val="B8C6B6"/>
            </a:solidFill>
            <a:prstDash val="solid"/>
          </a:ln>
        </p:spPr>
      </p:sp>
      <p:sp>
        <p:nvSpPr>
          <p:cNvPr id="15" name="">
            <a:extLst xmlns:a="http://schemas.openxmlformats.org/drawingml/2006/main">
              <a:ext uri="{FF2B5EF4-FFF2-40B4-BE49-F238E27FC236}">
                <a16:creationId xmlns:a16="http://schemas.microsoft.com/office/drawing/2014/main" id="{473CCF02-B6D7-4AF9-9C35-A8B5209D6187}"/>
              </a:ext>
            </a:extLst>
          </p:cNvPr>
          <p:cNvSpPr>
            <a:spLocks xmlns:a="http://schemas.openxmlformats.org/drawingml/2006/main" noGrp="1"/>
          </p:cNvSpPr>
          <p:nvPr/>
        </p:nvSpPr>
        <p:spPr>
          <a:xfrm xmlns:a="http://schemas.openxmlformats.org/drawingml/2006/main">
            <a:off x="6762750" y="2428875"/>
            <a:ext cx="4191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F6B3C"/>
                </a:solidFill>
                <a:latin typeface="Arial"/>
                <a:ea typeface="Arial"/>
                <a:cs typeface="Arial"/>
              </a:defRPr>
            </a:pPr>
            <a:r>
              <a:t>Feedback that helps</a:t>
            </a:r>
          </a:p>
        </p:txBody>
      </p:sp>
      <p:sp>
        <p:nvSpPr>
          <p:cNvPr id="16" name="">
            <a:extLst xmlns:a="http://schemas.openxmlformats.org/drawingml/2006/main">
              <a:ext uri="{FF2B5EF4-FFF2-40B4-BE49-F238E27FC236}">
                <a16:creationId xmlns:a16="http://schemas.microsoft.com/office/drawing/2014/main" id="{F6C2D9A4-03FF-4C59-968D-FCE95EC0E0D5}"/>
              </a:ext>
            </a:extLst>
          </p:cNvPr>
          <p:cNvSpPr>
            <a:spLocks xmlns:a="http://schemas.openxmlformats.org/drawingml/2006/main" noGrp="1"/>
          </p:cNvSpPr>
          <p:nvPr/>
        </p:nvSpPr>
        <p:spPr>
          <a:xfrm xmlns:a="http://schemas.openxmlformats.org/drawingml/2006/main">
            <a:off x="6762750" y="3190875"/>
            <a:ext cx="4095750" cy="1428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0">
                <a:solidFill>
                  <a:srgbClr val="17351F"/>
                </a:solidFill>
                <a:latin typeface="Arial"/>
                <a:ea typeface="Arial"/>
                <a:cs typeface="Arial"/>
              </a:defRPr>
            </a:pPr>
            <a:r>
              <a:t>“Your equation shows…”
“To make your proof clearer…”</a:t>
            </a:r>
          </a:p>
        </p:txBody>
      </p:sp>
      <p:sp>
        <p:nvSpPr>
          <p:cNvPr id="17" name="">
            <a:extLst xmlns:a="http://schemas.openxmlformats.org/drawingml/2006/main">
              <a:ext uri="{FF2B5EF4-FFF2-40B4-BE49-F238E27FC236}">
                <a16:creationId xmlns:a16="http://schemas.microsoft.com/office/drawing/2014/main" id="{03C0956B-6E1E-4A18-9E7E-64423DBAD04C}"/>
              </a:ext>
            </a:extLst>
          </p:cNvPr>
          <p:cNvSpPr>
            <a:spLocks xmlns:a="http://schemas.openxmlformats.org/drawingml/2006/main" noGrp="1"/>
          </p:cNvSpPr>
          <p:nvPr/>
        </p:nvSpPr>
        <p:spPr>
          <a:xfrm xmlns:a="http://schemas.openxmlformats.org/drawingml/2006/main">
            <a:off x="4000500" y="5476875"/>
            <a:ext cx="4191000" cy="428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2F6B3C"/>
                </a:solidFill>
                <a:latin typeface="Arial"/>
                <a:ea typeface="Arial"/>
                <a:cs typeface="Arial"/>
              </a:defRPr>
            </a:pPr>
            <a:r>
              <a:t>Revise one thing now.</a:t>
            </a:r>
          </a:p>
        </p:txBody>
      </p:sp>
    </p:spTree>
    <p:extLst>
      <p:ext uri="{BB962C8B-B14F-4D97-AF65-F5344CB8AC3E}">
        <p14:creationId xmlns:p14="http://schemas.microsoft.com/office/powerpoint/2010/main" val="5520412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3CB6A8-400A-4DC8-B343-46E0376ACEA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018CABAD-1610-442E-A872-7E3350E8CEC7}"/>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Assessment rehearsal: show enough to convince</a:t>
            </a:r>
          </a:p>
        </p:txBody>
      </p:sp>
      <p:cxnSp>
        <p:nvCxnSpPr>
          <p:cNvPr id="11"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CC09C010-6B22-46E5-B9E1-702CD652664D}"/>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13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43b5f6ef4f54275"/>
          <a:stretch xmlns:a="http://schemas.openxmlformats.org/drawingml/2006/main"/>
        </p:blipFill>
        <p:spPr>
          <a:xfrm xmlns:a="http://schemas.openxmlformats.org/drawingml/2006/main">
            <a:off x="878150" y="1762125"/>
            <a:ext cx="6301849" cy="4095750"/>
          </a:xfrm>
          <a:prstGeom xmlns:a="http://schemas.openxmlformats.org/drawingml/2006/main" prst="roundRect">
            <a:avLst>
              <a:gd name="adj" fmla="val 2326"/>
            </a:avLst>
          </a:prstGeom>
        </p:spPr>
      </p:pic>
      <p:sp>
        <p:nvSpPr>
          <p:cNvPr id="6" name="">
            <a:extLst xmlns:a="http://schemas.openxmlformats.org/drawingml/2006/main">
              <a:ext uri="{FF2B5EF4-FFF2-40B4-BE49-F238E27FC236}">
                <a16:creationId xmlns:a16="http://schemas.microsoft.com/office/drawing/2014/main" id="{C40A0B2F-FA7F-4F75-92F7-9439A7F07C8A}"/>
              </a:ext>
            </a:extLst>
          </p:cNvPr>
          <p:cNvSpPr>
            <a:spLocks xmlns:a="http://schemas.openxmlformats.org/drawingml/2006/main" noGrp="1"/>
          </p:cNvSpPr>
          <p:nvPr/>
        </p:nvSpPr>
        <p:spPr>
          <a:xfrm xmlns:a="http://schemas.openxmlformats.org/drawingml/2006/main">
            <a:off x="7905750" y="2095500"/>
            <a:ext cx="3238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2F6B3C"/>
                </a:solidFill>
                <a:latin typeface="Arial"/>
                <a:ea typeface="Arial"/>
                <a:cs typeface="Arial"/>
              </a:defRPr>
            </a:pPr>
            <a:r>
              <a:t>Your proof must include</a:t>
            </a:r>
          </a:p>
        </p:txBody>
      </p:sp>
      <p:sp>
        <p:nvSpPr>
          <p:cNvPr id="7" name="">
            <a:extLst xmlns:a="http://schemas.openxmlformats.org/drawingml/2006/main">
              <a:ext uri="{FF2B5EF4-FFF2-40B4-BE49-F238E27FC236}">
                <a16:creationId xmlns:a16="http://schemas.microsoft.com/office/drawing/2014/main" id="{52FAF5B7-F7D3-4BE6-B172-185CED6D2778}"/>
              </a:ext>
            </a:extLst>
          </p:cNvPr>
          <p:cNvSpPr>
            <a:spLocks xmlns:a="http://schemas.openxmlformats.org/drawingml/2006/main" noGrp="1"/>
          </p:cNvSpPr>
          <p:nvPr/>
        </p:nvSpPr>
        <p:spPr>
          <a:xfrm xmlns:a="http://schemas.openxmlformats.org/drawingml/2006/main">
            <a:off x="7905750" y="2762250"/>
            <a:ext cx="3333750" cy="2000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51F"/>
                </a:solidFill>
                <a:latin typeface="Arial"/>
                <a:ea typeface="Arial"/>
                <a:cs typeface="Arial"/>
              </a:defRPr>
            </a:pPr>
            <a:r>
              <a:t>• an equation
• division working
• a multiplication check
• the answer in metres</a:t>
            </a:r>
          </a:p>
        </p:txBody>
      </p:sp>
      <p:sp>
        <p:nvSpPr>
          <p:cNvPr id="8" name="">
            <a:extLst xmlns:a="http://schemas.openxmlformats.org/drawingml/2006/main">
              <a:ext uri="{FF2B5EF4-FFF2-40B4-BE49-F238E27FC236}">
                <a16:creationId xmlns:a16="http://schemas.microsoft.com/office/drawing/2014/main" id="{8054931C-CAE4-47BE-94C8-708C21BF6DAF}"/>
              </a:ext>
            </a:extLst>
          </p:cNvPr>
          <p:cNvSpPr>
            <a:spLocks xmlns:a="http://schemas.openxmlformats.org/drawingml/2006/main" noGrp="1"/>
          </p:cNvSpPr>
          <p:nvPr/>
        </p:nvSpPr>
        <p:spPr>
          <a:xfrm xmlns:a="http://schemas.openxmlformats.org/drawingml/2006/main">
            <a:off x="8001000" y="5191125"/>
            <a:ext cx="3048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8A5A3B"/>
                </a:solidFill>
                <a:latin typeface="Arial"/>
                <a:ea typeface="Arial"/>
                <a:cs typeface="Arial"/>
              </a:defRPr>
            </a:pPr>
            <a:r>
              <a:t>Work independently.</a:t>
            </a:r>
          </a:p>
        </p:txBody>
      </p:sp>
    </p:spTree>
    <p:extLst>
      <p:ext uri="{BB962C8B-B14F-4D97-AF65-F5344CB8AC3E}">
        <p14:creationId xmlns:p14="http://schemas.microsoft.com/office/powerpoint/2010/main" val="16048217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1F7F42-BCA6-42A9-8DE4-16E159D4060A}"/>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F6B3C"/>
                </a:solidFill>
                <a:latin typeface="Arial"/>
                <a:ea typeface="Arial"/>
                <a:cs typeface="Arial"/>
              </a:defRPr>
            </a:pPr>
            <a:r>
              <a:t>GREAT GARDEN • YEAR 5</a:t>
            </a:r>
          </a:p>
        </p:txBody>
      </p:sp>
      <p:sp>
        <p:nvSpPr>
          <p:cNvPr id="2" name="">
            <a:extLst xmlns:a="http://schemas.openxmlformats.org/drawingml/2006/main">
              <a:ext uri="{FF2B5EF4-FFF2-40B4-BE49-F238E27FC236}">
                <a16:creationId xmlns:a16="http://schemas.microsoft.com/office/drawing/2014/main" id="{DD6F1BCC-CC08-469B-BFF0-FBD4E9B73B15}"/>
              </a:ext>
            </a:extLst>
          </p:cNvPr>
          <p:cNvSpPr>
            <a:spLocks xmlns:a="http://schemas.openxmlformats.org/drawingml/2006/main" noGrp="1"/>
          </p:cNvSpPr>
          <p:nvPr/>
        </p:nvSpPr>
        <p:spPr>
          <a:xfrm xmlns:a="http://schemas.openxmlformats.org/drawingml/2006/main">
            <a:off x="400050" y="628650"/>
            <a:ext cx="113919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7351F"/>
                </a:solidFill>
                <a:latin typeface="Arial"/>
                <a:ea typeface="Arial"/>
                <a:cs typeface="Arial"/>
              </a:defRPr>
            </a:pPr>
            <a:r>
              <a:t>Exit ticket: explain the decision</a:t>
            </a:r>
          </a:p>
        </p:txBody>
      </p:sp>
      <p:cxnSp>
        <p:nvCxnSpPr>
          <p:cNvPr id="11" name=""/>
          <p:cNvCxnSpPr/>
          <p:nvPr/>
        </p:nvCxnSpPr>
        <p:spPr>
          <a:xfrm xmlns:a="http://schemas.openxmlformats.org/drawingml/2006/main">
            <a:off x="400050" y="1381125"/>
            <a:ext cx="11391900" cy="9525"/>
          </a:xfrm>
          <a:prstGeom xmlns:a="http://schemas.openxmlformats.org/drawingml/2006/main" prst="straightConnector1">
            <a:avLst/>
          </a:prstGeom>
          <a:ln xmlns:a="http://schemas.openxmlformats.org/drawingml/2006/main" w="9525">
            <a:solidFill>
              <a:srgbClr val="B8C6B6"/>
            </a:solidFill>
            <a:prstDash val="solid"/>
          </a:ln>
        </p:spPr>
      </p:cxnSp>
      <p:sp>
        <p:nvSpPr>
          <p:cNvPr id="4" name="">
            <a:extLst xmlns:a="http://schemas.openxmlformats.org/drawingml/2006/main">
              <a:ext uri="{FF2B5EF4-FFF2-40B4-BE49-F238E27FC236}">
                <a16:creationId xmlns:a16="http://schemas.microsoft.com/office/drawing/2014/main" id="{A41155FC-F3C8-4AF9-9B30-6BFCA486B0BA}"/>
              </a:ext>
            </a:extLst>
          </p:cNvPr>
          <p:cNvSpPr>
            <a:spLocks xmlns:a="http://schemas.openxmlformats.org/drawingml/2006/main" noGrp="1"/>
          </p:cNvSpPr>
          <p:nvPr/>
        </p:nvSpPr>
        <p:spPr>
          <a:xfrm xmlns:a="http://schemas.openxmlformats.org/drawingml/2006/main">
            <a:off x="11258550" y="6343650"/>
            <a:ext cx="5334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2F6B3C"/>
                </a:solidFill>
                <a:latin typeface="Arial"/>
                <a:ea typeface="Arial"/>
                <a:cs typeface="Arial"/>
              </a:defRPr>
            </a:pPr>
            <a:r>
              <a:t>14</a:t>
            </a:r>
          </a:p>
        </p:txBody>
      </p:sp>
      <p:sp>
        <p:nvSpPr>
          <p:cNvPr id="5" name="">
            <a:extLst xmlns:a="http://schemas.openxmlformats.org/drawingml/2006/main">
              <a:ext uri="{FF2B5EF4-FFF2-40B4-BE49-F238E27FC236}">
                <a16:creationId xmlns:a16="http://schemas.microsoft.com/office/drawing/2014/main" id="{046BA649-D103-4CD6-B437-0B942E26DBBB}"/>
              </a:ext>
            </a:extLst>
          </p:cNvPr>
          <p:cNvSpPr>
            <a:spLocks xmlns:a="http://schemas.openxmlformats.org/drawingml/2006/main" noGrp="1"/>
          </p:cNvSpPr>
          <p:nvPr/>
        </p:nvSpPr>
        <p:spPr>
          <a:xfrm xmlns:a="http://schemas.openxmlformats.org/drawingml/2006/main">
            <a:off x="762000" y="1952625"/>
            <a:ext cx="10668000" cy="2762250"/>
          </a:xfrm>
          <a:prstGeom xmlns:a="http://schemas.openxmlformats.org/drawingml/2006/main" prst="roundRect">
            <a:avLst>
              <a:gd name="adj" fmla="val 4138"/>
            </a:avLst>
          </a:prstGeom>
          <a:solidFill xmlns:a="http://schemas.openxmlformats.org/drawingml/2006/main">
            <a:srgbClr val="F3F6EE"/>
          </a:solidFill>
          <a:ln xmlns:a="http://schemas.openxmlformats.org/drawingml/2006/main" w="9525">
            <a:solidFill>
              <a:srgbClr val="B8C6B6"/>
            </a:solidFill>
            <a:prstDash val="solid"/>
          </a:ln>
        </p:spPr>
      </p:sp>
      <p:sp>
        <p:nvSpPr>
          <p:cNvPr id="6" name="">
            <a:extLst xmlns:a="http://schemas.openxmlformats.org/drawingml/2006/main">
              <a:ext uri="{FF2B5EF4-FFF2-40B4-BE49-F238E27FC236}">
                <a16:creationId xmlns:a16="http://schemas.microsoft.com/office/drawing/2014/main" id="{6D799427-30CC-4E1B-B90E-664FBE3BA88E}"/>
              </a:ext>
            </a:extLst>
          </p:cNvPr>
          <p:cNvSpPr>
            <a:spLocks xmlns:a="http://schemas.openxmlformats.org/drawingml/2006/main" noGrp="1"/>
          </p:cNvSpPr>
          <p:nvPr/>
        </p:nvSpPr>
        <p:spPr>
          <a:xfrm xmlns:a="http://schemas.openxmlformats.org/drawingml/2006/main">
            <a:off x="1190625" y="2428875"/>
            <a:ext cx="981075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a:solidFill>
                  <a:srgbClr val="17351F"/>
                </a:solidFill>
                <a:latin typeface="Arial"/>
                <a:ea typeface="Arial"/>
                <a:cs typeface="Arial"/>
              </a:defRPr>
            </a:pPr>
            <a:r>
              <a:t>A rectangular garden has an area of 252 m² and a width of 7 m. Find its length.</a:t>
            </a:r>
          </a:p>
        </p:txBody>
      </p:sp>
      <p:sp>
        <p:nvSpPr>
          <p:cNvPr id="7" name="">
            <a:extLst xmlns:a="http://schemas.openxmlformats.org/drawingml/2006/main">
              <a:ext uri="{FF2B5EF4-FFF2-40B4-BE49-F238E27FC236}">
                <a16:creationId xmlns:a16="http://schemas.microsoft.com/office/drawing/2014/main" id="{1E1BD041-6E13-44C8-9058-2A4466C82925}"/>
              </a:ext>
            </a:extLst>
          </p:cNvPr>
          <p:cNvSpPr>
            <a:spLocks xmlns:a="http://schemas.openxmlformats.org/drawingml/2006/main" noGrp="1"/>
          </p:cNvSpPr>
          <p:nvPr/>
        </p:nvSpPr>
        <p:spPr>
          <a:xfrm xmlns:a="http://schemas.openxmlformats.org/drawingml/2006/main">
            <a:off x="2476500" y="3762375"/>
            <a:ext cx="723900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2F6B3C"/>
                </a:solidFill>
                <a:latin typeface="Arial"/>
                <a:ea typeface="Arial"/>
                <a:cs typeface="Arial"/>
              </a:defRPr>
            </a:pPr>
            <a:r>
              <a:t>Why is division the correct operation?</a:t>
            </a:r>
          </a:p>
        </p:txBody>
      </p:sp>
      <p:sp>
        <p:nvSpPr>
          <p:cNvPr id="8" name="">
            <a:extLst xmlns:a="http://schemas.openxmlformats.org/drawingml/2006/main">
              <a:ext uri="{FF2B5EF4-FFF2-40B4-BE49-F238E27FC236}">
                <a16:creationId xmlns:a16="http://schemas.microsoft.com/office/drawing/2014/main" id="{401FBEC1-ADE7-4A27-8698-E46F0DA86F7C}"/>
              </a:ext>
            </a:extLst>
          </p:cNvPr>
          <p:cNvSpPr>
            <a:spLocks xmlns:a="http://schemas.openxmlformats.org/drawingml/2006/main" noGrp="1"/>
          </p:cNvSpPr>
          <p:nvPr/>
        </p:nvSpPr>
        <p:spPr>
          <a:xfrm xmlns:a="http://schemas.openxmlformats.org/drawingml/2006/main">
            <a:off x="3190875" y="5238750"/>
            <a:ext cx="5810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8A5A3B"/>
                </a:solidFill>
                <a:latin typeface="Arial"/>
                <a:ea typeface="Arial"/>
                <a:cs typeface="Arial"/>
              </a:defRPr>
            </a:pPr>
            <a:r>
              <a:t>Show working • check • label the answer</a:t>
            </a:r>
          </a:p>
        </p:txBody>
      </p:sp>
    </p:spTree>
    <p:extLst>
      <p:ext uri="{BB962C8B-B14F-4D97-AF65-F5344CB8AC3E}">
        <p14:creationId xmlns:p14="http://schemas.microsoft.com/office/powerpoint/2010/main" val="1216734318"/>
      </p:ext>
    </p:extLst>
  </p:cSld>
</p:sld>
</file>

<file path=ppt/slides/slide15.xml><?xml version="1.0" encoding="utf-8"?>
<p:sld xmlns:p="http://schemas.openxmlformats.org/presentationml/2006/main">
  <p:cSld>
    <p:bg>
      <p:bgPr>
        <a:solidFill xmlns:a="http://schemas.openxmlformats.org/drawingml/2006/main">
          <a:srgbClr val="2F6B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8E69B0-9C8D-43BC-B019-6C8426CF1320}"/>
              </a:ext>
            </a:extLst>
          </p:cNvPr>
          <p:cNvSpPr>
            <a:spLocks xmlns:a="http://schemas.openxmlformats.org/drawingml/2006/main" noGrp="1"/>
          </p:cNvSpPr>
          <p:nvPr/>
        </p:nvSpPr>
        <p:spPr>
          <a:xfrm xmlns:a="http://schemas.openxmlformats.org/drawingml/2006/main">
            <a:off x="809625" y="1285875"/>
            <a:ext cx="1057275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500" b="1">
                <a:solidFill>
                  <a:srgbClr val="FFFFFF"/>
                </a:solidFill>
                <a:latin typeface="Arial"/>
                <a:ea typeface="Arial"/>
                <a:cs typeface="Arial"/>
              </a:defRPr>
            </a:pPr>
            <a:r>
              <a:t>The garden mystery is solved.</a:t>
            </a:r>
          </a:p>
        </p:txBody>
      </p:sp>
      <p:sp>
        <p:nvSpPr>
          <p:cNvPr id="2" name="">
            <a:extLst xmlns:a="http://schemas.openxmlformats.org/drawingml/2006/main">
              <a:ext uri="{FF2B5EF4-FFF2-40B4-BE49-F238E27FC236}">
                <a16:creationId xmlns:a16="http://schemas.microsoft.com/office/drawing/2014/main" id="{9D6E68E7-5491-4078-9EFB-B10BB49760F4}"/>
              </a:ext>
            </a:extLst>
          </p:cNvPr>
          <p:cNvSpPr>
            <a:spLocks xmlns:a="http://schemas.openxmlformats.org/drawingml/2006/main" noGrp="1"/>
          </p:cNvSpPr>
          <p:nvPr/>
        </p:nvSpPr>
        <p:spPr>
          <a:xfrm xmlns:a="http://schemas.openxmlformats.org/drawingml/2006/main">
            <a:off x="1476375" y="2905125"/>
            <a:ext cx="923925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B7D96C"/>
                </a:solidFill>
                <a:latin typeface="Arial"/>
                <a:ea typeface="Arial"/>
                <a:cs typeface="Arial"/>
              </a:defRPr>
            </a:pPr>
            <a:r>
              <a:t>Area ÷ known side = missing side</a:t>
            </a:r>
          </a:p>
        </p:txBody>
      </p:sp>
      <p:sp>
        <p:nvSpPr>
          <p:cNvPr id="3" name="">
            <a:extLst xmlns:a="http://schemas.openxmlformats.org/drawingml/2006/main">
              <a:ext uri="{FF2B5EF4-FFF2-40B4-BE49-F238E27FC236}">
                <a16:creationId xmlns:a16="http://schemas.microsoft.com/office/drawing/2014/main" id="{FE26855B-47E3-4C9B-999F-D3A84E7E1739}"/>
              </a:ext>
            </a:extLst>
          </p:cNvPr>
          <p:cNvSpPr>
            <a:spLocks xmlns:a="http://schemas.openxmlformats.org/drawingml/2006/main" noGrp="1"/>
          </p:cNvSpPr>
          <p:nvPr/>
        </p:nvSpPr>
        <p:spPr>
          <a:xfrm xmlns:a="http://schemas.openxmlformats.org/drawingml/2006/main">
            <a:off x="2381250" y="4238625"/>
            <a:ext cx="74295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t>31 m × 7 m = 217 m²</a:t>
            </a:r>
          </a:p>
        </p:txBody>
      </p:sp>
      <p:sp>
        <p:nvSpPr>
          <p:cNvPr id="4" name="">
            <a:extLst xmlns:a="http://schemas.openxmlformats.org/drawingml/2006/main">
              <a:ext uri="{FF2B5EF4-FFF2-40B4-BE49-F238E27FC236}">
                <a16:creationId xmlns:a16="http://schemas.microsoft.com/office/drawing/2014/main" id="{16EB7E7F-1D3C-49EF-B8AB-7E16100352BD}"/>
              </a:ext>
            </a:extLst>
          </p:cNvPr>
          <p:cNvSpPr>
            <a:spLocks xmlns:a="http://schemas.openxmlformats.org/drawingml/2006/main" noGrp="1"/>
          </p:cNvSpPr>
          <p:nvPr/>
        </p:nvSpPr>
        <p:spPr>
          <a:xfrm xmlns:a="http://schemas.openxmlformats.org/drawingml/2006/main">
            <a:off x="2381250" y="5334000"/>
            <a:ext cx="7429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t>Name it. Relate it. Solve it. Check it.</a:t>
            </a:r>
          </a:p>
        </p:txBody>
      </p:sp>
    </p:spTree>
    <p:extLst>
      <p:ext uri="{BB962C8B-B14F-4D97-AF65-F5344CB8AC3E}">
        <p14:creationId xmlns:p14="http://schemas.microsoft.com/office/powerpoint/2010/main" val="501660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2026-07-20T22:08:29.7180000Z</dcterms:created>
  <dcterms:modified xsi:type="dcterms:W3CDTF">2026-07-20T22:08:29.7180000Z</dcterms:modified>
</coreProperties>
</file>