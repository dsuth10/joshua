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642" y="1460599"/>
            <a:ext cx="558671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1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Persuasive Writing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778642" y="2418308"/>
            <a:ext cx="558671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992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the PEEL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33414" y="3024634"/>
            <a:ext cx="1269950" cy="63401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78642" y="3595985"/>
            <a:ext cx="5586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English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301711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736378"/>
            <a:ext cx="8128099" cy="245804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84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structure of a Persuasive Essay.</a:t>
            </a:r>
            <a:endParaRPr lang="en-US" sz="2400" dirty="0"/>
          </a:p>
          <a:p>
            <a:pPr algn="l" marL="190500" indent="-190500">
              <a:lnSpc>
                <a:spcPts val="384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use the </a:t>
            </a:r>
            <a:pPr algn="l" indent="0" marL="0">
              <a:lnSpc>
                <a:spcPts val="3840"/>
              </a:lnSpc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PEEL</a:t>
            </a:r>
            <a:pPr algn="l" indent="0" marL="0">
              <a:lnSpc>
                <a:spcPts val="384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structure for powerful paragraphs.</a:t>
            </a:r>
            <a:endParaRPr lang="en-US" sz="2400" dirty="0"/>
          </a:p>
          <a:p>
            <a:pPr algn="l" marL="190500" indent="-190500">
              <a:lnSpc>
                <a:spcPts val="3840"/>
              </a:lnSpc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use persuasive techniques.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Persuasive Toolkit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82477"/>
            <a:ext cx="4064050" cy="25399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Alliteration:</a:t>
            </a:r>
            <a:pPr algn="l" indent="0" marL="0">
              <a:lnSpc>
                <a:spcPts val="3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Repeated sounds.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Rhetorical Questions:</a:t>
            </a:r>
            <a:pPr algn="l" indent="0" marL="0">
              <a:lnSpc>
                <a:spcPts val="3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Questions that don't need answers.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Emotive Language:</a:t>
            </a:r>
            <a:pPr algn="l" indent="0" marL="0">
              <a:lnSpc>
                <a:spcPts val="3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 that trigger feelings.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1482477"/>
            <a:ext cx="4064050" cy="16509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Three:</a:t>
            </a:r>
            <a:pPr algn="l" indent="0" marL="0">
              <a:lnSpc>
                <a:spcPts val="3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Fast, fun, and fantastic!</a:t>
            </a:r>
            <a:endParaRPr lang="en-US" sz="2000" dirty="0"/>
          </a:p>
          <a:p>
            <a:pPr algn="l" marL="190500" indent="-190500">
              <a:lnSpc>
                <a:spcPts val="3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Statistics:</a:t>
            </a:r>
            <a:pPr algn="l" indent="0" marL="0">
              <a:lnSpc>
                <a:spcPts val="3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Facts and numbers to prove your point.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PEEL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609427"/>
            <a:ext cx="2032099" cy="1701701"/>
          </a:xfrm>
          <a:prstGeom prst="roundRect">
            <a:avLst>
              <a:gd name="adj" fmla="val 7463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1939" y="2028527"/>
            <a:ext cx="16841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1939" y="2523827"/>
            <a:ext cx="168412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your main idea?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40050" y="1609427"/>
            <a:ext cx="2031950" cy="1701701"/>
          </a:xfrm>
          <a:prstGeom prst="roundRect">
            <a:avLst>
              <a:gd name="adj" fmla="val 7463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14040" y="2028527"/>
            <a:ext cx="16839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14040" y="2523827"/>
            <a:ext cx="1683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it further.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609427"/>
            <a:ext cx="2032099" cy="1701701"/>
          </a:xfrm>
          <a:prstGeom prst="roundRect">
            <a:avLst>
              <a:gd name="adj" fmla="val 7463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45989" y="2028527"/>
            <a:ext cx="16841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45989" y="2523827"/>
            <a:ext cx="16841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with facts.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04099" y="1609427"/>
            <a:ext cx="2031950" cy="1701701"/>
          </a:xfrm>
          <a:prstGeom prst="roundRect">
            <a:avLst>
              <a:gd name="adj" fmla="val 7463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78090" y="2028527"/>
            <a:ext cx="16839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78090" y="2523827"/>
            <a:ext cx="168396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back to the topic.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Essay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669703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168" y="1747540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69802" y="1761827"/>
            <a:ext cx="42924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(Signpost arguments)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679204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7168" y="2757041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69802" y="2771329"/>
            <a:ext cx="43766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Paragraphs (PEEL structure)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7950" y="3688705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7168" y="3766542"/>
            <a:ext cx="1729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69802" y="3780830"/>
            <a:ext cx="5131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(Summarise &amp; Call to Action)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Mobile Phones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427"/>
            <a:ext cx="8128099" cy="32385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592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647527"/>
            <a:ext cx="7902041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Firstly, mobile phones are powerful educational tools that can help students learn more effectively.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allow us to access information instantly, use educational apps, and research topics we are curious about right in the middle of a lesson.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fact, a recent survey found that 75% of teachers believe technology helps students stay more engaged with their work.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Therefore, allowing phones would turn our classrooms into modern, high-tech learning environments.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PEEL: Point &amp; Elaboration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609427"/>
            <a:ext cx="3810149" cy="2055316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638002"/>
            <a:ext cx="3810149" cy="0"/>
          </a:xfrm>
          <a:prstGeom prst="line">
            <a:avLst/>
          </a:prstGeom>
          <a:noFill/>
          <a:ln w="57150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793528"/>
            <a:ext cx="3627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851" y="2349252"/>
            <a:ext cx="362737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opening statement. It should be one clear sentence that states your argument.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98950" y="1609427"/>
            <a:ext cx="3810149" cy="2055316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8950" y="1638002"/>
            <a:ext cx="3810149" cy="0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5901" y="1793528"/>
            <a:ext cx="3627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25901" y="2349252"/>
            <a:ext cx="362737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your point. Why is it true? How does it work? Give more details.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PEEL: Evidence &amp; Link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609427"/>
            <a:ext cx="3810149" cy="2055316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638002"/>
            <a:ext cx="3810149" cy="0"/>
          </a:xfrm>
          <a:prstGeom prst="line">
            <a:avLst/>
          </a:prstGeom>
          <a:noFill/>
          <a:ln w="57150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1793528"/>
            <a:ext cx="3627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851" y="2349252"/>
            <a:ext cx="362737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"Proof." Use a fact, a statistic, or a real-life example to back up your claim.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98950" y="1609427"/>
            <a:ext cx="3810149" cy="2055316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8950" y="1638002"/>
            <a:ext cx="3810149" cy="0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5901" y="1793528"/>
            <a:ext cx="36273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26"/>
              </a:spcAft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25901" y="2349252"/>
            <a:ext cx="362737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wrap-up. Connect this argument back to the main topic of your essay.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Crack the Code!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26669" y="1609427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P, E, E, and L in this paragraph about school uniforms: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158603"/>
            <a:ext cx="8128099" cy="2283023"/>
          </a:xfrm>
          <a:prstGeom prst="roundRect">
            <a:avLst>
              <a:gd name="adj" fmla="val 5563"/>
            </a:avLst>
          </a:prstGeom>
          <a:solidFill>
            <a:srgbClr val="FFFFFF"/>
          </a:solidFill>
          <a:ln w="19050">
            <a:solidFill>
              <a:srgbClr val="112D4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0901" y="2660154"/>
            <a:ext cx="7733842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Uniforms help everyone feel equal because no one is judged for their clothes. This builds a sense of community and stops bullying. Schools with uniforms report a 20% drop in social pressure according to recent data. Clearly, uniforms make school a happier place for everyone.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838498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680"/>
              </a:spcBef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to Persuade!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26669" y="1724323"/>
            <a:ext cx="82906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topic, grab your toolkit, and write your first PEEL paragraph today.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28677" y="3197423"/>
            <a:ext cx="2686645" cy="1447800"/>
          </a:xfrm>
          <a:prstGeom prst="roundRect">
            <a:avLst>
              <a:gd name="adj" fmla="val 26316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90431" y="3692723"/>
            <a:ext cx="1963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Writing!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2026-03-08T21:55:10Z</dcterms:created>
  <dcterms:modified xsi:type="dcterms:W3CDTF">2026-03-08T21:55:10Z</dcterms:modified>
</cp:coreProperties>
</file>